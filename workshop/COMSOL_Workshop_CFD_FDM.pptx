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92f89b-a3fc-2b85-f48b-d47004bed992}">
          <p14:sldIdLst>
            <p14:sldId id="256"/>
            <p14:sldId id="257"/>
            <p14:sldId id="258"/>
          </p14:sldIdLst>
        </p14:section>
        <p14:section name="Part 1 · CFD &amp; FDM fundamentals" id="{46d59d5f-965c-03ad-dae0-ba325e169f0e}">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Worked example · Problem 1 by hand" id="{2af3b5d2-d203-607f-3361-290438802825}">
          <p14:sldIdLst>
            <p14:sldId id="281"/>
            <p14:sldId id="282"/>
            <p14:sldId id="283"/>
            <p14:sldId id="284"/>
            <p14:sldId id="285"/>
            <p14:sldId id="286"/>
            <p14:sldId id="287"/>
            <p14:sldId id="288"/>
            <p14:sldId id="289"/>
            <p14:sldId id="290"/>
            <p14:sldId id="291"/>
            <p14:sldId id="292"/>
          </p14:sldIdLst>
        </p14:section>
        <p14:section name="Part 2 · Hands-on COMSOL" id="{17caee4c-56a5-1601-3be5-9c23938a4ca6}">
          <p14:sldIdLst>
            <p14:sldId id="293"/>
            <p14:sldId id="294"/>
            <p14:sldId id="295"/>
            <p14:sldId id="296"/>
          </p14:sldIdLst>
        </p14:section>
        <p14:section name="Problem 1 in COMSOL" id="{4bee0fb9-68fc-fae2-22fb-15b34f7c4c70}">
          <p14:sldIdLst>
            <p14:sldId id="297"/>
            <p14:sldId id="298"/>
            <p14:sldId id="299"/>
            <p14:sldId id="300"/>
            <p14:sldId id="301"/>
            <p14:sldId id="302"/>
            <p14:sldId id="303"/>
            <p14:sldId id="304"/>
            <p14:sldId id="305"/>
            <p14:sldId id="306"/>
          </p14:sldIdLst>
        </p14:section>
        <p14:section name="Problem 2 in COMSOL" id="{932e89b1-8ab5-597b-269b-b65102907299}">
          <p14:sldIdLst>
            <p14:sldId id="307"/>
            <p14:sldId id="308"/>
            <p14:sldId id="309"/>
            <p14:sldId id="310"/>
            <p14:sldId id="311"/>
          </p14:sldIdLst>
        </p14:section>
        <p14:section name="Problem 3 in COMSOL" id="{bf729958-0b7b-199c-6fb6-da6e0bf800e9}">
          <p14:sldIdLst>
            <p14:sldId id="312"/>
            <p14:sldId id="313"/>
            <p14:sldId id="314"/>
            <p14:sldId id="315"/>
            <p14:sldId id="316"/>
          </p14:sldIdLst>
        </p14:section>
        <p14:section name="Wrap-up" id="{47eb48fc-552a-3427-07dd-b7c875cc3765}">
          <p14:sldIdLst>
            <p14:sldId id="317"/>
            <p14:sldId id="31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47"/>
                </a:solidFill>
                <a:latin typeface="+mn-lt"/>
              </a:defRPr>
            </a:pPr>
            <a:r>
              <a:rPr sz="1300" b="0" i="0" u="none" strike="noStrike">
                <a:solidFill>
                  <a:srgbClr val="0B2E47"/>
                </a:solidFill>
                <a:latin typeface="+mn-lt"/>
              </a:rPr>
              <a:t>COMSOL mesh study: heat-loss error |Q − Q_exact| [%] (log scale)</a:t>
            </a:r>
          </a:p>
        </c:rich>
      </c:tx>
      <c:layout/>
      <c:overlay val="0"/>
    </c:title>
    <c:autoTitleDeleted val="0"/>
    <c:plotArea>
      <c:layout/>
      <c:barChart>
        <c:barDir val="col"/>
        <c:grouping val="clustered"/>
        <c:varyColors val="0"/>
        <c:ser>
          <c:idx val="0"/>
          <c:order val="0"/>
          <c:tx>
            <c:strRef>
              <c:f>Sheet1!$B$1</c:f>
              <c:strCache>
                <c:ptCount val="1"/>
                <c:pt idx="0">
                  <c:v>Heat-loss error</c:v>
                </c:pt>
              </c:strCache>
            </c:strRef>
          </c:tx>
          <c:spPr>
            <a:solidFill>
              <a:srgbClr val="0093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3 elements: 0.66 %</c:v>
                  </c:pt>
                  <c:pt idx="1">
                    <c:v>15 elements: 0.03 %</c:v>
                  </c:pt>
                  <c:pt idx="2">
                    <c:v>100 elements: 0.0005 %</c:v>
                  </c:pt>
                </c:lvl>
              </c:multiLvlStrCache>
            </c:multiLvlStrRef>
          </c:cat>
          <c:val>
            <c:numRef>
              <c:f>Sheet1!$B$2:$B$4</c:f>
              <c:numCache>
                <c:formatCode>General</c:formatCode>
                <c:ptCount val="3"/>
                <c:pt idx="0">
                  <c:v>0.66</c:v>
                </c:pt>
                <c:pt idx="1">
                  <c:v>0.03</c:v>
                </c:pt>
                <c:pt idx="2">
                  <c:v>0.0005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C546C"/>
                </a:solidFill>
                <a:latin typeface="+mn-lt"/>
              </a:defRPr>
            </a:pPr>
            <a:endParaRPr lang="en-US"/>
          </a:p>
        </c:txPr>
        <c:crossAx val="2094734552"/>
        <c:crosses val="autoZero"/>
        <c:auto val="1"/>
        <c:lblAlgn val="ctr"/>
        <c:noMultiLvlLbl val="1"/>
      </c:catAx>
      <c:valAx>
        <c:axId val="2094734552"/>
        <c:scaling>
          <c:logBase val="10"/>
          <c:orientation val="minMax"/>
          <c:max val="1"/>
          <c:min val="0.0001"/>
        </c:scaling>
        <c:delete val="0"/>
        <c:axPos val="l"/>
        <c:majorGridlines>
          <c:spPr>
            <a:ln w="9525" cap="flat">
              <a:solidFill>
                <a:srgbClr val="D3DD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546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COMSOL Multiphysics workshop of the KAUST AIChE Student Chapter.
Today has two halves. In the first hour we build the foundations: what CFD is, the 7 pillars every CFD analysis rests on, and the finite difference method, which we will use to solve a real problem by hand. In the second hour we open COMSOL and build the same problems step by step.
Everything we use today comes from the open simple_CFD repository, so you can repeat it all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for the afternoon. Part 1 (one hour) is the theory: what CFD is, the 7 pillars, and one complete worked example with the finite difference method (FDM), done by hand.
Part 2 (one hour) is hands-on: we start with Problem 1 in COMSOL, the same pin fin we solved by hand, so you can compare the two methods directly. Then we go as far as time allows: Problem 2 adds time dependence, Problem 3 goes to 2D.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material is in the simple_CFD repository: scan the QR code now.
Every problem folder has the same structure: a problem statement, a step-by-step solution, a Jupyter notebook with the complete FDM solver in plain Python (no hidden library calls), a whiteboard guide that solves the problem by hand, and for Problems 1 to 6 a COMSOL model with a step-by-step student guide with screenshots.
The 7 problems go from a 1D steady fin all the way to natural convection with the Navier–Stokes equations. Today we do Problems 1 to 3 in COMSOL.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one hour. We go from the question 'what is CFD?' to the 7 pillars of every CFD analysis, and finish by solving Problem 1 completely by hand with the finite difference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CFD study starts with a physical problem, not with a computer. Air flowing over a wing, heat spreading through an engine block, blood pumping through an artery, smoke rising from a chimney.
In each case we want to predict something: the lift, the hottest spot, the wall stress, where the pollution goes. CFD is the set of tools that lets us make that prediction with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such problem has three ingredients.
Geometry answers WHERE: a defined region of space, the control volume, bounded by walls, inlets and outlets. Physics answers WHAT happens inside that volume. The mathematical model answers HOW we describe it: conservation of mass, momentum and energy written as partial differential equations, plus boundary and initial conditions.
In the example on the next slide: a duct with a cylinder, air speeding up around it, described by Navier–Stokes or, in the simplest model, the Laplace equation for the stream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from the repo shows the whole chain on one example. (1) The physical problem: air through a duct past a cylinder. (2) The geometry becomes a computational domain Omega with inlet, outlet, walls and the cylinder boundary. (3) The physics becomes governing equations: Navier–Stokes, or in the simplest ideal-flow model the Laplace equation for the stream function, with boundary conditions. (4) The numerical solution: the PDE solved on a 241 x 81 grid with finite differences, giving streamlines and speed.
CFD in one sentence: read the box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equations of fluid flow and heat transfer have exact solutions only in very simple situations, like a flat plate, a straight pipe or a sphere, and usually only after strong simplifications. Real problems combine complicated geometry with nonlinear coupled equations, and no formula exists.
Numerical methods trade the exact solution, known at every point, for an approximate one known at a finite number of points, which a computer can calculate. The error shrinks as we refine the grid.
But analytical solutions remain very important: wherever one exists, we use it to check our code. We will do exactly that with Problem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powerful idea: almost every governing equation in CFD has the same structure. The rate of change of a quantity phi, plus convection (phi carried by the flow), equals diffusion (phi spreading out) plus a source.
Choose phi = 1 and you get conservation of mass. Choose the velocity components and you get momentum, the Navier–Stokes equations. Choose temperature and you get energy. Choose a concentration and you get species transport.
So if we learn how to discretize these four terms, we can handle a whole family of problems. Today we meet diffusion (Problems 1–3) and, in the take-home problems, convection.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the problem and whatever the software, every CFD analysis rests on the same seven pillars, grouped into pre-processing, solving and post-processing.
Pre-processing: 1 geometry, 2 grid, 3 physics. Solving: 4 the numerical scheme that turns the PDE into algebraic equations, 5 the solution setup (which algorithm, time step, tolerance), 6 the computation itself. Post-processing: 7 visualize and verify.
Keep this diagram in mind: in Part 2 we will see that the COMSOL Model Builder tree follows exactly the same pillars.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pillars concrete, we follow one small problem through all seven: a thin metal rod starts at 20 °C, then its left end is suddenly heated to 100 °C while its right end is kept at 20 °C.
Question: how does the temperature inside the rod change with time? Ask the class to sketch what they expect: the heat creeps in from the left and, after a long time, the profile becomes a straight line between 100 and 20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geometry. First define precisely where the physics happens, the computational domain and its boundaries. Good geometry modelling is mostly about smart simplification: reduce the dimension (3D to 2D to 1D), exploit symmetry, remove small features that do not matter, and place inlets and outlets far enough away.
In this course the geometries are simple enough to type in directly. Real projects use CAD tools like FreeCAD, SolidWorks or Gmsh.
Rod: the rod is long and thin, so its temperature varies only along its length. The domain is 1D, 0 ≤ x ≤ L, with one boundary at each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grid generation. A computer cannot store a value at the infinitely many points of a continuous domain, so we replace the domain with a finite number of small pieces, a grid or mesh, and compute the unknowns only there.
Three families of methods differ in what the pieces are: FDM stores unknowns at grid points; FEM uses elements, here triangles that follow the curved boundary; FVM uses cells and balances the fluxes through their faces.
Vocabulary: node, grid spacing, structured versus unstructured, and grid independence: refine until the answer stops changing.
Rod: N+1 equally spaced nodes; with N = 20 the whole rod is represented by 21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closer look at the three families. FDM stores unknowns at grid points and replaces derivatives by differences using Taylor series: simple and intuitive, so it is the best way to learn. FEM approximates the solution by simple functions on each element and handles complex geometries: this is what COMSOL uses, so in Part 2 we will be using finite elements. FVM balances the fluxes through the faces of each cell and conserves mass, momentum and energy exactly, which is why most industrial CFD codes (Fluent, OpenFOAM) use it.
The core ideas we learn today with FDM carry straight over to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physics. Decide which physics matters and write down its equations. Ask: steady or unsteady? compressible? viscous, laminar or turbulent? does heat transfer matter? any buoyancy, reactions or several phases? Every yes adds terms; every justified no simplifies.
The table shows the classic model equations of CFD. Their type tells us how information travels and therefore which numerical method fits. Elliptic problems (Laplace, Poisson): every point influences every other point, so the whole domain is solved at once. Parabolic (heat equation): march forward in time while smoothing out. Hyperbolic (advection): information travels along particular directions at finite speed.
Today's problems: the fin and the plate are elliptic, phosphorus diffusion is parabolic.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PDE alone has infinitely many solutions; the boundary conditions, and for unsteady problems the initial conditions, select the one that matches the physical problem.
Dirichlet prescribes the value, for example a wall at fixed temperature. Neumann prescribes the gradient, for example an insulated wall where the heat flux and so dT/dn is zero, or a symmetry plane. Robin mixes both: the heat conducted to the surface equals the heat convected away, h (T − T∞).
Rod: pure conduction with constant properties gives the 1D heat equation, with two Dirichlet conditions (100 °C left, 20 °C right) and the initial condition 20 °C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4 is the heart of the finite difference method. A derivative is the limit of a difference quotient as the spacing goes to zero. On a grid the spacing cannot go to zero, so we simply keep the difference.
The Taylor series tells us exactly how good that approximation is. Solve it for the first derivative: we get the forward difference plus the terms we throw away, the truncation error. Its leading term is proportional to Δx, so this formula is first-order accurate.
On the right: the exact tangent (black) and the three difference estimates. The central difference (green) is almost parallel to the exact tangent: it is second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finite difference toolbox. Forward and backward differences for the first derivative are first order. The central difference uses both neighbours and is second order. The second derivative, the one we need for diffusion and conduction, also has a second-order central formula: (f(i+1) − 2 f(i) + f(i−1)) / Δx².
Order p means the error behaves like Δx^p: halving the grid spacing divides the error of a 2nd-order scheme by 4. Remember this factor 4: we will see it by hand in Problem 1.
In 2D, the Laplacian uses the five-point stencil, which we will meet in Problem 3. Writing such a formula at every node replaces the PDE with a set of algebraic equations.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rod. Use a forward difference in time, with time step Δt and time level n, and a central difference in space. This is the FTCS scheme: Forward in Time, Centred in Space.
Rearranged, the new temperature at node i is the old one plus r times the difference of its neighbours, with r = α Δt / Δx². The PDE has become plain arithmetic: three known values at time n give one new value at n+1.
Keep r in mind: it controls the stability of the scheme, which is the topic of the next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the algebraic equations, there are many ways to solve them. Three decisions come up in almost every problem; the first one is explicit or implicit.
Explicit (FTCS): the new values come directly from old values. Tiny work per step, a few lines of code, but the time step is limited by stability: r ≤ 1/2 for FTCS.
Implicit (BTCS, Crank–Nicolson): the unknowns at the new time level are coupled, so every step needs the solution of a linear system. More work per step, but any Δt is stable, so you choose it for accuracy only.
COMSOL uses implicit time stepping, as we will see in Problem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decision: is the scheme stable? A scheme is stable if small errors (round-off, sharp jumps in the initial data) die out instead of growing.
Left plot: FTCS with r = 0.45 smooths a top-hat profile, as diffusion should. Right plot: r = 0.52, just 4 % above the limit, and a saw-tooth oscillation grows with every step until the solution explodes.
The stability conditions: r ≤ 1/2 for FTCS, and for explicit convection schemes the CFL condition, |c| Δt / Δx ≤ 1.
The Lax equivalence theorem: consistency plus stability equals convergence. Always check your scheme's stability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decision: direct or iterative solver. Implicit schemes and steady problems give a linear system A u = b. The matrix is huge but sparse, almost all zeros, because each equation involves only a node and its neighbours (left: the banded matrix of a 5 x 5 Laplace grid).
Direct solvers eliminate unknowns exactly; for tridiagonal systems the Thomas algorithm costs only O(N). Iterative solvers improve a guess: Jacobi uses old values, Gauss–Seidel uses new values as soon as they are available, SOR over-corrects. The plot shows the same problem: SOR reaches the tolerance in 81 iterations, Gauss–Seidel in 1084, Jacobi needs more than 1500.
Iterative solvers need a convergence criterion: stop when the residual falls below a tolerance. We will use both Thomas and Gauss–Seidel by hand in Problem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6: compute. With everything set up, the computer does the arithmetic. The same algorithm can be written in many environments: Python for learning (this course), a spreadsheet where every cell is a node, MATLAB, compiled languages for large production codes, open-source CFD packages like OpenFOAM, and commercial software like Fluent or COMSOL, which we use in Part 2.
On the right is the complete rod solver: about a dozen lines of Python. Point out where each pillar appears in the code. The single line inside the loop is the FTCS update from Pillar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7: post-processing. The raw output is just a long list of numbers; post-processing turns it into understanding and into the quantities of interest: a maximum temperature, a heat flux, a drag force.
The figure shows steady heat conduction in a square plate: a contour map, streamlines of the heat flux, a line plot where the FDM points lie on the analytical curve, and a grid-convergence plot where the error falls with slope 2, exactly as a second-order scheme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animation is the rod's post-processing: the 21-node FTCS solution (dots) sits right on the exact solution (line), and the rod settles to a straight-line profile between 100 and 20 °C. (The GIF plays in slide-show mode.)
Never trust a colourful picture blindly. Verification asks: are we solving the equations right? Compare with exact solutions and refine the grid. Validation asks: are we solving the right equations? Compare with experiments.
That completes the 7 pillars. Now let us apply all of them to a real problem,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about 20 minutes, following the whiteboard guide of Problem 1 (04_whiteboard_guide.pdf). We solve the fin completely by hand with 4 intervals, so you see every step before meeting the notebook, which does the same with 10 or more intervals, and before COMSOL, which does it with finite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determine the steady-state temperature distribution in an aluminium pin fin. The base is at 100 °C, the tip is insulated, the fin is cooled by air at 30 °C. The fin dimensions, conductivity and h were not given in the original statement; typical values are used.
Ask the class before calculating: the fin is hottest at the base, coldest at the tip, and the tip stays well above 30 °C because aluminium conducts heat very well and the fin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2 of the whiteboard guide. Draw a thin slice dx of the fin. In steady state, heat conducted in equals heat conducted out plus heat convected to the air from the slice's side surface, h times (P dx) times (T − T∞). With Fourier's law q = −k A dT/dx this gives the fin equation T'' − m² (T − T∞) = 0, with m² = hP/(kA) = 4h/(kd) for a circular pin.
Simplification for the board: use the excess temperature θ = T − T∞; the equation becomes θ'' − m² θ = 0 with no constant term.
Boundary conditions: θ(0) = 70 K at the base, dθ/dx = 0 at the insulated tip. Calculator: m² = 84.388 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3: the grid. N = 4 intervals, Δx = L/N = 0.025 m, nodes at x = 0, 2.5, 5, 7.5 and 10 cm.
Node 0 is known (θ₀ = 70 K). Nodes 1 to 4 are the four unknowns. Node 5 is a ghost node beyond the tip: it does not exist physically, but it lets us write the insulated-tip condition with a central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4: at an interior node replace the second derivative by the central difference. Multiplying by Δx² gives θ(i−1) − B θ(i) + θ(i+1) = 0, with B = 2 + m²Δx² = 2.052743.
The tip node needs θ₅. The insulated tip gives (θ₅ − θ₃)/(2Δx) = 0, so θ₅ = θ₃, and the tip equation becomes 2θ₃ − Bθ₄ = 0.
Ask the class: why is there a 2 in the tip equation? Calculator advice: keep at least 4 decimals in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four equations with the known θ₀ = 70 moved to the right-hand side. In matrix form only three diagonals are non-zero: the system is tridiagonal, because each node talks only to its neighbours through the central difference. That is exactly the sparse structure we saw in Pillar 5.
Note the −2 in the last row: it comes from the ghost node.
(1) 2.052743 θ1 − θ2 = 70; (2) −θ1 + 2.052743 θ2 − θ3 = 0; (3) −θ2 + 2.052743 θ3 − θ4 = 0; (4) −2 θ3 + 2.052743 θ4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5: solve by elimination, the Thomas algorithm by hand. Idea: write every unknown in terms of the next one, θi = Pi θ(i+1) + Qi, going from the base to the tip; then come back.
Forward sweep. From (1): P1 = 1/B = 0.487153, Q1 = 70/B = 34.1007. Put into (2): B − P1 = 1.565590, so P2 = 0.638737, Q2 = 21.7814. Put into (3): B − P2 = 1.414006, so P3 = 0.707211, Q3 = 15.4040.
Tip: substitute θ3 = P3 θ4 + Q3 into the tip equation: θ4 = 2 Q3 / (B − 2 P3) = 48.264.
Back substitution: θ3 = 49.537, θ2 = 53.422, θ1 = 60.126. Add 30 to get °C. Check equation (2) together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6: results. The exact solution is θ/θb = cosh(m(L − x))/cosh(mL), with m = 9.1863 1/m.
With only 4 unknowns and a calculator, every temperature is within 0.07 °C of the exact solution. The heat lost by the fin, summing h P Δx θ over the nodes (half weight at the ends), is 2.18 W against the exact 2.17 W, about 0.5 %.
The central difference is a very good approximation for this smooth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quicker, in 5 minutes on the board: 2 intervals. With Δx = 0.05 m, B = 2.210970, the two equations give T1 = 83.58 °C and T_tip = 78.47 °C, against the exact 83.37 and 78.19 °C.
Halving Δx from 2 to 4 intervals reduces the tip error from 0.28 to 0.07 °C: a factor of 4. Second-order accuracy, seen by hand.
The notebook does the same with many grids: on log axes the error falls on a line of slope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7 (optional): why we need computers. Solve each equation for its own node and sweep from the base to the tip, starting from the initial fin temperature, 30 °C (θ = 0). Do the first sweep together with the class.
The iteration is easy, but it needs about 60 sweeps to agree with the elimination result. Perfect for a computer, painful by hand. In the notebook the same algorithm runs hundreds of sweeps in a fraction of a second (437 sweeps for 10 intervals and a 1e-6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mistakes to watch for on the board: forgetting the factor 2 in the tip equation; using Δx in centimetres in m²Δx² (Δx must be in metres, like m); forgetting the T∞ term when working with T instead of θ; rounding B too early; and writing an equation for the base node, whose temperature is known.
Every board step has a matching function in the notebook: build_system is Board 4, thomas is Board 5, gauss_seidel is Board 7. Set N = 4 and the computer reproduces the numbers on the board; set N = 10 and the tip temperature is 78.205 °C against the exact 78.194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Part 1. CFD means solving the governing PDEs approximately, with numerical methods, on a grid. FDM turns derivatives into differences; the Taylor series tells us the order of accuracy, and we saw the factor 4 by hand. And before trusting any result: check stability, refine the grid, compare with exact solutions or benchmarks.
Next: the same fin in COMSOL, with the finite element method. Ask everyone to open COMSOL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hands-on COMSOL Multiphysics. Everyone should have COMSOL open. We build Problem 1 together, step by step, following the COMSOL guide in the repo, then continue with Problems 2 and 3 as far as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clicking anything: the COMSOL Model Builder tree is the 7 pillars in disguise.
The Model Wizard asks for the space dimension (pillar 1), the physics interface (pillar 3) and the study type (pillar 5). Global Definitions holds parameters. Geometry is pillar 1, Materials and the physics nodes with their boundary conditions are pillar 3. COMSOL picks the discretization itself: finite elements, pillar 4. The Mesh is pillar 2, our grid. Study and Compute are pillars 5 and 6. Results are pillar 7.
So everything from Part 1 applies; COMSOL just automates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for the hour. Problem 1, the pin fin, about 25 minutes: 1D steady heat transfer, the same problem we solved by hand. Problem 2, phosphorus diffusion, about 15 minutes: time dependent, with parameters and a comparison against the exact error-function solution. Problem 3, the square plate, about 15 minutes: 2D, with a parametric sweep over the mesh size.
Problems 4 to 6 also have COMSOL guides in the repo; do them at home or if we are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set-up. The files are in each problem's comsol_solution folder: a PDF guide with annotated screenshots and the finished .mph model to compare with. You need COMSOL 4.3a or newer (the guides use 4.3a; newer versions look slightly different but the tree is the same), and a licence connection.
Four golden rules that save most of the questions: left-click a node before right-clicking; to select a point or edge, hover until it turns red, click, then press +; write units in square brackets; COMSOL works in kelvin and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clicking, translate the problem. The fin becomes a 1D line from 0 to 0.1 m. The base at 100 °C becomes a Temperature condition of 373.15 K at Point 1. The insulated tip is the default Thermal Insulation at Point 2, so we do nothing. The convection from the side surface, which a 1D model cannot see, becomes a volumetric heat sink Q = −h(4/d)(T − T∞). Steady state means a Stationary study.
Target: the exact solution gives a tip temperature of 78.194 °C and a heat loss of 2.1702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the Model Wizard. Step 1: select 1D and click the Next arrow. Step 2: expand Heat Transfer, select Heat Transfer in Solids, click the blue + (Add Selected), then Next. Step 3: select Stationary under Preset Studies and click Finish (the chequered flag).
Why 1D: the pin is thin, so each cross-section has a single temperature, exactly like our FDM model. Why stationary: the initial 30 °C only matters in a time-dependent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after Finish, the Model Builder on the left contains the complete outline of the model, and we work through it from top to bottom: Geometry (Step 5), Materials (Step 6), Heat Transfer in Solids (Steps 7 and 8).
Thermal Insulation 1 is added by default on every boundary: that is exactly our insulated-tip condition, so we keep it. The length unit is metre.
In a 1D model the domain is the line (the fin) and the boundaries are the two end points: Point 1 at x = 0 (base) and Point 2 at x = L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right-click Geometry 1 and choose Interval. Left endpoint 0, right endpoint 0.1 (metres!), then Build Selected (F8). The line from 0 to 0.1 appears in the Graphics window.
Step 6: right-click Materials and choose Material (a blank material). Selection: all domains. Enter k = 237, rho = 2700, Cp = 900: double-click each Value cell, type, press Enter. Density and heat capacity do not affect the steady state, but COMSOL requires a complete material before it will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the wall holds the base of the fin at 100 °C = 373.15 K, a Dirichlet condition at Point 1. Right-click Heat Transfer in Solids and choose Temperature. In the selection list, add Point 1: move the mouse over the left end point until it turns red, click it, press +. Type T0 = 373.15[K]; writing the unit in brackets keeps the entry unambiguous.
COMSOL works internally in kelvin. The default Thermal Insulation remains on Point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the key modelling step. A 1D fin model has no side surface, so the convective loss from the lateral surface is added as a volumetric heat sink. Right-click Heat Transfer in Solids, choose Heat Source, selection All domains, General source: -25*4/0.005*(T-303.15).
Where does it come from? The same energy balance on a slice as on the board: the loss h P dx (T − T∞) divided by the slice volume A dx gives h (P/A)(T − T∞) = h (4/d)(T − T∞). The minus sign makes it a sink. It is the same physics as the m² term in our fin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the finite element mesh divides the line into small elements, just like the grid of nodes in the finite difference method. Click Mesh 1, open the Element size list, choose Extremely fine and Build All. The Messages window reports 100 elements, Δx = 1 mm, so the result is mesh-independent.
Later, for the mesh study, try Normal (15 elements) and Extremely coarse (3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10: right-click Study 1 and Compute (F8). The default plot shows temperature against x: 373.15 K at the base, and at the tip the curve flattens at about 351.3 K, 78.2 °C. Zero slope at the tip: the insulated condition.
The slope is largest at the base, where the heat enters the fin. Compare with our hand result: 78.26 °C at the tip with only 4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exact numbers, not just a plot, evaluate the solution at points.
Step 11: right-click Derived Values, Point Evaluation, select Point 2 (the tip), expression T, Evaluate (=). The table shows 351.34408 K = 78.194 °C, exactly the analytical value.
Step 12: in steady state all heat entering the fin at the base is lost by convection, so evaluate Fourier's law at the base: a second Point Evaluation at Point 1 with expression -237*pi*0.005^2/4*Tx, where Tx is COMSOL's name for dT/dx. Clear the Unit field. Result: 2.17021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With 100 elements COMSOL reproduces the exact solution: 78.194 °C and 2.1702 W. Our notebook with 10 intervals gives 78.205 °C and 2.1721 W, and our hand calculation with 4 intervals 78.26 °C and 2.18 W.
Mesh study (change Element size, Compute, Evaluate All): the tip temperature is already exact on the Normal mesh because COMSOL uses quadratic, second-order elements. The heat flow Q needs a derivative of the solution, and its error falls roughly with the square of the element size: 0.66 % with 3 elements, 0.03 % with 15, 0.0005 % with 100.
Exercise: change h to 100 W/(m²K). Predict first: the tip gets colder, because the fan removes heat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In a CVD reactor a P-rich SiO2 coating supplies phosphorus, which diffuses into a silicon wafer that starts free of phosphorus. The coating keeps the surface concentration constant; the wafer is effectively semi-infinite. Predict the depth of the Si-P film after 1 h, where the film edge is 1 % of the surface concentration.
This is the 1D diffusion (heat) equation: parabolic, unsteady. Its exact solution is an error function, giving z_film = 1.762 µm. New in COMSOL: a time-dependent study, parameters, and the Transport of Diluted Species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1–3: Model Wizard. 1D (COMSOL calls the coordinate x; here it means the depth z). Add Chemical Species Transport › Transport of Diluted Species: it solves dc/dt + div(−D grad c + u c) = R; with u = 0 and R = 0 it is exactly our diffusion equation. Then Time Dependent and Finish.
Step 5: right-click Global Definitions › Parameters. Type each Name, Tab, Expression. D = 6.5e-13[cm^2/s]; cs = 2.5e20[1/cm^3]/6.02214e23[1/mol], the surface concentration in mol/m³ (415.13); c_edge = 0.01*cs; t_end = 3600[s]; zmax = 5[um]. Parameters keep all numbers in one place, so you can change them and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6 to 10 build the domain and conditions shown in the diagram.
Step 6: Geometry › Interval from 0 to zmax (5 µm). Why 5 µm? The diffusion length after 1 h is about 0.5 µm; at 5 µm the exact profile is erfc(5.17) ≈ 4e-13, zero for practical purposes, so the cut-off does not matter.
Step 7: Convection and Diffusion 1: velocity 0, diffusion coefficient = D.
Step 8: right-click Transport of Diluted Species › Concentration, Point 1, tick species c, c0 = cs: the Dirichlet condition at the surface.
Step 9: a second Concentration at Point 2 with c0 = 0, and check Initial Values: c = 0.
Step 10: Mesh 1 › User-controlled mesh › Size: Custom, maximum element size 0.1[um], growth rate 1, Build All: 50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11: click Step 1: Time Dependent. Times: range(0,60,3600), from 0 to 3600 s every 60 s. These are output times; COMSOL chooses its own internal time steps. Compute.
Step 12: the default plot has 61 curves. In the plot group set Time selection: Interpolated, times range(600,600,3600): six curves, every 10 minutes. The phosphorus penetrates deeper with time; depth grows like the square root of t.
Step 13: add a second Line Graph with expression cs*(1-erf(x/(2*sqrt(D*t)))), dashed, black. COMSOL 4.3a has no erfc, so we write 1 − erf. The dashed exact curves lie on the COMSOL curves.
Note: COMSOL's implicit time stepper is unconditionally stable, unlike our explicit FTCS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14: the film depth is where the concentration drops to 1 % of the surface value. Right-click Derived Values › Integration › Line Integration, time Last, expression (c&gt;c_edge), which is 1 where the concentration is above the film edge and 0 elsewhere, so the integral is the length of that region. Unit um. Result 1.772 µm, against the exact 1.762 µm: the 0.6 % difference comes from integrating a logical expression on a 0.1 µm grid. Reading the crossing from the exported profile gives 1.7624 µm, within 0.02 %.
Link to Part 1: the explicit FTCS scheme for this problem is stable only for Δt ≤ Δz²/(2D) = 76.9 s. With 50 s it works; with 100 s the solution blows up to 10^5 times the surface value. COMSOL's implicit stepper has no such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 a square plate divided into 3 x 3 equal squares, with edges held at 700 °C (top), 100 °C (left), 400 °C (right) and 500 °C (bottom). Find the temperatures at the four interior points with FDM.
Steady 2D conduction without sources is the Laplace equation; with Δx = Δy the five-point stencil says every interior node is the average of its four neighbours. Four equations, four unknowns: T1 = 487.5, T2 = 362.5, T3 = 437.5, T4 = 412.5 °C. Ask: why are the plate size and k not needed? Laplace's equation has no material constant and is scale-free.
In COMSOL we check how close this coarse answer is to the converged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8 build the plate. Model Wizard: 2D, Heat Transfer in Solids, Stationary. Step 4 is the same tree tour as before. Step 5: right-click Geometry 1 › Square, side 1 m, corner at the origin, Build. Step 6: a blank material with k = 1, rho = 1, Cp = 1: the plate size and conductivity drop out of the Laplace equation.
Steps 7 and 8: four Temperature nodes. Top edge is boundary 3: 700[degC] (typing degC saves the conversion to kelvin). Left edge, boundary 1: 100[degC]. Right edge, boundary 4: 400[degC]. Bottom edge, boundary 2: 500[degC]. Hover until the edge turns red, click,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9 to 11 turn the mesh into a grid-convergence study.
Step 9: Global Definitions › Parameters: hm = 1/3, the maximum mesh element size.
Step 10: Mesh 1 › User-controlled mesh › Size: Custom, maximum element size = hm. Build All: 3 elements along every edge, 26 triangles in total.
Step 11: right-click Study 1 › Parametric Sweep, parameter hm, values 1/3 1/6 1/12 1/24 1/48 1/96.
One click on Compute now solves six meshes.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12: Compute. The temperature surface plot: hot top, cold left, sharp corners. The title shows the parameter value, hm = 1/96 for the last mesh. The legend is in kelvin.
Step 13: Results › Data Sets › Cut Point 2D on Solution 2 (the parametric solutions), with x = 1/3 2/3 2/3 1/3 and y = 1/3 2/3 1/3 2/3.
Step 14: Derived Values › Point Evaluation on the cut points, expression T, unit degC, all values of hm: a table with one row per mesh.
Step 15: Line Integration of ht.ntflux, the normal total heat flux, over all boundaries: the net heat flow, which should go to zero as the mesh is refined (except for the corner singularities).
Step 16: isotherms crowd into the two corners where very different edge temperatures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The finite difference answer with only four unknowns is already within 2.9 °C of the exact series solution. COMSOL on the coarse mesh (element size 1/3, like our grid) is similar; on the finest mesh it reproduces the exact solution to 0.0001 °C.
Refining the finite difference grid converges to the same values at second order: slope 2 in the left plot, the same factor 4 we saw by hand in Problem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or as homework: Problems 4 to 7. Problem 4 adds a convective (Robin) boundary and symmetry: the coarse grid over-predicts the heat loss by 41 %, a lesson in grid independence. Problem 5 introduces convection and the Péclet number: central differences wiggle when the cell Péclet number exceeds 2, and COMSOL's default stabilisation adds artificial diffusion much like upwinding. Problem 6 is the Navier–Stokes equations at last, the lid-driven cavity, validated against the Ghia et al. benchmark. Problem 7, natural convection, has a notebook and a whiteboard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home. Every CFD analysis rests on the same 7 pillars, whatever the software. The finite difference method turns derivatives into differences, and the Taylor series tells you how accurate that is. Before trusting a result, check stability, refine the grid and compare with exact solutions or benchmarks. And COMSOL automates the arithmetic of the pillars, but not the thinking: the physics, the boundary conditions, the mesh and the verification are still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Everything from today is in the simple_CFD repository: problem statements, solutions, notebooks, whiteboard guides and COMSOL models with step-by-step guides. For further reading, Anderson is the classic gentle first book on CFD; Versteeg &amp; Malalasekera for the finite volume method; Patankar for numerical heat transfer; and Barba's CFD Python notebooks are free and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900" dirty="0">
                <a:solidFill>
                  <a:schemeClr val="accent4"/>
                </a:solidFill>
              </a:rPr>
              <a:t>COMSOL Multiphysics Workshop  ·  KAUST AIChE Student Chapter</a:t>
            </a:r>
            <a:endParaRPr lang="en-US" sz="900" dirty="0"/>
          </a:p>
        </p:txBody>
      </p:sp>
      <p:pic>
        <p:nvPicPr>
          <p:cNvPr id="4" name="Image 0" descr="/tmp/claude-0/-home-user-simple-CFD/9f378cd6-f932-5917-987d-c8bfa7adda00/scratchpad/deck/media/logo.png">    </p:cNvPr>
          <p:cNvPicPr>
            <a:picLocks noChangeAspect="1"/>
          </p:cNvPicPr>
          <p:nvPr/>
        </p:nvPicPr>
        <p:blipFill>
          <a:blip r:embed="rId1"/>
          <a:stretch>
            <a:fillRect/>
          </a:stretch>
        </p:blipFill>
        <p:spPr>
          <a:xfrm>
            <a:off x="10982989" y="6400800"/>
            <a:ext cx="660066" cy="283464"/>
          </a:xfrm>
          <a:prstGeom prst="rect">
            <a:avLst/>
          </a:prstGeom>
        </p:spPr>
      </p:pic>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b">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900" dirty="0">
                <a:solidFill>
                  <a:schemeClr val="accent4"/>
                </a:solidFill>
              </a:rPr>
              <a:t>COMSOL Multiphysics Workshop  ·  KAUST AIChE Student Chapter</a:t>
            </a:r>
            <a:endParaRPr lang="en-US" sz="900" dirty="0"/>
          </a:p>
        </p:txBody>
      </p:sp>
      <p:pic>
        <p:nvPicPr>
          <p:cNvPr id="4" name="Image 0" descr="/tmp/claude-0/-home-user-simple-CFD/9f378cd6-f932-5917-987d-c8bfa7adda00/scratchpad/deck/media/logo.png">    </p:cNvPr>
          <p:cNvPicPr>
            <a:picLocks noChangeAspect="1"/>
          </p:cNvPicPr>
          <p:nvPr/>
        </p:nvPicPr>
        <p:blipFill>
          <a:blip r:embed="rId1"/>
          <a:stretch>
            <a:fillRect/>
          </a:stretch>
        </p:blipFill>
        <p:spPr>
          <a:xfrm>
            <a:off x="10982989" y="6400800"/>
            <a:ext cx="660066" cy="283464"/>
          </a:xfrm>
          <a:prstGeom prst="rect">
            <a:avLst/>
          </a:prstGeom>
        </p:spPr>
      </p:pic>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5836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74720"/>
            <a:ext cx="6400800" cy="4572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783080"/>
            <a:ext cx="6949440" cy="365760"/>
          </a:xfrm>
          <a:prstGeom prst="rect">
            <a:avLst/>
          </a:prstGeom>
          <a:noFill/>
          <a:ln/>
        </p:spPr>
        <p:txBody>
          <a:bodyPr wrap="square" rtlCol="0"/>
          <a:lstStyle>
            <a:lvl1pPr algn="l" indent="0" marL="0">
              <a:buNone/>
              <a:defRPr lang="en-US" sz="1500" b="1" dirty="0">
                <a:solidFill>
                  <a:schemeClr val="accent5"/>
                </a:solidFill>
              </a:defRPr>
            </a:lvl1pPr>
          </a:lstStyle>
          <a:p>
            <a:pPr algn="l" indent="0" marL="0">
              <a:buNone/>
            </a:pPr>
            <a:endParaRPr lang="en-US" sz="1500" dirty="0"/>
          </a:p>
        </p:txBody>
      </p:sp>
      <p:sp>
        <p:nvSpPr>
          <p:cNvPr id="3" name="Text 0"/>
          <p:cNvSpPr/>
          <p:nvPr>
            <p:ph idx="101" type="title" hasCustomPrompt="1"/>
          </p:nvPr>
        </p:nvSpPr>
        <p:spPr>
          <a:xfrm>
            <a:off x="640080" y="2240280"/>
            <a:ext cx="694944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4343400"/>
            <a:ext cx="694944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pic>
        <p:nvPicPr>
          <p:cNvPr id="5" name="Image 0" descr="/tmp/claude-0/-home-user-simple-CFD/9f378cd6-f932-5917-987d-c8bfa7adda00/scratchpad/deck/media/logo_white.png">    </p:cNvPr>
          <p:cNvPicPr>
            <a:picLocks noChangeAspect="1"/>
          </p:cNvPicPr>
          <p:nvPr/>
        </p:nvPicPr>
        <p:blipFill>
          <a:blip r:embed="rId1"/>
          <a:stretch>
            <a:fillRect/>
          </a:stretch>
        </p:blipFill>
        <p:spPr>
          <a:xfrm>
            <a:off x="640080" y="5897880"/>
            <a:ext cx="1064623" cy="4572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aryamomer2004/simple_CFD" TargetMode="External"/><Relationship Id="rId1"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2.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2.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2.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2.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slideLayout" Target="../slideLayouts/slideLayout2.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slideLayout" Target="../slideLayouts/slideLayout2.xml"/><Relationship Id="rId1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5.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3.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3.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slideLayout" Target="../slideLayouts/slideLayout3.xm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3.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3.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3.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3.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3.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1.png"/><Relationship Id="rId3" Type="http://schemas.openxmlformats.org/officeDocument/2006/relationships/image" Target="../media/image-51-2.png"/><Relationship Id="rId4" Type="http://schemas.openxmlformats.org/officeDocument/2006/relationships/slideLayout" Target="../slideLayouts/slideLayout3.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3.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3.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3.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3.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3.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3.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3.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2.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7" Type="http://schemas.openxmlformats.org/officeDocument/2006/relationships/hyperlink" Target="https://github.com/maryamomer2004/simple_CFD" TargetMode="External"/><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8" Type="http://schemas.openxmlformats.org/officeDocument/2006/relationships/slideLayout" Target="../slideLayouts/slideLayout4.xml"/><Relationship Id="rId9"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1" descr="Flow past a cylinder computed on a grid: streamlines coloured by speed">    </p:cNvPr>
          <p:cNvPicPr>
            <a:picLocks noChangeAspect="1"/>
          </p:cNvPicPr>
          <p:nvPr/>
        </p:nvPicPr>
        <p:blipFill>
          <a:blip r:embed="rId1"/>
          <a:stretch>
            <a:fillRect/>
          </a:stretch>
        </p:blipFill>
        <p:spPr>
          <a:xfrm>
            <a:off x="5333695" y="0"/>
            <a:ext cx="6858000" cy="6858000"/>
          </a:xfrm>
          <a:prstGeom prst="rect">
            <a:avLst/>
          </a:prstGeom>
        </p:spPr>
      </p:pic>
      <p:pic>
        <p:nvPicPr>
          <p:cNvPr id="3" name="logo-2" descr="AIChE KAUST Student Chapter logo">    </p:cNvPr>
          <p:cNvPicPr>
            <a:picLocks noChangeAspect="1"/>
          </p:cNvPicPr>
          <p:nvPr/>
        </p:nvPicPr>
        <p:blipFill>
          <a:blip r:embed="rId2"/>
          <a:stretch>
            <a:fillRect/>
          </a:stretch>
        </p:blipFill>
        <p:spPr>
          <a:xfrm>
            <a:off x="640080" y="548640"/>
            <a:ext cx="1320132" cy="566928"/>
          </a:xfrm>
          <a:prstGeom prst="rect">
            <a:avLst/>
          </a:prstGeom>
        </p:spPr>
      </p:pic>
      <p:sp>
        <p:nvSpPr>
          <p:cNvPr id="4" name="text-3"/>
          <p:cNvSpPr txBox="1"/>
          <p:nvPr/>
        </p:nvSpPr>
        <p:spPr>
          <a:xfrm>
            <a:off x="640080" y="1417320"/>
            <a:ext cx="6400800" cy="274320"/>
          </a:xfrm>
          <a:prstGeom prst="rect">
            <a:avLst/>
          </a:prstGeom>
          <a:noFill/>
          <a:ln/>
        </p:spPr>
        <p:txBody>
          <a:bodyPr wrap="square" lIns="0" tIns="0" rIns="0" bIns="0" rtlCol="0" anchor="t"/>
          <a:lstStyle/>
          <a:p>
            <a:pPr indent="0" marL="0">
              <a:buNone/>
            </a:pPr>
            <a:r>
              <a:rPr lang="en-US" sz="1300" b="1" spc="150" kern="0" dirty="0">
                <a:solidFill>
                  <a:schemeClr val="accent5"/>
                </a:solidFill>
              </a:rPr>
              <a:t>KAUST AIChE STUDENT CHAPTER  ·  WORKSHOP</a:t>
            </a:r>
            <a:endParaRPr lang="en-US" sz="1300" dirty="0"/>
          </a:p>
        </p:txBody>
      </p:sp>
      <p:sp>
        <p:nvSpPr>
          <p:cNvPr id="5" name="Text 0"/>
          <p:cNvSpPr/>
          <p:nvPr>
            <p:ph idx="100" type="title" hasCustomPrompt="1"/>
          </p:nvPr>
        </p:nvSpPr>
        <p:spPr>
          <a:xfrm>
            <a:off x="640080" y="1828800"/>
            <a:ext cx="6583680" cy="1554480"/>
          </a:xfrm>
          <a:prstGeom prst="rect">
            <a:avLst/>
          </a:prstGeom>
          <a:noFill/>
          <a:ln/>
        </p:spPr>
        <p:txBody>
          <a:bodyPr wrap="square" lIns="0" tIns="0" rIns="0" bIns="0" rtlCol="0" anchor="t"/>
          <a:lstStyle/>
          <a:p>
            <a:pPr algn="l" indent="0" marL="0">
              <a:buNone/>
            </a:pPr>
            <a:r>
              <a:rPr lang="en-US" sz="4400" b="1" dirty="0">
                <a:solidFill>
                  <a:schemeClr val="bg1"/>
                </a:solidFill>
              </a:rPr>
              <a:t>COMSOL Multiphysics</a:t>
            </a:r>
            <a:endParaRPr lang="en-US" sz="4400" dirty="0"/>
          </a:p>
          <a:p>
            <a:pPr algn="l" indent="0" marL="0">
              <a:buNone/>
            </a:pPr>
            <a:r>
              <a:rPr lang="en-US" sz="4400" b="1" dirty="0">
                <a:solidFill>
                  <a:schemeClr val="bg1"/>
                </a:solidFill>
              </a:rPr>
              <a:t>Workshop</a:t>
            </a:r>
            <a:endParaRPr lang="en-US" sz="4400" dirty="0"/>
          </a:p>
        </p:txBody>
      </p:sp>
      <p:sp>
        <p:nvSpPr>
          <p:cNvPr id="6" name="Text 0"/>
          <p:cNvSpPr/>
          <p:nvPr>
            <p:ph idx="101" type="body" hasCustomPrompt="1"/>
          </p:nvPr>
        </p:nvSpPr>
        <p:spPr>
          <a:xfrm>
            <a:off x="640080" y="3474720"/>
            <a:ext cx="6400800" cy="457200"/>
          </a:xfrm>
          <a:prstGeom prst="rect">
            <a:avLst/>
          </a:prstGeom>
          <a:noFill/>
          <a:ln/>
        </p:spPr>
        <p:txBody>
          <a:bodyPr wrap="square" lIns="0" tIns="0" rIns="0" bIns="0" rtlCol="0" anchor="t"/>
          <a:lstStyle/>
          <a:p>
            <a:pPr algn="l" indent="0" marL="0">
              <a:buNone/>
            </a:pPr>
            <a:r>
              <a:rPr lang="en-US" sz="2000" dirty="0">
                <a:solidFill>
                  <a:schemeClr val="accent5"/>
                </a:solidFill>
              </a:rPr>
              <a:t>From CFD fundamentals to hands-on simulation</a:t>
            </a:r>
            <a:endParaRPr lang="en-US" sz="2000" dirty="0"/>
          </a:p>
        </p:txBody>
      </p:sp>
      <p:sp>
        <p:nvSpPr>
          <p:cNvPr id="7" name="icon-bg-4"/>
          <p:cNvSpPr/>
          <p:nvPr/>
        </p:nvSpPr>
        <p:spPr>
          <a:xfrm>
            <a:off x="640080" y="4206240"/>
            <a:ext cx="365760" cy="365760"/>
          </a:xfrm>
          <a:prstGeom prst="ellipse">
            <a:avLst/>
          </a:prstGeom>
          <a:solidFill>
            <a:schemeClr val="accent1"/>
          </a:solidFill>
          <a:ln/>
        </p:spPr>
      </p:sp>
      <p:pic>
        <p:nvPicPr>
          <p:cNvPr id="8" name="icon-5" descr="preencoded.png">    </p:cNvPr>
          <p:cNvPicPr>
            <a:picLocks noChangeAspect="1"/>
          </p:cNvPicPr>
          <p:nvPr/>
        </p:nvPicPr>
        <p:blipFill>
          <a:blip r:embed="rId3"/>
          <a:stretch>
            <a:fillRect/>
          </a:stretch>
        </p:blipFill>
        <p:spPr>
          <a:xfrm>
            <a:off x="724205" y="4290365"/>
            <a:ext cx="197510" cy="197510"/>
          </a:xfrm>
          <a:prstGeom prst="rect">
            <a:avLst/>
          </a:prstGeom>
        </p:spPr>
      </p:pic>
      <p:sp>
        <p:nvSpPr>
          <p:cNvPr id="9" name="text-6"/>
          <p:cNvSpPr txBox="1"/>
          <p:nvPr/>
        </p:nvSpPr>
        <p:spPr>
          <a:xfrm>
            <a:off x="1170432" y="4206240"/>
            <a:ext cx="5029200" cy="365760"/>
          </a:xfrm>
          <a:prstGeom prst="rect">
            <a:avLst/>
          </a:prstGeom>
          <a:noFill/>
          <a:ln/>
        </p:spPr>
        <p:txBody>
          <a:bodyPr wrap="square" lIns="0" tIns="0" rIns="0" bIns="0" rtlCol="0" anchor="ctr"/>
          <a:lstStyle/>
          <a:p>
            <a:pPr indent="0" marL="0">
              <a:buNone/>
            </a:pPr>
            <a:r>
              <a:rPr lang="en-US" sz="1600" dirty="0">
                <a:solidFill>
                  <a:schemeClr val="bg1"/>
                </a:solidFill>
              </a:rPr>
              <a:t>Thursday, 29 October 2026</a:t>
            </a:r>
            <a:endParaRPr lang="en-US" sz="1600" dirty="0"/>
          </a:p>
        </p:txBody>
      </p:sp>
      <p:sp>
        <p:nvSpPr>
          <p:cNvPr id="10" name="icon-bg-7"/>
          <p:cNvSpPr/>
          <p:nvPr/>
        </p:nvSpPr>
        <p:spPr>
          <a:xfrm>
            <a:off x="640080" y="4709160"/>
            <a:ext cx="365760" cy="365760"/>
          </a:xfrm>
          <a:prstGeom prst="ellipse">
            <a:avLst/>
          </a:prstGeom>
          <a:solidFill>
            <a:schemeClr val="accent1"/>
          </a:solidFill>
          <a:ln/>
        </p:spPr>
      </p:sp>
      <p:pic>
        <p:nvPicPr>
          <p:cNvPr id="11" name="icon-8" descr="preencoded.png">    </p:cNvPr>
          <p:cNvPicPr>
            <a:picLocks noChangeAspect="1"/>
          </p:cNvPicPr>
          <p:nvPr/>
        </p:nvPicPr>
        <p:blipFill>
          <a:blip r:embed="rId4"/>
          <a:stretch>
            <a:fillRect/>
          </a:stretch>
        </p:blipFill>
        <p:spPr>
          <a:xfrm>
            <a:off x="724205" y="4793285"/>
            <a:ext cx="197510" cy="197510"/>
          </a:xfrm>
          <a:prstGeom prst="rect">
            <a:avLst/>
          </a:prstGeom>
        </p:spPr>
      </p:pic>
      <p:sp>
        <p:nvSpPr>
          <p:cNvPr id="12" name="text-9"/>
          <p:cNvSpPr txBox="1"/>
          <p:nvPr/>
        </p:nvSpPr>
        <p:spPr>
          <a:xfrm>
            <a:off x="1170432" y="4709160"/>
            <a:ext cx="5029200" cy="365760"/>
          </a:xfrm>
          <a:prstGeom prst="rect">
            <a:avLst/>
          </a:prstGeom>
          <a:noFill/>
          <a:ln/>
        </p:spPr>
        <p:txBody>
          <a:bodyPr wrap="square" lIns="0" tIns="0" rIns="0" bIns="0" rtlCol="0" anchor="ctr"/>
          <a:lstStyle/>
          <a:p>
            <a:pPr indent="0" marL="0">
              <a:buNone/>
            </a:pPr>
            <a:r>
              <a:rPr lang="en-US" sz="1600" dirty="0">
                <a:solidFill>
                  <a:schemeClr val="bg1"/>
                </a:solidFill>
              </a:rPr>
              <a:t>1:00 – 3:00 PM</a:t>
            </a:r>
            <a:endParaRPr lang="en-US" sz="1600" dirty="0"/>
          </a:p>
        </p:txBody>
      </p:sp>
      <p:sp>
        <p:nvSpPr>
          <p:cNvPr id="13" name="icon-bg-10"/>
          <p:cNvSpPr/>
          <p:nvPr/>
        </p:nvSpPr>
        <p:spPr>
          <a:xfrm>
            <a:off x="640080" y="5212080"/>
            <a:ext cx="365760" cy="365760"/>
          </a:xfrm>
          <a:prstGeom prst="ellipse">
            <a:avLst/>
          </a:prstGeom>
          <a:solidFill>
            <a:schemeClr val="accent1"/>
          </a:solidFill>
          <a:ln/>
        </p:spPr>
      </p:sp>
      <p:pic>
        <p:nvPicPr>
          <p:cNvPr id="14" name="icon-11" descr="preencoded.png">    </p:cNvPr>
          <p:cNvPicPr>
            <a:picLocks noChangeAspect="1"/>
          </p:cNvPicPr>
          <p:nvPr/>
        </p:nvPicPr>
        <p:blipFill>
          <a:blip r:embed="rId5"/>
          <a:stretch>
            <a:fillRect/>
          </a:stretch>
        </p:blipFill>
        <p:spPr>
          <a:xfrm>
            <a:off x="724205" y="5296205"/>
            <a:ext cx="197510" cy="197510"/>
          </a:xfrm>
          <a:prstGeom prst="rect">
            <a:avLst/>
          </a:prstGeom>
        </p:spPr>
      </p:pic>
      <p:sp>
        <p:nvSpPr>
          <p:cNvPr id="15" name="text-12"/>
          <p:cNvSpPr txBox="1"/>
          <p:nvPr/>
        </p:nvSpPr>
        <p:spPr>
          <a:xfrm>
            <a:off x="1170432" y="5212080"/>
            <a:ext cx="5029200" cy="365760"/>
          </a:xfrm>
          <a:prstGeom prst="rect">
            <a:avLst/>
          </a:prstGeom>
          <a:noFill/>
          <a:ln/>
        </p:spPr>
        <p:txBody>
          <a:bodyPr wrap="square" lIns="0" tIns="0" rIns="0" bIns="0" rtlCol="0" anchor="ctr"/>
          <a:lstStyle/>
          <a:p>
            <a:pPr indent="0" marL="0">
              <a:buNone/>
            </a:pPr>
            <a:r>
              <a:rPr lang="en-US" sz="1600" dirty="0">
                <a:solidFill>
                  <a:schemeClr val="bg1"/>
                </a:solidFill>
              </a:rPr>
              <a:t>B9-L2 Room 2223</a:t>
            </a:r>
            <a:endParaRPr lang="en-US" sz="1600" dirty="0"/>
          </a:p>
        </p:txBody>
      </p:sp>
      <p:sp>
        <p:nvSpPr>
          <p:cNvPr id="16" name="icon-bg-13"/>
          <p:cNvSpPr/>
          <p:nvPr/>
        </p:nvSpPr>
        <p:spPr>
          <a:xfrm>
            <a:off x="640080" y="5715000"/>
            <a:ext cx="365760" cy="365760"/>
          </a:xfrm>
          <a:prstGeom prst="ellipse">
            <a:avLst/>
          </a:prstGeom>
          <a:solidFill>
            <a:schemeClr val="accent1"/>
          </a:solidFill>
          <a:ln/>
        </p:spPr>
      </p:sp>
      <p:pic>
        <p:nvPicPr>
          <p:cNvPr id="17" name="icon-14" descr="preencoded.png">    </p:cNvPr>
          <p:cNvPicPr>
            <a:picLocks noChangeAspect="1"/>
          </p:cNvPicPr>
          <p:nvPr/>
        </p:nvPicPr>
        <p:blipFill>
          <a:blip r:embed="rId6"/>
          <a:stretch>
            <a:fillRect/>
          </a:stretch>
        </p:blipFill>
        <p:spPr>
          <a:xfrm>
            <a:off x="724205" y="5799125"/>
            <a:ext cx="197510" cy="197510"/>
          </a:xfrm>
          <a:prstGeom prst="rect">
            <a:avLst/>
          </a:prstGeom>
        </p:spPr>
      </p:pic>
      <p:sp>
        <p:nvSpPr>
          <p:cNvPr id="18" name="text-15"/>
          <p:cNvSpPr txBox="1"/>
          <p:nvPr/>
        </p:nvSpPr>
        <p:spPr>
          <a:xfrm>
            <a:off x="1170432" y="5715000"/>
            <a:ext cx="5029200" cy="365760"/>
          </a:xfrm>
          <a:prstGeom prst="rect">
            <a:avLst/>
          </a:prstGeom>
          <a:noFill/>
          <a:ln/>
        </p:spPr>
        <p:txBody>
          <a:bodyPr wrap="square" lIns="0" tIns="0" rIns="0" bIns="0" rtlCol="0" anchor="ctr"/>
          <a:lstStyle/>
          <a:p>
            <a:pPr indent="0" marL="0">
              <a:buNone/>
            </a:pPr>
            <a:r>
              <a:rPr lang="en-US" sz="1600" dirty="0">
                <a:solidFill>
                  <a:schemeClr val="bg1"/>
                </a:solidFill>
              </a:rPr>
              <a:t>Presented by </a:t>
            </a:r>
            <a:pPr indent="0" marL="0">
              <a:buNone/>
            </a:pPr>
            <a:r>
              <a:rPr lang="en-US" sz="1600" b="1" dirty="0">
                <a:solidFill>
                  <a:schemeClr val="bg1"/>
                </a:solidFill>
              </a:rPr>
              <a:t>Muhammed Ikbal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1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TODAY  ·  1:00 – 3:00 PM</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Two hours, two parts</a:t>
            </a:r>
            <a:endParaRPr lang="en-US" sz="3200" dirty="0"/>
          </a:p>
        </p:txBody>
      </p:sp>
      <p:sp>
        <p:nvSpPr>
          <p:cNvPr id="4" name="card-17"/>
          <p:cNvSpPr/>
          <p:nvPr/>
        </p:nvSpPr>
        <p:spPr>
          <a:xfrm>
            <a:off x="548640" y="1463040"/>
            <a:ext cx="5349240" cy="4526280"/>
          </a:xfrm>
          <a:prstGeom prst="roundRect">
            <a:avLst>
              <a:gd name="adj" fmla="val 202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icon-bg-18"/>
          <p:cNvSpPr/>
          <p:nvPr/>
        </p:nvSpPr>
        <p:spPr>
          <a:xfrm>
            <a:off x="868680" y="1737360"/>
            <a:ext cx="868680" cy="868680"/>
          </a:xfrm>
          <a:prstGeom prst="ellipse">
            <a:avLst/>
          </a:prstGeom>
          <a:solidFill>
            <a:schemeClr val="accent1"/>
          </a:solidFill>
          <a:ln/>
        </p:spPr>
      </p:sp>
      <p:pic>
        <p:nvPicPr>
          <p:cNvPr id="6" name="icon-19" descr="preencoded.png">    </p:cNvPr>
          <p:cNvPicPr>
            <a:picLocks noChangeAspect="1"/>
          </p:cNvPicPr>
          <p:nvPr/>
        </p:nvPicPr>
        <p:blipFill>
          <a:blip r:embed="rId1"/>
          <a:stretch>
            <a:fillRect/>
          </a:stretch>
        </p:blipFill>
        <p:spPr>
          <a:xfrm>
            <a:off x="1068476" y="1937156"/>
            <a:ext cx="469087" cy="469087"/>
          </a:xfrm>
          <a:prstGeom prst="rect">
            <a:avLst/>
          </a:prstGeom>
        </p:spPr>
      </p:pic>
      <p:sp>
        <p:nvSpPr>
          <p:cNvPr id="7" name="text-20"/>
          <p:cNvSpPr txBox="1"/>
          <p:nvPr/>
        </p:nvSpPr>
        <p:spPr>
          <a:xfrm>
            <a:off x="1965960" y="1810512"/>
            <a:ext cx="374904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PART 1  ·  1:00 – 2:00</a:t>
            </a:r>
            <a:endParaRPr lang="en-US" sz="1300" dirty="0"/>
          </a:p>
        </p:txBody>
      </p:sp>
      <p:sp>
        <p:nvSpPr>
          <p:cNvPr id="8" name="text-21"/>
          <p:cNvSpPr txBox="1"/>
          <p:nvPr/>
        </p:nvSpPr>
        <p:spPr>
          <a:xfrm>
            <a:off x="1965960" y="2103120"/>
            <a:ext cx="3749040" cy="457200"/>
          </a:xfrm>
          <a:prstGeom prst="rect">
            <a:avLst/>
          </a:prstGeom>
          <a:noFill/>
          <a:ln/>
        </p:spPr>
        <p:txBody>
          <a:bodyPr wrap="square" lIns="0" tIns="0" rIns="0" bIns="0" rtlCol="0" anchor="t"/>
          <a:lstStyle/>
          <a:p>
            <a:pPr indent="0" marL="0">
              <a:buNone/>
            </a:pPr>
            <a:r>
              <a:rPr lang="en-US" sz="2200" b="1" dirty="0">
                <a:solidFill>
                  <a:schemeClr val="tx1"/>
                </a:solidFill>
              </a:rPr>
              <a:t>CFD &amp; FDM fundamentals</a:t>
            </a:r>
            <a:endParaRPr lang="en-US" sz="2200" dirty="0"/>
          </a:p>
        </p:txBody>
      </p:sp>
      <p:sp>
        <p:nvSpPr>
          <p:cNvPr id="9" name="badge-22"/>
          <p:cNvSpPr/>
          <p:nvPr/>
        </p:nvSpPr>
        <p:spPr>
          <a:xfrm>
            <a:off x="960120" y="305409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text-23"/>
          <p:cNvSpPr txBox="1"/>
          <p:nvPr/>
        </p:nvSpPr>
        <p:spPr>
          <a:xfrm>
            <a:off x="1554480" y="30175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What is CFD?</a:t>
            </a:r>
            <a:endParaRPr lang="en-US" sz="1700" dirty="0"/>
          </a:p>
        </p:txBody>
      </p:sp>
      <p:sp>
        <p:nvSpPr>
          <p:cNvPr id="11" name="text-24"/>
          <p:cNvSpPr txBox="1"/>
          <p:nvPr/>
        </p:nvSpPr>
        <p:spPr>
          <a:xfrm>
            <a:off x="1554480" y="3364992"/>
            <a:ext cx="4114800" cy="329184"/>
          </a:xfrm>
          <a:prstGeom prst="rect">
            <a:avLst/>
          </a:prstGeom>
          <a:noFill/>
          <a:ln/>
        </p:spPr>
        <p:txBody>
          <a:bodyPr wrap="square" lIns="0" tIns="0" rIns="0" bIns="0" rtlCol="0" anchor="t"/>
          <a:lstStyle/>
          <a:p>
            <a:pPr indent="0" marL="0">
              <a:buNone/>
            </a:pPr>
            <a:r>
              <a:rPr lang="en-US" sz="1400" dirty="0">
                <a:solidFill>
                  <a:schemeClr val="tx2"/>
                </a:solidFill>
              </a:rPr>
              <a:t>ingredients, equations, why numerical methods</a:t>
            </a:r>
            <a:endParaRPr lang="en-US" sz="1400" dirty="0"/>
          </a:p>
        </p:txBody>
      </p:sp>
      <p:sp>
        <p:nvSpPr>
          <p:cNvPr id="12" name="badge-25"/>
          <p:cNvSpPr/>
          <p:nvPr/>
        </p:nvSpPr>
        <p:spPr>
          <a:xfrm>
            <a:off x="960120" y="396849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26"/>
          <p:cNvSpPr txBox="1"/>
          <p:nvPr/>
        </p:nvSpPr>
        <p:spPr>
          <a:xfrm>
            <a:off x="1554480" y="39319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The 7 pillars of CFD</a:t>
            </a:r>
            <a:endParaRPr lang="en-US" sz="1700" dirty="0"/>
          </a:p>
        </p:txBody>
      </p:sp>
      <p:sp>
        <p:nvSpPr>
          <p:cNvPr id="14" name="text-27"/>
          <p:cNvSpPr txBox="1"/>
          <p:nvPr/>
        </p:nvSpPr>
        <p:spPr>
          <a:xfrm>
            <a:off x="1554480" y="4279392"/>
            <a:ext cx="4114800" cy="329184"/>
          </a:xfrm>
          <a:prstGeom prst="rect">
            <a:avLst/>
          </a:prstGeom>
          <a:noFill/>
          <a:ln/>
        </p:spPr>
        <p:txBody>
          <a:bodyPr wrap="square" lIns="0" tIns="0" rIns="0" bIns="0" rtlCol="0" anchor="t"/>
          <a:lstStyle/>
          <a:p>
            <a:pPr indent="0" marL="0">
              <a:buNone/>
            </a:pPr>
            <a:r>
              <a:rPr lang="en-US" sz="1400" dirty="0">
                <a:solidFill>
                  <a:schemeClr val="tx2"/>
                </a:solidFill>
              </a:rPr>
              <a:t>the full workflow, with a running example</a:t>
            </a:r>
            <a:endParaRPr lang="en-US" sz="1400" dirty="0"/>
          </a:p>
        </p:txBody>
      </p:sp>
      <p:sp>
        <p:nvSpPr>
          <p:cNvPr id="15" name="badge-28"/>
          <p:cNvSpPr/>
          <p:nvPr/>
        </p:nvSpPr>
        <p:spPr>
          <a:xfrm>
            <a:off x="960120" y="488289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29"/>
          <p:cNvSpPr txBox="1"/>
          <p:nvPr/>
        </p:nvSpPr>
        <p:spPr>
          <a:xfrm>
            <a:off x="1554480" y="48463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Problem 1 by hand</a:t>
            </a:r>
            <a:endParaRPr lang="en-US" sz="1700" dirty="0"/>
          </a:p>
        </p:txBody>
      </p:sp>
      <p:sp>
        <p:nvSpPr>
          <p:cNvPr id="17" name="text-30"/>
          <p:cNvSpPr txBox="1"/>
          <p:nvPr/>
        </p:nvSpPr>
        <p:spPr>
          <a:xfrm>
            <a:off x="1554480" y="5193792"/>
            <a:ext cx="4114800" cy="329184"/>
          </a:xfrm>
          <a:prstGeom prst="rect">
            <a:avLst/>
          </a:prstGeom>
          <a:noFill/>
          <a:ln/>
        </p:spPr>
        <p:txBody>
          <a:bodyPr wrap="square" lIns="0" tIns="0" rIns="0" bIns="0" rtlCol="0" anchor="t"/>
          <a:lstStyle/>
          <a:p>
            <a:pPr indent="0" marL="0">
              <a:buNone/>
            </a:pPr>
            <a:r>
              <a:rPr lang="en-US" sz="1400" dirty="0">
                <a:solidFill>
                  <a:schemeClr val="tx2"/>
                </a:solidFill>
              </a:rPr>
              <a:t>the finite difference method with a calculator</a:t>
            </a:r>
            <a:endParaRPr lang="en-US" sz="1400" dirty="0"/>
          </a:p>
        </p:txBody>
      </p:sp>
      <p:sp>
        <p:nvSpPr>
          <p:cNvPr id="18" name="card-31"/>
          <p:cNvSpPr/>
          <p:nvPr/>
        </p:nvSpPr>
        <p:spPr>
          <a:xfrm>
            <a:off x="6291072" y="1463040"/>
            <a:ext cx="5349240" cy="4526280"/>
          </a:xfrm>
          <a:prstGeom prst="roundRect">
            <a:avLst>
              <a:gd name="adj" fmla="val 202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9" name="icon-bg-32"/>
          <p:cNvSpPr/>
          <p:nvPr/>
        </p:nvSpPr>
        <p:spPr>
          <a:xfrm>
            <a:off x="6611112" y="1737360"/>
            <a:ext cx="868680" cy="868680"/>
          </a:xfrm>
          <a:prstGeom prst="ellipse">
            <a:avLst/>
          </a:prstGeom>
          <a:solidFill>
            <a:schemeClr val="accent2"/>
          </a:solidFill>
          <a:ln/>
        </p:spPr>
      </p:sp>
      <p:pic>
        <p:nvPicPr>
          <p:cNvPr id="20" name="icon-33" descr="preencoded.png">    </p:cNvPr>
          <p:cNvPicPr>
            <a:picLocks noChangeAspect="1"/>
          </p:cNvPicPr>
          <p:nvPr/>
        </p:nvPicPr>
        <p:blipFill>
          <a:blip r:embed="rId2"/>
          <a:stretch>
            <a:fillRect/>
          </a:stretch>
        </p:blipFill>
        <p:spPr>
          <a:xfrm>
            <a:off x="6810908" y="1937156"/>
            <a:ext cx="469087" cy="469087"/>
          </a:xfrm>
          <a:prstGeom prst="rect">
            <a:avLst/>
          </a:prstGeom>
        </p:spPr>
      </p:pic>
      <p:sp>
        <p:nvSpPr>
          <p:cNvPr id="21" name="text-34"/>
          <p:cNvSpPr txBox="1"/>
          <p:nvPr/>
        </p:nvSpPr>
        <p:spPr>
          <a:xfrm>
            <a:off x="7708392" y="1810512"/>
            <a:ext cx="3749040" cy="274320"/>
          </a:xfrm>
          <a:prstGeom prst="rect">
            <a:avLst/>
          </a:prstGeom>
          <a:noFill/>
          <a:ln/>
        </p:spPr>
        <p:txBody>
          <a:bodyPr wrap="square" lIns="0" tIns="0" rIns="0" bIns="0" rtlCol="0" anchor="t"/>
          <a:lstStyle/>
          <a:p>
            <a:pPr indent="0" marL="0">
              <a:buNone/>
            </a:pPr>
            <a:r>
              <a:rPr lang="en-US" sz="1300" b="1" spc="100" kern="0" dirty="0">
                <a:solidFill>
                  <a:schemeClr val="accent2"/>
                </a:solidFill>
              </a:rPr>
              <a:t>PART 2  ·  2:00 – 3:00</a:t>
            </a:r>
            <a:endParaRPr lang="en-US" sz="1300" dirty="0"/>
          </a:p>
        </p:txBody>
      </p:sp>
      <p:sp>
        <p:nvSpPr>
          <p:cNvPr id="22" name="text-35"/>
          <p:cNvSpPr txBox="1"/>
          <p:nvPr/>
        </p:nvSpPr>
        <p:spPr>
          <a:xfrm>
            <a:off x="7708392" y="2103120"/>
            <a:ext cx="3749040" cy="457200"/>
          </a:xfrm>
          <a:prstGeom prst="rect">
            <a:avLst/>
          </a:prstGeom>
          <a:noFill/>
          <a:ln/>
        </p:spPr>
        <p:txBody>
          <a:bodyPr wrap="square" lIns="0" tIns="0" rIns="0" bIns="0" rtlCol="0" anchor="t"/>
          <a:lstStyle/>
          <a:p>
            <a:pPr indent="0" marL="0">
              <a:buNone/>
            </a:pPr>
            <a:r>
              <a:rPr lang="en-US" sz="2200" b="1" dirty="0">
                <a:solidFill>
                  <a:schemeClr val="tx1"/>
                </a:solidFill>
              </a:rPr>
              <a:t>Hands-on COMSOL</a:t>
            </a:r>
            <a:endParaRPr lang="en-US" sz="2200" dirty="0"/>
          </a:p>
        </p:txBody>
      </p:sp>
      <p:sp>
        <p:nvSpPr>
          <p:cNvPr id="23" name="badge-36"/>
          <p:cNvSpPr/>
          <p:nvPr/>
        </p:nvSpPr>
        <p:spPr>
          <a:xfrm>
            <a:off x="6702552" y="3054096"/>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4" name="text-37"/>
          <p:cNvSpPr txBox="1"/>
          <p:nvPr/>
        </p:nvSpPr>
        <p:spPr>
          <a:xfrm>
            <a:off x="7296912" y="30175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Problem 1 · Pin fin</a:t>
            </a:r>
            <a:endParaRPr lang="en-US" sz="1700" dirty="0"/>
          </a:p>
        </p:txBody>
      </p:sp>
      <p:sp>
        <p:nvSpPr>
          <p:cNvPr id="25" name="text-38"/>
          <p:cNvSpPr txBox="1"/>
          <p:nvPr/>
        </p:nvSpPr>
        <p:spPr>
          <a:xfrm>
            <a:off x="7296912" y="3364992"/>
            <a:ext cx="4114800" cy="329184"/>
          </a:xfrm>
          <a:prstGeom prst="rect">
            <a:avLst/>
          </a:prstGeom>
          <a:noFill/>
          <a:ln/>
        </p:spPr>
        <p:txBody>
          <a:bodyPr wrap="square" lIns="0" tIns="0" rIns="0" bIns="0" rtlCol="0" anchor="t"/>
          <a:lstStyle/>
          <a:p>
            <a:pPr indent="0" marL="0">
              <a:buNone/>
            </a:pPr>
            <a:r>
              <a:rPr lang="en-US" sz="1400" dirty="0">
                <a:solidFill>
                  <a:schemeClr val="tx2"/>
                </a:solidFill>
              </a:rPr>
              <a:t>1D steady heat transfer</a:t>
            </a:r>
            <a:endParaRPr lang="en-US" sz="1400" dirty="0"/>
          </a:p>
        </p:txBody>
      </p:sp>
      <p:sp>
        <p:nvSpPr>
          <p:cNvPr id="26" name="badge-39"/>
          <p:cNvSpPr/>
          <p:nvPr/>
        </p:nvSpPr>
        <p:spPr>
          <a:xfrm>
            <a:off x="6702552" y="3968496"/>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7" name="text-40"/>
          <p:cNvSpPr txBox="1"/>
          <p:nvPr/>
        </p:nvSpPr>
        <p:spPr>
          <a:xfrm>
            <a:off x="7296912" y="39319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Problem 2 · Phosphorus diffusion</a:t>
            </a:r>
            <a:endParaRPr lang="en-US" sz="1700" dirty="0"/>
          </a:p>
        </p:txBody>
      </p:sp>
      <p:sp>
        <p:nvSpPr>
          <p:cNvPr id="28" name="text-41"/>
          <p:cNvSpPr txBox="1"/>
          <p:nvPr/>
        </p:nvSpPr>
        <p:spPr>
          <a:xfrm>
            <a:off x="7296912" y="4279392"/>
            <a:ext cx="4114800" cy="329184"/>
          </a:xfrm>
          <a:prstGeom prst="rect">
            <a:avLst/>
          </a:prstGeom>
          <a:noFill/>
          <a:ln/>
        </p:spPr>
        <p:txBody>
          <a:bodyPr wrap="square" lIns="0" tIns="0" rIns="0" bIns="0" rtlCol="0" anchor="t"/>
          <a:lstStyle/>
          <a:p>
            <a:pPr indent="0" marL="0">
              <a:buNone/>
            </a:pPr>
            <a:r>
              <a:rPr lang="en-US" sz="1400" dirty="0">
                <a:solidFill>
                  <a:schemeClr val="tx2"/>
                </a:solidFill>
              </a:rPr>
              <a:t>1D time-dependent transport</a:t>
            </a:r>
            <a:endParaRPr lang="en-US" sz="1400" dirty="0"/>
          </a:p>
        </p:txBody>
      </p:sp>
      <p:sp>
        <p:nvSpPr>
          <p:cNvPr id="29" name="badge-42"/>
          <p:cNvSpPr/>
          <p:nvPr/>
        </p:nvSpPr>
        <p:spPr>
          <a:xfrm>
            <a:off x="6702552" y="4882896"/>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0" name="text-43"/>
          <p:cNvSpPr txBox="1"/>
          <p:nvPr/>
        </p:nvSpPr>
        <p:spPr>
          <a:xfrm>
            <a:off x="7296912" y="4846320"/>
            <a:ext cx="4114800" cy="329184"/>
          </a:xfrm>
          <a:prstGeom prst="rect">
            <a:avLst/>
          </a:prstGeom>
          <a:noFill/>
          <a:ln/>
        </p:spPr>
        <p:txBody>
          <a:bodyPr wrap="square" lIns="0" tIns="0" rIns="0" bIns="0" rtlCol="0" anchor="t"/>
          <a:lstStyle/>
          <a:p>
            <a:pPr indent="0" marL="0">
              <a:buNone/>
            </a:pPr>
            <a:r>
              <a:rPr lang="en-US" sz="1700" b="1" dirty="0">
                <a:solidFill>
                  <a:schemeClr val="tx1"/>
                </a:solidFill>
              </a:rPr>
              <a:t>Problem 3 · Square plate</a:t>
            </a:r>
            <a:endParaRPr lang="en-US" sz="1700" dirty="0"/>
          </a:p>
        </p:txBody>
      </p:sp>
      <p:sp>
        <p:nvSpPr>
          <p:cNvPr id="31" name="text-44"/>
          <p:cNvSpPr txBox="1"/>
          <p:nvPr/>
        </p:nvSpPr>
        <p:spPr>
          <a:xfrm>
            <a:off x="7296912" y="5193792"/>
            <a:ext cx="4114800" cy="329184"/>
          </a:xfrm>
          <a:prstGeom prst="rect">
            <a:avLst/>
          </a:prstGeom>
          <a:noFill/>
          <a:ln/>
        </p:spPr>
        <p:txBody>
          <a:bodyPr wrap="square" lIns="0" tIns="0" rIns="0" bIns="0" rtlCol="0" anchor="t"/>
          <a:lstStyle/>
          <a:p>
            <a:pPr indent="0" marL="0">
              <a:buNone/>
            </a:pPr>
            <a:r>
              <a:rPr lang="en-US" sz="1400" dirty="0">
                <a:solidFill>
                  <a:schemeClr val="tx2"/>
                </a:solidFill>
              </a:rPr>
              <a:t>2D conduction and a mesh study</a:t>
            </a:r>
            <a:endParaRPr lang="en-US" sz="1400" dirty="0"/>
          </a:p>
        </p:txBody>
      </p:sp>
      <p:sp>
        <p:nvSpPr>
          <p:cNvPr id="32" name="text-45"/>
          <p:cNvSpPr txBox="1"/>
          <p:nvPr/>
        </p:nvSpPr>
        <p:spPr>
          <a:xfrm>
            <a:off x="7296912" y="5596128"/>
            <a:ext cx="4206240" cy="274320"/>
          </a:xfrm>
          <a:prstGeom prst="rect">
            <a:avLst/>
          </a:prstGeom>
          <a:noFill/>
          <a:ln/>
        </p:spPr>
        <p:txBody>
          <a:bodyPr wrap="square" lIns="0" tIns="0" rIns="0" bIns="0" rtlCol="0" anchor="t"/>
          <a:lstStyle/>
          <a:p>
            <a:pPr indent="0" marL="0">
              <a:buNone/>
            </a:pPr>
            <a:r>
              <a:rPr lang="en-US" sz="1300" i="1" dirty="0">
                <a:solidFill>
                  <a:schemeClr val="accent4"/>
                </a:solidFill>
              </a:rPr>
              <a:t>… and more problems from the repo if time allows</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4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COURSE MATERIAL</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Everything is in our repository</a:t>
            </a:r>
            <a:endParaRPr lang="en-US" sz="3200" dirty="0"/>
          </a:p>
        </p:txBody>
      </p:sp>
      <p:sp>
        <p:nvSpPr>
          <p:cNvPr id="4" name="card-47"/>
          <p:cNvSpPr/>
          <p:nvPr/>
        </p:nvSpPr>
        <p:spPr>
          <a:xfrm>
            <a:off x="548640" y="1417320"/>
            <a:ext cx="3291840" cy="4572000"/>
          </a:xfrm>
          <a:prstGeom prst="roundRect">
            <a:avLst>
              <a:gd name="adj" fmla="val 277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48" descr="QR code linking to github.com/maryamomer2004/simple_CFD">    </p:cNvPr>
          <p:cNvPicPr>
            <a:picLocks noChangeAspect="1"/>
          </p:cNvPicPr>
          <p:nvPr/>
        </p:nvPicPr>
        <p:blipFill>
          <a:blip r:embed="rId1"/>
          <a:stretch>
            <a:fillRect/>
          </a:stretch>
        </p:blipFill>
        <p:spPr>
          <a:xfrm>
            <a:off x="914400" y="1645920"/>
            <a:ext cx="2560320" cy="2560320"/>
          </a:xfrm>
          <a:prstGeom prst="rect">
            <a:avLst/>
          </a:prstGeom>
        </p:spPr>
      </p:pic>
      <p:sp>
        <p:nvSpPr>
          <p:cNvPr id="6" name="url-49"/>
          <p:cNvSpPr txBox="1"/>
          <p:nvPr/>
        </p:nvSpPr>
        <p:spPr>
          <a:xfrm>
            <a:off x="685800" y="4389120"/>
            <a:ext cx="3017520" cy="320040"/>
          </a:xfrm>
          <a:prstGeom prst="rect">
            <a:avLst/>
          </a:prstGeom>
          <a:noFill/>
          <a:ln/>
        </p:spPr>
        <p:txBody>
          <a:bodyPr wrap="square" lIns="0" tIns="0" rIns="0" bIns="0" rtlCol="0" anchor="ctr"/>
          <a:lstStyle/>
          <a:p>
            <a:pPr algn="ctr" indent="0" marL="0">
              <a:buNone/>
            </a:pPr>
            <a:r>
              <a:rPr lang="en-US" sz="13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github.com/maryamomer2004/simple_CFD</a:t>
            </a:r>
            <a:endParaRPr lang="en-US" sz="1300" dirty="0"/>
          </a:p>
        </p:txBody>
      </p:sp>
      <p:sp>
        <p:nvSpPr>
          <p:cNvPr id="7" name="text-50"/>
          <p:cNvSpPr txBox="1"/>
          <p:nvPr/>
        </p:nvSpPr>
        <p:spPr>
          <a:xfrm>
            <a:off x="822960" y="4800600"/>
            <a:ext cx="2743200" cy="640080"/>
          </a:xfrm>
          <a:prstGeom prst="rect">
            <a:avLst/>
          </a:prstGeom>
          <a:noFill/>
          <a:ln/>
        </p:spPr>
        <p:txBody>
          <a:bodyPr wrap="square" lIns="0" tIns="0" rIns="0" bIns="0" rtlCol="0" anchor="t"/>
          <a:lstStyle/>
          <a:p>
            <a:pPr algn="ctr" indent="0" marL="0">
              <a:buNone/>
            </a:pPr>
            <a:r>
              <a:rPr lang="en-US" sz="1300" dirty="0">
                <a:solidFill>
                  <a:schemeClr val="tx2"/>
                </a:solidFill>
              </a:rPr>
              <a:t>Scan to open the repo: PDFs, notebooks and COMSOL models</a:t>
            </a:r>
            <a:endParaRPr lang="en-US" sz="1300" dirty="0"/>
          </a:p>
        </p:txBody>
      </p:sp>
      <p:sp>
        <p:nvSpPr>
          <p:cNvPr id="8" name="text-51"/>
          <p:cNvSpPr txBox="1"/>
          <p:nvPr/>
        </p:nvSpPr>
        <p:spPr>
          <a:xfrm>
            <a:off x="4206240" y="1417320"/>
            <a:ext cx="7315200" cy="365760"/>
          </a:xfrm>
          <a:prstGeom prst="rect">
            <a:avLst/>
          </a:prstGeom>
          <a:noFill/>
          <a:ln/>
        </p:spPr>
        <p:txBody>
          <a:bodyPr wrap="square" lIns="0" tIns="0" rIns="0" bIns="0" rtlCol="0" anchor="t"/>
          <a:lstStyle/>
          <a:p>
            <a:pPr indent="0" marL="0">
              <a:buNone/>
            </a:pPr>
            <a:r>
              <a:rPr lang="en-US" sz="1700" b="1" dirty="0">
                <a:solidFill>
                  <a:schemeClr val="tx1"/>
                </a:solidFill>
              </a:rPr>
              <a:t>Every problem folder contains</a:t>
            </a:r>
            <a:endParaRPr lang="en-US" sz="1700" dirty="0"/>
          </a:p>
        </p:txBody>
      </p:sp>
      <p:sp>
        <p:nvSpPr>
          <p:cNvPr id="9" name="icon-bg-52"/>
          <p:cNvSpPr/>
          <p:nvPr/>
        </p:nvSpPr>
        <p:spPr>
          <a:xfrm>
            <a:off x="4434840" y="1920240"/>
            <a:ext cx="868680" cy="868680"/>
          </a:xfrm>
          <a:prstGeom prst="ellipse">
            <a:avLst/>
          </a:prstGeom>
          <a:solidFill>
            <a:schemeClr val="accent1"/>
          </a:solidFill>
          <a:ln/>
        </p:spPr>
      </p:sp>
      <p:pic>
        <p:nvPicPr>
          <p:cNvPr id="10" name="icon-53" descr="preencoded.png">    </p:cNvPr>
          <p:cNvPicPr>
            <a:picLocks noChangeAspect="1"/>
          </p:cNvPicPr>
          <p:nvPr/>
        </p:nvPicPr>
        <p:blipFill>
          <a:blip r:embed="rId3"/>
          <a:stretch>
            <a:fillRect/>
          </a:stretch>
        </p:blipFill>
        <p:spPr>
          <a:xfrm>
            <a:off x="4634636" y="2120036"/>
            <a:ext cx="469087" cy="469087"/>
          </a:xfrm>
          <a:prstGeom prst="rect">
            <a:avLst/>
          </a:prstGeom>
        </p:spPr>
      </p:pic>
      <p:sp>
        <p:nvSpPr>
          <p:cNvPr id="11" name="text-54"/>
          <p:cNvSpPr txBox="1"/>
          <p:nvPr/>
        </p:nvSpPr>
        <p:spPr>
          <a:xfrm>
            <a:off x="4160520" y="288036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rPr>
              <a:t>Problem statement</a:t>
            </a:r>
            <a:endParaRPr lang="en-US" sz="1400" dirty="0"/>
          </a:p>
        </p:txBody>
      </p:sp>
      <p:sp>
        <p:nvSpPr>
          <p:cNvPr id="12" name="text-55"/>
          <p:cNvSpPr txBox="1"/>
          <p:nvPr/>
        </p:nvSpPr>
        <p:spPr>
          <a:xfrm>
            <a:off x="4160520" y="3383280"/>
            <a:ext cx="1417320" cy="274320"/>
          </a:xfrm>
          <a:prstGeom prst="rect">
            <a:avLst/>
          </a:prstGeom>
          <a:noFill/>
          <a:ln/>
        </p:spPr>
        <p:txBody>
          <a:bodyPr wrap="square" lIns="0" tIns="0" rIns="0" bIns="0" rtlCol="0" anchor="t"/>
          <a:lstStyle/>
          <a:p>
            <a:pPr algn="ctr" indent="0" marL="0">
              <a:buNone/>
            </a:pPr>
            <a:r>
              <a:rPr lang="en-US" sz="1200" dirty="0">
                <a:solidFill>
                  <a:schemeClr val="accent4"/>
                </a:solidFill>
              </a:rPr>
              <a:t>PDF</a:t>
            </a:r>
            <a:endParaRPr lang="en-US" sz="1200" dirty="0"/>
          </a:p>
        </p:txBody>
      </p:sp>
      <p:sp>
        <p:nvSpPr>
          <p:cNvPr id="13" name="arrow-56"/>
          <p:cNvSpPr/>
          <p:nvPr/>
        </p:nvSpPr>
        <p:spPr>
          <a:xfrm>
            <a:off x="5394960" y="2354580"/>
            <a:ext cx="274320" cy="0"/>
          </a:xfrm>
          <a:prstGeom prst="line">
            <a:avLst/>
          </a:prstGeom>
          <a:noFill/>
          <a:ln w="19050">
            <a:solidFill>
              <a:schemeClr val="accent4"/>
            </a:solidFill>
            <a:prstDash val="solid"/>
            <a:tailEnd type="triangle"/>
          </a:ln>
        </p:spPr>
      </p:sp>
      <p:sp>
        <p:nvSpPr>
          <p:cNvPr id="14" name="icon-bg-57"/>
          <p:cNvSpPr/>
          <p:nvPr/>
        </p:nvSpPr>
        <p:spPr>
          <a:xfrm>
            <a:off x="5961888" y="1920240"/>
            <a:ext cx="868680" cy="868680"/>
          </a:xfrm>
          <a:prstGeom prst="ellipse">
            <a:avLst/>
          </a:prstGeom>
          <a:solidFill>
            <a:schemeClr val="accent1"/>
          </a:solidFill>
          <a:ln/>
        </p:spPr>
      </p:sp>
      <p:pic>
        <p:nvPicPr>
          <p:cNvPr id="15" name="icon-58" descr="preencoded.png">    </p:cNvPr>
          <p:cNvPicPr>
            <a:picLocks noChangeAspect="1"/>
          </p:cNvPicPr>
          <p:nvPr/>
        </p:nvPicPr>
        <p:blipFill>
          <a:blip r:embed="rId4"/>
          <a:stretch>
            <a:fillRect/>
          </a:stretch>
        </p:blipFill>
        <p:spPr>
          <a:xfrm>
            <a:off x="6161684" y="2120036"/>
            <a:ext cx="469087" cy="469087"/>
          </a:xfrm>
          <a:prstGeom prst="rect">
            <a:avLst/>
          </a:prstGeom>
        </p:spPr>
      </p:pic>
      <p:sp>
        <p:nvSpPr>
          <p:cNvPr id="16" name="text-59"/>
          <p:cNvSpPr txBox="1"/>
          <p:nvPr/>
        </p:nvSpPr>
        <p:spPr>
          <a:xfrm>
            <a:off x="5687568" y="288036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rPr>
              <a:t>Step-by-step solution</a:t>
            </a:r>
            <a:endParaRPr lang="en-US" sz="1400" dirty="0"/>
          </a:p>
        </p:txBody>
      </p:sp>
      <p:sp>
        <p:nvSpPr>
          <p:cNvPr id="17" name="text-60"/>
          <p:cNvSpPr txBox="1"/>
          <p:nvPr/>
        </p:nvSpPr>
        <p:spPr>
          <a:xfrm>
            <a:off x="5687568" y="3383280"/>
            <a:ext cx="1417320" cy="274320"/>
          </a:xfrm>
          <a:prstGeom prst="rect">
            <a:avLst/>
          </a:prstGeom>
          <a:noFill/>
          <a:ln/>
        </p:spPr>
        <p:txBody>
          <a:bodyPr wrap="square" lIns="0" tIns="0" rIns="0" bIns="0" rtlCol="0" anchor="t"/>
          <a:lstStyle/>
          <a:p>
            <a:pPr algn="ctr" indent="0" marL="0">
              <a:buNone/>
            </a:pPr>
            <a:r>
              <a:rPr lang="en-US" sz="1200" dirty="0">
                <a:solidFill>
                  <a:schemeClr val="accent4"/>
                </a:solidFill>
              </a:rPr>
              <a:t>PDF</a:t>
            </a:r>
            <a:endParaRPr lang="en-US" sz="1200" dirty="0"/>
          </a:p>
        </p:txBody>
      </p:sp>
      <p:sp>
        <p:nvSpPr>
          <p:cNvPr id="18" name="arrow-61"/>
          <p:cNvSpPr/>
          <p:nvPr/>
        </p:nvSpPr>
        <p:spPr>
          <a:xfrm>
            <a:off x="6922008" y="2354580"/>
            <a:ext cx="274320" cy="0"/>
          </a:xfrm>
          <a:prstGeom prst="line">
            <a:avLst/>
          </a:prstGeom>
          <a:noFill/>
          <a:ln w="19050">
            <a:solidFill>
              <a:schemeClr val="accent4"/>
            </a:solidFill>
            <a:prstDash val="solid"/>
            <a:tailEnd type="triangle"/>
          </a:ln>
        </p:spPr>
      </p:sp>
      <p:sp>
        <p:nvSpPr>
          <p:cNvPr id="19" name="icon-bg-62"/>
          <p:cNvSpPr/>
          <p:nvPr/>
        </p:nvSpPr>
        <p:spPr>
          <a:xfrm>
            <a:off x="7488936" y="1920240"/>
            <a:ext cx="868680" cy="868680"/>
          </a:xfrm>
          <a:prstGeom prst="ellipse">
            <a:avLst/>
          </a:prstGeom>
          <a:solidFill>
            <a:schemeClr val="accent1"/>
          </a:solidFill>
          <a:ln/>
        </p:spPr>
      </p:sp>
      <p:pic>
        <p:nvPicPr>
          <p:cNvPr id="20" name="icon-63" descr="preencoded.png">    </p:cNvPr>
          <p:cNvPicPr>
            <a:picLocks noChangeAspect="1"/>
          </p:cNvPicPr>
          <p:nvPr/>
        </p:nvPicPr>
        <p:blipFill>
          <a:blip r:embed="rId5"/>
          <a:stretch>
            <a:fillRect/>
          </a:stretch>
        </p:blipFill>
        <p:spPr>
          <a:xfrm>
            <a:off x="7688732" y="2120036"/>
            <a:ext cx="469087" cy="469087"/>
          </a:xfrm>
          <a:prstGeom prst="rect">
            <a:avLst/>
          </a:prstGeom>
        </p:spPr>
      </p:pic>
      <p:sp>
        <p:nvSpPr>
          <p:cNvPr id="21" name="text-64"/>
          <p:cNvSpPr txBox="1"/>
          <p:nvPr/>
        </p:nvSpPr>
        <p:spPr>
          <a:xfrm>
            <a:off x="7214616" y="288036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rPr>
              <a:t>FDM notebook</a:t>
            </a:r>
            <a:endParaRPr lang="en-US" sz="1400" dirty="0"/>
          </a:p>
        </p:txBody>
      </p:sp>
      <p:sp>
        <p:nvSpPr>
          <p:cNvPr id="22" name="text-65"/>
          <p:cNvSpPr txBox="1"/>
          <p:nvPr/>
        </p:nvSpPr>
        <p:spPr>
          <a:xfrm>
            <a:off x="7214616" y="3383280"/>
            <a:ext cx="1417320" cy="274320"/>
          </a:xfrm>
          <a:prstGeom prst="rect">
            <a:avLst/>
          </a:prstGeom>
          <a:noFill/>
          <a:ln/>
        </p:spPr>
        <p:txBody>
          <a:bodyPr wrap="square" lIns="0" tIns="0" rIns="0" bIns="0" rtlCol="0" anchor="t"/>
          <a:lstStyle/>
          <a:p>
            <a:pPr algn="ctr" indent="0" marL="0">
              <a:buNone/>
            </a:pPr>
            <a:r>
              <a:rPr lang="en-US" sz="1200" dirty="0">
                <a:solidFill>
                  <a:schemeClr val="accent4"/>
                </a:solidFill>
              </a:rPr>
              <a:t>plain Python</a:t>
            </a:r>
            <a:endParaRPr lang="en-US" sz="1200" dirty="0"/>
          </a:p>
        </p:txBody>
      </p:sp>
      <p:sp>
        <p:nvSpPr>
          <p:cNvPr id="23" name="arrow-66"/>
          <p:cNvSpPr/>
          <p:nvPr/>
        </p:nvSpPr>
        <p:spPr>
          <a:xfrm>
            <a:off x="8449056" y="2354580"/>
            <a:ext cx="274320" cy="0"/>
          </a:xfrm>
          <a:prstGeom prst="line">
            <a:avLst/>
          </a:prstGeom>
          <a:noFill/>
          <a:ln w="19050">
            <a:solidFill>
              <a:schemeClr val="accent4"/>
            </a:solidFill>
            <a:prstDash val="solid"/>
            <a:tailEnd type="triangle"/>
          </a:ln>
        </p:spPr>
      </p:sp>
      <p:sp>
        <p:nvSpPr>
          <p:cNvPr id="24" name="icon-bg-67"/>
          <p:cNvSpPr/>
          <p:nvPr/>
        </p:nvSpPr>
        <p:spPr>
          <a:xfrm>
            <a:off x="9015984" y="1920240"/>
            <a:ext cx="868680" cy="868680"/>
          </a:xfrm>
          <a:prstGeom prst="ellipse">
            <a:avLst/>
          </a:prstGeom>
          <a:solidFill>
            <a:schemeClr val="accent1"/>
          </a:solidFill>
          <a:ln/>
        </p:spPr>
      </p:sp>
      <p:pic>
        <p:nvPicPr>
          <p:cNvPr id="25" name="icon-68" descr="preencoded.png">    </p:cNvPr>
          <p:cNvPicPr>
            <a:picLocks noChangeAspect="1"/>
          </p:cNvPicPr>
          <p:nvPr/>
        </p:nvPicPr>
        <p:blipFill>
          <a:blip r:embed="rId6"/>
          <a:stretch>
            <a:fillRect/>
          </a:stretch>
        </p:blipFill>
        <p:spPr>
          <a:xfrm>
            <a:off x="9215780" y="2120036"/>
            <a:ext cx="469087" cy="469087"/>
          </a:xfrm>
          <a:prstGeom prst="rect">
            <a:avLst/>
          </a:prstGeom>
        </p:spPr>
      </p:pic>
      <p:sp>
        <p:nvSpPr>
          <p:cNvPr id="26" name="text-69"/>
          <p:cNvSpPr txBox="1"/>
          <p:nvPr/>
        </p:nvSpPr>
        <p:spPr>
          <a:xfrm>
            <a:off x="8741664" y="288036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rPr>
              <a:t>Whiteboard guide</a:t>
            </a:r>
            <a:endParaRPr lang="en-US" sz="1400" dirty="0"/>
          </a:p>
        </p:txBody>
      </p:sp>
      <p:sp>
        <p:nvSpPr>
          <p:cNvPr id="27" name="text-70"/>
          <p:cNvSpPr txBox="1"/>
          <p:nvPr/>
        </p:nvSpPr>
        <p:spPr>
          <a:xfrm>
            <a:off x="8741664" y="3383280"/>
            <a:ext cx="1417320" cy="274320"/>
          </a:xfrm>
          <a:prstGeom prst="rect">
            <a:avLst/>
          </a:prstGeom>
          <a:noFill/>
          <a:ln/>
        </p:spPr>
        <p:txBody>
          <a:bodyPr wrap="square" lIns="0" tIns="0" rIns="0" bIns="0" rtlCol="0" anchor="t"/>
          <a:lstStyle/>
          <a:p>
            <a:pPr algn="ctr" indent="0" marL="0">
              <a:buNone/>
            </a:pPr>
            <a:r>
              <a:rPr lang="en-US" sz="1200" dirty="0">
                <a:solidFill>
                  <a:schemeClr val="accent4"/>
                </a:solidFill>
              </a:rPr>
              <a:t>solved by hand</a:t>
            </a:r>
            <a:endParaRPr lang="en-US" sz="1200" dirty="0"/>
          </a:p>
        </p:txBody>
      </p:sp>
      <p:sp>
        <p:nvSpPr>
          <p:cNvPr id="28" name="arrow-71"/>
          <p:cNvSpPr/>
          <p:nvPr/>
        </p:nvSpPr>
        <p:spPr>
          <a:xfrm>
            <a:off x="9976104" y="2354580"/>
            <a:ext cx="274320" cy="0"/>
          </a:xfrm>
          <a:prstGeom prst="line">
            <a:avLst/>
          </a:prstGeom>
          <a:noFill/>
          <a:ln w="19050">
            <a:solidFill>
              <a:schemeClr val="accent4"/>
            </a:solidFill>
            <a:prstDash val="solid"/>
            <a:tailEnd type="triangle"/>
          </a:ln>
        </p:spPr>
      </p:sp>
      <p:sp>
        <p:nvSpPr>
          <p:cNvPr id="29" name="icon-bg-72"/>
          <p:cNvSpPr/>
          <p:nvPr/>
        </p:nvSpPr>
        <p:spPr>
          <a:xfrm>
            <a:off x="10543032" y="1920240"/>
            <a:ext cx="868680" cy="868680"/>
          </a:xfrm>
          <a:prstGeom prst="ellipse">
            <a:avLst/>
          </a:prstGeom>
          <a:solidFill>
            <a:schemeClr val="accent2"/>
          </a:solidFill>
          <a:ln/>
        </p:spPr>
      </p:sp>
      <p:pic>
        <p:nvPicPr>
          <p:cNvPr id="30" name="icon-73" descr="preencoded.png">    </p:cNvPr>
          <p:cNvPicPr>
            <a:picLocks noChangeAspect="1"/>
          </p:cNvPicPr>
          <p:nvPr/>
        </p:nvPicPr>
        <p:blipFill>
          <a:blip r:embed="rId7"/>
          <a:stretch>
            <a:fillRect/>
          </a:stretch>
        </p:blipFill>
        <p:spPr>
          <a:xfrm>
            <a:off x="10742828" y="2120036"/>
            <a:ext cx="469087" cy="469087"/>
          </a:xfrm>
          <a:prstGeom prst="rect">
            <a:avLst/>
          </a:prstGeom>
        </p:spPr>
      </p:pic>
      <p:sp>
        <p:nvSpPr>
          <p:cNvPr id="31" name="text-74"/>
          <p:cNvSpPr txBox="1"/>
          <p:nvPr/>
        </p:nvSpPr>
        <p:spPr>
          <a:xfrm>
            <a:off x="10268712" y="288036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rPr>
              <a:t>COMSOL model</a:t>
            </a:r>
            <a:endParaRPr lang="en-US" sz="1400" dirty="0"/>
          </a:p>
        </p:txBody>
      </p:sp>
      <p:sp>
        <p:nvSpPr>
          <p:cNvPr id="32" name="text-75"/>
          <p:cNvSpPr txBox="1"/>
          <p:nvPr/>
        </p:nvSpPr>
        <p:spPr>
          <a:xfrm>
            <a:off x="10268712" y="3383280"/>
            <a:ext cx="1417320" cy="274320"/>
          </a:xfrm>
          <a:prstGeom prst="rect">
            <a:avLst/>
          </a:prstGeom>
          <a:noFill/>
          <a:ln/>
        </p:spPr>
        <p:txBody>
          <a:bodyPr wrap="square" lIns="0" tIns="0" rIns="0" bIns="0" rtlCol="0" anchor="t"/>
          <a:lstStyle/>
          <a:p>
            <a:pPr algn="ctr" indent="0" marL="0">
              <a:buNone/>
            </a:pPr>
            <a:r>
              <a:rPr lang="en-US" sz="1200" dirty="0">
                <a:solidFill>
                  <a:schemeClr val="accent4"/>
                </a:solidFill>
              </a:rPr>
              <a:t>.mph + guide</a:t>
            </a:r>
            <a:endParaRPr lang="en-US" sz="1200" dirty="0"/>
          </a:p>
        </p:txBody>
      </p:sp>
      <p:sp>
        <p:nvSpPr>
          <p:cNvPr id="33" name="text-76"/>
          <p:cNvSpPr txBox="1"/>
          <p:nvPr/>
        </p:nvSpPr>
        <p:spPr>
          <a:xfrm>
            <a:off x="4206240" y="4023360"/>
            <a:ext cx="7498080" cy="365760"/>
          </a:xfrm>
          <a:prstGeom prst="rect">
            <a:avLst/>
          </a:prstGeom>
          <a:noFill/>
          <a:ln/>
        </p:spPr>
        <p:txBody>
          <a:bodyPr wrap="square" lIns="0" tIns="0" rIns="0" bIns="0" rtlCol="0" anchor="t"/>
          <a:lstStyle/>
          <a:p>
            <a:pPr indent="0" marL="0">
              <a:buNone/>
            </a:pPr>
            <a:r>
              <a:rPr lang="en-US" sz="1700" b="1" dirty="0">
                <a:solidFill>
                  <a:schemeClr val="tx1"/>
                </a:solidFill>
              </a:rPr>
              <a:t>7 problems, from 1D conduction to the Navier–Stokes equations</a:t>
            </a:r>
            <a:endParaRPr lang="en-US" sz="1700" dirty="0"/>
          </a:p>
        </p:txBody>
      </p:sp>
      <p:sp>
        <p:nvSpPr>
          <p:cNvPr id="34" name="card-77"/>
          <p:cNvSpPr/>
          <p:nvPr/>
        </p:nvSpPr>
        <p:spPr>
          <a:xfrm>
            <a:off x="4206240" y="4526280"/>
            <a:ext cx="987552" cy="1463040"/>
          </a:xfrm>
          <a:prstGeom prst="roundRect">
            <a:avLst>
              <a:gd name="adj" fmla="val 9259"/>
            </a:avLst>
          </a:prstGeom>
          <a:solidFill>
            <a:schemeClr val="accent2">
              <a:alpha val="12000"/>
            </a:schemeClr>
          </a:solidFill>
          <a:ln w="9525">
            <a:solidFill>
              <a:schemeClr val="accent4">
                <a:alpha val="35000"/>
              </a:schemeClr>
            </a:solidFill>
            <a:prstDash val="solid"/>
          </a:ln>
        </p:spPr>
      </p:sp>
      <p:sp>
        <p:nvSpPr>
          <p:cNvPr id="35" name="badge-78"/>
          <p:cNvSpPr/>
          <p:nvPr/>
        </p:nvSpPr>
        <p:spPr>
          <a:xfrm>
            <a:off x="4489704" y="4645152"/>
            <a:ext cx="420624" cy="420624"/>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6" name="text-79"/>
          <p:cNvSpPr txBox="1"/>
          <p:nvPr/>
        </p:nvSpPr>
        <p:spPr>
          <a:xfrm>
            <a:off x="4242816"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Pin fin</a:t>
            </a:r>
            <a:endParaRPr lang="en-US" sz="1200" dirty="0"/>
          </a:p>
        </p:txBody>
      </p:sp>
      <p:sp>
        <p:nvSpPr>
          <p:cNvPr id="37" name="text-80"/>
          <p:cNvSpPr txBox="1"/>
          <p:nvPr/>
        </p:nvSpPr>
        <p:spPr>
          <a:xfrm>
            <a:off x="4242816"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1D · steady</a:t>
            </a:r>
            <a:endParaRPr lang="en-US" sz="1050" dirty="0"/>
          </a:p>
        </p:txBody>
      </p:sp>
      <p:sp>
        <p:nvSpPr>
          <p:cNvPr id="38" name="card-81"/>
          <p:cNvSpPr/>
          <p:nvPr/>
        </p:nvSpPr>
        <p:spPr>
          <a:xfrm>
            <a:off x="5285232" y="4526280"/>
            <a:ext cx="987552" cy="1463040"/>
          </a:xfrm>
          <a:prstGeom prst="roundRect">
            <a:avLst>
              <a:gd name="adj" fmla="val 9259"/>
            </a:avLst>
          </a:prstGeom>
          <a:solidFill>
            <a:schemeClr val="accent2">
              <a:alpha val="12000"/>
            </a:schemeClr>
          </a:solidFill>
          <a:ln w="9525">
            <a:solidFill>
              <a:schemeClr val="accent4">
                <a:alpha val="35000"/>
              </a:schemeClr>
            </a:solidFill>
            <a:prstDash val="solid"/>
          </a:ln>
        </p:spPr>
      </p:sp>
      <p:sp>
        <p:nvSpPr>
          <p:cNvPr id="39" name="badge-82"/>
          <p:cNvSpPr/>
          <p:nvPr/>
        </p:nvSpPr>
        <p:spPr>
          <a:xfrm>
            <a:off x="5568696" y="4645152"/>
            <a:ext cx="420624" cy="420624"/>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40" name="text-83"/>
          <p:cNvSpPr txBox="1"/>
          <p:nvPr/>
        </p:nvSpPr>
        <p:spPr>
          <a:xfrm>
            <a:off x="5321808"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Diffusion</a:t>
            </a:r>
            <a:endParaRPr lang="en-US" sz="1200" dirty="0"/>
          </a:p>
        </p:txBody>
      </p:sp>
      <p:sp>
        <p:nvSpPr>
          <p:cNvPr id="41" name="text-84"/>
          <p:cNvSpPr txBox="1"/>
          <p:nvPr/>
        </p:nvSpPr>
        <p:spPr>
          <a:xfrm>
            <a:off x="5321808"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1D · unsteady</a:t>
            </a:r>
            <a:endParaRPr lang="en-US" sz="1050" dirty="0"/>
          </a:p>
        </p:txBody>
      </p:sp>
      <p:sp>
        <p:nvSpPr>
          <p:cNvPr id="42" name="card-85"/>
          <p:cNvSpPr/>
          <p:nvPr/>
        </p:nvSpPr>
        <p:spPr>
          <a:xfrm>
            <a:off x="6364224" y="4526280"/>
            <a:ext cx="987552" cy="1463040"/>
          </a:xfrm>
          <a:prstGeom prst="roundRect">
            <a:avLst>
              <a:gd name="adj" fmla="val 9259"/>
            </a:avLst>
          </a:prstGeom>
          <a:solidFill>
            <a:schemeClr val="accent2">
              <a:alpha val="12000"/>
            </a:schemeClr>
          </a:solidFill>
          <a:ln w="9525">
            <a:solidFill>
              <a:schemeClr val="accent4">
                <a:alpha val="35000"/>
              </a:schemeClr>
            </a:solidFill>
            <a:prstDash val="solid"/>
          </a:ln>
        </p:spPr>
      </p:sp>
      <p:sp>
        <p:nvSpPr>
          <p:cNvPr id="43" name="badge-86"/>
          <p:cNvSpPr/>
          <p:nvPr/>
        </p:nvSpPr>
        <p:spPr>
          <a:xfrm>
            <a:off x="6647688" y="4645152"/>
            <a:ext cx="420624" cy="420624"/>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44" name="text-87"/>
          <p:cNvSpPr txBox="1"/>
          <p:nvPr/>
        </p:nvSpPr>
        <p:spPr>
          <a:xfrm>
            <a:off x="6400800"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Plate</a:t>
            </a:r>
            <a:endParaRPr lang="en-US" sz="1200" dirty="0"/>
          </a:p>
        </p:txBody>
      </p:sp>
      <p:sp>
        <p:nvSpPr>
          <p:cNvPr id="45" name="text-88"/>
          <p:cNvSpPr txBox="1"/>
          <p:nvPr/>
        </p:nvSpPr>
        <p:spPr>
          <a:xfrm>
            <a:off x="6400800"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2D · Laplace</a:t>
            </a:r>
            <a:endParaRPr lang="en-US" sz="1050" dirty="0"/>
          </a:p>
        </p:txBody>
      </p:sp>
      <p:sp>
        <p:nvSpPr>
          <p:cNvPr id="46" name="card-89"/>
          <p:cNvSpPr/>
          <p:nvPr/>
        </p:nvSpPr>
        <p:spPr>
          <a:xfrm>
            <a:off x="7443216" y="4526280"/>
            <a:ext cx="987552" cy="1463040"/>
          </a:xfrm>
          <a:prstGeom prst="roundRect">
            <a:avLst>
              <a:gd name="adj" fmla="val 9259"/>
            </a:avLst>
          </a:prstGeom>
          <a:solidFill>
            <a:schemeClr val="bg1"/>
          </a:solidFill>
          <a:ln w="9525">
            <a:solidFill>
              <a:schemeClr val="accent4">
                <a:alpha val="35000"/>
              </a:schemeClr>
            </a:solidFill>
            <a:prstDash val="solid"/>
          </a:ln>
        </p:spPr>
      </p:sp>
      <p:sp>
        <p:nvSpPr>
          <p:cNvPr id="47" name="badge-90"/>
          <p:cNvSpPr/>
          <p:nvPr/>
        </p:nvSpPr>
        <p:spPr>
          <a:xfrm>
            <a:off x="7726680" y="4645152"/>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8" name="text-91"/>
          <p:cNvSpPr txBox="1"/>
          <p:nvPr/>
        </p:nvSpPr>
        <p:spPr>
          <a:xfrm>
            <a:off x="7479792"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Brick column</a:t>
            </a:r>
            <a:endParaRPr lang="en-US" sz="1200" dirty="0"/>
          </a:p>
        </p:txBody>
      </p:sp>
      <p:sp>
        <p:nvSpPr>
          <p:cNvPr id="49" name="text-92"/>
          <p:cNvSpPr txBox="1"/>
          <p:nvPr/>
        </p:nvSpPr>
        <p:spPr>
          <a:xfrm>
            <a:off x="7479792"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2D · Robin BC</a:t>
            </a:r>
            <a:endParaRPr lang="en-US" sz="1050" dirty="0"/>
          </a:p>
        </p:txBody>
      </p:sp>
      <p:sp>
        <p:nvSpPr>
          <p:cNvPr id="50" name="card-93"/>
          <p:cNvSpPr/>
          <p:nvPr/>
        </p:nvSpPr>
        <p:spPr>
          <a:xfrm>
            <a:off x="8522208" y="4526280"/>
            <a:ext cx="987552" cy="1463040"/>
          </a:xfrm>
          <a:prstGeom prst="roundRect">
            <a:avLst>
              <a:gd name="adj" fmla="val 9259"/>
            </a:avLst>
          </a:prstGeom>
          <a:solidFill>
            <a:schemeClr val="bg1"/>
          </a:solidFill>
          <a:ln w="9525">
            <a:solidFill>
              <a:schemeClr val="accent4">
                <a:alpha val="35000"/>
              </a:schemeClr>
            </a:solidFill>
            <a:prstDash val="solid"/>
          </a:ln>
        </p:spPr>
      </p:sp>
      <p:sp>
        <p:nvSpPr>
          <p:cNvPr id="51" name="badge-94"/>
          <p:cNvSpPr/>
          <p:nvPr/>
        </p:nvSpPr>
        <p:spPr>
          <a:xfrm>
            <a:off x="8805672" y="4645152"/>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52" name="text-95"/>
          <p:cNvSpPr txBox="1"/>
          <p:nvPr/>
        </p:nvSpPr>
        <p:spPr>
          <a:xfrm>
            <a:off x="8558784"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Conv.–diff.</a:t>
            </a:r>
            <a:endParaRPr lang="en-US" sz="1200" dirty="0"/>
          </a:p>
        </p:txBody>
      </p:sp>
      <p:sp>
        <p:nvSpPr>
          <p:cNvPr id="53" name="text-96"/>
          <p:cNvSpPr txBox="1"/>
          <p:nvPr/>
        </p:nvSpPr>
        <p:spPr>
          <a:xfrm>
            <a:off x="8558784"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1D · Péclet</a:t>
            </a:r>
            <a:endParaRPr lang="en-US" sz="1050" dirty="0"/>
          </a:p>
        </p:txBody>
      </p:sp>
      <p:sp>
        <p:nvSpPr>
          <p:cNvPr id="54" name="card-97"/>
          <p:cNvSpPr/>
          <p:nvPr/>
        </p:nvSpPr>
        <p:spPr>
          <a:xfrm>
            <a:off x="9601200" y="4526280"/>
            <a:ext cx="987552" cy="1463040"/>
          </a:xfrm>
          <a:prstGeom prst="roundRect">
            <a:avLst>
              <a:gd name="adj" fmla="val 9259"/>
            </a:avLst>
          </a:prstGeom>
          <a:solidFill>
            <a:schemeClr val="bg1"/>
          </a:solidFill>
          <a:ln w="9525">
            <a:solidFill>
              <a:schemeClr val="accent4">
                <a:alpha val="35000"/>
              </a:schemeClr>
            </a:solidFill>
            <a:prstDash val="solid"/>
          </a:ln>
        </p:spPr>
      </p:sp>
      <p:sp>
        <p:nvSpPr>
          <p:cNvPr id="55" name="badge-98"/>
          <p:cNvSpPr/>
          <p:nvPr/>
        </p:nvSpPr>
        <p:spPr>
          <a:xfrm>
            <a:off x="9884664" y="4645152"/>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56" name="text-99"/>
          <p:cNvSpPr txBox="1"/>
          <p:nvPr/>
        </p:nvSpPr>
        <p:spPr>
          <a:xfrm>
            <a:off x="9637776"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Cavity flow</a:t>
            </a:r>
            <a:endParaRPr lang="en-US" sz="1200" dirty="0"/>
          </a:p>
        </p:txBody>
      </p:sp>
      <p:sp>
        <p:nvSpPr>
          <p:cNvPr id="57" name="text-100"/>
          <p:cNvSpPr txBox="1"/>
          <p:nvPr/>
        </p:nvSpPr>
        <p:spPr>
          <a:xfrm>
            <a:off x="9637776"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2D · Navier–Stokes</a:t>
            </a:r>
            <a:endParaRPr lang="en-US" sz="1050" dirty="0"/>
          </a:p>
        </p:txBody>
      </p:sp>
      <p:sp>
        <p:nvSpPr>
          <p:cNvPr id="58" name="card-101"/>
          <p:cNvSpPr/>
          <p:nvPr/>
        </p:nvSpPr>
        <p:spPr>
          <a:xfrm>
            <a:off x="10680192" y="4526280"/>
            <a:ext cx="987552" cy="1463040"/>
          </a:xfrm>
          <a:prstGeom prst="roundRect">
            <a:avLst>
              <a:gd name="adj" fmla="val 9259"/>
            </a:avLst>
          </a:prstGeom>
          <a:solidFill>
            <a:schemeClr val="bg1"/>
          </a:solidFill>
          <a:ln w="9525">
            <a:solidFill>
              <a:schemeClr val="accent4">
                <a:alpha val="35000"/>
              </a:schemeClr>
            </a:solidFill>
            <a:prstDash val="solid"/>
          </a:ln>
        </p:spPr>
      </p:sp>
      <p:sp>
        <p:nvSpPr>
          <p:cNvPr id="59" name="badge-102"/>
          <p:cNvSpPr/>
          <p:nvPr/>
        </p:nvSpPr>
        <p:spPr>
          <a:xfrm>
            <a:off x="10963656" y="4645152"/>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60" name="text-103"/>
          <p:cNvSpPr txBox="1"/>
          <p:nvPr/>
        </p:nvSpPr>
        <p:spPr>
          <a:xfrm>
            <a:off x="10716768" y="5138928"/>
            <a:ext cx="914400" cy="274320"/>
          </a:xfrm>
          <a:prstGeom prst="rect">
            <a:avLst/>
          </a:prstGeom>
          <a:noFill/>
          <a:ln/>
        </p:spPr>
        <p:txBody>
          <a:bodyPr wrap="square" lIns="0" tIns="0" rIns="0" bIns="0" rtlCol="0" anchor="t"/>
          <a:lstStyle/>
          <a:p>
            <a:pPr algn="ctr" indent="0" marL="0">
              <a:buNone/>
            </a:pPr>
            <a:r>
              <a:rPr lang="en-US" sz="1200" b="1" dirty="0">
                <a:solidFill>
                  <a:schemeClr val="tx1"/>
                </a:solidFill>
              </a:rPr>
              <a:t>Natural conv.</a:t>
            </a:r>
            <a:endParaRPr lang="en-US" sz="1200" dirty="0"/>
          </a:p>
        </p:txBody>
      </p:sp>
      <p:sp>
        <p:nvSpPr>
          <p:cNvPr id="61" name="text-104"/>
          <p:cNvSpPr txBox="1"/>
          <p:nvPr/>
        </p:nvSpPr>
        <p:spPr>
          <a:xfrm>
            <a:off x="10716768" y="5413248"/>
            <a:ext cx="914400" cy="457200"/>
          </a:xfrm>
          <a:prstGeom prst="rect">
            <a:avLst/>
          </a:prstGeom>
          <a:noFill/>
          <a:ln/>
        </p:spPr>
        <p:txBody>
          <a:bodyPr wrap="square" lIns="0" tIns="0" rIns="0" bIns="0" rtlCol="0" anchor="t"/>
          <a:lstStyle/>
          <a:p>
            <a:pPr algn="ctr" indent="0" marL="0">
              <a:buNone/>
            </a:pPr>
            <a:r>
              <a:rPr lang="en-US" sz="1050" dirty="0">
                <a:solidFill>
                  <a:schemeClr val="tx2"/>
                </a:solidFill>
              </a:rPr>
              <a:t>2D · buoyancy</a:t>
            </a:r>
            <a:endParaRPr lang="en-US" sz="1050" dirty="0"/>
          </a:p>
        </p:txBody>
      </p:sp>
      <p:sp>
        <p:nvSpPr>
          <p:cNvPr id="62" name="text-105"/>
          <p:cNvSpPr txBox="1"/>
          <p:nvPr/>
        </p:nvSpPr>
        <p:spPr>
          <a:xfrm>
            <a:off x="4206240" y="6053328"/>
            <a:ext cx="3657600" cy="228600"/>
          </a:xfrm>
          <a:prstGeom prst="rect">
            <a:avLst/>
          </a:prstGeom>
          <a:noFill/>
          <a:ln/>
        </p:spPr>
        <p:txBody>
          <a:bodyPr wrap="square" lIns="0" tIns="0" rIns="0" bIns="0" rtlCol="0" anchor="t"/>
          <a:lstStyle/>
          <a:p>
            <a:pPr indent="0" marL="0">
              <a:buNone/>
            </a:pPr>
            <a:r>
              <a:rPr lang="en-US" sz="1100" i="1" dirty="0">
                <a:solidFill>
                  <a:schemeClr val="accent4"/>
                </a:solidFill>
              </a:rPr>
              <a:t>orange = today's hands-on</a:t>
            </a:r>
            <a:endParaRPr lang="en-US" sz="11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783080"/>
            <a:ext cx="6949440" cy="365760"/>
          </a:xfrm>
          <a:prstGeom prst="rect">
            <a:avLst/>
          </a:prstGeom>
          <a:noFill/>
          <a:ln/>
        </p:spPr>
        <p:txBody>
          <a:bodyPr wrap="square" lIns="0" tIns="0" rIns="0" bIns="0" rtlCol="0" anchor="t"/>
          <a:lstStyle/>
          <a:p>
            <a:pPr algn="l" indent="0" marL="0">
              <a:buNone/>
            </a:pPr>
            <a:r>
              <a:rPr lang="en-US" sz="1500" b="1" dirty="0">
                <a:solidFill>
                  <a:schemeClr val="accent5"/>
                </a:solidFill>
              </a:rPr>
              <a:t>PART 1  ·  1:00 – 2:00 PM</a:t>
            </a:r>
            <a:endParaRPr lang="en-US" sz="1500" dirty="0"/>
          </a:p>
        </p:txBody>
      </p:sp>
      <p:sp>
        <p:nvSpPr>
          <p:cNvPr id="3" name="Text 0"/>
          <p:cNvSpPr/>
          <p:nvPr>
            <p:ph idx="101" type="title" hasCustomPrompt="1"/>
          </p:nvPr>
        </p:nvSpPr>
        <p:spPr>
          <a:xfrm>
            <a:off x="640080" y="2240280"/>
            <a:ext cx="6949440" cy="1920240"/>
          </a:xfrm>
          <a:prstGeom prst="rect">
            <a:avLst/>
          </a:prstGeom>
          <a:noFill/>
          <a:ln/>
        </p:spPr>
        <p:txBody>
          <a:bodyPr wrap="square" lIns="0" tIns="0" rIns="0" bIns="0" rtlCol="0" anchor="t"/>
          <a:lstStyle/>
          <a:p>
            <a:pPr algn="l" indent="0" marL="0">
              <a:buNone/>
            </a:pPr>
            <a:r>
              <a:rPr lang="en-US" sz="4000" b="1" dirty="0">
                <a:solidFill>
                  <a:schemeClr val="bg1"/>
                </a:solidFill>
              </a:rPr>
              <a:t>Introduction to CFD &amp; the Finite Difference Method</a:t>
            </a:r>
            <a:endParaRPr lang="en-US" sz="4000" dirty="0"/>
          </a:p>
        </p:txBody>
      </p:sp>
      <p:sp>
        <p:nvSpPr>
          <p:cNvPr id="4" name="Text 0"/>
          <p:cNvSpPr/>
          <p:nvPr>
            <p:ph idx="102" type="body" hasCustomPrompt="1"/>
          </p:nvPr>
        </p:nvSpPr>
        <p:spPr>
          <a:xfrm>
            <a:off x="64008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What CFD is  ·  the 7 pillars  ·  Problem 1 solved by hand</a:t>
            </a:r>
            <a:endParaRPr lang="en-US" sz="1800" dirty="0"/>
          </a:p>
        </p:txBody>
      </p:sp>
      <p:sp>
        <p:nvSpPr>
          <p:cNvPr id="5" name="ring-106"/>
          <p:cNvSpPr/>
          <p:nvPr/>
        </p:nvSpPr>
        <p:spPr>
          <a:xfrm>
            <a:off x="8183880" y="1600200"/>
            <a:ext cx="3383280" cy="3383280"/>
          </a:xfrm>
          <a:prstGeom prst="ellipse">
            <a:avLst/>
          </a:prstGeom>
          <a:ln w="19050">
            <a:solidFill>
              <a:schemeClr val="accent5">
                <a:alpha val="50000"/>
              </a:schemeClr>
            </a:solidFill>
            <a:prstDash val="solid"/>
          </a:ln>
        </p:spPr>
      </p:sp>
      <p:sp>
        <p:nvSpPr>
          <p:cNvPr id="6" name="icon-bg-107"/>
          <p:cNvSpPr/>
          <p:nvPr/>
        </p:nvSpPr>
        <p:spPr>
          <a:xfrm>
            <a:off x="8503920" y="1920240"/>
            <a:ext cx="2743200" cy="2743200"/>
          </a:xfrm>
          <a:prstGeom prst="ellipse">
            <a:avLst/>
          </a:prstGeom>
          <a:solidFill>
            <a:schemeClr val="accent1"/>
          </a:solidFill>
          <a:ln/>
        </p:spPr>
      </p:sp>
      <p:pic>
        <p:nvPicPr>
          <p:cNvPr id="7" name="icon-108" descr="preencoded.png">    </p:cNvPr>
          <p:cNvPicPr>
            <a:picLocks noChangeAspect="1"/>
          </p:cNvPicPr>
          <p:nvPr/>
        </p:nvPicPr>
        <p:blipFill>
          <a:blip r:embed="rId1"/>
          <a:stretch>
            <a:fillRect/>
          </a:stretch>
        </p:blipFill>
        <p:spPr>
          <a:xfrm>
            <a:off x="9244584" y="2660904"/>
            <a:ext cx="1261872" cy="12618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109"/>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IS CFD?</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It starts with a physical problem</a:t>
            </a:r>
            <a:endParaRPr lang="en-US" sz="3200" dirty="0"/>
          </a:p>
        </p:txBody>
      </p:sp>
      <p:sp>
        <p:nvSpPr>
          <p:cNvPr id="4" name="text-110"/>
          <p:cNvSpPr txBox="1"/>
          <p:nvPr/>
        </p:nvSpPr>
        <p:spPr>
          <a:xfrm>
            <a:off x="548640" y="1371600"/>
            <a:ext cx="11094415" cy="411480"/>
          </a:xfrm>
          <a:prstGeom prst="rect">
            <a:avLst/>
          </a:prstGeom>
          <a:noFill/>
          <a:ln/>
        </p:spPr>
        <p:txBody>
          <a:bodyPr wrap="square" lIns="0" tIns="0" rIns="0" bIns="0" rtlCol="0" anchor="t"/>
          <a:lstStyle/>
          <a:p>
            <a:pPr indent="0" marL="0">
              <a:buNone/>
            </a:pPr>
            <a:r>
              <a:rPr lang="en-US" sz="1900" dirty="0">
                <a:solidFill>
                  <a:schemeClr val="tx2"/>
                </a:solidFill>
              </a:rPr>
              <a:t>Something happens in the real world, and we want to </a:t>
            </a:r>
            <a:pPr indent="0" marL="0">
              <a:buNone/>
            </a:pPr>
            <a:r>
              <a:rPr lang="en-US" sz="1900" b="1" dirty="0">
                <a:solidFill>
                  <a:schemeClr val="tx2"/>
                </a:solidFill>
              </a:rPr>
              <a:t>predict</a:t>
            </a:r>
            <a:pPr indent="0" marL="0">
              <a:buNone/>
            </a:pPr>
            <a:r>
              <a:rPr lang="en-US" sz="1900" dirty="0">
                <a:solidFill>
                  <a:schemeClr val="tx2"/>
                </a:solidFill>
              </a:rPr>
              <a:t> it.</a:t>
            </a:r>
            <a:endParaRPr lang="en-US" sz="1900" dirty="0"/>
          </a:p>
        </p:txBody>
      </p:sp>
      <p:sp>
        <p:nvSpPr>
          <p:cNvPr id="5" name="card-111"/>
          <p:cNvSpPr/>
          <p:nvPr/>
        </p:nvSpPr>
        <p:spPr>
          <a:xfrm>
            <a:off x="548640" y="2057400"/>
            <a:ext cx="2606040" cy="274320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 name="icon-bg-112"/>
          <p:cNvSpPr/>
          <p:nvPr/>
        </p:nvSpPr>
        <p:spPr>
          <a:xfrm>
            <a:off x="1325880" y="2331720"/>
            <a:ext cx="1051560" cy="1051560"/>
          </a:xfrm>
          <a:prstGeom prst="ellipse">
            <a:avLst/>
          </a:prstGeom>
          <a:solidFill>
            <a:schemeClr val="accent1"/>
          </a:solidFill>
          <a:ln/>
        </p:spPr>
      </p:sp>
      <p:pic>
        <p:nvPicPr>
          <p:cNvPr id="7" name="icon-113" descr="preencoded.png">    </p:cNvPr>
          <p:cNvPicPr>
            <a:picLocks noChangeAspect="1"/>
          </p:cNvPicPr>
          <p:nvPr/>
        </p:nvPicPr>
        <p:blipFill>
          <a:blip r:embed="rId1"/>
          <a:stretch>
            <a:fillRect/>
          </a:stretch>
        </p:blipFill>
        <p:spPr>
          <a:xfrm>
            <a:off x="1567739" y="2573579"/>
            <a:ext cx="567842" cy="567842"/>
          </a:xfrm>
          <a:prstGeom prst="rect">
            <a:avLst/>
          </a:prstGeom>
        </p:spPr>
      </p:pic>
      <p:sp>
        <p:nvSpPr>
          <p:cNvPr id="8" name="text-114"/>
          <p:cNvSpPr txBox="1"/>
          <p:nvPr/>
        </p:nvSpPr>
        <p:spPr>
          <a:xfrm>
            <a:off x="640080" y="3611880"/>
            <a:ext cx="2423160" cy="411480"/>
          </a:xfrm>
          <a:prstGeom prst="rect">
            <a:avLst/>
          </a:prstGeom>
          <a:noFill/>
          <a:ln/>
        </p:spPr>
        <p:txBody>
          <a:bodyPr wrap="square" lIns="0" tIns="0" rIns="0" bIns="0" rtlCol="0" anchor="t"/>
          <a:lstStyle/>
          <a:p>
            <a:pPr algn="ctr" indent="0" marL="0">
              <a:buNone/>
            </a:pPr>
            <a:r>
              <a:rPr lang="en-US" sz="1800" b="1" dirty="0">
                <a:solidFill>
                  <a:schemeClr val="tx1"/>
                </a:solidFill>
              </a:rPr>
              <a:t>Air over a wing</a:t>
            </a:r>
            <a:endParaRPr lang="en-US" sz="1800" dirty="0"/>
          </a:p>
        </p:txBody>
      </p:sp>
      <p:sp>
        <p:nvSpPr>
          <p:cNvPr id="9" name="text-115"/>
          <p:cNvSpPr txBox="1"/>
          <p:nvPr/>
        </p:nvSpPr>
        <p:spPr>
          <a:xfrm>
            <a:off x="640080" y="40690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lift and drag</a:t>
            </a:r>
            <a:endParaRPr lang="en-US" sz="1400" dirty="0"/>
          </a:p>
        </p:txBody>
      </p:sp>
      <p:sp>
        <p:nvSpPr>
          <p:cNvPr id="10" name="card-116"/>
          <p:cNvSpPr/>
          <p:nvPr/>
        </p:nvSpPr>
        <p:spPr>
          <a:xfrm>
            <a:off x="3376879" y="2057400"/>
            <a:ext cx="2606040" cy="274320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1" name="icon-bg-117"/>
          <p:cNvSpPr/>
          <p:nvPr/>
        </p:nvSpPr>
        <p:spPr>
          <a:xfrm>
            <a:off x="4154119" y="2331720"/>
            <a:ext cx="1051560" cy="1051560"/>
          </a:xfrm>
          <a:prstGeom prst="ellipse">
            <a:avLst/>
          </a:prstGeom>
          <a:solidFill>
            <a:schemeClr val="accent1"/>
          </a:solidFill>
          <a:ln/>
        </p:spPr>
      </p:sp>
      <p:pic>
        <p:nvPicPr>
          <p:cNvPr id="12" name="icon-118" descr="preencoded.png">    </p:cNvPr>
          <p:cNvPicPr>
            <a:picLocks noChangeAspect="1"/>
          </p:cNvPicPr>
          <p:nvPr/>
        </p:nvPicPr>
        <p:blipFill>
          <a:blip r:embed="rId2"/>
          <a:stretch>
            <a:fillRect/>
          </a:stretch>
        </p:blipFill>
        <p:spPr>
          <a:xfrm>
            <a:off x="4395978" y="2573579"/>
            <a:ext cx="567842" cy="567842"/>
          </a:xfrm>
          <a:prstGeom prst="rect">
            <a:avLst/>
          </a:prstGeom>
        </p:spPr>
      </p:pic>
      <p:sp>
        <p:nvSpPr>
          <p:cNvPr id="13" name="text-119"/>
          <p:cNvSpPr txBox="1"/>
          <p:nvPr/>
        </p:nvSpPr>
        <p:spPr>
          <a:xfrm>
            <a:off x="3468319" y="3611880"/>
            <a:ext cx="2423160" cy="411480"/>
          </a:xfrm>
          <a:prstGeom prst="rect">
            <a:avLst/>
          </a:prstGeom>
          <a:noFill/>
          <a:ln/>
        </p:spPr>
        <p:txBody>
          <a:bodyPr wrap="square" lIns="0" tIns="0" rIns="0" bIns="0" rtlCol="0" anchor="t"/>
          <a:lstStyle/>
          <a:p>
            <a:pPr algn="ctr" indent="0" marL="0">
              <a:buNone/>
            </a:pPr>
            <a:r>
              <a:rPr lang="en-US" sz="1800" b="1" dirty="0">
                <a:solidFill>
                  <a:schemeClr val="tx1"/>
                </a:solidFill>
              </a:rPr>
              <a:t>Heat in an engine</a:t>
            </a:r>
            <a:endParaRPr lang="en-US" sz="1800" dirty="0"/>
          </a:p>
        </p:txBody>
      </p:sp>
      <p:sp>
        <p:nvSpPr>
          <p:cNvPr id="14" name="text-120"/>
          <p:cNvSpPr txBox="1"/>
          <p:nvPr/>
        </p:nvSpPr>
        <p:spPr>
          <a:xfrm>
            <a:off x="3468319" y="40690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hot spots and cooling</a:t>
            </a:r>
            <a:endParaRPr lang="en-US" sz="1400" dirty="0"/>
          </a:p>
        </p:txBody>
      </p:sp>
      <p:sp>
        <p:nvSpPr>
          <p:cNvPr id="15" name="card-121"/>
          <p:cNvSpPr/>
          <p:nvPr/>
        </p:nvSpPr>
        <p:spPr>
          <a:xfrm>
            <a:off x="6205118" y="2057400"/>
            <a:ext cx="2606040" cy="274320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6" name="icon-bg-122"/>
          <p:cNvSpPr/>
          <p:nvPr/>
        </p:nvSpPr>
        <p:spPr>
          <a:xfrm>
            <a:off x="6982358" y="2331720"/>
            <a:ext cx="1051560" cy="1051560"/>
          </a:xfrm>
          <a:prstGeom prst="ellipse">
            <a:avLst/>
          </a:prstGeom>
          <a:solidFill>
            <a:schemeClr val="accent1"/>
          </a:solidFill>
          <a:ln/>
        </p:spPr>
      </p:sp>
      <p:pic>
        <p:nvPicPr>
          <p:cNvPr id="17" name="icon-123" descr="preencoded.png">    </p:cNvPr>
          <p:cNvPicPr>
            <a:picLocks noChangeAspect="1"/>
          </p:cNvPicPr>
          <p:nvPr/>
        </p:nvPicPr>
        <p:blipFill>
          <a:blip r:embed="rId3"/>
          <a:stretch>
            <a:fillRect/>
          </a:stretch>
        </p:blipFill>
        <p:spPr>
          <a:xfrm>
            <a:off x="7224217" y="2573579"/>
            <a:ext cx="567842" cy="567842"/>
          </a:xfrm>
          <a:prstGeom prst="rect">
            <a:avLst/>
          </a:prstGeom>
        </p:spPr>
      </p:pic>
      <p:sp>
        <p:nvSpPr>
          <p:cNvPr id="18" name="text-124"/>
          <p:cNvSpPr txBox="1"/>
          <p:nvPr/>
        </p:nvSpPr>
        <p:spPr>
          <a:xfrm>
            <a:off x="6296558" y="3611880"/>
            <a:ext cx="2423160" cy="411480"/>
          </a:xfrm>
          <a:prstGeom prst="rect">
            <a:avLst/>
          </a:prstGeom>
          <a:noFill/>
          <a:ln/>
        </p:spPr>
        <p:txBody>
          <a:bodyPr wrap="square" lIns="0" tIns="0" rIns="0" bIns="0" rtlCol="0" anchor="t"/>
          <a:lstStyle/>
          <a:p>
            <a:pPr algn="ctr" indent="0" marL="0">
              <a:buNone/>
            </a:pPr>
            <a:r>
              <a:rPr lang="en-US" sz="1800" b="1" dirty="0">
                <a:solidFill>
                  <a:schemeClr val="tx1"/>
                </a:solidFill>
              </a:rPr>
              <a:t>Blood in an artery</a:t>
            </a:r>
            <a:endParaRPr lang="en-US" sz="1800" dirty="0"/>
          </a:p>
        </p:txBody>
      </p:sp>
      <p:sp>
        <p:nvSpPr>
          <p:cNvPr id="19" name="text-125"/>
          <p:cNvSpPr txBox="1"/>
          <p:nvPr/>
        </p:nvSpPr>
        <p:spPr>
          <a:xfrm>
            <a:off x="6296558" y="40690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pressure and wall stress</a:t>
            </a:r>
            <a:endParaRPr lang="en-US" sz="1400" dirty="0"/>
          </a:p>
        </p:txBody>
      </p:sp>
      <p:sp>
        <p:nvSpPr>
          <p:cNvPr id="20" name="card-126"/>
          <p:cNvSpPr/>
          <p:nvPr/>
        </p:nvSpPr>
        <p:spPr>
          <a:xfrm>
            <a:off x="9033358" y="2057400"/>
            <a:ext cx="2606040" cy="274320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1" name="icon-bg-127"/>
          <p:cNvSpPr/>
          <p:nvPr/>
        </p:nvSpPr>
        <p:spPr>
          <a:xfrm>
            <a:off x="9810598" y="2331720"/>
            <a:ext cx="1051560" cy="1051560"/>
          </a:xfrm>
          <a:prstGeom prst="ellipse">
            <a:avLst/>
          </a:prstGeom>
          <a:solidFill>
            <a:schemeClr val="accent1"/>
          </a:solidFill>
          <a:ln/>
        </p:spPr>
      </p:sp>
      <p:pic>
        <p:nvPicPr>
          <p:cNvPr id="22" name="icon-128" descr="preencoded.png">    </p:cNvPr>
          <p:cNvPicPr>
            <a:picLocks noChangeAspect="1"/>
          </p:cNvPicPr>
          <p:nvPr/>
        </p:nvPicPr>
        <p:blipFill>
          <a:blip r:embed="rId4"/>
          <a:stretch>
            <a:fillRect/>
          </a:stretch>
        </p:blipFill>
        <p:spPr>
          <a:xfrm>
            <a:off x="10052456" y="2573579"/>
            <a:ext cx="567842" cy="567842"/>
          </a:xfrm>
          <a:prstGeom prst="rect">
            <a:avLst/>
          </a:prstGeom>
        </p:spPr>
      </p:pic>
      <p:sp>
        <p:nvSpPr>
          <p:cNvPr id="23" name="text-129"/>
          <p:cNvSpPr txBox="1"/>
          <p:nvPr/>
        </p:nvSpPr>
        <p:spPr>
          <a:xfrm>
            <a:off x="9124798" y="3611880"/>
            <a:ext cx="2423160" cy="411480"/>
          </a:xfrm>
          <a:prstGeom prst="rect">
            <a:avLst/>
          </a:prstGeom>
          <a:noFill/>
          <a:ln/>
        </p:spPr>
        <p:txBody>
          <a:bodyPr wrap="square" lIns="0" tIns="0" rIns="0" bIns="0" rtlCol="0" anchor="t"/>
          <a:lstStyle/>
          <a:p>
            <a:pPr algn="ctr" indent="0" marL="0">
              <a:buNone/>
            </a:pPr>
            <a:r>
              <a:rPr lang="en-US" sz="1800" b="1" dirty="0">
                <a:solidFill>
                  <a:schemeClr val="tx1"/>
                </a:solidFill>
              </a:rPr>
              <a:t>Smoke from a chimney</a:t>
            </a:r>
            <a:endParaRPr lang="en-US" sz="1800" dirty="0"/>
          </a:p>
        </p:txBody>
      </p:sp>
      <p:sp>
        <p:nvSpPr>
          <p:cNvPr id="24" name="text-130"/>
          <p:cNvSpPr txBox="1"/>
          <p:nvPr/>
        </p:nvSpPr>
        <p:spPr>
          <a:xfrm>
            <a:off x="9124798" y="4069080"/>
            <a:ext cx="2423160" cy="457200"/>
          </a:xfrm>
          <a:prstGeom prst="rect">
            <a:avLst/>
          </a:prstGeom>
          <a:noFill/>
          <a:ln/>
        </p:spPr>
        <p:txBody>
          <a:bodyPr wrap="square" lIns="0" tIns="0" rIns="0" bIns="0" rtlCol="0" anchor="t"/>
          <a:lstStyle/>
          <a:p>
            <a:pPr algn="ctr" indent="0" marL="0">
              <a:buNone/>
            </a:pPr>
            <a:r>
              <a:rPr lang="en-US" sz="1400" dirty="0">
                <a:solidFill>
                  <a:schemeClr val="tx2"/>
                </a:solidFill>
              </a:rPr>
              <a:t>where the pollution goes</a:t>
            </a:r>
            <a:endParaRPr lang="en-US" sz="1400" dirty="0"/>
          </a:p>
        </p:txBody>
      </p:sp>
      <p:sp>
        <p:nvSpPr>
          <p:cNvPr id="25" name="note-strip-131"/>
          <p:cNvSpPr/>
          <p:nvPr/>
        </p:nvSpPr>
        <p:spPr>
          <a:xfrm>
            <a:off x="548640" y="5212080"/>
            <a:ext cx="11094415" cy="731520"/>
          </a:xfrm>
          <a:prstGeom prst="roundRect">
            <a:avLst>
              <a:gd name="adj" fmla="val 12500"/>
            </a:avLst>
          </a:prstGeom>
          <a:solidFill>
            <a:schemeClr val="accent2">
              <a:alpha val="12000"/>
            </a:schemeClr>
          </a:solidFill>
          <a:ln/>
        </p:spPr>
      </p:sp>
      <p:sp>
        <p:nvSpPr>
          <p:cNvPr id="26" name="icon-bg-132"/>
          <p:cNvSpPr/>
          <p:nvPr/>
        </p:nvSpPr>
        <p:spPr>
          <a:xfrm>
            <a:off x="685800" y="5385816"/>
            <a:ext cx="384048" cy="384048"/>
          </a:xfrm>
          <a:prstGeom prst="ellipse">
            <a:avLst/>
          </a:prstGeom>
          <a:solidFill>
            <a:schemeClr val="accent2"/>
          </a:solidFill>
          <a:ln/>
        </p:spPr>
      </p:sp>
      <p:pic>
        <p:nvPicPr>
          <p:cNvPr id="27" name="icon-133" descr="preencoded.png">    </p:cNvPr>
          <p:cNvPicPr>
            <a:picLocks noChangeAspect="1"/>
          </p:cNvPicPr>
          <p:nvPr/>
        </p:nvPicPr>
        <p:blipFill>
          <a:blip r:embed="rId5"/>
          <a:stretch>
            <a:fillRect/>
          </a:stretch>
        </p:blipFill>
        <p:spPr>
          <a:xfrm>
            <a:off x="774131" y="5474147"/>
            <a:ext cx="207386" cy="207386"/>
          </a:xfrm>
          <a:prstGeom prst="rect">
            <a:avLst/>
          </a:prstGeom>
        </p:spPr>
      </p:pic>
      <p:sp>
        <p:nvSpPr>
          <p:cNvPr id="28" name="text-134"/>
          <p:cNvSpPr txBox="1"/>
          <p:nvPr/>
        </p:nvSpPr>
        <p:spPr>
          <a:xfrm>
            <a:off x="1234440" y="5212080"/>
            <a:ext cx="10225735" cy="731520"/>
          </a:xfrm>
          <a:prstGeom prst="rect">
            <a:avLst/>
          </a:prstGeom>
          <a:noFill/>
          <a:ln/>
        </p:spPr>
        <p:txBody>
          <a:bodyPr wrap="square" lIns="0" tIns="0" rIns="0" bIns="0" rtlCol="0" anchor="ctr"/>
          <a:lstStyle/>
          <a:p>
            <a:pPr indent="0" marL="0">
              <a:buNone/>
            </a:pPr>
            <a:r>
              <a:rPr lang="en-US" sz="1800" b="1" dirty="0">
                <a:solidFill>
                  <a:schemeClr val="tx1"/>
                </a:solidFill>
              </a:rPr>
              <a:t>Computational Fluid Dynamics</a:t>
            </a:r>
            <a:pPr indent="0" marL="0">
              <a:buNone/>
            </a:pPr>
            <a:r>
              <a:rPr lang="en-US" sz="1800" dirty="0">
                <a:solidFill>
                  <a:schemeClr val="tx1"/>
                </a:solidFill>
              </a:rPr>
              <a:t> = predicting flow and heat transfer by solving their equations on a computer</a:t>
            </a:r>
            <a:endParaRPr lang="en-US" sz="18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3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IS CFD?</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Every problem has three ingredients</a:t>
            </a:r>
            <a:endParaRPr lang="en-US" sz="3200" dirty="0"/>
          </a:p>
        </p:txBody>
      </p:sp>
      <p:sp>
        <p:nvSpPr>
          <p:cNvPr id="4" name="card-136"/>
          <p:cNvSpPr/>
          <p:nvPr/>
        </p:nvSpPr>
        <p:spPr>
          <a:xfrm>
            <a:off x="548640" y="1463040"/>
            <a:ext cx="3291840" cy="4160520"/>
          </a:xfrm>
          <a:prstGeom prst="roundRect">
            <a:avLst>
              <a:gd name="adj" fmla="val 277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icon-bg-137"/>
          <p:cNvSpPr/>
          <p:nvPr/>
        </p:nvSpPr>
        <p:spPr>
          <a:xfrm>
            <a:off x="822960" y="1737360"/>
            <a:ext cx="914400" cy="914400"/>
          </a:xfrm>
          <a:prstGeom prst="ellipse">
            <a:avLst/>
          </a:prstGeom>
          <a:solidFill>
            <a:schemeClr val="accent1"/>
          </a:solidFill>
          <a:ln/>
        </p:spPr>
      </p:sp>
      <p:pic>
        <p:nvPicPr>
          <p:cNvPr id="6" name="icon-138" descr="preencoded.png">    </p:cNvPr>
          <p:cNvPicPr>
            <a:picLocks noChangeAspect="1"/>
          </p:cNvPicPr>
          <p:nvPr/>
        </p:nvPicPr>
        <p:blipFill>
          <a:blip r:embed="rId1"/>
          <a:stretch>
            <a:fillRect/>
          </a:stretch>
        </p:blipFill>
        <p:spPr>
          <a:xfrm>
            <a:off x="1033272" y="1947672"/>
            <a:ext cx="493776" cy="493776"/>
          </a:xfrm>
          <a:prstGeom prst="rect">
            <a:avLst/>
          </a:prstGeom>
        </p:spPr>
      </p:pic>
      <p:sp>
        <p:nvSpPr>
          <p:cNvPr id="7" name="text-139"/>
          <p:cNvSpPr txBox="1"/>
          <p:nvPr/>
        </p:nvSpPr>
        <p:spPr>
          <a:xfrm>
            <a:off x="1874520" y="1783080"/>
            <a:ext cx="1874520" cy="411480"/>
          </a:xfrm>
          <a:prstGeom prst="rect">
            <a:avLst/>
          </a:prstGeom>
          <a:noFill/>
          <a:ln/>
        </p:spPr>
        <p:txBody>
          <a:bodyPr wrap="square" lIns="0" tIns="0" rIns="0" bIns="0" rtlCol="0" anchor="t"/>
          <a:lstStyle/>
          <a:p>
            <a:pPr indent="0" marL="0">
              <a:buNone/>
            </a:pPr>
            <a:r>
              <a:rPr lang="en-US" sz="2200" b="1" dirty="0">
                <a:solidFill>
                  <a:schemeClr val="tx1"/>
                </a:solidFill>
              </a:rPr>
              <a:t>Geometry</a:t>
            </a:r>
            <a:endParaRPr lang="en-US" sz="2200" dirty="0"/>
          </a:p>
        </p:txBody>
      </p:sp>
      <p:sp>
        <p:nvSpPr>
          <p:cNvPr id="8" name="text-140"/>
          <p:cNvSpPr txBox="1"/>
          <p:nvPr/>
        </p:nvSpPr>
        <p:spPr>
          <a:xfrm>
            <a:off x="1874520" y="2212848"/>
            <a:ext cx="1874520" cy="548640"/>
          </a:xfrm>
          <a:prstGeom prst="rect">
            <a:avLst/>
          </a:prstGeom>
          <a:noFill/>
          <a:ln/>
        </p:spPr>
        <p:txBody>
          <a:bodyPr wrap="square" lIns="0" tIns="0" rIns="0" bIns="0" rtlCol="0" anchor="t"/>
          <a:lstStyle/>
          <a:p>
            <a:pPr indent="0" marL="0">
              <a:buNone/>
            </a:pPr>
            <a:r>
              <a:rPr lang="en-US" sz="1600" i="1" dirty="0">
                <a:solidFill>
                  <a:schemeClr val="accent1"/>
                </a:solidFill>
              </a:rPr>
              <a:t>Where?</a:t>
            </a:r>
            <a:endParaRPr lang="en-US" sz="1600" dirty="0"/>
          </a:p>
        </p:txBody>
      </p:sp>
      <p:sp>
        <p:nvSpPr>
          <p:cNvPr id="9" name="text-141"/>
          <p:cNvSpPr txBox="1"/>
          <p:nvPr/>
        </p:nvSpPr>
        <p:spPr>
          <a:xfrm>
            <a:off x="822960" y="2880360"/>
            <a:ext cx="2743200" cy="1280160"/>
          </a:xfrm>
          <a:prstGeom prst="rect">
            <a:avLst/>
          </a:prstGeom>
          <a:noFill/>
          <a:ln/>
        </p:spPr>
        <p:txBody>
          <a:bodyPr wrap="square" lIns="0" tIns="0" rIns="0" bIns="0" rtlCol="0" anchor="t"/>
          <a:lstStyle/>
          <a:p>
            <a:pPr indent="0" marL="0">
              <a:buNone/>
            </a:pPr>
            <a:r>
              <a:rPr lang="en-US" sz="1500" dirty="0">
                <a:solidFill>
                  <a:schemeClr val="tx2"/>
                </a:solidFill>
              </a:rPr>
              <a:t>A volume of space, the </a:t>
            </a:r>
            <a:pPr indent="0" marL="0">
              <a:buNone/>
            </a:pPr>
            <a:r>
              <a:rPr lang="en-US" sz="1500" b="1" dirty="0">
                <a:solidFill>
                  <a:schemeClr val="tx2"/>
                </a:solidFill>
              </a:rPr>
              <a:t>control volume</a:t>
            </a:r>
            <a:pPr indent="0" marL="0">
              <a:buNone/>
            </a:pPr>
            <a:r>
              <a:rPr lang="en-US" sz="1500" dirty="0">
                <a:solidFill>
                  <a:schemeClr val="tx2"/>
                </a:solidFill>
              </a:rPr>
              <a:t>, bounded by walls, inlets and outlets.</a:t>
            </a:r>
            <a:endParaRPr lang="en-US" sz="1500" dirty="0"/>
          </a:p>
        </p:txBody>
      </p:sp>
      <p:sp>
        <p:nvSpPr>
          <p:cNvPr id="10" name="card-142"/>
          <p:cNvSpPr/>
          <p:nvPr/>
        </p:nvSpPr>
        <p:spPr>
          <a:xfrm>
            <a:off x="731520" y="4343400"/>
            <a:ext cx="2926080" cy="1097280"/>
          </a:xfrm>
          <a:prstGeom prst="roundRect">
            <a:avLst>
              <a:gd name="adj" fmla="val 8333"/>
            </a:avLst>
          </a:prstGeom>
          <a:solidFill>
            <a:schemeClr val="bg2"/>
          </a:solidFill>
          <a:ln/>
        </p:spPr>
      </p:sp>
      <p:sp>
        <p:nvSpPr>
          <p:cNvPr id="11" name="text-143"/>
          <p:cNvSpPr txBox="1"/>
          <p:nvPr/>
        </p:nvSpPr>
        <p:spPr>
          <a:xfrm>
            <a:off x="896112" y="4434840"/>
            <a:ext cx="265176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IN THE EXAMPLE</a:t>
            </a:r>
            <a:endParaRPr lang="en-US" sz="1050" dirty="0"/>
          </a:p>
        </p:txBody>
      </p:sp>
      <p:sp>
        <p:nvSpPr>
          <p:cNvPr id="12" name="text-144"/>
          <p:cNvSpPr txBox="1"/>
          <p:nvPr/>
        </p:nvSpPr>
        <p:spPr>
          <a:xfrm>
            <a:off x="896112" y="4681728"/>
            <a:ext cx="2651760" cy="685800"/>
          </a:xfrm>
          <a:prstGeom prst="rect">
            <a:avLst/>
          </a:prstGeom>
          <a:noFill/>
          <a:ln/>
        </p:spPr>
        <p:txBody>
          <a:bodyPr wrap="square" lIns="0" tIns="0" rIns="0" bIns="0" rtlCol="0" anchor="t"/>
          <a:lstStyle/>
          <a:p>
            <a:pPr indent="0" marL="0">
              <a:buNone/>
            </a:pPr>
            <a:r>
              <a:rPr lang="en-US" sz="1400" dirty="0">
                <a:solidFill>
                  <a:schemeClr val="tx1"/>
                </a:solidFill>
              </a:rPr>
              <a:t>the inside of a duct with a cylinder in it</a:t>
            </a:r>
            <a:endParaRPr lang="en-US" sz="1400" dirty="0"/>
          </a:p>
        </p:txBody>
      </p:sp>
      <p:sp>
        <p:nvSpPr>
          <p:cNvPr id="13" name="badge-145"/>
          <p:cNvSpPr/>
          <p:nvPr/>
        </p:nvSpPr>
        <p:spPr>
          <a:xfrm>
            <a:off x="3895344" y="3291840"/>
            <a:ext cx="502920" cy="502920"/>
          </a:xfrm>
          <a:prstGeom prst="ellipse">
            <a:avLst/>
          </a:prstGeom>
          <a:solidFill>
            <a:schemeClr val="tx1"/>
          </a:solid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4" name="card-146"/>
          <p:cNvSpPr/>
          <p:nvPr/>
        </p:nvSpPr>
        <p:spPr>
          <a:xfrm>
            <a:off x="4448556" y="1463040"/>
            <a:ext cx="3291840" cy="4160520"/>
          </a:xfrm>
          <a:prstGeom prst="roundRect">
            <a:avLst>
              <a:gd name="adj" fmla="val 277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icon-bg-147"/>
          <p:cNvSpPr/>
          <p:nvPr/>
        </p:nvSpPr>
        <p:spPr>
          <a:xfrm>
            <a:off x="4722876" y="1737360"/>
            <a:ext cx="914400" cy="914400"/>
          </a:xfrm>
          <a:prstGeom prst="ellipse">
            <a:avLst/>
          </a:prstGeom>
          <a:solidFill>
            <a:schemeClr val="accent2"/>
          </a:solidFill>
          <a:ln/>
        </p:spPr>
      </p:sp>
      <p:pic>
        <p:nvPicPr>
          <p:cNvPr id="16" name="icon-148" descr="preencoded.png">    </p:cNvPr>
          <p:cNvPicPr>
            <a:picLocks noChangeAspect="1"/>
          </p:cNvPicPr>
          <p:nvPr/>
        </p:nvPicPr>
        <p:blipFill>
          <a:blip r:embed="rId2"/>
          <a:stretch>
            <a:fillRect/>
          </a:stretch>
        </p:blipFill>
        <p:spPr>
          <a:xfrm>
            <a:off x="4933188" y="1947672"/>
            <a:ext cx="493776" cy="493776"/>
          </a:xfrm>
          <a:prstGeom prst="rect">
            <a:avLst/>
          </a:prstGeom>
        </p:spPr>
      </p:pic>
      <p:sp>
        <p:nvSpPr>
          <p:cNvPr id="17" name="text-149"/>
          <p:cNvSpPr txBox="1"/>
          <p:nvPr/>
        </p:nvSpPr>
        <p:spPr>
          <a:xfrm>
            <a:off x="5774436" y="1783080"/>
            <a:ext cx="1874520" cy="411480"/>
          </a:xfrm>
          <a:prstGeom prst="rect">
            <a:avLst/>
          </a:prstGeom>
          <a:noFill/>
          <a:ln/>
        </p:spPr>
        <p:txBody>
          <a:bodyPr wrap="square" lIns="0" tIns="0" rIns="0" bIns="0" rtlCol="0" anchor="t"/>
          <a:lstStyle/>
          <a:p>
            <a:pPr indent="0" marL="0">
              <a:buNone/>
            </a:pPr>
            <a:r>
              <a:rPr lang="en-US" sz="2200" b="1" dirty="0">
                <a:solidFill>
                  <a:schemeClr val="tx1"/>
                </a:solidFill>
              </a:rPr>
              <a:t>Physics</a:t>
            </a:r>
            <a:endParaRPr lang="en-US" sz="2200" dirty="0"/>
          </a:p>
        </p:txBody>
      </p:sp>
      <p:sp>
        <p:nvSpPr>
          <p:cNvPr id="18" name="text-150"/>
          <p:cNvSpPr txBox="1"/>
          <p:nvPr/>
        </p:nvSpPr>
        <p:spPr>
          <a:xfrm>
            <a:off x="5774436" y="2212848"/>
            <a:ext cx="1874520" cy="548640"/>
          </a:xfrm>
          <a:prstGeom prst="rect">
            <a:avLst/>
          </a:prstGeom>
          <a:noFill/>
          <a:ln/>
        </p:spPr>
        <p:txBody>
          <a:bodyPr wrap="square" lIns="0" tIns="0" rIns="0" bIns="0" rtlCol="0" anchor="t"/>
          <a:lstStyle/>
          <a:p>
            <a:pPr indent="0" marL="0">
              <a:buNone/>
            </a:pPr>
            <a:r>
              <a:rPr lang="en-US" sz="1600" i="1" dirty="0">
                <a:solidFill>
                  <a:schemeClr val="accent2"/>
                </a:solidFill>
              </a:rPr>
              <a:t>What happens?</a:t>
            </a:r>
            <a:endParaRPr lang="en-US" sz="1600" dirty="0"/>
          </a:p>
        </p:txBody>
      </p:sp>
      <p:sp>
        <p:nvSpPr>
          <p:cNvPr id="19" name="text-151"/>
          <p:cNvSpPr txBox="1"/>
          <p:nvPr/>
        </p:nvSpPr>
        <p:spPr>
          <a:xfrm>
            <a:off x="4722876" y="2880360"/>
            <a:ext cx="2743200" cy="1280160"/>
          </a:xfrm>
          <a:prstGeom prst="rect">
            <a:avLst/>
          </a:prstGeom>
          <a:noFill/>
          <a:ln/>
        </p:spPr>
        <p:txBody>
          <a:bodyPr wrap="square" lIns="0" tIns="0" rIns="0" bIns="0" rtlCol="0" anchor="t"/>
          <a:lstStyle/>
          <a:p>
            <a:pPr indent="0" marL="0">
              <a:buNone/>
            </a:pPr>
            <a:r>
              <a:rPr lang="en-US" sz="1500" dirty="0">
                <a:solidFill>
                  <a:schemeClr val="tx2"/>
                </a:solidFill>
              </a:rPr>
              <a:t>The event inside that volume: flow, heat transfer, mixing, reactions …</a:t>
            </a:r>
            <a:endParaRPr lang="en-US" sz="1500" dirty="0"/>
          </a:p>
        </p:txBody>
      </p:sp>
      <p:sp>
        <p:nvSpPr>
          <p:cNvPr id="20" name="card-152"/>
          <p:cNvSpPr/>
          <p:nvPr/>
        </p:nvSpPr>
        <p:spPr>
          <a:xfrm>
            <a:off x="4631436" y="4343400"/>
            <a:ext cx="2926080" cy="1097280"/>
          </a:xfrm>
          <a:prstGeom prst="roundRect">
            <a:avLst>
              <a:gd name="adj" fmla="val 8333"/>
            </a:avLst>
          </a:prstGeom>
          <a:solidFill>
            <a:schemeClr val="bg2"/>
          </a:solidFill>
          <a:ln/>
        </p:spPr>
      </p:sp>
      <p:sp>
        <p:nvSpPr>
          <p:cNvPr id="21" name="text-153"/>
          <p:cNvSpPr txBox="1"/>
          <p:nvPr/>
        </p:nvSpPr>
        <p:spPr>
          <a:xfrm>
            <a:off x="4796028" y="4434840"/>
            <a:ext cx="265176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IN THE EXAMPLE</a:t>
            </a:r>
            <a:endParaRPr lang="en-US" sz="1050" dirty="0"/>
          </a:p>
        </p:txBody>
      </p:sp>
      <p:sp>
        <p:nvSpPr>
          <p:cNvPr id="22" name="text-154"/>
          <p:cNvSpPr txBox="1"/>
          <p:nvPr/>
        </p:nvSpPr>
        <p:spPr>
          <a:xfrm>
            <a:off x="4796028" y="4681728"/>
            <a:ext cx="2651760" cy="685800"/>
          </a:xfrm>
          <a:prstGeom prst="rect">
            <a:avLst/>
          </a:prstGeom>
          <a:noFill/>
          <a:ln/>
        </p:spPr>
        <p:txBody>
          <a:bodyPr wrap="square" lIns="0" tIns="0" rIns="0" bIns="0" rtlCol="0" anchor="t"/>
          <a:lstStyle/>
          <a:p>
            <a:pPr indent="0" marL="0">
              <a:buNone/>
            </a:pPr>
            <a:r>
              <a:rPr lang="en-US" sz="1400" dirty="0">
                <a:solidFill>
                  <a:schemeClr val="tx1"/>
                </a:solidFill>
              </a:rPr>
              <a:t>air flows in, speeds up around the cylinder and flows out</a:t>
            </a:r>
            <a:endParaRPr lang="en-US" sz="1400" dirty="0"/>
          </a:p>
        </p:txBody>
      </p:sp>
      <p:sp>
        <p:nvSpPr>
          <p:cNvPr id="23" name="badge-155"/>
          <p:cNvSpPr/>
          <p:nvPr/>
        </p:nvSpPr>
        <p:spPr>
          <a:xfrm>
            <a:off x="7795260" y="3291840"/>
            <a:ext cx="502920" cy="502920"/>
          </a:xfrm>
          <a:prstGeom prst="ellipse">
            <a:avLst/>
          </a:prstGeom>
          <a:solidFill>
            <a:schemeClr val="tx1"/>
          </a:solid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24" name="card-156"/>
          <p:cNvSpPr/>
          <p:nvPr/>
        </p:nvSpPr>
        <p:spPr>
          <a:xfrm>
            <a:off x="8348472" y="1463040"/>
            <a:ext cx="3291840" cy="4160520"/>
          </a:xfrm>
          <a:prstGeom prst="roundRect">
            <a:avLst>
              <a:gd name="adj" fmla="val 277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5" name="icon-bg-157"/>
          <p:cNvSpPr/>
          <p:nvPr/>
        </p:nvSpPr>
        <p:spPr>
          <a:xfrm>
            <a:off x="8622792" y="1737360"/>
            <a:ext cx="914400" cy="914400"/>
          </a:xfrm>
          <a:prstGeom prst="ellipse">
            <a:avLst/>
          </a:prstGeom>
          <a:solidFill>
            <a:schemeClr val="accent3"/>
          </a:solidFill>
          <a:ln/>
        </p:spPr>
      </p:sp>
      <p:pic>
        <p:nvPicPr>
          <p:cNvPr id="26" name="icon-158" descr="preencoded.png">    </p:cNvPr>
          <p:cNvPicPr>
            <a:picLocks noChangeAspect="1"/>
          </p:cNvPicPr>
          <p:nvPr/>
        </p:nvPicPr>
        <p:blipFill>
          <a:blip r:embed="rId3"/>
          <a:stretch>
            <a:fillRect/>
          </a:stretch>
        </p:blipFill>
        <p:spPr>
          <a:xfrm>
            <a:off x="8833104" y="1947672"/>
            <a:ext cx="493776" cy="493776"/>
          </a:xfrm>
          <a:prstGeom prst="rect">
            <a:avLst/>
          </a:prstGeom>
        </p:spPr>
      </p:pic>
      <p:sp>
        <p:nvSpPr>
          <p:cNvPr id="27" name="text-159"/>
          <p:cNvSpPr txBox="1"/>
          <p:nvPr/>
        </p:nvSpPr>
        <p:spPr>
          <a:xfrm>
            <a:off x="9674352" y="1783080"/>
            <a:ext cx="1874520" cy="411480"/>
          </a:xfrm>
          <a:prstGeom prst="rect">
            <a:avLst/>
          </a:prstGeom>
          <a:noFill/>
          <a:ln/>
        </p:spPr>
        <p:txBody>
          <a:bodyPr wrap="square" lIns="0" tIns="0" rIns="0" bIns="0" rtlCol="0" anchor="t"/>
          <a:lstStyle/>
          <a:p>
            <a:pPr indent="0" marL="0">
              <a:buNone/>
            </a:pPr>
            <a:r>
              <a:rPr lang="en-US" sz="2200" b="1" dirty="0">
                <a:solidFill>
                  <a:schemeClr val="tx1"/>
                </a:solidFill>
              </a:rPr>
              <a:t>Math model</a:t>
            </a:r>
            <a:endParaRPr lang="en-US" sz="2200" dirty="0"/>
          </a:p>
        </p:txBody>
      </p:sp>
      <p:sp>
        <p:nvSpPr>
          <p:cNvPr id="28" name="text-160"/>
          <p:cNvSpPr txBox="1"/>
          <p:nvPr/>
        </p:nvSpPr>
        <p:spPr>
          <a:xfrm>
            <a:off x="9674352" y="2212848"/>
            <a:ext cx="1874520" cy="548640"/>
          </a:xfrm>
          <a:prstGeom prst="rect">
            <a:avLst/>
          </a:prstGeom>
          <a:noFill/>
          <a:ln/>
        </p:spPr>
        <p:txBody>
          <a:bodyPr wrap="square" lIns="0" tIns="0" rIns="0" bIns="0" rtlCol="0" anchor="t"/>
          <a:lstStyle/>
          <a:p>
            <a:pPr indent="0" marL="0">
              <a:buNone/>
            </a:pPr>
            <a:r>
              <a:rPr lang="en-US" sz="1600" i="1" dirty="0">
                <a:solidFill>
                  <a:schemeClr val="accent3"/>
                </a:solidFill>
              </a:rPr>
              <a:t>How to describe it?</a:t>
            </a:r>
            <a:endParaRPr lang="en-US" sz="1600" dirty="0"/>
          </a:p>
        </p:txBody>
      </p:sp>
      <p:sp>
        <p:nvSpPr>
          <p:cNvPr id="29" name="text-161"/>
          <p:cNvSpPr txBox="1"/>
          <p:nvPr/>
        </p:nvSpPr>
        <p:spPr>
          <a:xfrm>
            <a:off x="8622792" y="2880360"/>
            <a:ext cx="2743200" cy="1280160"/>
          </a:xfrm>
          <a:prstGeom prst="rect">
            <a:avLst/>
          </a:prstGeom>
          <a:noFill/>
          <a:ln/>
        </p:spPr>
        <p:txBody>
          <a:bodyPr wrap="square" lIns="0" tIns="0" rIns="0" bIns="0" rtlCol="0" anchor="t"/>
          <a:lstStyle/>
          <a:p>
            <a:pPr indent="0" marL="0">
              <a:buNone/>
            </a:pPr>
            <a:r>
              <a:rPr lang="en-US" sz="1500" dirty="0">
                <a:solidFill>
                  <a:schemeClr val="tx2"/>
                </a:solidFill>
              </a:rPr>
              <a:t>Conservation laws (mass, momentum, energy) as </a:t>
            </a:r>
            <a:pPr indent="0" marL="0">
              <a:buNone/>
            </a:pPr>
            <a:r>
              <a:rPr lang="en-US" sz="1500" b="1" dirty="0">
                <a:solidFill>
                  <a:schemeClr val="tx2"/>
                </a:solidFill>
              </a:rPr>
              <a:t>PDEs</a:t>
            </a:r>
            <a:pPr indent="0" marL="0">
              <a:buNone/>
            </a:pPr>
            <a:r>
              <a:rPr lang="en-US" sz="1500" dirty="0">
                <a:solidFill>
                  <a:schemeClr val="tx2"/>
                </a:solidFill>
              </a:rPr>
              <a:t>, plus boundary &amp; initial conditions.</a:t>
            </a:r>
            <a:endParaRPr lang="en-US" sz="1500" dirty="0"/>
          </a:p>
        </p:txBody>
      </p:sp>
      <p:sp>
        <p:nvSpPr>
          <p:cNvPr id="30" name="card-162"/>
          <p:cNvSpPr/>
          <p:nvPr/>
        </p:nvSpPr>
        <p:spPr>
          <a:xfrm>
            <a:off x="8531352" y="4343400"/>
            <a:ext cx="2926080" cy="1097280"/>
          </a:xfrm>
          <a:prstGeom prst="roundRect">
            <a:avLst>
              <a:gd name="adj" fmla="val 8333"/>
            </a:avLst>
          </a:prstGeom>
          <a:solidFill>
            <a:schemeClr val="bg2"/>
          </a:solidFill>
          <a:ln/>
        </p:spPr>
      </p:sp>
      <p:sp>
        <p:nvSpPr>
          <p:cNvPr id="31" name="text-163"/>
          <p:cNvSpPr txBox="1"/>
          <p:nvPr/>
        </p:nvSpPr>
        <p:spPr>
          <a:xfrm>
            <a:off x="8695944" y="4434840"/>
            <a:ext cx="265176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IN THE EXAMPLE</a:t>
            </a:r>
            <a:endParaRPr lang="en-US" sz="1050" dirty="0"/>
          </a:p>
        </p:txBody>
      </p:sp>
      <p:sp>
        <p:nvSpPr>
          <p:cNvPr id="32" name="text-164"/>
          <p:cNvSpPr txBox="1"/>
          <p:nvPr/>
        </p:nvSpPr>
        <p:spPr>
          <a:xfrm>
            <a:off x="8695944" y="4681728"/>
            <a:ext cx="2651760" cy="685800"/>
          </a:xfrm>
          <a:prstGeom prst="rect">
            <a:avLst/>
          </a:prstGeom>
          <a:noFill/>
          <a:ln/>
        </p:spPr>
        <p:txBody>
          <a:bodyPr wrap="square" lIns="0" tIns="0" rIns="0" bIns="0" rtlCol="0" anchor="t"/>
          <a:lstStyle/>
          <a:p>
            <a:pPr indent="0" marL="0">
              <a:buNone/>
            </a:pPr>
            <a:r>
              <a:rPr lang="en-US" sz="1400" dirty="0">
                <a:solidFill>
                  <a:schemeClr val="tx1"/>
                </a:solidFill>
              </a:rPr>
              <a:t>Navier–Stokes, or simply ∇²ψ = 0</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16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IS CFD?</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From a physical problem to numbers</a:t>
            </a:r>
            <a:endParaRPr lang="en-US" sz="3200" dirty="0"/>
          </a:p>
        </p:txBody>
      </p:sp>
      <p:pic>
        <p:nvPicPr>
          <p:cNvPr id="4" name="img-166" descr="Four panels: physical problem, computational domain, governing equations and the numerical solution of flow past a cylinder">    </p:cNvPr>
          <p:cNvPicPr>
            <a:picLocks noChangeAspect="1"/>
          </p:cNvPicPr>
          <p:nvPr/>
        </p:nvPicPr>
        <p:blipFill>
          <a:blip r:embed="rId1"/>
          <a:stretch>
            <a:fillRect/>
          </a:stretch>
        </p:blipFill>
        <p:spPr>
          <a:xfrm>
            <a:off x="550926" y="1371600"/>
            <a:ext cx="7310628" cy="4873752"/>
          </a:xfrm>
          <a:prstGeom prst="rect">
            <a:avLst/>
          </a:prstGeom>
        </p:spPr>
      </p:pic>
      <p:sp>
        <p:nvSpPr>
          <p:cNvPr id="5" name="card-167"/>
          <p:cNvSpPr/>
          <p:nvPr/>
        </p:nvSpPr>
        <p:spPr>
          <a:xfrm>
            <a:off x="8183880" y="1371600"/>
            <a:ext cx="3456432" cy="4873752"/>
          </a:xfrm>
          <a:prstGeom prst="roundRect">
            <a:avLst>
              <a:gd name="adj" fmla="val 2646"/>
            </a:avLst>
          </a:prstGeom>
          <a:solidFill>
            <a:schemeClr val="tx1"/>
          </a:solidFill>
          <a:ln/>
          <a:effectLst>
            <a:outerShdw sx="100000" sy="100000" kx="0" ky="0" algn="bl" rotWithShape="0" blurRad="88900" dist="19050" dir="5400000">
              <a:srgbClr val="0B2E47">
                <a:alpha val="12000"/>
              </a:srgbClr>
            </a:outerShdw>
          </a:effectLst>
        </p:spPr>
      </p:sp>
      <p:pic>
        <p:nvPicPr>
          <p:cNvPr id="6" name="icon-168" descr="preencoded.png">    </p:cNvPr>
          <p:cNvPicPr>
            <a:picLocks noChangeAspect="1"/>
          </p:cNvPicPr>
          <p:nvPr/>
        </p:nvPicPr>
        <p:blipFill>
          <a:blip r:embed="rId2"/>
          <a:stretch>
            <a:fillRect/>
          </a:stretch>
        </p:blipFill>
        <p:spPr>
          <a:xfrm>
            <a:off x="8503920" y="1691640"/>
            <a:ext cx="457200" cy="457200"/>
          </a:xfrm>
          <a:prstGeom prst="rect">
            <a:avLst/>
          </a:prstGeom>
        </p:spPr>
      </p:pic>
      <p:sp>
        <p:nvSpPr>
          <p:cNvPr id="7" name="text-169"/>
          <p:cNvSpPr txBox="1"/>
          <p:nvPr/>
        </p:nvSpPr>
        <p:spPr>
          <a:xfrm>
            <a:off x="8503920" y="2331720"/>
            <a:ext cx="292608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CFD IN ONE SENTENCE</a:t>
            </a:r>
            <a:endParaRPr lang="en-US" sz="1200" dirty="0"/>
          </a:p>
        </p:txBody>
      </p:sp>
      <p:sp>
        <p:nvSpPr>
          <p:cNvPr id="8" name="text-170"/>
          <p:cNvSpPr txBox="1"/>
          <p:nvPr/>
        </p:nvSpPr>
        <p:spPr>
          <a:xfrm>
            <a:off x="8503920" y="2697480"/>
            <a:ext cx="2880360" cy="3291840"/>
          </a:xfrm>
          <a:prstGeom prst="rect">
            <a:avLst/>
          </a:prstGeom>
          <a:noFill/>
          <a:ln/>
        </p:spPr>
        <p:txBody>
          <a:bodyPr wrap="square" lIns="0" tIns="0" rIns="0" bIns="0" rtlCol="0" anchor="t"/>
          <a:lstStyle/>
          <a:p>
            <a:pPr indent="0" marL="0">
              <a:buNone/>
            </a:pPr>
            <a:r>
              <a:rPr lang="en-US" sz="1800" dirty="0">
                <a:solidFill>
                  <a:schemeClr val="bg1"/>
                </a:solidFill>
              </a:rPr>
              <a:t>We take a </a:t>
            </a:r>
            <a:pPr indent="0" marL="0">
              <a:buNone/>
            </a:pPr>
            <a:r>
              <a:rPr lang="en-US" sz="1800" b="1" dirty="0">
                <a:solidFill>
                  <a:schemeClr val="bg1"/>
                </a:solidFill>
              </a:rPr>
              <a:t>geometry</a:t>
            </a:r>
            <a:pPr indent="0" marL="0">
              <a:buNone/>
            </a:pPr>
            <a:r>
              <a:rPr lang="en-US" sz="1800" dirty="0">
                <a:solidFill>
                  <a:schemeClr val="bg1"/>
                </a:solidFill>
              </a:rPr>
              <a:t> in which a </a:t>
            </a:r>
            <a:pPr indent="0" marL="0">
              <a:buNone/>
            </a:pPr>
            <a:r>
              <a:rPr lang="en-US" sz="1800" b="1" dirty="0">
                <a:solidFill>
                  <a:schemeClr val="bg1"/>
                </a:solidFill>
              </a:rPr>
              <a:t>physical event</a:t>
            </a:r>
            <a:pPr indent="0" marL="0">
              <a:buNone/>
            </a:pPr>
            <a:r>
              <a:rPr lang="en-US" sz="1800" dirty="0">
                <a:solidFill>
                  <a:schemeClr val="bg1"/>
                </a:solidFill>
              </a:rPr>
              <a:t> happens, describe it with </a:t>
            </a:r>
            <a:pPr indent="0" marL="0">
              <a:buNone/>
            </a:pPr>
            <a:r>
              <a:rPr lang="en-US" sz="1800" b="1" dirty="0">
                <a:solidFill>
                  <a:schemeClr val="bg1"/>
                </a:solidFill>
              </a:rPr>
              <a:t>equations</a:t>
            </a:r>
            <a:pPr indent="0" marL="0">
              <a:buNone/>
            </a:pPr>
            <a:r>
              <a:rPr lang="en-US" sz="1800" dirty="0">
                <a:solidFill>
                  <a:schemeClr val="bg1"/>
                </a:solidFill>
              </a:rPr>
              <a:t> (PDEs) and, because they can almost never be solved by hand, solve them </a:t>
            </a:r>
            <a:pPr indent="0" marL="0">
              <a:buNone/>
            </a:pPr>
            <a:r>
              <a:rPr lang="en-US" sz="1800" b="1" dirty="0">
                <a:solidFill>
                  <a:schemeClr val="bg1"/>
                </a:solidFill>
              </a:rPr>
              <a:t>approximately, with numerical methods, on a computer</a:t>
            </a:r>
            <a:pPr indent="0" marL="0">
              <a:buNone/>
            </a:pP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17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WHY NUMERICAL METHODS?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Analytical vs numerical solutions</a:t>
            </a:r>
            <a:endParaRPr lang="en-US" sz="3200" dirty="0"/>
          </a:p>
        </p:txBody>
      </p:sp>
      <p:sp>
        <p:nvSpPr>
          <p:cNvPr id="4" name="icon-bg-172"/>
          <p:cNvSpPr/>
          <p:nvPr/>
        </p:nvSpPr>
        <p:spPr>
          <a:xfrm>
            <a:off x="2743200" y="1417320"/>
            <a:ext cx="640080" cy="640080"/>
          </a:xfrm>
          <a:prstGeom prst="ellipse">
            <a:avLst/>
          </a:prstGeom>
          <a:solidFill>
            <a:schemeClr val="accent4"/>
          </a:solidFill>
          <a:ln/>
        </p:spPr>
      </p:sp>
      <p:pic>
        <p:nvPicPr>
          <p:cNvPr id="5" name="icon-173" descr="preencoded.png">    </p:cNvPr>
          <p:cNvPicPr>
            <a:picLocks noChangeAspect="1"/>
          </p:cNvPicPr>
          <p:nvPr/>
        </p:nvPicPr>
        <p:blipFill>
          <a:blip r:embed="rId1"/>
          <a:stretch>
            <a:fillRect/>
          </a:stretch>
        </p:blipFill>
        <p:spPr>
          <a:xfrm>
            <a:off x="2890418" y="1564538"/>
            <a:ext cx="345643" cy="345643"/>
          </a:xfrm>
          <a:prstGeom prst="rect">
            <a:avLst/>
          </a:prstGeom>
        </p:spPr>
      </p:pic>
      <p:sp>
        <p:nvSpPr>
          <p:cNvPr id="6" name="text-174"/>
          <p:cNvSpPr txBox="1"/>
          <p:nvPr/>
        </p:nvSpPr>
        <p:spPr>
          <a:xfrm>
            <a:off x="3520440" y="1417320"/>
            <a:ext cx="3200400" cy="640080"/>
          </a:xfrm>
          <a:prstGeom prst="rect">
            <a:avLst/>
          </a:prstGeom>
          <a:noFill/>
          <a:ln/>
        </p:spPr>
        <p:txBody>
          <a:bodyPr wrap="square" lIns="0" tIns="0" rIns="0" bIns="0" rtlCol="0" anchor="ctr"/>
          <a:lstStyle/>
          <a:p>
            <a:pPr indent="0" marL="0">
              <a:buNone/>
            </a:pPr>
            <a:r>
              <a:rPr lang="en-US" sz="2100" b="1" dirty="0">
                <a:solidFill>
                  <a:schemeClr val="tx1"/>
                </a:solidFill>
              </a:rPr>
              <a:t>Analytical</a:t>
            </a:r>
            <a:endParaRPr lang="en-US" sz="2100" dirty="0"/>
          </a:p>
        </p:txBody>
      </p:sp>
      <p:sp>
        <p:nvSpPr>
          <p:cNvPr id="7" name="icon-bg-175"/>
          <p:cNvSpPr/>
          <p:nvPr/>
        </p:nvSpPr>
        <p:spPr>
          <a:xfrm>
            <a:off x="7269480" y="1417320"/>
            <a:ext cx="640080" cy="640080"/>
          </a:xfrm>
          <a:prstGeom prst="ellipse">
            <a:avLst/>
          </a:prstGeom>
          <a:solidFill>
            <a:schemeClr val="accent1"/>
          </a:solidFill>
          <a:ln/>
        </p:spPr>
      </p:sp>
      <p:pic>
        <p:nvPicPr>
          <p:cNvPr id="8" name="icon-176" descr="preencoded.png">    </p:cNvPr>
          <p:cNvPicPr>
            <a:picLocks noChangeAspect="1"/>
          </p:cNvPicPr>
          <p:nvPr/>
        </p:nvPicPr>
        <p:blipFill>
          <a:blip r:embed="rId2"/>
          <a:stretch>
            <a:fillRect/>
          </a:stretch>
        </p:blipFill>
        <p:spPr>
          <a:xfrm>
            <a:off x="7416698" y="1564538"/>
            <a:ext cx="345643" cy="345643"/>
          </a:xfrm>
          <a:prstGeom prst="rect">
            <a:avLst/>
          </a:prstGeom>
        </p:spPr>
      </p:pic>
      <p:sp>
        <p:nvSpPr>
          <p:cNvPr id="9" name="text-177"/>
          <p:cNvSpPr txBox="1"/>
          <p:nvPr/>
        </p:nvSpPr>
        <p:spPr>
          <a:xfrm>
            <a:off x="8046720" y="1417320"/>
            <a:ext cx="3474720" cy="640080"/>
          </a:xfrm>
          <a:prstGeom prst="rect">
            <a:avLst/>
          </a:prstGeom>
          <a:noFill/>
          <a:ln/>
        </p:spPr>
        <p:txBody>
          <a:bodyPr wrap="square" lIns="0" tIns="0" rIns="0" bIns="0" rtlCol="0" anchor="ctr"/>
          <a:lstStyle/>
          <a:p>
            <a:pPr indent="0" marL="0">
              <a:buNone/>
            </a:pPr>
            <a:r>
              <a:rPr lang="en-US" sz="2100" b="1" dirty="0">
                <a:solidFill>
                  <a:schemeClr val="tx1"/>
                </a:solidFill>
              </a:rPr>
              <a:t>Numerical (CFD)</a:t>
            </a:r>
            <a:endParaRPr lang="en-US" sz="2100" dirty="0"/>
          </a:p>
        </p:txBody>
      </p:sp>
      <p:sp>
        <p:nvSpPr>
          <p:cNvPr id="10" name="text-178"/>
          <p:cNvSpPr txBox="1"/>
          <p:nvPr/>
        </p:nvSpPr>
        <p:spPr>
          <a:xfrm>
            <a:off x="548640" y="2286000"/>
            <a:ext cx="2011680" cy="530352"/>
          </a:xfrm>
          <a:prstGeom prst="rect">
            <a:avLst/>
          </a:prstGeom>
          <a:noFill/>
          <a:ln/>
        </p:spPr>
        <p:txBody>
          <a:bodyPr wrap="square" lIns="0" tIns="0" rIns="0" bIns="0" rtlCol="0" anchor="ctr"/>
          <a:lstStyle/>
          <a:p>
            <a:pPr indent="0" marL="0">
              <a:buNone/>
            </a:pPr>
            <a:r>
              <a:rPr lang="en-US" sz="1600" b="1" dirty="0">
                <a:solidFill>
                  <a:schemeClr val="tx1"/>
                </a:solidFill>
              </a:rPr>
              <a:t>Geometry</a:t>
            </a:r>
            <a:endParaRPr lang="en-US" sz="1600" dirty="0"/>
          </a:p>
        </p:txBody>
      </p:sp>
      <p:sp>
        <p:nvSpPr>
          <p:cNvPr id="11" name="card-179"/>
          <p:cNvSpPr/>
          <p:nvPr/>
        </p:nvSpPr>
        <p:spPr>
          <a:xfrm>
            <a:off x="2651760" y="2286000"/>
            <a:ext cx="4343400" cy="530352"/>
          </a:xfrm>
          <a:prstGeom prst="roundRect">
            <a:avLst>
              <a:gd name="adj" fmla="val 13793"/>
            </a:avLst>
          </a:prstGeom>
          <a:solidFill>
            <a:schemeClr val="bg2"/>
          </a:solidFill>
          <a:ln/>
        </p:spPr>
      </p:sp>
      <p:sp>
        <p:nvSpPr>
          <p:cNvPr id="12" name="text-180"/>
          <p:cNvSpPr txBox="1"/>
          <p:nvPr/>
        </p:nvSpPr>
        <p:spPr>
          <a:xfrm>
            <a:off x="2834640" y="2286000"/>
            <a:ext cx="4069080" cy="530352"/>
          </a:xfrm>
          <a:prstGeom prst="rect">
            <a:avLst/>
          </a:prstGeom>
          <a:noFill/>
          <a:ln/>
        </p:spPr>
        <p:txBody>
          <a:bodyPr wrap="square" lIns="0" tIns="0" rIns="0" bIns="0" rtlCol="0" anchor="ctr"/>
          <a:lstStyle/>
          <a:p>
            <a:pPr indent="0" marL="0">
              <a:buNone/>
            </a:pPr>
            <a:r>
              <a:rPr lang="en-US" sz="1500" dirty="0">
                <a:solidFill>
                  <a:schemeClr val="tx2"/>
                </a:solidFill>
              </a:rPr>
              <a:t>simple: plates, pipes, spheres</a:t>
            </a:r>
            <a:endParaRPr lang="en-US" sz="1500" dirty="0"/>
          </a:p>
        </p:txBody>
      </p:sp>
      <p:sp>
        <p:nvSpPr>
          <p:cNvPr id="13" name="card-181"/>
          <p:cNvSpPr/>
          <p:nvPr/>
        </p:nvSpPr>
        <p:spPr>
          <a:xfrm>
            <a:off x="7178040" y="2286000"/>
            <a:ext cx="4462272" cy="530352"/>
          </a:xfrm>
          <a:prstGeom prst="roundRect">
            <a:avLst>
              <a:gd name="adj" fmla="val 13793"/>
            </a:avLst>
          </a:prstGeom>
          <a:solidFill>
            <a:schemeClr val="accent1">
              <a:alpha val="14000"/>
            </a:schemeClr>
          </a:solidFill>
          <a:ln/>
        </p:spPr>
      </p:sp>
      <p:sp>
        <p:nvSpPr>
          <p:cNvPr id="14" name="text-182"/>
          <p:cNvSpPr txBox="1"/>
          <p:nvPr/>
        </p:nvSpPr>
        <p:spPr>
          <a:xfrm>
            <a:off x="7360920" y="2286000"/>
            <a:ext cx="4206240" cy="530352"/>
          </a:xfrm>
          <a:prstGeom prst="rect">
            <a:avLst/>
          </a:prstGeom>
          <a:noFill/>
          <a:ln/>
        </p:spPr>
        <p:txBody>
          <a:bodyPr wrap="square" lIns="0" tIns="0" rIns="0" bIns="0" rtlCol="0" anchor="ctr"/>
          <a:lstStyle/>
          <a:p>
            <a:pPr indent="0" marL="0">
              <a:buNone/>
            </a:pPr>
            <a:r>
              <a:rPr lang="en-US" sz="1500" dirty="0">
                <a:solidFill>
                  <a:schemeClr val="tx1"/>
                </a:solidFill>
              </a:rPr>
              <a:t>arbitrary: cars, aircraft, arteries</a:t>
            </a:r>
            <a:endParaRPr lang="en-US" sz="1500" dirty="0"/>
          </a:p>
        </p:txBody>
      </p:sp>
      <p:sp>
        <p:nvSpPr>
          <p:cNvPr id="15" name="text-183"/>
          <p:cNvSpPr txBox="1"/>
          <p:nvPr/>
        </p:nvSpPr>
        <p:spPr>
          <a:xfrm>
            <a:off x="548640" y="2907792"/>
            <a:ext cx="2011680" cy="530352"/>
          </a:xfrm>
          <a:prstGeom prst="rect">
            <a:avLst/>
          </a:prstGeom>
          <a:noFill/>
          <a:ln/>
        </p:spPr>
        <p:txBody>
          <a:bodyPr wrap="square" lIns="0" tIns="0" rIns="0" bIns="0" rtlCol="0" anchor="ctr"/>
          <a:lstStyle/>
          <a:p>
            <a:pPr indent="0" marL="0">
              <a:buNone/>
            </a:pPr>
            <a:r>
              <a:rPr lang="en-US" sz="1600" b="1" dirty="0">
                <a:solidFill>
                  <a:schemeClr val="tx1"/>
                </a:solidFill>
              </a:rPr>
              <a:t>Equations</a:t>
            </a:r>
            <a:endParaRPr lang="en-US" sz="1600" dirty="0"/>
          </a:p>
        </p:txBody>
      </p:sp>
      <p:sp>
        <p:nvSpPr>
          <p:cNvPr id="16" name="card-184"/>
          <p:cNvSpPr/>
          <p:nvPr/>
        </p:nvSpPr>
        <p:spPr>
          <a:xfrm>
            <a:off x="2651760" y="2907792"/>
            <a:ext cx="4343400" cy="530352"/>
          </a:xfrm>
          <a:prstGeom prst="roundRect">
            <a:avLst>
              <a:gd name="adj" fmla="val 13793"/>
            </a:avLst>
          </a:prstGeom>
          <a:solidFill>
            <a:schemeClr val="bg2"/>
          </a:solidFill>
          <a:ln/>
        </p:spPr>
      </p:sp>
      <p:sp>
        <p:nvSpPr>
          <p:cNvPr id="17" name="text-185"/>
          <p:cNvSpPr txBox="1"/>
          <p:nvPr/>
        </p:nvSpPr>
        <p:spPr>
          <a:xfrm>
            <a:off x="2834640" y="2907792"/>
            <a:ext cx="4069080" cy="530352"/>
          </a:xfrm>
          <a:prstGeom prst="rect">
            <a:avLst/>
          </a:prstGeom>
          <a:noFill/>
          <a:ln/>
        </p:spPr>
        <p:txBody>
          <a:bodyPr wrap="square" lIns="0" tIns="0" rIns="0" bIns="0" rtlCol="0" anchor="ctr"/>
          <a:lstStyle/>
          <a:p>
            <a:pPr indent="0" marL="0">
              <a:buNone/>
            </a:pPr>
            <a:r>
              <a:rPr lang="en-US" sz="1500" dirty="0">
                <a:solidFill>
                  <a:schemeClr val="tx2"/>
                </a:solidFill>
              </a:rPr>
              <a:t>linear, heavily simplified</a:t>
            </a:r>
            <a:endParaRPr lang="en-US" sz="1500" dirty="0"/>
          </a:p>
        </p:txBody>
      </p:sp>
      <p:sp>
        <p:nvSpPr>
          <p:cNvPr id="18" name="card-186"/>
          <p:cNvSpPr/>
          <p:nvPr/>
        </p:nvSpPr>
        <p:spPr>
          <a:xfrm>
            <a:off x="7178040" y="2907792"/>
            <a:ext cx="4462272" cy="530352"/>
          </a:xfrm>
          <a:prstGeom prst="roundRect">
            <a:avLst>
              <a:gd name="adj" fmla="val 13793"/>
            </a:avLst>
          </a:prstGeom>
          <a:solidFill>
            <a:schemeClr val="accent1">
              <a:alpha val="14000"/>
            </a:schemeClr>
          </a:solidFill>
          <a:ln/>
        </p:spPr>
      </p:sp>
      <p:sp>
        <p:nvSpPr>
          <p:cNvPr id="19" name="text-187"/>
          <p:cNvSpPr txBox="1"/>
          <p:nvPr/>
        </p:nvSpPr>
        <p:spPr>
          <a:xfrm>
            <a:off x="7360920" y="2907792"/>
            <a:ext cx="4206240" cy="530352"/>
          </a:xfrm>
          <a:prstGeom prst="rect">
            <a:avLst/>
          </a:prstGeom>
          <a:noFill/>
          <a:ln/>
        </p:spPr>
        <p:txBody>
          <a:bodyPr wrap="square" lIns="0" tIns="0" rIns="0" bIns="0" rtlCol="0" anchor="ctr"/>
          <a:lstStyle/>
          <a:p>
            <a:pPr indent="0" marL="0">
              <a:buNone/>
            </a:pPr>
            <a:r>
              <a:rPr lang="en-US" sz="1500" dirty="0">
                <a:solidFill>
                  <a:schemeClr val="tx1"/>
                </a:solidFill>
              </a:rPr>
              <a:t>nonlinear, coupled, 3D, unsteady</a:t>
            </a:r>
            <a:endParaRPr lang="en-US" sz="1500" dirty="0"/>
          </a:p>
        </p:txBody>
      </p:sp>
      <p:sp>
        <p:nvSpPr>
          <p:cNvPr id="20" name="text-188"/>
          <p:cNvSpPr txBox="1"/>
          <p:nvPr/>
        </p:nvSpPr>
        <p:spPr>
          <a:xfrm>
            <a:off x="548640" y="3529584"/>
            <a:ext cx="2011680" cy="530352"/>
          </a:xfrm>
          <a:prstGeom prst="rect">
            <a:avLst/>
          </a:prstGeom>
          <a:noFill/>
          <a:ln/>
        </p:spPr>
        <p:txBody>
          <a:bodyPr wrap="square" lIns="0" tIns="0" rIns="0" bIns="0" rtlCol="0" anchor="ctr"/>
          <a:lstStyle/>
          <a:p>
            <a:pPr indent="0" marL="0">
              <a:buNone/>
            </a:pPr>
            <a:r>
              <a:rPr lang="en-US" sz="1600" b="1" dirty="0">
                <a:solidFill>
                  <a:schemeClr val="tx1"/>
                </a:solidFill>
              </a:rPr>
              <a:t>Result</a:t>
            </a:r>
            <a:endParaRPr lang="en-US" sz="1600" dirty="0"/>
          </a:p>
        </p:txBody>
      </p:sp>
      <p:sp>
        <p:nvSpPr>
          <p:cNvPr id="21" name="card-189"/>
          <p:cNvSpPr/>
          <p:nvPr/>
        </p:nvSpPr>
        <p:spPr>
          <a:xfrm>
            <a:off x="2651760" y="3529584"/>
            <a:ext cx="4343400" cy="530352"/>
          </a:xfrm>
          <a:prstGeom prst="roundRect">
            <a:avLst>
              <a:gd name="adj" fmla="val 13793"/>
            </a:avLst>
          </a:prstGeom>
          <a:solidFill>
            <a:schemeClr val="bg2"/>
          </a:solidFill>
          <a:ln/>
        </p:spPr>
      </p:sp>
      <p:sp>
        <p:nvSpPr>
          <p:cNvPr id="22" name="text-190"/>
          <p:cNvSpPr txBox="1"/>
          <p:nvPr/>
        </p:nvSpPr>
        <p:spPr>
          <a:xfrm>
            <a:off x="2834640" y="3529584"/>
            <a:ext cx="4069080" cy="530352"/>
          </a:xfrm>
          <a:prstGeom prst="rect">
            <a:avLst/>
          </a:prstGeom>
          <a:noFill/>
          <a:ln/>
        </p:spPr>
        <p:txBody>
          <a:bodyPr wrap="square" lIns="0" tIns="0" rIns="0" bIns="0" rtlCol="0" anchor="ctr"/>
          <a:lstStyle/>
          <a:p>
            <a:pPr indent="0" marL="0">
              <a:buNone/>
            </a:pPr>
            <a:r>
              <a:rPr lang="en-US" sz="1500" dirty="0">
                <a:solidFill>
                  <a:schemeClr val="tx2"/>
                </a:solidFill>
              </a:rPr>
              <a:t>a formula, valid everywhere</a:t>
            </a:r>
            <a:endParaRPr lang="en-US" sz="1500" dirty="0"/>
          </a:p>
        </p:txBody>
      </p:sp>
      <p:sp>
        <p:nvSpPr>
          <p:cNvPr id="23" name="card-191"/>
          <p:cNvSpPr/>
          <p:nvPr/>
        </p:nvSpPr>
        <p:spPr>
          <a:xfrm>
            <a:off x="7178040" y="3529584"/>
            <a:ext cx="4462272" cy="530352"/>
          </a:xfrm>
          <a:prstGeom prst="roundRect">
            <a:avLst>
              <a:gd name="adj" fmla="val 13793"/>
            </a:avLst>
          </a:prstGeom>
          <a:solidFill>
            <a:schemeClr val="accent1">
              <a:alpha val="14000"/>
            </a:schemeClr>
          </a:solidFill>
          <a:ln/>
        </p:spPr>
      </p:sp>
      <p:sp>
        <p:nvSpPr>
          <p:cNvPr id="24" name="text-192"/>
          <p:cNvSpPr txBox="1"/>
          <p:nvPr/>
        </p:nvSpPr>
        <p:spPr>
          <a:xfrm>
            <a:off x="7360920" y="3529584"/>
            <a:ext cx="4206240" cy="530352"/>
          </a:xfrm>
          <a:prstGeom prst="rect">
            <a:avLst/>
          </a:prstGeom>
          <a:noFill/>
          <a:ln/>
        </p:spPr>
        <p:txBody>
          <a:bodyPr wrap="square" lIns="0" tIns="0" rIns="0" bIns="0" rtlCol="0" anchor="ctr"/>
          <a:lstStyle/>
          <a:p>
            <a:pPr indent="0" marL="0">
              <a:buNone/>
            </a:pPr>
            <a:r>
              <a:rPr lang="en-US" sz="1500" dirty="0">
                <a:solidFill>
                  <a:schemeClr val="tx1"/>
                </a:solidFill>
              </a:rPr>
              <a:t>numbers at a finite set of grid points</a:t>
            </a:r>
            <a:endParaRPr lang="en-US" sz="1500" dirty="0"/>
          </a:p>
        </p:txBody>
      </p:sp>
      <p:sp>
        <p:nvSpPr>
          <p:cNvPr id="25" name="text-193"/>
          <p:cNvSpPr txBox="1"/>
          <p:nvPr/>
        </p:nvSpPr>
        <p:spPr>
          <a:xfrm>
            <a:off x="548640" y="4151376"/>
            <a:ext cx="2011680" cy="530352"/>
          </a:xfrm>
          <a:prstGeom prst="rect">
            <a:avLst/>
          </a:prstGeom>
          <a:noFill/>
          <a:ln/>
        </p:spPr>
        <p:txBody>
          <a:bodyPr wrap="square" lIns="0" tIns="0" rIns="0" bIns="0" rtlCol="0" anchor="ctr"/>
          <a:lstStyle/>
          <a:p>
            <a:pPr indent="0" marL="0">
              <a:buNone/>
            </a:pPr>
            <a:r>
              <a:rPr lang="en-US" sz="1600" b="1" dirty="0">
                <a:solidFill>
                  <a:schemeClr val="tx1"/>
                </a:solidFill>
              </a:rPr>
              <a:t>Accuracy</a:t>
            </a:r>
            <a:endParaRPr lang="en-US" sz="1600" dirty="0"/>
          </a:p>
        </p:txBody>
      </p:sp>
      <p:sp>
        <p:nvSpPr>
          <p:cNvPr id="26" name="card-194"/>
          <p:cNvSpPr/>
          <p:nvPr/>
        </p:nvSpPr>
        <p:spPr>
          <a:xfrm>
            <a:off x="2651760" y="4151376"/>
            <a:ext cx="4343400" cy="530352"/>
          </a:xfrm>
          <a:prstGeom prst="roundRect">
            <a:avLst>
              <a:gd name="adj" fmla="val 13793"/>
            </a:avLst>
          </a:prstGeom>
          <a:solidFill>
            <a:schemeClr val="bg2"/>
          </a:solidFill>
          <a:ln/>
        </p:spPr>
      </p:sp>
      <p:sp>
        <p:nvSpPr>
          <p:cNvPr id="27" name="text-195"/>
          <p:cNvSpPr txBox="1"/>
          <p:nvPr/>
        </p:nvSpPr>
        <p:spPr>
          <a:xfrm>
            <a:off x="2834640" y="4151376"/>
            <a:ext cx="4069080" cy="530352"/>
          </a:xfrm>
          <a:prstGeom prst="rect">
            <a:avLst/>
          </a:prstGeom>
          <a:noFill/>
          <a:ln/>
        </p:spPr>
        <p:txBody>
          <a:bodyPr wrap="square" lIns="0" tIns="0" rIns="0" bIns="0" rtlCol="0" anchor="ctr"/>
          <a:lstStyle/>
          <a:p>
            <a:pPr indent="0" marL="0">
              <a:buNone/>
            </a:pPr>
            <a:r>
              <a:rPr lang="en-US" sz="1500" dirty="0">
                <a:solidFill>
                  <a:schemeClr val="tx2"/>
                </a:solidFill>
              </a:rPr>
              <a:t>exact (for the chosen model)</a:t>
            </a:r>
            <a:endParaRPr lang="en-US" sz="1500" dirty="0"/>
          </a:p>
        </p:txBody>
      </p:sp>
      <p:sp>
        <p:nvSpPr>
          <p:cNvPr id="28" name="card-196"/>
          <p:cNvSpPr/>
          <p:nvPr/>
        </p:nvSpPr>
        <p:spPr>
          <a:xfrm>
            <a:off x="7178040" y="4151376"/>
            <a:ext cx="4462272" cy="530352"/>
          </a:xfrm>
          <a:prstGeom prst="roundRect">
            <a:avLst>
              <a:gd name="adj" fmla="val 13793"/>
            </a:avLst>
          </a:prstGeom>
          <a:solidFill>
            <a:schemeClr val="accent1">
              <a:alpha val="14000"/>
            </a:schemeClr>
          </a:solidFill>
          <a:ln/>
        </p:spPr>
      </p:sp>
      <p:sp>
        <p:nvSpPr>
          <p:cNvPr id="29" name="text-197"/>
          <p:cNvSpPr txBox="1"/>
          <p:nvPr/>
        </p:nvSpPr>
        <p:spPr>
          <a:xfrm>
            <a:off x="7360920" y="4151376"/>
            <a:ext cx="4206240" cy="530352"/>
          </a:xfrm>
          <a:prstGeom prst="rect">
            <a:avLst/>
          </a:prstGeom>
          <a:noFill/>
          <a:ln/>
        </p:spPr>
        <p:txBody>
          <a:bodyPr wrap="square" lIns="0" tIns="0" rIns="0" bIns="0" rtlCol="0" anchor="ctr"/>
          <a:lstStyle/>
          <a:p>
            <a:pPr indent="0" marL="0">
              <a:buNone/>
            </a:pPr>
            <a:r>
              <a:rPr lang="en-US" sz="1500" dirty="0">
                <a:solidFill>
                  <a:schemeClr val="tx1"/>
                </a:solidFill>
              </a:rPr>
              <a:t>approximate: error shrinks as the grid is refined</a:t>
            </a:r>
            <a:endParaRPr lang="en-US" sz="1500" dirty="0"/>
          </a:p>
        </p:txBody>
      </p:sp>
      <p:sp>
        <p:nvSpPr>
          <p:cNvPr id="30" name="text-198"/>
          <p:cNvSpPr txBox="1"/>
          <p:nvPr/>
        </p:nvSpPr>
        <p:spPr>
          <a:xfrm>
            <a:off x="548640" y="4773168"/>
            <a:ext cx="2011680" cy="530352"/>
          </a:xfrm>
          <a:prstGeom prst="rect">
            <a:avLst/>
          </a:prstGeom>
          <a:noFill/>
          <a:ln/>
        </p:spPr>
        <p:txBody>
          <a:bodyPr wrap="square" lIns="0" tIns="0" rIns="0" bIns="0" rtlCol="0" anchor="ctr"/>
          <a:lstStyle/>
          <a:p>
            <a:pPr indent="0" marL="0">
              <a:buNone/>
            </a:pPr>
            <a:r>
              <a:rPr lang="en-US" sz="1600" b="1" dirty="0">
                <a:solidFill>
                  <a:schemeClr val="tx1"/>
                </a:solidFill>
              </a:rPr>
              <a:t>Cost</a:t>
            </a:r>
            <a:endParaRPr lang="en-US" sz="1600" dirty="0"/>
          </a:p>
        </p:txBody>
      </p:sp>
      <p:sp>
        <p:nvSpPr>
          <p:cNvPr id="31" name="card-199"/>
          <p:cNvSpPr/>
          <p:nvPr/>
        </p:nvSpPr>
        <p:spPr>
          <a:xfrm>
            <a:off x="2651760" y="4773168"/>
            <a:ext cx="4343400" cy="530352"/>
          </a:xfrm>
          <a:prstGeom prst="roundRect">
            <a:avLst>
              <a:gd name="adj" fmla="val 13793"/>
            </a:avLst>
          </a:prstGeom>
          <a:solidFill>
            <a:schemeClr val="bg2"/>
          </a:solidFill>
          <a:ln/>
        </p:spPr>
      </p:sp>
      <p:sp>
        <p:nvSpPr>
          <p:cNvPr id="32" name="text-200"/>
          <p:cNvSpPr txBox="1"/>
          <p:nvPr/>
        </p:nvSpPr>
        <p:spPr>
          <a:xfrm>
            <a:off x="2834640" y="4773168"/>
            <a:ext cx="4069080" cy="530352"/>
          </a:xfrm>
          <a:prstGeom prst="rect">
            <a:avLst/>
          </a:prstGeom>
          <a:noFill/>
          <a:ln/>
        </p:spPr>
        <p:txBody>
          <a:bodyPr wrap="square" lIns="0" tIns="0" rIns="0" bIns="0" rtlCol="0" anchor="ctr"/>
          <a:lstStyle/>
          <a:p>
            <a:pPr indent="0" marL="0">
              <a:buNone/>
            </a:pPr>
            <a:r>
              <a:rPr lang="en-US" sz="1500" dirty="0">
                <a:solidFill>
                  <a:schemeClr val="tx2"/>
                </a:solidFill>
              </a:rPr>
              <a:t>pen and paper</a:t>
            </a:r>
            <a:endParaRPr lang="en-US" sz="1500" dirty="0"/>
          </a:p>
        </p:txBody>
      </p:sp>
      <p:sp>
        <p:nvSpPr>
          <p:cNvPr id="33" name="card-201"/>
          <p:cNvSpPr/>
          <p:nvPr/>
        </p:nvSpPr>
        <p:spPr>
          <a:xfrm>
            <a:off x="7178040" y="4773168"/>
            <a:ext cx="4462272" cy="530352"/>
          </a:xfrm>
          <a:prstGeom prst="roundRect">
            <a:avLst>
              <a:gd name="adj" fmla="val 13793"/>
            </a:avLst>
          </a:prstGeom>
          <a:solidFill>
            <a:schemeClr val="accent1">
              <a:alpha val="14000"/>
            </a:schemeClr>
          </a:solidFill>
          <a:ln/>
        </p:spPr>
      </p:sp>
      <p:sp>
        <p:nvSpPr>
          <p:cNvPr id="34" name="text-202"/>
          <p:cNvSpPr txBox="1"/>
          <p:nvPr/>
        </p:nvSpPr>
        <p:spPr>
          <a:xfrm>
            <a:off x="7360920" y="4773168"/>
            <a:ext cx="4206240" cy="530352"/>
          </a:xfrm>
          <a:prstGeom prst="rect">
            <a:avLst/>
          </a:prstGeom>
          <a:noFill/>
          <a:ln/>
        </p:spPr>
        <p:txBody>
          <a:bodyPr wrap="square" lIns="0" tIns="0" rIns="0" bIns="0" rtlCol="0" anchor="ctr"/>
          <a:lstStyle/>
          <a:p>
            <a:pPr indent="0" marL="0">
              <a:buNone/>
            </a:pPr>
            <a:r>
              <a:rPr lang="en-US" sz="1500" dirty="0">
                <a:solidFill>
                  <a:schemeClr val="tx1"/>
                </a:solidFill>
              </a:rPr>
              <a:t>computer time and memory</a:t>
            </a:r>
            <a:endParaRPr lang="en-US" sz="1500" dirty="0"/>
          </a:p>
        </p:txBody>
      </p:sp>
      <p:sp>
        <p:nvSpPr>
          <p:cNvPr id="35" name="note-strip-203"/>
          <p:cNvSpPr/>
          <p:nvPr/>
        </p:nvSpPr>
        <p:spPr>
          <a:xfrm>
            <a:off x="548640" y="5532120"/>
            <a:ext cx="11094415" cy="566928"/>
          </a:xfrm>
          <a:prstGeom prst="roundRect">
            <a:avLst>
              <a:gd name="adj" fmla="val 16129"/>
            </a:avLst>
          </a:prstGeom>
          <a:solidFill>
            <a:schemeClr val="accent3">
              <a:alpha val="12000"/>
            </a:schemeClr>
          </a:solidFill>
          <a:ln/>
        </p:spPr>
      </p:sp>
      <p:sp>
        <p:nvSpPr>
          <p:cNvPr id="36" name="icon-bg-204"/>
          <p:cNvSpPr/>
          <p:nvPr/>
        </p:nvSpPr>
        <p:spPr>
          <a:xfrm>
            <a:off x="685800" y="5623560"/>
            <a:ext cx="384048" cy="384048"/>
          </a:xfrm>
          <a:prstGeom prst="ellipse">
            <a:avLst/>
          </a:prstGeom>
          <a:solidFill>
            <a:schemeClr val="accent3"/>
          </a:solidFill>
          <a:ln/>
        </p:spPr>
      </p:sp>
      <p:pic>
        <p:nvPicPr>
          <p:cNvPr id="37" name="icon-205" descr="preencoded.png">    </p:cNvPr>
          <p:cNvPicPr>
            <a:picLocks noChangeAspect="1"/>
          </p:cNvPicPr>
          <p:nvPr/>
        </p:nvPicPr>
        <p:blipFill>
          <a:blip r:embed="rId3"/>
          <a:stretch>
            <a:fillRect/>
          </a:stretch>
        </p:blipFill>
        <p:spPr>
          <a:xfrm>
            <a:off x="774131" y="5711891"/>
            <a:ext cx="207386" cy="207386"/>
          </a:xfrm>
          <a:prstGeom prst="rect">
            <a:avLst/>
          </a:prstGeom>
        </p:spPr>
      </p:pic>
      <p:sp>
        <p:nvSpPr>
          <p:cNvPr id="38" name="text-206"/>
          <p:cNvSpPr txBox="1"/>
          <p:nvPr/>
        </p:nvSpPr>
        <p:spPr>
          <a:xfrm>
            <a:off x="1234440" y="5532120"/>
            <a:ext cx="10225735" cy="566928"/>
          </a:xfrm>
          <a:prstGeom prst="rect">
            <a:avLst/>
          </a:prstGeom>
          <a:noFill/>
          <a:ln/>
        </p:spPr>
        <p:txBody>
          <a:bodyPr wrap="square" lIns="0" tIns="0" rIns="0" bIns="0" rtlCol="0" anchor="ctr"/>
          <a:lstStyle/>
          <a:p>
            <a:pPr indent="0" marL="0">
              <a:buNone/>
            </a:pPr>
            <a:r>
              <a:rPr lang="en-US" sz="1500" dirty="0">
                <a:solidFill>
                  <a:schemeClr val="tx1"/>
                </a:solidFill>
              </a:rPr>
              <a:t>Analytical solutions are still precious: they are how we </a:t>
            </a:r>
            <a:pPr indent="0" marL="0">
              <a:buNone/>
            </a:pPr>
            <a:r>
              <a:rPr lang="en-US" sz="1500" b="1" dirty="0">
                <a:solidFill>
                  <a:schemeClr val="tx1"/>
                </a:solidFill>
              </a:rPr>
              <a:t>check</a:t>
            </a:r>
            <a:pPr indent="0" marL="0">
              <a:buNone/>
            </a:pPr>
            <a:r>
              <a:rPr lang="en-US" sz="1500" dirty="0">
                <a:solidFill>
                  <a:schemeClr val="tx1"/>
                </a:solidFill>
              </a:rPr>
              <a:t> a CFD code.</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207"/>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GOVERNING EQUATIONS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One equation, many physics</a:t>
            </a:r>
            <a:endParaRPr lang="en-US" sz="3200" dirty="0"/>
          </a:p>
        </p:txBody>
      </p:sp>
      <p:sp>
        <p:nvSpPr>
          <p:cNvPr id="4" name="text-208"/>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700" dirty="0">
                <a:solidFill>
                  <a:schemeClr val="tx2"/>
                </a:solidFill>
              </a:rPr>
              <a:t>Most CFD equations are special cases of one </a:t>
            </a:r>
            <a:pPr indent="0" marL="0">
              <a:buNone/>
            </a:pPr>
            <a:r>
              <a:rPr lang="en-US" sz="1700" b="1" dirty="0">
                <a:solidFill>
                  <a:schemeClr val="tx2"/>
                </a:solidFill>
              </a:rPr>
              <a:t>generic transport equation</a:t>
            </a:r>
            <a:pPr indent="0" marL="0">
              <a:buNone/>
            </a:pPr>
            <a:r>
              <a:rPr lang="en-US" sz="1700" dirty="0">
                <a:solidFill>
                  <a:schemeClr val="tx2"/>
                </a:solidFill>
              </a:rPr>
              <a:t> for a quantity φ:</a:t>
            </a:r>
            <a:endParaRPr lang="en-US" sz="1700" dirty="0"/>
          </a:p>
        </p:txBody>
      </p:sp>
      <p:sp>
        <p:nvSpPr>
          <p:cNvPr id="5" name="card-209"/>
          <p:cNvSpPr/>
          <p:nvPr/>
        </p:nvSpPr>
        <p:spPr>
          <a:xfrm>
            <a:off x="1042416" y="1874520"/>
            <a:ext cx="2103120" cy="1097280"/>
          </a:xfrm>
          <a:prstGeom prst="roundRect">
            <a:avLst>
              <a:gd name="adj" fmla="val 8333"/>
            </a:avLst>
          </a:prstGeom>
          <a:solidFill>
            <a:schemeClr val="accent1">
              <a:alpha val="15000"/>
            </a:schemeClr>
          </a:solidFill>
          <a:ln w="15875">
            <a:solidFill>
              <a:schemeClr val="accent1"/>
            </a:solidFill>
            <a:prstDash val="solid"/>
          </a:ln>
        </p:spPr>
      </p:sp>
      <p:pic>
        <p:nvPicPr>
          <p:cNvPr id="6" name="eq-210" descr="t_rate">    </p:cNvPr>
          <p:cNvPicPr>
            <a:picLocks noChangeAspect="1"/>
          </p:cNvPicPr>
          <p:nvPr/>
        </p:nvPicPr>
        <p:blipFill>
          <a:blip r:embed="rId1"/>
          <a:stretch>
            <a:fillRect/>
          </a:stretch>
        </p:blipFill>
        <p:spPr>
          <a:xfrm>
            <a:off x="1717548" y="2125980"/>
            <a:ext cx="752856" cy="594360"/>
          </a:xfrm>
          <a:prstGeom prst="rect">
            <a:avLst/>
          </a:prstGeom>
        </p:spPr>
      </p:pic>
      <p:sp>
        <p:nvSpPr>
          <p:cNvPr id="7" name="text-211"/>
          <p:cNvSpPr txBox="1"/>
          <p:nvPr/>
        </p:nvSpPr>
        <p:spPr>
          <a:xfrm>
            <a:off x="1042416" y="3063240"/>
            <a:ext cx="2103120" cy="502920"/>
          </a:xfrm>
          <a:prstGeom prst="rect">
            <a:avLst/>
          </a:prstGeom>
          <a:noFill/>
          <a:ln/>
        </p:spPr>
        <p:txBody>
          <a:bodyPr wrap="square" lIns="0" tIns="0" rIns="0" bIns="0" rtlCol="0" anchor="t"/>
          <a:lstStyle/>
          <a:p>
            <a:pPr algn="ctr" indent="0" marL="0">
              <a:buNone/>
            </a:pPr>
            <a:r>
              <a:rPr lang="en-US" sz="1400" b="1" dirty="0">
                <a:solidFill>
                  <a:schemeClr val="accent1"/>
                </a:solidFill>
              </a:rPr>
              <a:t>rate of change</a:t>
            </a:r>
            <a:endParaRPr lang="en-US" sz="1400" dirty="0"/>
          </a:p>
        </p:txBody>
      </p:sp>
      <p:sp>
        <p:nvSpPr>
          <p:cNvPr id="8" name="text-212"/>
          <p:cNvSpPr txBox="1"/>
          <p:nvPr/>
        </p:nvSpPr>
        <p:spPr>
          <a:xfrm>
            <a:off x="3145536" y="1874520"/>
            <a:ext cx="502920" cy="1097280"/>
          </a:xfrm>
          <a:prstGeom prst="rect">
            <a:avLst/>
          </a:prstGeom>
          <a:noFill/>
          <a:ln/>
        </p:spPr>
        <p:txBody>
          <a:bodyPr wrap="square" lIns="0" tIns="0" rIns="0" bIns="0" rtlCol="0" anchor="ctr"/>
          <a:lstStyle/>
          <a:p>
            <a:pPr algn="ctr" indent="0" marL="0">
              <a:buNone/>
            </a:pPr>
            <a:r>
              <a:rPr lang="en-US" sz="3200" dirty="0">
                <a:solidFill>
                  <a:schemeClr val="tx1"/>
                </a:solidFill>
              </a:rPr>
              <a:t>+</a:t>
            </a:r>
            <a:endParaRPr lang="en-US" sz="3200" dirty="0"/>
          </a:p>
        </p:txBody>
      </p:sp>
      <p:sp>
        <p:nvSpPr>
          <p:cNvPr id="9" name="card-213"/>
          <p:cNvSpPr/>
          <p:nvPr/>
        </p:nvSpPr>
        <p:spPr>
          <a:xfrm>
            <a:off x="3648456" y="1874520"/>
            <a:ext cx="2514600" cy="1097280"/>
          </a:xfrm>
          <a:prstGeom prst="roundRect">
            <a:avLst>
              <a:gd name="adj" fmla="val 8333"/>
            </a:avLst>
          </a:prstGeom>
          <a:solidFill>
            <a:schemeClr val="accent2">
              <a:alpha val="15000"/>
            </a:schemeClr>
          </a:solidFill>
          <a:ln w="15875">
            <a:solidFill>
              <a:schemeClr val="accent2"/>
            </a:solidFill>
            <a:prstDash val="solid"/>
          </a:ln>
        </p:spPr>
      </p:sp>
      <p:pic>
        <p:nvPicPr>
          <p:cNvPr id="10" name="eq-214" descr="t_conv">    </p:cNvPr>
          <p:cNvPicPr>
            <a:picLocks noChangeAspect="1"/>
          </p:cNvPicPr>
          <p:nvPr/>
        </p:nvPicPr>
        <p:blipFill>
          <a:blip r:embed="rId2"/>
          <a:stretch>
            <a:fillRect/>
          </a:stretch>
        </p:blipFill>
        <p:spPr>
          <a:xfrm>
            <a:off x="4052316" y="2153412"/>
            <a:ext cx="1706880" cy="539496"/>
          </a:xfrm>
          <a:prstGeom prst="rect">
            <a:avLst/>
          </a:prstGeom>
        </p:spPr>
      </p:pic>
      <p:sp>
        <p:nvSpPr>
          <p:cNvPr id="11" name="text-215"/>
          <p:cNvSpPr txBox="1"/>
          <p:nvPr/>
        </p:nvSpPr>
        <p:spPr>
          <a:xfrm>
            <a:off x="3648456" y="3063240"/>
            <a:ext cx="2514600" cy="502920"/>
          </a:xfrm>
          <a:prstGeom prst="rect">
            <a:avLst/>
          </a:prstGeom>
          <a:noFill/>
          <a:ln/>
        </p:spPr>
        <p:txBody>
          <a:bodyPr wrap="square" lIns="0" tIns="0" rIns="0" bIns="0" rtlCol="0" anchor="t"/>
          <a:lstStyle/>
          <a:p>
            <a:pPr algn="ctr" indent="0" marL="0">
              <a:buNone/>
            </a:pPr>
            <a:r>
              <a:rPr lang="en-US" sz="1400" b="1" dirty="0">
                <a:solidFill>
                  <a:schemeClr val="accent2"/>
                </a:solidFill>
              </a:rPr>
              <a:t>convection: carried by the flow</a:t>
            </a:r>
            <a:endParaRPr lang="en-US" sz="1400" dirty="0"/>
          </a:p>
        </p:txBody>
      </p:sp>
      <p:sp>
        <p:nvSpPr>
          <p:cNvPr id="12" name="text-216"/>
          <p:cNvSpPr txBox="1"/>
          <p:nvPr/>
        </p:nvSpPr>
        <p:spPr>
          <a:xfrm>
            <a:off x="6163056" y="1874520"/>
            <a:ext cx="502920" cy="1097280"/>
          </a:xfrm>
          <a:prstGeom prst="rect">
            <a:avLst/>
          </a:prstGeom>
          <a:noFill/>
          <a:ln/>
        </p:spPr>
        <p:txBody>
          <a:bodyPr wrap="square" lIns="0" tIns="0" rIns="0" bIns="0" rtlCol="0" anchor="ctr"/>
          <a:lstStyle/>
          <a:p>
            <a:pPr algn="ctr" indent="0" marL="0">
              <a:buNone/>
            </a:pPr>
            <a:r>
              <a:rPr lang="en-US" sz="3200" dirty="0">
                <a:solidFill>
                  <a:schemeClr val="tx1"/>
                </a:solidFill>
              </a:rPr>
              <a:t>=</a:t>
            </a:r>
            <a:endParaRPr lang="en-US" sz="3200" dirty="0"/>
          </a:p>
        </p:txBody>
      </p:sp>
      <p:sp>
        <p:nvSpPr>
          <p:cNvPr id="13" name="card-217"/>
          <p:cNvSpPr/>
          <p:nvPr/>
        </p:nvSpPr>
        <p:spPr>
          <a:xfrm>
            <a:off x="6665976" y="1874520"/>
            <a:ext cx="2514600" cy="1097280"/>
          </a:xfrm>
          <a:prstGeom prst="roundRect">
            <a:avLst>
              <a:gd name="adj" fmla="val 8333"/>
            </a:avLst>
          </a:prstGeom>
          <a:solidFill>
            <a:schemeClr val="accent3">
              <a:alpha val="15000"/>
            </a:schemeClr>
          </a:solidFill>
          <a:ln w="15875">
            <a:solidFill>
              <a:schemeClr val="accent3"/>
            </a:solidFill>
            <a:prstDash val="solid"/>
          </a:ln>
        </p:spPr>
      </p:sp>
      <p:pic>
        <p:nvPicPr>
          <p:cNvPr id="14" name="eq-218" descr="t_diff">    </p:cNvPr>
          <p:cNvPicPr>
            <a:picLocks noChangeAspect="1"/>
          </p:cNvPicPr>
          <p:nvPr/>
        </p:nvPicPr>
        <p:blipFill>
          <a:blip r:embed="rId3"/>
          <a:stretch>
            <a:fillRect/>
          </a:stretch>
        </p:blipFill>
        <p:spPr>
          <a:xfrm>
            <a:off x="7027164" y="2153412"/>
            <a:ext cx="1792224" cy="539496"/>
          </a:xfrm>
          <a:prstGeom prst="rect">
            <a:avLst/>
          </a:prstGeom>
        </p:spPr>
      </p:pic>
      <p:sp>
        <p:nvSpPr>
          <p:cNvPr id="15" name="text-219"/>
          <p:cNvSpPr txBox="1"/>
          <p:nvPr/>
        </p:nvSpPr>
        <p:spPr>
          <a:xfrm>
            <a:off x="6665976" y="3063240"/>
            <a:ext cx="2514600" cy="502920"/>
          </a:xfrm>
          <a:prstGeom prst="rect">
            <a:avLst/>
          </a:prstGeom>
          <a:noFill/>
          <a:ln/>
        </p:spPr>
        <p:txBody>
          <a:bodyPr wrap="square" lIns="0" tIns="0" rIns="0" bIns="0" rtlCol="0" anchor="t"/>
          <a:lstStyle/>
          <a:p>
            <a:pPr algn="ctr" indent="0" marL="0">
              <a:buNone/>
            </a:pPr>
            <a:r>
              <a:rPr lang="en-US" sz="1400" b="1" dirty="0">
                <a:solidFill>
                  <a:schemeClr val="accent3"/>
                </a:solidFill>
              </a:rPr>
              <a:t>diffusion: spreading</a:t>
            </a:r>
            <a:endParaRPr lang="en-US" sz="1400" dirty="0"/>
          </a:p>
        </p:txBody>
      </p:sp>
      <p:sp>
        <p:nvSpPr>
          <p:cNvPr id="16" name="text-220"/>
          <p:cNvSpPr txBox="1"/>
          <p:nvPr/>
        </p:nvSpPr>
        <p:spPr>
          <a:xfrm>
            <a:off x="9180576" y="1874520"/>
            <a:ext cx="502920" cy="1097280"/>
          </a:xfrm>
          <a:prstGeom prst="rect">
            <a:avLst/>
          </a:prstGeom>
          <a:noFill/>
          <a:ln/>
        </p:spPr>
        <p:txBody>
          <a:bodyPr wrap="square" lIns="0" tIns="0" rIns="0" bIns="0" rtlCol="0" anchor="ctr"/>
          <a:lstStyle/>
          <a:p>
            <a:pPr algn="ctr" indent="0" marL="0">
              <a:buNone/>
            </a:pPr>
            <a:r>
              <a:rPr lang="en-US" sz="3200" dirty="0">
                <a:solidFill>
                  <a:schemeClr val="tx1"/>
                </a:solidFill>
              </a:rPr>
              <a:t>+</a:t>
            </a:r>
            <a:endParaRPr lang="en-US" sz="3200" dirty="0"/>
          </a:p>
        </p:txBody>
      </p:sp>
      <p:sp>
        <p:nvSpPr>
          <p:cNvPr id="17" name="card-221"/>
          <p:cNvSpPr/>
          <p:nvPr/>
        </p:nvSpPr>
        <p:spPr>
          <a:xfrm>
            <a:off x="9683496" y="1874520"/>
            <a:ext cx="1463040" cy="1097280"/>
          </a:xfrm>
          <a:prstGeom prst="roundRect">
            <a:avLst>
              <a:gd name="adj" fmla="val 8333"/>
            </a:avLst>
          </a:prstGeom>
          <a:solidFill>
            <a:schemeClr val="accent6">
              <a:alpha val="15000"/>
            </a:schemeClr>
          </a:solidFill>
          <a:ln w="15875">
            <a:solidFill>
              <a:schemeClr val="accent6"/>
            </a:solidFill>
            <a:prstDash val="solid"/>
          </a:ln>
        </p:spPr>
      </p:sp>
      <p:pic>
        <p:nvPicPr>
          <p:cNvPr id="18" name="eq-222" descr="t_src">    </p:cNvPr>
          <p:cNvPicPr>
            <a:picLocks noChangeAspect="1"/>
          </p:cNvPicPr>
          <p:nvPr/>
        </p:nvPicPr>
        <p:blipFill>
          <a:blip r:embed="rId4"/>
          <a:stretch>
            <a:fillRect/>
          </a:stretch>
        </p:blipFill>
        <p:spPr>
          <a:xfrm>
            <a:off x="10171176" y="2145792"/>
            <a:ext cx="487680" cy="554736"/>
          </a:xfrm>
          <a:prstGeom prst="rect">
            <a:avLst/>
          </a:prstGeom>
        </p:spPr>
      </p:pic>
      <p:sp>
        <p:nvSpPr>
          <p:cNvPr id="19" name="text-223"/>
          <p:cNvSpPr txBox="1"/>
          <p:nvPr/>
        </p:nvSpPr>
        <p:spPr>
          <a:xfrm>
            <a:off x="9683496" y="3063240"/>
            <a:ext cx="1463040" cy="502920"/>
          </a:xfrm>
          <a:prstGeom prst="rect">
            <a:avLst/>
          </a:prstGeom>
          <a:noFill/>
          <a:ln/>
        </p:spPr>
        <p:txBody>
          <a:bodyPr wrap="square" lIns="0" tIns="0" rIns="0" bIns="0" rtlCol="0" anchor="t"/>
          <a:lstStyle/>
          <a:p>
            <a:pPr algn="ctr" indent="0" marL="0">
              <a:buNone/>
            </a:pPr>
            <a:r>
              <a:rPr lang="en-US" sz="1400" b="1" dirty="0">
                <a:solidFill>
                  <a:schemeClr val="tx1"/>
                </a:solidFill>
              </a:rPr>
              <a:t>source</a:t>
            </a:r>
            <a:endParaRPr lang="en-US" sz="1400" dirty="0"/>
          </a:p>
        </p:txBody>
      </p:sp>
      <p:sp>
        <p:nvSpPr>
          <p:cNvPr id="20" name="text-224"/>
          <p:cNvSpPr txBox="1"/>
          <p:nvPr/>
        </p:nvSpPr>
        <p:spPr>
          <a:xfrm>
            <a:off x="548640" y="3749040"/>
            <a:ext cx="3657600" cy="365760"/>
          </a:xfrm>
          <a:prstGeom prst="rect">
            <a:avLst/>
          </a:prstGeom>
          <a:noFill/>
          <a:ln/>
        </p:spPr>
        <p:txBody>
          <a:bodyPr wrap="square" lIns="0" tIns="0" rIns="0" bIns="0" rtlCol="0" anchor="t"/>
          <a:lstStyle/>
          <a:p>
            <a:pPr indent="0" marL="0">
              <a:buNone/>
            </a:pPr>
            <a:r>
              <a:rPr lang="en-US" sz="1700" b="1" dirty="0">
                <a:solidFill>
                  <a:schemeClr val="tx1"/>
                </a:solidFill>
              </a:rPr>
              <a:t>Choose φ =</a:t>
            </a:r>
            <a:endParaRPr lang="en-US" sz="1700" dirty="0"/>
          </a:p>
        </p:txBody>
      </p:sp>
      <p:sp>
        <p:nvSpPr>
          <p:cNvPr id="21" name="card-225"/>
          <p:cNvSpPr/>
          <p:nvPr/>
        </p:nvSpPr>
        <p:spPr>
          <a:xfrm>
            <a:off x="548640" y="4160520"/>
            <a:ext cx="2606040" cy="1463040"/>
          </a:xfrm>
          <a:prstGeom prst="roundRect">
            <a:avLst>
              <a:gd name="adj" fmla="val 625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2" name="icon-bg-226"/>
          <p:cNvSpPr/>
          <p:nvPr/>
        </p:nvSpPr>
        <p:spPr>
          <a:xfrm>
            <a:off x="731520" y="4343400"/>
            <a:ext cx="566928" cy="566928"/>
          </a:xfrm>
          <a:prstGeom prst="ellipse">
            <a:avLst/>
          </a:prstGeom>
          <a:solidFill>
            <a:schemeClr val="accent1"/>
          </a:solidFill>
          <a:ln/>
        </p:spPr>
      </p:sp>
      <p:pic>
        <p:nvPicPr>
          <p:cNvPr id="23" name="icon-227" descr="preencoded.png">    </p:cNvPr>
          <p:cNvPicPr>
            <a:picLocks noChangeAspect="1"/>
          </p:cNvPicPr>
          <p:nvPr/>
        </p:nvPicPr>
        <p:blipFill>
          <a:blip r:embed="rId5"/>
          <a:stretch>
            <a:fillRect/>
          </a:stretch>
        </p:blipFill>
        <p:spPr>
          <a:xfrm>
            <a:off x="861913" y="4473793"/>
            <a:ext cx="306141" cy="306141"/>
          </a:xfrm>
          <a:prstGeom prst="rect">
            <a:avLst/>
          </a:prstGeom>
        </p:spPr>
      </p:pic>
      <p:sp>
        <p:nvSpPr>
          <p:cNvPr id="24" name="text-228"/>
          <p:cNvSpPr txBox="1"/>
          <p:nvPr/>
        </p:nvSpPr>
        <p:spPr>
          <a:xfrm>
            <a:off x="1417320" y="4343400"/>
            <a:ext cx="1691640" cy="566928"/>
          </a:xfrm>
          <a:prstGeom prst="rect">
            <a:avLst/>
          </a:prstGeom>
          <a:noFill/>
          <a:ln/>
        </p:spPr>
        <p:txBody>
          <a:bodyPr wrap="square" lIns="0" tIns="0" rIns="0" bIns="0" rtlCol="0" anchor="ctr"/>
          <a:lstStyle/>
          <a:p>
            <a:pPr indent="0" marL="0">
              <a:buNone/>
            </a:pPr>
            <a:r>
              <a:rPr lang="en-US" sz="2000" b="1" dirty="0">
                <a:solidFill>
                  <a:schemeClr val="tx1"/>
                </a:solidFill>
              </a:rPr>
              <a:t>φ = 1</a:t>
            </a:r>
            <a:endParaRPr lang="en-US" sz="2000" dirty="0"/>
          </a:p>
        </p:txBody>
      </p:sp>
      <p:sp>
        <p:nvSpPr>
          <p:cNvPr id="25" name="text-229"/>
          <p:cNvSpPr txBox="1"/>
          <p:nvPr/>
        </p:nvSpPr>
        <p:spPr>
          <a:xfrm>
            <a:off x="731520" y="5029200"/>
            <a:ext cx="2286000" cy="457200"/>
          </a:xfrm>
          <a:prstGeom prst="rect">
            <a:avLst/>
          </a:prstGeom>
          <a:noFill/>
          <a:ln/>
        </p:spPr>
        <p:txBody>
          <a:bodyPr wrap="square" lIns="0" tIns="0" rIns="0" bIns="0" rtlCol="0" anchor="t"/>
          <a:lstStyle/>
          <a:p>
            <a:pPr indent="0" marL="0">
              <a:buNone/>
            </a:pPr>
            <a:r>
              <a:rPr lang="en-US" sz="1500" dirty="0">
                <a:solidFill>
                  <a:schemeClr val="tx2"/>
                </a:solidFill>
              </a:rPr>
              <a:t>mass · continuity</a:t>
            </a:r>
            <a:endParaRPr lang="en-US" sz="1500" dirty="0"/>
          </a:p>
        </p:txBody>
      </p:sp>
      <p:sp>
        <p:nvSpPr>
          <p:cNvPr id="26" name="card-230"/>
          <p:cNvSpPr/>
          <p:nvPr/>
        </p:nvSpPr>
        <p:spPr>
          <a:xfrm>
            <a:off x="3376879" y="4160520"/>
            <a:ext cx="2606040" cy="1463040"/>
          </a:xfrm>
          <a:prstGeom prst="roundRect">
            <a:avLst>
              <a:gd name="adj" fmla="val 625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7" name="icon-bg-231"/>
          <p:cNvSpPr/>
          <p:nvPr/>
        </p:nvSpPr>
        <p:spPr>
          <a:xfrm>
            <a:off x="3559759" y="4343400"/>
            <a:ext cx="566928" cy="566928"/>
          </a:xfrm>
          <a:prstGeom prst="ellipse">
            <a:avLst/>
          </a:prstGeom>
          <a:solidFill>
            <a:schemeClr val="accent1"/>
          </a:solidFill>
          <a:ln/>
        </p:spPr>
      </p:sp>
      <p:pic>
        <p:nvPicPr>
          <p:cNvPr id="28" name="icon-232" descr="preencoded.png">    </p:cNvPr>
          <p:cNvPicPr>
            <a:picLocks noChangeAspect="1"/>
          </p:cNvPicPr>
          <p:nvPr/>
        </p:nvPicPr>
        <p:blipFill>
          <a:blip r:embed="rId6"/>
          <a:stretch>
            <a:fillRect/>
          </a:stretch>
        </p:blipFill>
        <p:spPr>
          <a:xfrm>
            <a:off x="3690153" y="4473793"/>
            <a:ext cx="306141" cy="306141"/>
          </a:xfrm>
          <a:prstGeom prst="rect">
            <a:avLst/>
          </a:prstGeom>
        </p:spPr>
      </p:pic>
      <p:sp>
        <p:nvSpPr>
          <p:cNvPr id="29" name="text-233"/>
          <p:cNvSpPr txBox="1"/>
          <p:nvPr/>
        </p:nvSpPr>
        <p:spPr>
          <a:xfrm>
            <a:off x="4245559" y="4343400"/>
            <a:ext cx="1691640" cy="566928"/>
          </a:xfrm>
          <a:prstGeom prst="rect">
            <a:avLst/>
          </a:prstGeom>
          <a:noFill/>
          <a:ln/>
        </p:spPr>
        <p:txBody>
          <a:bodyPr wrap="square" lIns="0" tIns="0" rIns="0" bIns="0" rtlCol="0" anchor="ctr"/>
          <a:lstStyle/>
          <a:p>
            <a:pPr indent="0" marL="0">
              <a:buNone/>
            </a:pPr>
            <a:r>
              <a:rPr lang="en-US" sz="2000" b="1" dirty="0">
                <a:solidFill>
                  <a:schemeClr val="tx1"/>
                </a:solidFill>
              </a:rPr>
              <a:t>φ = u, v, w</a:t>
            </a:r>
            <a:endParaRPr lang="en-US" sz="2000" dirty="0"/>
          </a:p>
        </p:txBody>
      </p:sp>
      <p:sp>
        <p:nvSpPr>
          <p:cNvPr id="30" name="text-234"/>
          <p:cNvSpPr txBox="1"/>
          <p:nvPr/>
        </p:nvSpPr>
        <p:spPr>
          <a:xfrm>
            <a:off x="3559759" y="5029200"/>
            <a:ext cx="2286000" cy="457200"/>
          </a:xfrm>
          <a:prstGeom prst="rect">
            <a:avLst/>
          </a:prstGeom>
          <a:noFill/>
          <a:ln/>
        </p:spPr>
        <p:txBody>
          <a:bodyPr wrap="square" lIns="0" tIns="0" rIns="0" bIns="0" rtlCol="0" anchor="t"/>
          <a:lstStyle/>
          <a:p>
            <a:pPr indent="0" marL="0">
              <a:buNone/>
            </a:pPr>
            <a:r>
              <a:rPr lang="en-US" sz="1500" dirty="0">
                <a:solidFill>
                  <a:schemeClr val="tx2"/>
                </a:solidFill>
              </a:rPr>
              <a:t>momentum · Navier–Stokes</a:t>
            </a:r>
            <a:endParaRPr lang="en-US" sz="1500" dirty="0"/>
          </a:p>
        </p:txBody>
      </p:sp>
      <p:sp>
        <p:nvSpPr>
          <p:cNvPr id="31" name="card-235"/>
          <p:cNvSpPr/>
          <p:nvPr/>
        </p:nvSpPr>
        <p:spPr>
          <a:xfrm>
            <a:off x="6205118" y="4160520"/>
            <a:ext cx="2606040" cy="1463040"/>
          </a:xfrm>
          <a:prstGeom prst="roundRect">
            <a:avLst>
              <a:gd name="adj" fmla="val 625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2" name="icon-bg-236"/>
          <p:cNvSpPr/>
          <p:nvPr/>
        </p:nvSpPr>
        <p:spPr>
          <a:xfrm>
            <a:off x="6387998" y="4343400"/>
            <a:ext cx="566928" cy="566928"/>
          </a:xfrm>
          <a:prstGeom prst="ellipse">
            <a:avLst/>
          </a:prstGeom>
          <a:solidFill>
            <a:schemeClr val="accent2"/>
          </a:solidFill>
          <a:ln/>
        </p:spPr>
      </p:sp>
      <p:pic>
        <p:nvPicPr>
          <p:cNvPr id="33" name="icon-237" descr="preencoded.png">    </p:cNvPr>
          <p:cNvPicPr>
            <a:picLocks noChangeAspect="1"/>
          </p:cNvPicPr>
          <p:nvPr/>
        </p:nvPicPr>
        <p:blipFill>
          <a:blip r:embed="rId7"/>
          <a:stretch>
            <a:fillRect/>
          </a:stretch>
        </p:blipFill>
        <p:spPr>
          <a:xfrm>
            <a:off x="6518392" y="4473793"/>
            <a:ext cx="306141" cy="306141"/>
          </a:xfrm>
          <a:prstGeom prst="rect">
            <a:avLst/>
          </a:prstGeom>
        </p:spPr>
      </p:pic>
      <p:sp>
        <p:nvSpPr>
          <p:cNvPr id="34" name="text-238"/>
          <p:cNvSpPr txBox="1"/>
          <p:nvPr/>
        </p:nvSpPr>
        <p:spPr>
          <a:xfrm>
            <a:off x="7073798" y="4343400"/>
            <a:ext cx="1691640" cy="566928"/>
          </a:xfrm>
          <a:prstGeom prst="rect">
            <a:avLst/>
          </a:prstGeom>
          <a:noFill/>
          <a:ln/>
        </p:spPr>
        <p:txBody>
          <a:bodyPr wrap="square" lIns="0" tIns="0" rIns="0" bIns="0" rtlCol="0" anchor="ctr"/>
          <a:lstStyle/>
          <a:p>
            <a:pPr indent="0" marL="0">
              <a:buNone/>
            </a:pPr>
            <a:r>
              <a:rPr lang="en-US" sz="2000" b="1" dirty="0">
                <a:solidFill>
                  <a:schemeClr val="tx1"/>
                </a:solidFill>
              </a:rPr>
              <a:t>φ = T</a:t>
            </a:r>
            <a:endParaRPr lang="en-US" sz="2000" dirty="0"/>
          </a:p>
        </p:txBody>
      </p:sp>
      <p:sp>
        <p:nvSpPr>
          <p:cNvPr id="35" name="text-239"/>
          <p:cNvSpPr txBox="1"/>
          <p:nvPr/>
        </p:nvSpPr>
        <p:spPr>
          <a:xfrm>
            <a:off x="6387998" y="5029200"/>
            <a:ext cx="2286000" cy="457200"/>
          </a:xfrm>
          <a:prstGeom prst="rect">
            <a:avLst/>
          </a:prstGeom>
          <a:noFill/>
          <a:ln/>
        </p:spPr>
        <p:txBody>
          <a:bodyPr wrap="square" lIns="0" tIns="0" rIns="0" bIns="0" rtlCol="0" anchor="t"/>
          <a:lstStyle/>
          <a:p>
            <a:pPr indent="0" marL="0">
              <a:buNone/>
            </a:pPr>
            <a:r>
              <a:rPr lang="en-US" sz="1500" dirty="0">
                <a:solidFill>
                  <a:schemeClr val="tx2"/>
                </a:solidFill>
              </a:rPr>
              <a:t>energy · heat transfer</a:t>
            </a:r>
            <a:endParaRPr lang="en-US" sz="1500" dirty="0"/>
          </a:p>
        </p:txBody>
      </p:sp>
      <p:sp>
        <p:nvSpPr>
          <p:cNvPr id="36" name="card-240"/>
          <p:cNvSpPr/>
          <p:nvPr/>
        </p:nvSpPr>
        <p:spPr>
          <a:xfrm>
            <a:off x="9033358" y="4160520"/>
            <a:ext cx="2606040" cy="1463040"/>
          </a:xfrm>
          <a:prstGeom prst="roundRect">
            <a:avLst>
              <a:gd name="adj" fmla="val 625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7" name="icon-bg-241"/>
          <p:cNvSpPr/>
          <p:nvPr/>
        </p:nvSpPr>
        <p:spPr>
          <a:xfrm>
            <a:off x="9216238" y="4343400"/>
            <a:ext cx="566928" cy="566928"/>
          </a:xfrm>
          <a:prstGeom prst="ellipse">
            <a:avLst/>
          </a:prstGeom>
          <a:solidFill>
            <a:schemeClr val="accent3"/>
          </a:solidFill>
          <a:ln/>
        </p:spPr>
      </p:sp>
      <p:pic>
        <p:nvPicPr>
          <p:cNvPr id="38" name="icon-242" descr="preencoded.png">    </p:cNvPr>
          <p:cNvPicPr>
            <a:picLocks noChangeAspect="1"/>
          </p:cNvPicPr>
          <p:nvPr/>
        </p:nvPicPr>
        <p:blipFill>
          <a:blip r:embed="rId8"/>
          <a:stretch>
            <a:fillRect/>
          </a:stretch>
        </p:blipFill>
        <p:spPr>
          <a:xfrm>
            <a:off x="9346631" y="4473793"/>
            <a:ext cx="306141" cy="306141"/>
          </a:xfrm>
          <a:prstGeom prst="rect">
            <a:avLst/>
          </a:prstGeom>
        </p:spPr>
      </p:pic>
      <p:sp>
        <p:nvSpPr>
          <p:cNvPr id="39" name="text-243"/>
          <p:cNvSpPr txBox="1"/>
          <p:nvPr/>
        </p:nvSpPr>
        <p:spPr>
          <a:xfrm>
            <a:off x="9902038" y="4343400"/>
            <a:ext cx="1691640" cy="566928"/>
          </a:xfrm>
          <a:prstGeom prst="rect">
            <a:avLst/>
          </a:prstGeom>
          <a:noFill/>
          <a:ln/>
        </p:spPr>
        <p:txBody>
          <a:bodyPr wrap="square" lIns="0" tIns="0" rIns="0" bIns="0" rtlCol="0" anchor="ctr"/>
          <a:lstStyle/>
          <a:p>
            <a:pPr indent="0" marL="0">
              <a:buNone/>
            </a:pPr>
            <a:r>
              <a:rPr lang="en-US" sz="2000" b="1" dirty="0">
                <a:solidFill>
                  <a:schemeClr val="tx1"/>
                </a:solidFill>
              </a:rPr>
              <a:t>φ = c</a:t>
            </a:r>
            <a:endParaRPr lang="en-US" sz="2000" dirty="0"/>
          </a:p>
        </p:txBody>
      </p:sp>
      <p:sp>
        <p:nvSpPr>
          <p:cNvPr id="40" name="text-244"/>
          <p:cNvSpPr txBox="1"/>
          <p:nvPr/>
        </p:nvSpPr>
        <p:spPr>
          <a:xfrm>
            <a:off x="9216238" y="5029200"/>
            <a:ext cx="2286000" cy="457200"/>
          </a:xfrm>
          <a:prstGeom prst="rect">
            <a:avLst/>
          </a:prstGeom>
          <a:noFill/>
          <a:ln/>
        </p:spPr>
        <p:txBody>
          <a:bodyPr wrap="square" lIns="0" tIns="0" rIns="0" bIns="0" rtlCol="0" anchor="t"/>
          <a:lstStyle/>
          <a:p>
            <a:pPr indent="0" marL="0">
              <a:buNone/>
            </a:pPr>
            <a:r>
              <a:rPr lang="en-US" sz="1500" dirty="0">
                <a:solidFill>
                  <a:schemeClr val="tx2"/>
                </a:solidFill>
              </a:rPr>
              <a:t>a species · mixing, pollution</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24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7 PILLARS OF CFD</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Every CFD analysis rests on 7 pillars</a:t>
            </a:r>
            <a:endParaRPr lang="en-US" sz="3200" dirty="0"/>
          </a:p>
        </p:txBody>
      </p:sp>
      <p:sp>
        <p:nvSpPr>
          <p:cNvPr id="4" name="card-246"/>
          <p:cNvSpPr/>
          <p:nvPr/>
        </p:nvSpPr>
        <p:spPr>
          <a:xfrm>
            <a:off x="548640" y="2651760"/>
            <a:ext cx="1463040" cy="2103120"/>
          </a:xfrm>
          <a:prstGeom prst="roundRect">
            <a:avLst>
              <a:gd name="adj" fmla="val 6250"/>
            </a:avLst>
          </a:prstGeom>
          <a:solidFill>
            <a:schemeClr val="bg2"/>
          </a:solidFill>
          <a:ln/>
          <a:effectLst>
            <a:outerShdw sx="100000" sy="100000" kx="0" ky="0" algn="bl" rotWithShape="0" blurRad="88900" dist="19050" dir="5400000">
              <a:srgbClr val="0B2E47">
                <a:alpha val="12000"/>
              </a:srgbClr>
            </a:outerShdw>
          </a:effectLst>
        </p:spPr>
      </p:sp>
      <p:sp>
        <p:nvSpPr>
          <p:cNvPr id="5" name="icon-bg-247"/>
          <p:cNvSpPr/>
          <p:nvPr/>
        </p:nvSpPr>
        <p:spPr>
          <a:xfrm>
            <a:off x="914400" y="2834640"/>
            <a:ext cx="731520" cy="731520"/>
          </a:xfrm>
          <a:prstGeom prst="ellipse">
            <a:avLst/>
          </a:prstGeom>
          <a:solidFill>
            <a:schemeClr val="tx1"/>
          </a:solidFill>
          <a:ln/>
        </p:spPr>
      </p:sp>
      <p:pic>
        <p:nvPicPr>
          <p:cNvPr id="6" name="icon-248" descr="preencoded.png">    </p:cNvPr>
          <p:cNvPicPr>
            <a:picLocks noChangeAspect="1"/>
          </p:cNvPicPr>
          <p:nvPr/>
        </p:nvPicPr>
        <p:blipFill>
          <a:blip r:embed="rId1"/>
          <a:stretch>
            <a:fillRect/>
          </a:stretch>
        </p:blipFill>
        <p:spPr>
          <a:xfrm>
            <a:off x="1082650" y="3002890"/>
            <a:ext cx="395021" cy="395021"/>
          </a:xfrm>
          <a:prstGeom prst="rect">
            <a:avLst/>
          </a:prstGeom>
        </p:spPr>
      </p:pic>
      <p:sp>
        <p:nvSpPr>
          <p:cNvPr id="7" name="text-249"/>
          <p:cNvSpPr txBox="1"/>
          <p:nvPr/>
        </p:nvSpPr>
        <p:spPr>
          <a:xfrm>
            <a:off x="594360" y="3657600"/>
            <a:ext cx="1371600" cy="548640"/>
          </a:xfrm>
          <a:prstGeom prst="rect">
            <a:avLst/>
          </a:prstGeom>
          <a:noFill/>
          <a:ln/>
        </p:spPr>
        <p:txBody>
          <a:bodyPr wrap="square" lIns="0" tIns="0" rIns="0" bIns="0" rtlCol="0" anchor="t"/>
          <a:lstStyle/>
          <a:p>
            <a:pPr algn="ctr" indent="0" marL="0">
              <a:buNone/>
            </a:pPr>
            <a:r>
              <a:rPr lang="en-US" sz="1400" b="1" dirty="0">
                <a:solidFill>
                  <a:schemeClr val="tx1"/>
                </a:solidFill>
              </a:rPr>
              <a:t>Physical problem</a:t>
            </a:r>
            <a:endParaRPr lang="en-US" sz="1400" dirty="0"/>
          </a:p>
        </p:txBody>
      </p:sp>
      <p:sp>
        <p:nvSpPr>
          <p:cNvPr id="8" name="text-250"/>
          <p:cNvSpPr txBox="1"/>
          <p:nvPr/>
        </p:nvSpPr>
        <p:spPr>
          <a:xfrm>
            <a:off x="594360" y="4206240"/>
            <a:ext cx="1371600" cy="411480"/>
          </a:xfrm>
          <a:prstGeom prst="rect">
            <a:avLst/>
          </a:prstGeom>
          <a:noFill/>
          <a:ln/>
        </p:spPr>
        <p:txBody>
          <a:bodyPr wrap="square" lIns="0" tIns="0" rIns="0" bIns="0" rtlCol="0" anchor="t"/>
          <a:lstStyle/>
          <a:p>
            <a:pPr algn="ctr" indent="0" marL="0">
              <a:buNone/>
            </a:pPr>
            <a:r>
              <a:rPr lang="en-US" sz="1150" dirty="0">
                <a:solidFill>
                  <a:schemeClr val="tx2"/>
                </a:solidFill>
              </a:rPr>
              <a:t>geometry + physics</a:t>
            </a:r>
            <a:endParaRPr lang="en-US" sz="1150" dirty="0"/>
          </a:p>
        </p:txBody>
      </p:sp>
      <p:sp>
        <p:nvSpPr>
          <p:cNvPr id="9" name="arrow-251"/>
          <p:cNvSpPr/>
          <p:nvPr/>
        </p:nvSpPr>
        <p:spPr>
          <a:xfrm>
            <a:off x="2048256" y="3703320"/>
            <a:ext cx="256032" cy="0"/>
          </a:xfrm>
          <a:prstGeom prst="line">
            <a:avLst/>
          </a:prstGeom>
          <a:noFill/>
          <a:ln w="25400">
            <a:solidFill>
              <a:schemeClr val="accent4"/>
            </a:solidFill>
            <a:prstDash val="solid"/>
            <a:tailEnd type="triangle"/>
          </a:ln>
        </p:spPr>
      </p:sp>
      <p:sp>
        <p:nvSpPr>
          <p:cNvPr id="10" name="card-252"/>
          <p:cNvSpPr/>
          <p:nvPr/>
        </p:nvSpPr>
        <p:spPr>
          <a:xfrm>
            <a:off x="2331720" y="1463040"/>
            <a:ext cx="3291840" cy="4343400"/>
          </a:xfrm>
          <a:prstGeom prst="roundRect">
            <a:avLst>
              <a:gd name="adj" fmla="val 2778"/>
            </a:avLst>
          </a:prstGeom>
          <a:solidFill>
            <a:schemeClr val="accent1">
              <a:alpha val="10000"/>
            </a:schemeClr>
          </a:solidFill>
          <a:ln w="15875">
            <a:solidFill>
              <a:schemeClr val="accent1"/>
            </a:solidFill>
            <a:prstDash val="solid"/>
          </a:ln>
        </p:spPr>
      </p:sp>
      <p:pic>
        <p:nvPicPr>
          <p:cNvPr id="11" name="icon-253" descr="preencoded.png">    </p:cNvPr>
          <p:cNvPicPr>
            <a:picLocks noChangeAspect="1"/>
          </p:cNvPicPr>
          <p:nvPr/>
        </p:nvPicPr>
        <p:blipFill>
          <a:blip r:embed="rId2"/>
          <a:stretch>
            <a:fillRect/>
          </a:stretch>
        </p:blipFill>
        <p:spPr>
          <a:xfrm>
            <a:off x="2514600" y="1600200"/>
            <a:ext cx="292608" cy="292608"/>
          </a:xfrm>
          <a:prstGeom prst="rect">
            <a:avLst/>
          </a:prstGeom>
        </p:spPr>
      </p:pic>
      <p:sp>
        <p:nvSpPr>
          <p:cNvPr id="12" name="text-254"/>
          <p:cNvSpPr txBox="1"/>
          <p:nvPr/>
        </p:nvSpPr>
        <p:spPr>
          <a:xfrm>
            <a:off x="2898648" y="1600200"/>
            <a:ext cx="2560320" cy="292608"/>
          </a:xfrm>
          <a:prstGeom prst="rect">
            <a:avLst/>
          </a:prstGeom>
          <a:noFill/>
          <a:ln/>
        </p:spPr>
        <p:txBody>
          <a:bodyPr wrap="square" lIns="0" tIns="0" rIns="0" bIns="0" rtlCol="0" anchor="ctr"/>
          <a:lstStyle/>
          <a:p>
            <a:pPr indent="0" marL="0">
              <a:buNone/>
            </a:pPr>
            <a:r>
              <a:rPr lang="en-US" sz="1300" b="1" spc="100" kern="0" dirty="0">
                <a:solidFill>
                  <a:schemeClr val="accent1"/>
                </a:solidFill>
              </a:rPr>
              <a:t>PRE-PROCESSING</a:t>
            </a:r>
            <a:endParaRPr lang="en-US" sz="1300" dirty="0"/>
          </a:p>
        </p:txBody>
      </p:sp>
      <p:sp>
        <p:nvSpPr>
          <p:cNvPr id="13" name="card-255"/>
          <p:cNvSpPr/>
          <p:nvPr/>
        </p:nvSpPr>
        <p:spPr>
          <a:xfrm>
            <a:off x="2468880" y="2057400"/>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14" name="icon-bg-256"/>
          <p:cNvSpPr/>
          <p:nvPr/>
        </p:nvSpPr>
        <p:spPr>
          <a:xfrm>
            <a:off x="2606040" y="2295144"/>
            <a:ext cx="640080" cy="640080"/>
          </a:xfrm>
          <a:prstGeom prst="ellipse">
            <a:avLst/>
          </a:prstGeom>
          <a:solidFill>
            <a:schemeClr val="accent1"/>
          </a:solidFill>
          <a:ln/>
        </p:spPr>
      </p:sp>
      <p:pic>
        <p:nvPicPr>
          <p:cNvPr id="15" name="icon-257" descr="preencoded.png">    </p:cNvPr>
          <p:cNvPicPr>
            <a:picLocks noChangeAspect="1"/>
          </p:cNvPicPr>
          <p:nvPr/>
        </p:nvPicPr>
        <p:blipFill>
          <a:blip r:embed="rId3"/>
          <a:stretch>
            <a:fillRect/>
          </a:stretch>
        </p:blipFill>
        <p:spPr>
          <a:xfrm>
            <a:off x="2753258" y="2442362"/>
            <a:ext cx="345643" cy="345643"/>
          </a:xfrm>
          <a:prstGeom prst="rect">
            <a:avLst/>
          </a:prstGeom>
        </p:spPr>
      </p:pic>
      <p:sp>
        <p:nvSpPr>
          <p:cNvPr id="16" name="text-258"/>
          <p:cNvSpPr txBox="1"/>
          <p:nvPr/>
        </p:nvSpPr>
        <p:spPr>
          <a:xfrm>
            <a:off x="3383280" y="2221992"/>
            <a:ext cx="2011680" cy="365760"/>
          </a:xfrm>
          <a:prstGeom prst="rect">
            <a:avLst/>
          </a:prstGeom>
          <a:noFill/>
          <a:ln/>
        </p:spPr>
        <p:txBody>
          <a:bodyPr wrap="square" lIns="0" tIns="0" rIns="0" bIns="0" rtlCol="0" anchor="t"/>
          <a:lstStyle/>
          <a:p>
            <a:pPr indent="0" marL="0">
              <a:buNone/>
            </a:pPr>
            <a:r>
              <a:rPr lang="en-US" sz="1600" b="1" dirty="0">
                <a:solidFill>
                  <a:schemeClr val="tx1"/>
                </a:solidFill>
              </a:rPr>
              <a:t>1 · Geometry</a:t>
            </a:r>
            <a:endParaRPr lang="en-US" sz="1600" dirty="0"/>
          </a:p>
        </p:txBody>
      </p:sp>
      <p:sp>
        <p:nvSpPr>
          <p:cNvPr id="17" name="text-259"/>
          <p:cNvSpPr txBox="1"/>
          <p:nvPr/>
        </p:nvSpPr>
        <p:spPr>
          <a:xfrm>
            <a:off x="3383280" y="2606040"/>
            <a:ext cx="2011680" cy="457200"/>
          </a:xfrm>
          <a:prstGeom prst="rect">
            <a:avLst/>
          </a:prstGeom>
          <a:noFill/>
          <a:ln/>
        </p:spPr>
        <p:txBody>
          <a:bodyPr wrap="square" lIns="0" tIns="0" rIns="0" bIns="0" rtlCol="0" anchor="t"/>
          <a:lstStyle/>
          <a:p>
            <a:pPr indent="0" marL="0">
              <a:buNone/>
            </a:pPr>
            <a:r>
              <a:rPr lang="en-US" sz="1300" dirty="0">
                <a:solidFill>
                  <a:schemeClr val="tx2"/>
                </a:solidFill>
              </a:rPr>
              <a:t>model the domain</a:t>
            </a:r>
            <a:endParaRPr lang="en-US" sz="1300" dirty="0"/>
          </a:p>
        </p:txBody>
      </p:sp>
      <p:sp>
        <p:nvSpPr>
          <p:cNvPr id="18" name="card-260"/>
          <p:cNvSpPr/>
          <p:nvPr/>
        </p:nvSpPr>
        <p:spPr>
          <a:xfrm>
            <a:off x="2468880" y="3310128"/>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19" name="icon-bg-261"/>
          <p:cNvSpPr/>
          <p:nvPr/>
        </p:nvSpPr>
        <p:spPr>
          <a:xfrm>
            <a:off x="2606040" y="3547872"/>
            <a:ext cx="640080" cy="640080"/>
          </a:xfrm>
          <a:prstGeom prst="ellipse">
            <a:avLst/>
          </a:prstGeom>
          <a:solidFill>
            <a:schemeClr val="accent1"/>
          </a:solidFill>
          <a:ln/>
        </p:spPr>
      </p:sp>
      <p:pic>
        <p:nvPicPr>
          <p:cNvPr id="20" name="icon-262" descr="preencoded.png">    </p:cNvPr>
          <p:cNvPicPr>
            <a:picLocks noChangeAspect="1"/>
          </p:cNvPicPr>
          <p:nvPr/>
        </p:nvPicPr>
        <p:blipFill>
          <a:blip r:embed="rId4"/>
          <a:stretch>
            <a:fillRect/>
          </a:stretch>
        </p:blipFill>
        <p:spPr>
          <a:xfrm>
            <a:off x="2753258" y="3695090"/>
            <a:ext cx="345643" cy="345643"/>
          </a:xfrm>
          <a:prstGeom prst="rect">
            <a:avLst/>
          </a:prstGeom>
        </p:spPr>
      </p:pic>
      <p:sp>
        <p:nvSpPr>
          <p:cNvPr id="21" name="text-263"/>
          <p:cNvSpPr txBox="1"/>
          <p:nvPr/>
        </p:nvSpPr>
        <p:spPr>
          <a:xfrm>
            <a:off x="3383280" y="3474720"/>
            <a:ext cx="2011680" cy="365760"/>
          </a:xfrm>
          <a:prstGeom prst="rect">
            <a:avLst/>
          </a:prstGeom>
          <a:noFill/>
          <a:ln/>
        </p:spPr>
        <p:txBody>
          <a:bodyPr wrap="square" lIns="0" tIns="0" rIns="0" bIns="0" rtlCol="0" anchor="t"/>
          <a:lstStyle/>
          <a:p>
            <a:pPr indent="0" marL="0">
              <a:buNone/>
            </a:pPr>
            <a:r>
              <a:rPr lang="en-US" sz="1600" b="1" dirty="0">
                <a:solidFill>
                  <a:schemeClr val="tx1"/>
                </a:solidFill>
              </a:rPr>
              <a:t>2 · Grid</a:t>
            </a:r>
            <a:endParaRPr lang="en-US" sz="1600" dirty="0"/>
          </a:p>
        </p:txBody>
      </p:sp>
      <p:sp>
        <p:nvSpPr>
          <p:cNvPr id="22" name="text-264"/>
          <p:cNvSpPr txBox="1"/>
          <p:nvPr/>
        </p:nvSpPr>
        <p:spPr>
          <a:xfrm>
            <a:off x="3383280" y="3858768"/>
            <a:ext cx="2011680" cy="457200"/>
          </a:xfrm>
          <a:prstGeom prst="rect">
            <a:avLst/>
          </a:prstGeom>
          <a:noFill/>
          <a:ln/>
        </p:spPr>
        <p:txBody>
          <a:bodyPr wrap="square" lIns="0" tIns="0" rIns="0" bIns="0" rtlCol="0" anchor="t"/>
          <a:lstStyle/>
          <a:p>
            <a:pPr indent="0" marL="0">
              <a:buNone/>
            </a:pPr>
            <a:r>
              <a:rPr lang="en-US" sz="1300" dirty="0">
                <a:solidFill>
                  <a:schemeClr val="tx2"/>
                </a:solidFill>
              </a:rPr>
              <a:t>divide it into small pieces</a:t>
            </a:r>
            <a:endParaRPr lang="en-US" sz="1300" dirty="0"/>
          </a:p>
        </p:txBody>
      </p:sp>
      <p:sp>
        <p:nvSpPr>
          <p:cNvPr id="23" name="card-265"/>
          <p:cNvSpPr/>
          <p:nvPr/>
        </p:nvSpPr>
        <p:spPr>
          <a:xfrm>
            <a:off x="2468880" y="4562856"/>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24" name="icon-bg-266"/>
          <p:cNvSpPr/>
          <p:nvPr/>
        </p:nvSpPr>
        <p:spPr>
          <a:xfrm>
            <a:off x="2606040" y="4800600"/>
            <a:ext cx="640080" cy="640080"/>
          </a:xfrm>
          <a:prstGeom prst="ellipse">
            <a:avLst/>
          </a:prstGeom>
          <a:solidFill>
            <a:schemeClr val="accent1"/>
          </a:solidFill>
          <a:ln/>
        </p:spPr>
      </p:sp>
      <p:pic>
        <p:nvPicPr>
          <p:cNvPr id="25" name="icon-267" descr="preencoded.png">    </p:cNvPr>
          <p:cNvPicPr>
            <a:picLocks noChangeAspect="1"/>
          </p:cNvPicPr>
          <p:nvPr/>
        </p:nvPicPr>
        <p:blipFill>
          <a:blip r:embed="rId5"/>
          <a:stretch>
            <a:fillRect/>
          </a:stretch>
        </p:blipFill>
        <p:spPr>
          <a:xfrm>
            <a:off x="2753258" y="4947818"/>
            <a:ext cx="345643" cy="345643"/>
          </a:xfrm>
          <a:prstGeom prst="rect">
            <a:avLst/>
          </a:prstGeom>
        </p:spPr>
      </p:pic>
      <p:sp>
        <p:nvSpPr>
          <p:cNvPr id="26" name="text-268"/>
          <p:cNvSpPr txBox="1"/>
          <p:nvPr/>
        </p:nvSpPr>
        <p:spPr>
          <a:xfrm>
            <a:off x="3383280" y="4727448"/>
            <a:ext cx="2011680" cy="365760"/>
          </a:xfrm>
          <a:prstGeom prst="rect">
            <a:avLst/>
          </a:prstGeom>
          <a:noFill/>
          <a:ln/>
        </p:spPr>
        <p:txBody>
          <a:bodyPr wrap="square" lIns="0" tIns="0" rIns="0" bIns="0" rtlCol="0" anchor="t"/>
          <a:lstStyle/>
          <a:p>
            <a:pPr indent="0" marL="0">
              <a:buNone/>
            </a:pPr>
            <a:r>
              <a:rPr lang="en-US" sz="1600" b="1" dirty="0">
                <a:solidFill>
                  <a:schemeClr val="tx1"/>
                </a:solidFill>
              </a:rPr>
              <a:t>3 · Physics</a:t>
            </a:r>
            <a:endParaRPr lang="en-US" sz="1600" dirty="0"/>
          </a:p>
        </p:txBody>
      </p:sp>
      <p:sp>
        <p:nvSpPr>
          <p:cNvPr id="27" name="text-269"/>
          <p:cNvSpPr txBox="1"/>
          <p:nvPr/>
        </p:nvSpPr>
        <p:spPr>
          <a:xfrm>
            <a:off x="3383280" y="5111496"/>
            <a:ext cx="2011680" cy="457200"/>
          </a:xfrm>
          <a:prstGeom prst="rect">
            <a:avLst/>
          </a:prstGeom>
          <a:noFill/>
          <a:ln/>
        </p:spPr>
        <p:txBody>
          <a:bodyPr wrap="square" lIns="0" tIns="0" rIns="0" bIns="0" rtlCol="0" anchor="t"/>
          <a:lstStyle/>
          <a:p>
            <a:pPr indent="0" marL="0">
              <a:buNone/>
            </a:pPr>
            <a:r>
              <a:rPr lang="en-US" sz="1300" dirty="0">
                <a:solidFill>
                  <a:schemeClr val="tx2"/>
                </a:solidFill>
              </a:rPr>
              <a:t>choose the governing equations</a:t>
            </a:r>
            <a:endParaRPr lang="en-US" sz="1300" dirty="0"/>
          </a:p>
        </p:txBody>
      </p:sp>
      <p:sp>
        <p:nvSpPr>
          <p:cNvPr id="28" name="card-270"/>
          <p:cNvSpPr/>
          <p:nvPr/>
        </p:nvSpPr>
        <p:spPr>
          <a:xfrm>
            <a:off x="5897880" y="1463040"/>
            <a:ext cx="3291840" cy="4343400"/>
          </a:xfrm>
          <a:prstGeom prst="roundRect">
            <a:avLst>
              <a:gd name="adj" fmla="val 2778"/>
            </a:avLst>
          </a:prstGeom>
          <a:solidFill>
            <a:schemeClr val="accent2">
              <a:alpha val="10000"/>
            </a:schemeClr>
          </a:solidFill>
          <a:ln w="15875">
            <a:solidFill>
              <a:schemeClr val="accent2"/>
            </a:solidFill>
            <a:prstDash val="solid"/>
          </a:ln>
        </p:spPr>
      </p:sp>
      <p:pic>
        <p:nvPicPr>
          <p:cNvPr id="29" name="icon-271" descr="preencoded.png">    </p:cNvPr>
          <p:cNvPicPr>
            <a:picLocks noChangeAspect="1"/>
          </p:cNvPicPr>
          <p:nvPr/>
        </p:nvPicPr>
        <p:blipFill>
          <a:blip r:embed="rId6"/>
          <a:stretch>
            <a:fillRect/>
          </a:stretch>
        </p:blipFill>
        <p:spPr>
          <a:xfrm>
            <a:off x="6080760" y="1600200"/>
            <a:ext cx="292608" cy="292608"/>
          </a:xfrm>
          <a:prstGeom prst="rect">
            <a:avLst/>
          </a:prstGeom>
        </p:spPr>
      </p:pic>
      <p:sp>
        <p:nvSpPr>
          <p:cNvPr id="30" name="text-272"/>
          <p:cNvSpPr txBox="1"/>
          <p:nvPr/>
        </p:nvSpPr>
        <p:spPr>
          <a:xfrm>
            <a:off x="6464808" y="1600200"/>
            <a:ext cx="256032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SOLVING</a:t>
            </a:r>
            <a:endParaRPr lang="en-US" sz="1300" dirty="0"/>
          </a:p>
        </p:txBody>
      </p:sp>
      <p:sp>
        <p:nvSpPr>
          <p:cNvPr id="31" name="card-273"/>
          <p:cNvSpPr/>
          <p:nvPr/>
        </p:nvSpPr>
        <p:spPr>
          <a:xfrm>
            <a:off x="6035040" y="2057400"/>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32" name="icon-bg-274"/>
          <p:cNvSpPr/>
          <p:nvPr/>
        </p:nvSpPr>
        <p:spPr>
          <a:xfrm>
            <a:off x="6172200" y="2295144"/>
            <a:ext cx="640080" cy="640080"/>
          </a:xfrm>
          <a:prstGeom prst="ellipse">
            <a:avLst/>
          </a:prstGeom>
          <a:solidFill>
            <a:schemeClr val="accent2"/>
          </a:solidFill>
          <a:ln/>
        </p:spPr>
      </p:sp>
      <p:pic>
        <p:nvPicPr>
          <p:cNvPr id="33" name="icon-275" descr="preencoded.png">    </p:cNvPr>
          <p:cNvPicPr>
            <a:picLocks noChangeAspect="1"/>
          </p:cNvPicPr>
          <p:nvPr/>
        </p:nvPicPr>
        <p:blipFill>
          <a:blip r:embed="rId7"/>
          <a:stretch>
            <a:fillRect/>
          </a:stretch>
        </p:blipFill>
        <p:spPr>
          <a:xfrm>
            <a:off x="6319418" y="2442362"/>
            <a:ext cx="345643" cy="345643"/>
          </a:xfrm>
          <a:prstGeom prst="rect">
            <a:avLst/>
          </a:prstGeom>
        </p:spPr>
      </p:pic>
      <p:sp>
        <p:nvSpPr>
          <p:cNvPr id="34" name="text-276"/>
          <p:cNvSpPr txBox="1"/>
          <p:nvPr/>
        </p:nvSpPr>
        <p:spPr>
          <a:xfrm>
            <a:off x="6949440" y="2221992"/>
            <a:ext cx="2011680" cy="365760"/>
          </a:xfrm>
          <a:prstGeom prst="rect">
            <a:avLst/>
          </a:prstGeom>
          <a:noFill/>
          <a:ln/>
        </p:spPr>
        <p:txBody>
          <a:bodyPr wrap="square" lIns="0" tIns="0" rIns="0" bIns="0" rtlCol="0" anchor="t"/>
          <a:lstStyle/>
          <a:p>
            <a:pPr indent="0" marL="0">
              <a:buNone/>
            </a:pPr>
            <a:r>
              <a:rPr lang="en-US" sz="1600" b="1" dirty="0">
                <a:solidFill>
                  <a:schemeClr val="tx1"/>
                </a:solidFill>
              </a:rPr>
              <a:t>4 · Numerical scheme</a:t>
            </a:r>
            <a:endParaRPr lang="en-US" sz="1600" dirty="0"/>
          </a:p>
        </p:txBody>
      </p:sp>
      <p:sp>
        <p:nvSpPr>
          <p:cNvPr id="35" name="text-277"/>
          <p:cNvSpPr txBox="1"/>
          <p:nvPr/>
        </p:nvSpPr>
        <p:spPr>
          <a:xfrm>
            <a:off x="6949440" y="2606040"/>
            <a:ext cx="2011680" cy="457200"/>
          </a:xfrm>
          <a:prstGeom prst="rect">
            <a:avLst/>
          </a:prstGeom>
          <a:noFill/>
          <a:ln/>
        </p:spPr>
        <p:txBody>
          <a:bodyPr wrap="square" lIns="0" tIns="0" rIns="0" bIns="0" rtlCol="0" anchor="t"/>
          <a:lstStyle/>
          <a:p>
            <a:pPr indent="0" marL="0">
              <a:buNone/>
            </a:pPr>
            <a:r>
              <a:rPr lang="en-US" sz="1300" dirty="0">
                <a:solidFill>
                  <a:schemeClr val="tx2"/>
                </a:solidFill>
              </a:rPr>
              <a:t>PDE → algebraic equations</a:t>
            </a:r>
            <a:endParaRPr lang="en-US" sz="1300" dirty="0"/>
          </a:p>
        </p:txBody>
      </p:sp>
      <p:sp>
        <p:nvSpPr>
          <p:cNvPr id="36" name="card-278"/>
          <p:cNvSpPr/>
          <p:nvPr/>
        </p:nvSpPr>
        <p:spPr>
          <a:xfrm>
            <a:off x="6035040" y="3310128"/>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37" name="icon-bg-279"/>
          <p:cNvSpPr/>
          <p:nvPr/>
        </p:nvSpPr>
        <p:spPr>
          <a:xfrm>
            <a:off x="6172200" y="3547872"/>
            <a:ext cx="640080" cy="640080"/>
          </a:xfrm>
          <a:prstGeom prst="ellipse">
            <a:avLst/>
          </a:prstGeom>
          <a:solidFill>
            <a:schemeClr val="accent2"/>
          </a:solidFill>
          <a:ln/>
        </p:spPr>
      </p:sp>
      <p:pic>
        <p:nvPicPr>
          <p:cNvPr id="38" name="icon-280" descr="preencoded.png">    </p:cNvPr>
          <p:cNvPicPr>
            <a:picLocks noChangeAspect="1"/>
          </p:cNvPicPr>
          <p:nvPr/>
        </p:nvPicPr>
        <p:blipFill>
          <a:blip r:embed="rId8"/>
          <a:stretch>
            <a:fillRect/>
          </a:stretch>
        </p:blipFill>
        <p:spPr>
          <a:xfrm>
            <a:off x="6319418" y="3695090"/>
            <a:ext cx="345643" cy="345643"/>
          </a:xfrm>
          <a:prstGeom prst="rect">
            <a:avLst/>
          </a:prstGeom>
        </p:spPr>
      </p:pic>
      <p:sp>
        <p:nvSpPr>
          <p:cNvPr id="39" name="text-281"/>
          <p:cNvSpPr txBox="1"/>
          <p:nvPr/>
        </p:nvSpPr>
        <p:spPr>
          <a:xfrm>
            <a:off x="6949440" y="3474720"/>
            <a:ext cx="2011680" cy="365760"/>
          </a:xfrm>
          <a:prstGeom prst="rect">
            <a:avLst/>
          </a:prstGeom>
          <a:noFill/>
          <a:ln/>
        </p:spPr>
        <p:txBody>
          <a:bodyPr wrap="square" lIns="0" tIns="0" rIns="0" bIns="0" rtlCol="0" anchor="t"/>
          <a:lstStyle/>
          <a:p>
            <a:pPr indent="0" marL="0">
              <a:buNone/>
            </a:pPr>
            <a:r>
              <a:rPr lang="en-US" sz="1600" b="1" dirty="0">
                <a:solidFill>
                  <a:schemeClr val="tx1"/>
                </a:solidFill>
              </a:rPr>
              <a:t>5 · Solution setup</a:t>
            </a:r>
            <a:endParaRPr lang="en-US" sz="1600" dirty="0"/>
          </a:p>
        </p:txBody>
      </p:sp>
      <p:sp>
        <p:nvSpPr>
          <p:cNvPr id="40" name="text-282"/>
          <p:cNvSpPr txBox="1"/>
          <p:nvPr/>
        </p:nvSpPr>
        <p:spPr>
          <a:xfrm>
            <a:off x="6949440" y="3858768"/>
            <a:ext cx="2011680" cy="457200"/>
          </a:xfrm>
          <a:prstGeom prst="rect">
            <a:avLst/>
          </a:prstGeom>
          <a:noFill/>
          <a:ln/>
        </p:spPr>
        <p:txBody>
          <a:bodyPr wrap="square" lIns="0" tIns="0" rIns="0" bIns="0" rtlCol="0" anchor="t"/>
          <a:lstStyle/>
          <a:p>
            <a:pPr indent="0" marL="0">
              <a:buNone/>
            </a:pPr>
            <a:r>
              <a:rPr lang="en-US" sz="1300" dirty="0">
                <a:solidFill>
                  <a:schemeClr val="tx2"/>
                </a:solidFill>
              </a:rPr>
              <a:t>algorithm, Δt, tolerance</a:t>
            </a:r>
            <a:endParaRPr lang="en-US" sz="1300" dirty="0"/>
          </a:p>
        </p:txBody>
      </p:sp>
      <p:sp>
        <p:nvSpPr>
          <p:cNvPr id="41" name="card-283"/>
          <p:cNvSpPr/>
          <p:nvPr/>
        </p:nvSpPr>
        <p:spPr>
          <a:xfrm>
            <a:off x="6035040" y="4562856"/>
            <a:ext cx="3017520" cy="1115568"/>
          </a:xfrm>
          <a:prstGeom prst="roundRect">
            <a:avLst>
              <a:gd name="adj" fmla="val 8197"/>
            </a:avLst>
          </a:prstGeom>
          <a:solidFill>
            <a:schemeClr val="bg1"/>
          </a:solidFill>
          <a:ln w="9525">
            <a:solidFill>
              <a:schemeClr val="accent4">
                <a:alpha val="35000"/>
              </a:schemeClr>
            </a:solidFill>
            <a:prstDash val="solid"/>
          </a:ln>
        </p:spPr>
      </p:sp>
      <p:sp>
        <p:nvSpPr>
          <p:cNvPr id="42" name="icon-bg-284"/>
          <p:cNvSpPr/>
          <p:nvPr/>
        </p:nvSpPr>
        <p:spPr>
          <a:xfrm>
            <a:off x="6172200" y="4800600"/>
            <a:ext cx="640080" cy="640080"/>
          </a:xfrm>
          <a:prstGeom prst="ellipse">
            <a:avLst/>
          </a:prstGeom>
          <a:solidFill>
            <a:schemeClr val="accent2"/>
          </a:solidFill>
          <a:ln/>
        </p:spPr>
      </p:sp>
      <p:pic>
        <p:nvPicPr>
          <p:cNvPr id="43" name="icon-285" descr="preencoded.png">    </p:cNvPr>
          <p:cNvPicPr>
            <a:picLocks noChangeAspect="1"/>
          </p:cNvPicPr>
          <p:nvPr/>
        </p:nvPicPr>
        <p:blipFill>
          <a:blip r:embed="rId9"/>
          <a:stretch>
            <a:fillRect/>
          </a:stretch>
        </p:blipFill>
        <p:spPr>
          <a:xfrm>
            <a:off x="6319418" y="4947818"/>
            <a:ext cx="345643" cy="345643"/>
          </a:xfrm>
          <a:prstGeom prst="rect">
            <a:avLst/>
          </a:prstGeom>
        </p:spPr>
      </p:pic>
      <p:sp>
        <p:nvSpPr>
          <p:cNvPr id="44" name="text-286"/>
          <p:cNvSpPr txBox="1"/>
          <p:nvPr/>
        </p:nvSpPr>
        <p:spPr>
          <a:xfrm>
            <a:off x="6949440" y="4727448"/>
            <a:ext cx="2011680" cy="365760"/>
          </a:xfrm>
          <a:prstGeom prst="rect">
            <a:avLst/>
          </a:prstGeom>
          <a:noFill/>
          <a:ln/>
        </p:spPr>
        <p:txBody>
          <a:bodyPr wrap="square" lIns="0" tIns="0" rIns="0" bIns="0" rtlCol="0" anchor="t"/>
          <a:lstStyle/>
          <a:p>
            <a:pPr indent="0" marL="0">
              <a:buNone/>
            </a:pPr>
            <a:r>
              <a:rPr lang="en-US" sz="1600" b="1" dirty="0">
                <a:solidFill>
                  <a:schemeClr val="tx1"/>
                </a:solidFill>
              </a:rPr>
              <a:t>6 · Compute</a:t>
            </a:r>
            <a:endParaRPr lang="en-US" sz="1600" dirty="0"/>
          </a:p>
        </p:txBody>
      </p:sp>
      <p:sp>
        <p:nvSpPr>
          <p:cNvPr id="45" name="text-287"/>
          <p:cNvSpPr txBox="1"/>
          <p:nvPr/>
        </p:nvSpPr>
        <p:spPr>
          <a:xfrm>
            <a:off x="6949440" y="5111496"/>
            <a:ext cx="2011680" cy="457200"/>
          </a:xfrm>
          <a:prstGeom prst="rect">
            <a:avLst/>
          </a:prstGeom>
          <a:noFill/>
          <a:ln/>
        </p:spPr>
        <p:txBody>
          <a:bodyPr wrap="square" lIns="0" tIns="0" rIns="0" bIns="0" rtlCol="0" anchor="t"/>
          <a:lstStyle/>
          <a:p>
            <a:pPr indent="0" marL="0">
              <a:buNone/>
            </a:pPr>
            <a:r>
              <a:rPr lang="en-US" sz="1300" dirty="0">
                <a:solidFill>
                  <a:schemeClr val="tx2"/>
                </a:solidFill>
              </a:rPr>
              <a:t>run the program</a:t>
            </a:r>
            <a:endParaRPr lang="en-US" sz="1300" dirty="0"/>
          </a:p>
        </p:txBody>
      </p:sp>
      <p:sp>
        <p:nvSpPr>
          <p:cNvPr id="46" name="arrow-288"/>
          <p:cNvSpPr/>
          <p:nvPr/>
        </p:nvSpPr>
        <p:spPr>
          <a:xfrm>
            <a:off x="5641848" y="3703320"/>
            <a:ext cx="237744" cy="0"/>
          </a:xfrm>
          <a:prstGeom prst="line">
            <a:avLst/>
          </a:prstGeom>
          <a:noFill/>
          <a:ln w="25400">
            <a:solidFill>
              <a:schemeClr val="accent4"/>
            </a:solidFill>
            <a:prstDash val="solid"/>
            <a:tailEnd type="triangle"/>
          </a:ln>
        </p:spPr>
      </p:sp>
      <p:sp>
        <p:nvSpPr>
          <p:cNvPr id="47" name="arrow-289"/>
          <p:cNvSpPr/>
          <p:nvPr/>
        </p:nvSpPr>
        <p:spPr>
          <a:xfrm>
            <a:off x="9208008" y="3703320"/>
            <a:ext cx="237744" cy="0"/>
          </a:xfrm>
          <a:prstGeom prst="line">
            <a:avLst/>
          </a:prstGeom>
          <a:noFill/>
          <a:ln w="25400">
            <a:solidFill>
              <a:schemeClr val="accent4"/>
            </a:solidFill>
            <a:prstDash val="solid"/>
            <a:tailEnd type="triangle"/>
          </a:ln>
        </p:spPr>
      </p:sp>
      <p:sp>
        <p:nvSpPr>
          <p:cNvPr id="48" name="card-290"/>
          <p:cNvSpPr/>
          <p:nvPr/>
        </p:nvSpPr>
        <p:spPr>
          <a:xfrm>
            <a:off x="9464040" y="1463040"/>
            <a:ext cx="2176272" cy="4343400"/>
          </a:xfrm>
          <a:prstGeom prst="roundRect">
            <a:avLst>
              <a:gd name="adj" fmla="val 4202"/>
            </a:avLst>
          </a:prstGeom>
          <a:solidFill>
            <a:schemeClr val="accent3">
              <a:alpha val="10000"/>
            </a:schemeClr>
          </a:solidFill>
          <a:ln w="15875">
            <a:solidFill>
              <a:schemeClr val="accent3"/>
            </a:solidFill>
            <a:prstDash val="solid"/>
          </a:ln>
        </p:spPr>
      </p:sp>
      <p:pic>
        <p:nvPicPr>
          <p:cNvPr id="49" name="icon-291" descr="preencoded.png">    </p:cNvPr>
          <p:cNvPicPr>
            <a:picLocks noChangeAspect="1"/>
          </p:cNvPicPr>
          <p:nvPr/>
        </p:nvPicPr>
        <p:blipFill>
          <a:blip r:embed="rId10"/>
          <a:stretch>
            <a:fillRect/>
          </a:stretch>
        </p:blipFill>
        <p:spPr>
          <a:xfrm>
            <a:off x="9646920" y="1600200"/>
            <a:ext cx="292608" cy="292608"/>
          </a:xfrm>
          <a:prstGeom prst="rect">
            <a:avLst/>
          </a:prstGeom>
        </p:spPr>
      </p:pic>
      <p:sp>
        <p:nvSpPr>
          <p:cNvPr id="50" name="text-292"/>
          <p:cNvSpPr txBox="1"/>
          <p:nvPr/>
        </p:nvSpPr>
        <p:spPr>
          <a:xfrm>
            <a:off x="10030968" y="1600200"/>
            <a:ext cx="1463040" cy="292608"/>
          </a:xfrm>
          <a:prstGeom prst="rect">
            <a:avLst/>
          </a:prstGeom>
          <a:noFill/>
          <a:ln/>
        </p:spPr>
        <p:txBody>
          <a:bodyPr wrap="square" lIns="0" tIns="0" rIns="0" bIns="0" rtlCol="0" anchor="ctr"/>
          <a:lstStyle/>
          <a:p>
            <a:pPr indent="0" marL="0">
              <a:buNone/>
            </a:pPr>
            <a:r>
              <a:rPr lang="en-US" sz="1300" b="1" spc="100" kern="0" dirty="0">
                <a:solidFill>
                  <a:schemeClr val="accent3"/>
                </a:solidFill>
              </a:rPr>
              <a:t>POST</a:t>
            </a:r>
            <a:endParaRPr lang="en-US" sz="1300" dirty="0"/>
          </a:p>
        </p:txBody>
      </p:sp>
      <p:sp>
        <p:nvSpPr>
          <p:cNvPr id="51" name="card-293"/>
          <p:cNvSpPr/>
          <p:nvPr/>
        </p:nvSpPr>
        <p:spPr>
          <a:xfrm>
            <a:off x="9601200" y="2057400"/>
            <a:ext cx="1901952" cy="3657600"/>
          </a:xfrm>
          <a:prstGeom prst="roundRect">
            <a:avLst>
              <a:gd name="adj" fmla="val 4808"/>
            </a:avLst>
          </a:prstGeom>
          <a:solidFill>
            <a:schemeClr val="bg1"/>
          </a:solidFill>
          <a:ln w="9525">
            <a:solidFill>
              <a:schemeClr val="accent4">
                <a:alpha val="35000"/>
              </a:schemeClr>
            </a:solidFill>
            <a:prstDash val="solid"/>
          </a:ln>
        </p:spPr>
      </p:sp>
      <p:sp>
        <p:nvSpPr>
          <p:cNvPr id="52" name="icon-bg-294"/>
          <p:cNvSpPr/>
          <p:nvPr/>
        </p:nvSpPr>
        <p:spPr>
          <a:xfrm>
            <a:off x="10149840" y="2514600"/>
            <a:ext cx="822960" cy="822960"/>
          </a:xfrm>
          <a:prstGeom prst="ellipse">
            <a:avLst/>
          </a:prstGeom>
          <a:solidFill>
            <a:schemeClr val="accent3"/>
          </a:solidFill>
          <a:ln/>
        </p:spPr>
      </p:sp>
      <p:pic>
        <p:nvPicPr>
          <p:cNvPr id="53" name="icon-295" descr="preencoded.png">    </p:cNvPr>
          <p:cNvPicPr>
            <a:picLocks noChangeAspect="1"/>
          </p:cNvPicPr>
          <p:nvPr/>
        </p:nvPicPr>
        <p:blipFill>
          <a:blip r:embed="rId11"/>
          <a:stretch>
            <a:fillRect/>
          </a:stretch>
        </p:blipFill>
        <p:spPr>
          <a:xfrm>
            <a:off x="10339121" y="2703881"/>
            <a:ext cx="444398" cy="444398"/>
          </a:xfrm>
          <a:prstGeom prst="rect">
            <a:avLst/>
          </a:prstGeom>
        </p:spPr>
      </p:pic>
      <p:sp>
        <p:nvSpPr>
          <p:cNvPr id="54" name="text-296"/>
          <p:cNvSpPr txBox="1"/>
          <p:nvPr/>
        </p:nvSpPr>
        <p:spPr>
          <a:xfrm>
            <a:off x="9692640" y="3520440"/>
            <a:ext cx="1719072" cy="365760"/>
          </a:xfrm>
          <a:prstGeom prst="rect">
            <a:avLst/>
          </a:prstGeom>
          <a:noFill/>
          <a:ln/>
        </p:spPr>
        <p:txBody>
          <a:bodyPr wrap="square" lIns="0" tIns="0" rIns="0" bIns="0" rtlCol="0" anchor="t"/>
          <a:lstStyle/>
          <a:p>
            <a:pPr algn="ctr" indent="0" marL="0">
              <a:buNone/>
            </a:pPr>
            <a:r>
              <a:rPr lang="en-US" sz="1600" b="1" dirty="0">
                <a:solidFill>
                  <a:schemeClr val="tx1"/>
                </a:solidFill>
              </a:rPr>
              <a:t>7 · Visualize</a:t>
            </a:r>
            <a:endParaRPr lang="en-US" sz="1600" dirty="0"/>
          </a:p>
        </p:txBody>
      </p:sp>
      <p:sp>
        <p:nvSpPr>
          <p:cNvPr id="55" name="text-297"/>
          <p:cNvSpPr txBox="1"/>
          <p:nvPr/>
        </p:nvSpPr>
        <p:spPr>
          <a:xfrm>
            <a:off x="9738360" y="3931920"/>
            <a:ext cx="1627632" cy="731520"/>
          </a:xfrm>
          <a:prstGeom prst="rect">
            <a:avLst/>
          </a:prstGeom>
          <a:noFill/>
          <a:ln/>
        </p:spPr>
        <p:txBody>
          <a:bodyPr wrap="square" lIns="0" tIns="0" rIns="0" bIns="0" rtlCol="0" anchor="t"/>
          <a:lstStyle/>
          <a:p>
            <a:pPr algn="ctr" indent="0" marL="0">
              <a:buNone/>
            </a:pPr>
            <a:r>
              <a:rPr lang="en-US" sz="1300" dirty="0">
                <a:solidFill>
                  <a:schemeClr val="tx2"/>
                </a:solidFill>
              </a:rPr>
              <a:t>plots, insight and verification</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29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RUNNING EXAMPLE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Heating a rod: our running example</a:t>
            </a:r>
            <a:endParaRPr lang="en-US" sz="3200" dirty="0"/>
          </a:p>
        </p:txBody>
      </p:sp>
      <p:sp>
        <p:nvSpPr>
          <p:cNvPr id="4" name="text-299"/>
          <p:cNvSpPr txBox="1"/>
          <p:nvPr/>
        </p:nvSpPr>
        <p:spPr>
          <a:xfrm>
            <a:off x="548640" y="1371600"/>
            <a:ext cx="11094415" cy="640080"/>
          </a:xfrm>
          <a:prstGeom prst="rect">
            <a:avLst/>
          </a:prstGeom>
          <a:noFill/>
          <a:ln/>
        </p:spPr>
        <p:txBody>
          <a:bodyPr wrap="square" lIns="0" tIns="0" rIns="0" bIns="0" rtlCol="0" anchor="t"/>
          <a:lstStyle/>
          <a:p>
            <a:pPr indent="0" marL="0">
              <a:buNone/>
            </a:pPr>
            <a:r>
              <a:rPr lang="en-US" sz="1800" dirty="0">
                <a:solidFill>
                  <a:schemeClr val="tx2"/>
                </a:solidFill>
              </a:rPr>
              <a:t>At t = 0 the whole rod is at 20 °C. Then its left end is suddenly heated to 100 °C, while the right end stays at 20 °C.</a:t>
            </a:r>
            <a:endParaRPr lang="en-US" sz="1800" dirty="0"/>
          </a:p>
        </p:txBody>
      </p:sp>
      <p:sp>
        <p:nvSpPr>
          <p:cNvPr id="5" name="icon-bg-300"/>
          <p:cNvSpPr/>
          <p:nvPr/>
        </p:nvSpPr>
        <p:spPr>
          <a:xfrm>
            <a:off x="548640" y="2377440"/>
            <a:ext cx="777240" cy="777240"/>
          </a:xfrm>
          <a:prstGeom prst="ellipse">
            <a:avLst/>
          </a:prstGeom>
          <a:solidFill>
            <a:schemeClr val="accent2"/>
          </a:solidFill>
          <a:ln/>
        </p:spPr>
      </p:sp>
      <p:pic>
        <p:nvPicPr>
          <p:cNvPr id="6" name="icon-301" descr="preencoded.png">    </p:cNvPr>
          <p:cNvPicPr>
            <a:picLocks noChangeAspect="1"/>
          </p:cNvPicPr>
          <p:nvPr/>
        </p:nvPicPr>
        <p:blipFill>
          <a:blip r:embed="rId1"/>
          <a:stretch>
            <a:fillRect/>
          </a:stretch>
        </p:blipFill>
        <p:spPr>
          <a:xfrm>
            <a:off x="727405" y="2556205"/>
            <a:ext cx="419710" cy="419710"/>
          </a:xfrm>
          <a:prstGeom prst="rect">
            <a:avLst/>
          </a:prstGeom>
        </p:spPr>
      </p:pic>
      <p:sp>
        <p:nvSpPr>
          <p:cNvPr id="7" name="icon-bg-302"/>
          <p:cNvSpPr/>
          <p:nvPr/>
        </p:nvSpPr>
        <p:spPr>
          <a:xfrm>
            <a:off x="10865815" y="2377440"/>
            <a:ext cx="777240" cy="777240"/>
          </a:xfrm>
          <a:prstGeom prst="ellipse">
            <a:avLst/>
          </a:prstGeom>
          <a:solidFill>
            <a:schemeClr val="accent1"/>
          </a:solidFill>
          <a:ln/>
        </p:spPr>
      </p:sp>
      <p:pic>
        <p:nvPicPr>
          <p:cNvPr id="8" name="icon-303" descr="preencoded.png">    </p:cNvPr>
          <p:cNvPicPr>
            <a:picLocks noChangeAspect="1"/>
          </p:cNvPicPr>
          <p:nvPr/>
        </p:nvPicPr>
        <p:blipFill>
          <a:blip r:embed="rId2"/>
          <a:stretch>
            <a:fillRect/>
          </a:stretch>
        </p:blipFill>
        <p:spPr>
          <a:xfrm>
            <a:off x="11044580" y="2556205"/>
            <a:ext cx="419710" cy="419710"/>
          </a:xfrm>
          <a:prstGeom prst="rect">
            <a:avLst/>
          </a:prstGeom>
        </p:spPr>
      </p:pic>
      <p:pic>
        <p:nvPicPr>
          <p:cNvPr id="9" name="img-304" descr="A rod coloured by temperature, hot at the left end and cool at the right end">    </p:cNvPr>
          <p:cNvPicPr>
            <a:picLocks noChangeAspect="1"/>
          </p:cNvPicPr>
          <p:nvPr/>
        </p:nvPicPr>
        <p:blipFill>
          <a:blip r:embed="rId3"/>
          <a:stretch>
            <a:fillRect/>
          </a:stretch>
        </p:blipFill>
        <p:spPr>
          <a:xfrm>
            <a:off x="1530789" y="2212848"/>
            <a:ext cx="9127375" cy="1115568"/>
          </a:xfrm>
          <a:prstGeom prst="rect">
            <a:avLst/>
          </a:prstGeom>
        </p:spPr>
      </p:pic>
      <p:sp>
        <p:nvSpPr>
          <p:cNvPr id="10" name="text-305"/>
          <p:cNvSpPr txBox="1"/>
          <p:nvPr/>
        </p:nvSpPr>
        <p:spPr>
          <a:xfrm>
            <a:off x="365760" y="3246120"/>
            <a:ext cx="1143000" cy="365760"/>
          </a:xfrm>
          <a:prstGeom prst="rect">
            <a:avLst/>
          </a:prstGeom>
          <a:noFill/>
          <a:ln/>
        </p:spPr>
        <p:txBody>
          <a:bodyPr wrap="square" lIns="0" tIns="0" rIns="0" bIns="0" rtlCol="0" anchor="t"/>
          <a:lstStyle/>
          <a:p>
            <a:pPr algn="ctr" indent="0" marL="0">
              <a:buNone/>
            </a:pPr>
            <a:r>
              <a:rPr lang="en-US" sz="1800" b="1" dirty="0">
                <a:solidFill>
                  <a:schemeClr val="accent2"/>
                </a:solidFill>
              </a:rPr>
              <a:t>100 °C</a:t>
            </a:r>
            <a:endParaRPr lang="en-US" sz="1800" dirty="0"/>
          </a:p>
        </p:txBody>
      </p:sp>
      <p:sp>
        <p:nvSpPr>
          <p:cNvPr id="11" name="text-306"/>
          <p:cNvSpPr txBox="1"/>
          <p:nvPr/>
        </p:nvSpPr>
        <p:spPr>
          <a:xfrm>
            <a:off x="10682935" y="3246120"/>
            <a:ext cx="1143000" cy="365760"/>
          </a:xfrm>
          <a:prstGeom prst="rect">
            <a:avLst/>
          </a:prstGeom>
          <a:noFill/>
          <a:ln/>
        </p:spPr>
        <p:txBody>
          <a:bodyPr wrap="square" lIns="0" tIns="0" rIns="0" bIns="0" rtlCol="0" anchor="t"/>
          <a:lstStyle/>
          <a:p>
            <a:pPr algn="ctr" indent="0" marL="0">
              <a:buNone/>
            </a:pPr>
            <a:r>
              <a:rPr lang="en-US" sz="1800" b="1" dirty="0">
                <a:solidFill>
                  <a:schemeClr val="accent1"/>
                </a:solidFill>
              </a:rPr>
              <a:t>20 °C</a:t>
            </a:r>
            <a:endParaRPr lang="en-US" sz="1800" dirty="0"/>
          </a:p>
        </p:txBody>
      </p:sp>
      <p:sp>
        <p:nvSpPr>
          <p:cNvPr id="12" name="text-307"/>
          <p:cNvSpPr txBox="1"/>
          <p:nvPr/>
        </p:nvSpPr>
        <p:spPr>
          <a:xfrm>
            <a:off x="1600200" y="3383280"/>
            <a:ext cx="914400" cy="274320"/>
          </a:xfrm>
          <a:prstGeom prst="rect">
            <a:avLst/>
          </a:prstGeom>
          <a:noFill/>
          <a:ln/>
        </p:spPr>
        <p:txBody>
          <a:bodyPr wrap="square" lIns="0" tIns="0" rIns="0" bIns="0" rtlCol="0" anchor="t"/>
          <a:lstStyle/>
          <a:p>
            <a:pPr indent="0" marL="0">
              <a:buNone/>
            </a:pPr>
            <a:r>
              <a:rPr lang="en-US" sz="1300" dirty="0">
                <a:solidFill>
                  <a:schemeClr val="accent4"/>
                </a:solidFill>
              </a:rPr>
              <a:t>x = 0</a:t>
            </a:r>
            <a:endParaRPr lang="en-US" sz="1300" dirty="0"/>
          </a:p>
        </p:txBody>
      </p:sp>
      <p:sp>
        <p:nvSpPr>
          <p:cNvPr id="13" name="text-308"/>
          <p:cNvSpPr txBox="1"/>
          <p:nvPr/>
        </p:nvSpPr>
        <p:spPr>
          <a:xfrm>
            <a:off x="9692640" y="3383280"/>
            <a:ext cx="914400" cy="274320"/>
          </a:xfrm>
          <a:prstGeom prst="rect">
            <a:avLst/>
          </a:prstGeom>
          <a:noFill/>
          <a:ln/>
        </p:spPr>
        <p:txBody>
          <a:bodyPr wrap="square" lIns="0" tIns="0" rIns="0" bIns="0" rtlCol="0" anchor="t"/>
          <a:lstStyle/>
          <a:p>
            <a:pPr algn="r" indent="0" marL="0">
              <a:buNone/>
            </a:pPr>
            <a:r>
              <a:rPr lang="en-US" sz="1300" dirty="0">
                <a:solidFill>
                  <a:schemeClr val="accent4"/>
                </a:solidFill>
              </a:rPr>
              <a:t>x = L</a:t>
            </a:r>
            <a:endParaRPr lang="en-US" sz="1300" dirty="0"/>
          </a:p>
        </p:txBody>
      </p:sp>
      <p:sp>
        <p:nvSpPr>
          <p:cNvPr id="14" name="text-309"/>
          <p:cNvSpPr txBox="1"/>
          <p:nvPr/>
        </p:nvSpPr>
        <p:spPr>
          <a:xfrm>
            <a:off x="4023360" y="3383280"/>
            <a:ext cx="4206240" cy="274320"/>
          </a:xfrm>
          <a:prstGeom prst="rect">
            <a:avLst/>
          </a:prstGeom>
          <a:noFill/>
          <a:ln/>
        </p:spPr>
        <p:txBody>
          <a:bodyPr wrap="square" lIns="0" tIns="0" rIns="0" bIns="0" rtlCol="0" anchor="t"/>
          <a:lstStyle/>
          <a:p>
            <a:pPr algn="ctr" indent="0" marL="0">
              <a:buNone/>
            </a:pPr>
            <a:r>
              <a:rPr lang="en-US" sz="1300" i="1" dirty="0">
                <a:solidFill>
                  <a:schemeClr val="accent4"/>
                </a:solidFill>
              </a:rPr>
              <a:t>colours: the temperature at some time t &gt; 0</a:t>
            </a:r>
            <a:endParaRPr lang="en-US" sz="1300" dirty="0"/>
          </a:p>
        </p:txBody>
      </p:sp>
      <p:sp>
        <p:nvSpPr>
          <p:cNvPr id="15" name="note-strip-310"/>
          <p:cNvSpPr/>
          <p:nvPr/>
        </p:nvSpPr>
        <p:spPr>
          <a:xfrm>
            <a:off x="548640" y="3931920"/>
            <a:ext cx="11094415" cy="777240"/>
          </a:xfrm>
          <a:prstGeom prst="roundRect">
            <a:avLst>
              <a:gd name="adj" fmla="val 11765"/>
            </a:avLst>
          </a:prstGeom>
          <a:solidFill>
            <a:schemeClr val="accent1">
              <a:alpha val="12000"/>
            </a:schemeClr>
          </a:solidFill>
          <a:ln/>
        </p:spPr>
      </p:sp>
      <p:sp>
        <p:nvSpPr>
          <p:cNvPr id="16" name="icon-bg-311"/>
          <p:cNvSpPr/>
          <p:nvPr/>
        </p:nvSpPr>
        <p:spPr>
          <a:xfrm>
            <a:off x="685800" y="4128516"/>
            <a:ext cx="384048" cy="384048"/>
          </a:xfrm>
          <a:prstGeom prst="ellipse">
            <a:avLst/>
          </a:prstGeom>
          <a:solidFill>
            <a:schemeClr val="accent1"/>
          </a:solidFill>
          <a:ln/>
        </p:spPr>
      </p:sp>
      <p:pic>
        <p:nvPicPr>
          <p:cNvPr id="17" name="icon-312" descr="preencoded.png">    </p:cNvPr>
          <p:cNvPicPr>
            <a:picLocks noChangeAspect="1"/>
          </p:cNvPicPr>
          <p:nvPr/>
        </p:nvPicPr>
        <p:blipFill>
          <a:blip r:embed="rId4"/>
          <a:stretch>
            <a:fillRect/>
          </a:stretch>
        </p:blipFill>
        <p:spPr>
          <a:xfrm>
            <a:off x="774131" y="4216847"/>
            <a:ext cx="207386" cy="207386"/>
          </a:xfrm>
          <a:prstGeom prst="rect">
            <a:avLst/>
          </a:prstGeom>
        </p:spPr>
      </p:pic>
      <p:sp>
        <p:nvSpPr>
          <p:cNvPr id="18" name="text-313"/>
          <p:cNvSpPr txBox="1"/>
          <p:nvPr/>
        </p:nvSpPr>
        <p:spPr>
          <a:xfrm>
            <a:off x="1234440" y="3931920"/>
            <a:ext cx="10225735" cy="777240"/>
          </a:xfrm>
          <a:prstGeom prst="rect">
            <a:avLst/>
          </a:prstGeom>
          <a:noFill/>
          <a:ln/>
        </p:spPr>
        <p:txBody>
          <a:bodyPr wrap="square" lIns="0" tIns="0" rIns="0" bIns="0" rtlCol="0" anchor="ctr"/>
          <a:lstStyle/>
          <a:p>
            <a:pPr indent="0" marL="0">
              <a:buNone/>
            </a:pPr>
            <a:r>
              <a:rPr lang="en-US" sz="2200" b="1" dirty="0">
                <a:solidFill>
                  <a:schemeClr val="tx1"/>
                </a:solidFill>
              </a:rPr>
              <a:t>How does the temperature inside the rod change with time?</a:t>
            </a:r>
            <a:endParaRPr lang="en-US" sz="2200" dirty="0"/>
          </a:p>
        </p:txBody>
      </p:sp>
      <p:sp>
        <p:nvSpPr>
          <p:cNvPr id="19" name="text-314"/>
          <p:cNvSpPr txBox="1"/>
          <p:nvPr/>
        </p:nvSpPr>
        <p:spPr>
          <a:xfrm>
            <a:off x="548640" y="5074920"/>
            <a:ext cx="3931920" cy="548640"/>
          </a:xfrm>
          <a:prstGeom prst="rect">
            <a:avLst/>
          </a:prstGeom>
          <a:noFill/>
          <a:ln/>
        </p:spPr>
        <p:txBody>
          <a:bodyPr wrap="square" lIns="0" tIns="0" rIns="0" bIns="0" rtlCol="0" anchor="ctr"/>
          <a:lstStyle/>
          <a:p>
            <a:pPr indent="0" marL="0">
              <a:buNone/>
            </a:pPr>
            <a:r>
              <a:rPr lang="en-US" sz="1500" dirty="0">
                <a:solidFill>
                  <a:schemeClr val="tx2"/>
                </a:solidFill>
              </a:rPr>
              <a:t>We will follow this rod through all 7 pillars:</a:t>
            </a:r>
            <a:endParaRPr lang="en-US" sz="1500" dirty="0"/>
          </a:p>
        </p:txBody>
      </p:sp>
      <p:sp>
        <p:nvSpPr>
          <p:cNvPr id="20" name="badge-315"/>
          <p:cNvSpPr/>
          <p:nvPr/>
        </p:nvSpPr>
        <p:spPr>
          <a:xfrm>
            <a:off x="4910328" y="498348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text-316"/>
          <p:cNvSpPr txBox="1"/>
          <p:nvPr/>
        </p:nvSpPr>
        <p:spPr>
          <a:xfrm>
            <a:off x="4617720"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Geometry</a:t>
            </a:r>
            <a:endParaRPr lang="en-US" sz="1150" dirty="0"/>
          </a:p>
        </p:txBody>
      </p:sp>
      <p:sp>
        <p:nvSpPr>
          <p:cNvPr id="22" name="badge-317"/>
          <p:cNvSpPr/>
          <p:nvPr/>
        </p:nvSpPr>
        <p:spPr>
          <a:xfrm>
            <a:off x="5897880" y="498348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3" name="text-318"/>
          <p:cNvSpPr txBox="1"/>
          <p:nvPr/>
        </p:nvSpPr>
        <p:spPr>
          <a:xfrm>
            <a:off x="5605272"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Grid</a:t>
            </a:r>
            <a:endParaRPr lang="en-US" sz="1150" dirty="0"/>
          </a:p>
        </p:txBody>
      </p:sp>
      <p:sp>
        <p:nvSpPr>
          <p:cNvPr id="24" name="badge-319"/>
          <p:cNvSpPr/>
          <p:nvPr/>
        </p:nvSpPr>
        <p:spPr>
          <a:xfrm>
            <a:off x="6885432" y="498348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320"/>
          <p:cNvSpPr txBox="1"/>
          <p:nvPr/>
        </p:nvSpPr>
        <p:spPr>
          <a:xfrm>
            <a:off x="6592824"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Physics</a:t>
            </a:r>
            <a:endParaRPr lang="en-US" sz="1150" dirty="0"/>
          </a:p>
        </p:txBody>
      </p:sp>
      <p:sp>
        <p:nvSpPr>
          <p:cNvPr id="26" name="badge-321"/>
          <p:cNvSpPr/>
          <p:nvPr/>
        </p:nvSpPr>
        <p:spPr>
          <a:xfrm>
            <a:off x="7872984" y="498348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322"/>
          <p:cNvSpPr txBox="1"/>
          <p:nvPr/>
        </p:nvSpPr>
        <p:spPr>
          <a:xfrm>
            <a:off x="7580376"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Scheme</a:t>
            </a:r>
            <a:endParaRPr lang="en-US" sz="1150" dirty="0"/>
          </a:p>
        </p:txBody>
      </p:sp>
      <p:sp>
        <p:nvSpPr>
          <p:cNvPr id="28" name="badge-323"/>
          <p:cNvSpPr/>
          <p:nvPr/>
        </p:nvSpPr>
        <p:spPr>
          <a:xfrm>
            <a:off x="8860536" y="498348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9" name="text-324"/>
          <p:cNvSpPr txBox="1"/>
          <p:nvPr/>
        </p:nvSpPr>
        <p:spPr>
          <a:xfrm>
            <a:off x="8567928"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Setup</a:t>
            </a:r>
            <a:endParaRPr lang="en-US" sz="1150" dirty="0"/>
          </a:p>
        </p:txBody>
      </p:sp>
      <p:sp>
        <p:nvSpPr>
          <p:cNvPr id="30" name="badge-325"/>
          <p:cNvSpPr/>
          <p:nvPr/>
        </p:nvSpPr>
        <p:spPr>
          <a:xfrm>
            <a:off x="9848088" y="498348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326"/>
          <p:cNvSpPr txBox="1"/>
          <p:nvPr/>
        </p:nvSpPr>
        <p:spPr>
          <a:xfrm>
            <a:off x="9555480"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Compute</a:t>
            </a:r>
            <a:endParaRPr lang="en-US" sz="1150" dirty="0"/>
          </a:p>
        </p:txBody>
      </p:sp>
      <p:sp>
        <p:nvSpPr>
          <p:cNvPr id="32" name="badge-327"/>
          <p:cNvSpPr/>
          <p:nvPr/>
        </p:nvSpPr>
        <p:spPr>
          <a:xfrm>
            <a:off x="10835640" y="4983480"/>
            <a:ext cx="502920" cy="50292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3" name="text-328"/>
          <p:cNvSpPr txBox="1"/>
          <p:nvPr/>
        </p:nvSpPr>
        <p:spPr>
          <a:xfrm>
            <a:off x="10543032" y="5532120"/>
            <a:ext cx="1097280" cy="274320"/>
          </a:xfrm>
          <a:prstGeom prst="rect">
            <a:avLst/>
          </a:prstGeom>
          <a:noFill/>
          <a:ln/>
        </p:spPr>
        <p:txBody>
          <a:bodyPr wrap="square" lIns="0" tIns="0" rIns="0" bIns="0" rtlCol="0" anchor="t"/>
          <a:lstStyle/>
          <a:p>
            <a:pPr algn="ctr" indent="0" marL="0">
              <a:buNone/>
            </a:pPr>
            <a:r>
              <a:rPr lang="en-US" sz="1150" dirty="0">
                <a:solidFill>
                  <a:schemeClr val="tx2"/>
                </a:solidFill>
              </a:rPr>
              <a:t>Visualize</a:t>
            </a:r>
            <a:endParaRPr lang="en-US" sz="11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329"/>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PILLAR 1 · PRE-PROCESSING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Geometry: model the domain</a:t>
            </a:r>
            <a:endParaRPr lang="en-US" sz="3200" dirty="0"/>
          </a:p>
        </p:txBody>
      </p:sp>
      <p:sp>
        <p:nvSpPr>
          <p:cNvPr id="4" name="text-330"/>
          <p:cNvSpPr txBox="1"/>
          <p:nvPr/>
        </p:nvSpPr>
        <p:spPr>
          <a:xfrm>
            <a:off x="548640" y="1371600"/>
            <a:ext cx="11094415" cy="411480"/>
          </a:xfrm>
          <a:prstGeom prst="rect">
            <a:avLst/>
          </a:prstGeom>
          <a:noFill/>
          <a:ln/>
        </p:spPr>
        <p:txBody>
          <a:bodyPr wrap="square" lIns="0" tIns="0" rIns="0" bIns="0" rtlCol="0" anchor="t"/>
          <a:lstStyle/>
          <a:p>
            <a:pPr indent="0" marL="0">
              <a:buNone/>
            </a:pPr>
            <a:r>
              <a:rPr lang="en-US" sz="1700" dirty="0">
                <a:solidFill>
                  <a:schemeClr val="tx2"/>
                </a:solidFill>
              </a:rPr>
              <a:t>Define </a:t>
            </a:r>
            <a:pPr indent="0" marL="0">
              <a:buNone/>
            </a:pPr>
            <a:r>
              <a:rPr lang="en-US" sz="1700" b="1" dirty="0">
                <a:solidFill>
                  <a:schemeClr val="tx2"/>
                </a:solidFill>
              </a:rPr>
              <a:t>where</a:t>
            </a:r>
            <a:pPr indent="0" marL="0">
              <a:buNone/>
            </a:pPr>
            <a:r>
              <a:rPr lang="en-US" sz="1700" dirty="0">
                <a:solidFill>
                  <a:schemeClr val="tx2"/>
                </a:solidFill>
              </a:rPr>
              <a:t> the physics happens: the domain Ω and its boundaries. The art is smart </a:t>
            </a:r>
            <a:pPr indent="0" marL="0">
              <a:buNone/>
            </a:pPr>
            <a:r>
              <a:rPr lang="en-US" sz="1700" b="1" dirty="0">
                <a:solidFill>
                  <a:schemeClr val="tx2"/>
                </a:solidFill>
              </a:rPr>
              <a:t>simplification</a:t>
            </a:r>
            <a:pPr indent="0" marL="0">
              <a:buNone/>
            </a:pPr>
            <a:r>
              <a:rPr lang="en-US" sz="1700" dirty="0">
                <a:solidFill>
                  <a:schemeClr val="tx2"/>
                </a:solidFill>
              </a:rPr>
              <a:t>:</a:t>
            </a:r>
            <a:endParaRPr lang="en-US" sz="1700" dirty="0"/>
          </a:p>
        </p:txBody>
      </p:sp>
      <p:sp>
        <p:nvSpPr>
          <p:cNvPr id="5" name="card-331"/>
          <p:cNvSpPr/>
          <p:nvPr/>
        </p:nvSpPr>
        <p:spPr>
          <a:xfrm>
            <a:off x="548640" y="1965960"/>
            <a:ext cx="2926080" cy="1645920"/>
          </a:xfrm>
          <a:prstGeom prst="roundRect">
            <a:avLst>
              <a:gd name="adj" fmla="val 555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 name="icon-bg-332"/>
          <p:cNvSpPr/>
          <p:nvPr/>
        </p:nvSpPr>
        <p:spPr>
          <a:xfrm>
            <a:off x="731520" y="2148840"/>
            <a:ext cx="548640" cy="548640"/>
          </a:xfrm>
          <a:prstGeom prst="ellipse">
            <a:avLst/>
          </a:prstGeom>
          <a:solidFill>
            <a:schemeClr val="accent1"/>
          </a:solidFill>
          <a:ln/>
        </p:spPr>
      </p:sp>
      <p:pic>
        <p:nvPicPr>
          <p:cNvPr id="7" name="icon-333" descr="preencoded.png">    </p:cNvPr>
          <p:cNvPicPr>
            <a:picLocks noChangeAspect="1"/>
          </p:cNvPicPr>
          <p:nvPr/>
        </p:nvPicPr>
        <p:blipFill>
          <a:blip r:embed="rId1"/>
          <a:stretch>
            <a:fillRect/>
          </a:stretch>
        </p:blipFill>
        <p:spPr>
          <a:xfrm>
            <a:off x="857707" y="2275027"/>
            <a:ext cx="296266" cy="296266"/>
          </a:xfrm>
          <a:prstGeom prst="rect">
            <a:avLst/>
          </a:prstGeom>
        </p:spPr>
      </p:pic>
      <p:sp>
        <p:nvSpPr>
          <p:cNvPr id="8" name="text-334"/>
          <p:cNvSpPr txBox="1"/>
          <p:nvPr/>
        </p:nvSpPr>
        <p:spPr>
          <a:xfrm>
            <a:off x="1417320" y="2148840"/>
            <a:ext cx="1920240" cy="548640"/>
          </a:xfrm>
          <a:prstGeom prst="rect">
            <a:avLst/>
          </a:prstGeom>
          <a:noFill/>
          <a:ln/>
        </p:spPr>
        <p:txBody>
          <a:bodyPr wrap="square" lIns="0" tIns="0" rIns="0" bIns="0" rtlCol="0" anchor="ctr"/>
          <a:lstStyle/>
          <a:p>
            <a:pPr indent="0" marL="0">
              <a:buNone/>
            </a:pPr>
            <a:r>
              <a:rPr lang="en-US" sz="1700" b="1" dirty="0">
                <a:solidFill>
                  <a:schemeClr val="tx1"/>
                </a:solidFill>
              </a:rPr>
              <a:t>Dimension</a:t>
            </a:r>
            <a:endParaRPr lang="en-US" sz="1700" dirty="0"/>
          </a:p>
        </p:txBody>
      </p:sp>
      <p:sp>
        <p:nvSpPr>
          <p:cNvPr id="9" name="text-335"/>
          <p:cNvSpPr txBox="1"/>
          <p:nvPr/>
        </p:nvSpPr>
        <p:spPr>
          <a:xfrm>
            <a:off x="731520" y="2807208"/>
            <a:ext cx="2606040" cy="731520"/>
          </a:xfrm>
          <a:prstGeom prst="rect">
            <a:avLst/>
          </a:prstGeom>
          <a:noFill/>
          <a:ln/>
        </p:spPr>
        <p:txBody>
          <a:bodyPr wrap="square" lIns="0" tIns="0" rIns="0" bIns="0" rtlCol="0" anchor="t"/>
          <a:lstStyle/>
          <a:p>
            <a:pPr indent="0" marL="0">
              <a:buNone/>
            </a:pPr>
            <a:r>
              <a:rPr lang="en-US" sz="1350" dirty="0">
                <a:solidFill>
                  <a:schemeClr val="tx2"/>
                </a:solidFill>
              </a:rPr>
              <a:t>Can 3D become 2D, or even 1D? Each dimension removed cuts the cost enormously.</a:t>
            </a:r>
            <a:endParaRPr lang="en-US" sz="1350" dirty="0"/>
          </a:p>
        </p:txBody>
      </p:sp>
      <p:sp>
        <p:nvSpPr>
          <p:cNvPr id="10" name="card-336"/>
          <p:cNvSpPr/>
          <p:nvPr/>
        </p:nvSpPr>
        <p:spPr>
          <a:xfrm>
            <a:off x="3657600" y="1965960"/>
            <a:ext cx="2926080" cy="1645920"/>
          </a:xfrm>
          <a:prstGeom prst="roundRect">
            <a:avLst>
              <a:gd name="adj" fmla="val 555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1" name="icon-bg-337"/>
          <p:cNvSpPr/>
          <p:nvPr/>
        </p:nvSpPr>
        <p:spPr>
          <a:xfrm>
            <a:off x="3840480" y="2148840"/>
            <a:ext cx="548640" cy="548640"/>
          </a:xfrm>
          <a:prstGeom prst="ellipse">
            <a:avLst/>
          </a:prstGeom>
          <a:solidFill>
            <a:schemeClr val="accent1"/>
          </a:solidFill>
          <a:ln/>
        </p:spPr>
      </p:sp>
      <p:pic>
        <p:nvPicPr>
          <p:cNvPr id="12" name="icon-338" descr="preencoded.png">    </p:cNvPr>
          <p:cNvPicPr>
            <a:picLocks noChangeAspect="1"/>
          </p:cNvPicPr>
          <p:nvPr/>
        </p:nvPicPr>
        <p:blipFill>
          <a:blip r:embed="rId2"/>
          <a:stretch>
            <a:fillRect/>
          </a:stretch>
        </p:blipFill>
        <p:spPr>
          <a:xfrm>
            <a:off x="3966667" y="2275027"/>
            <a:ext cx="296266" cy="296266"/>
          </a:xfrm>
          <a:prstGeom prst="rect">
            <a:avLst/>
          </a:prstGeom>
        </p:spPr>
      </p:pic>
      <p:sp>
        <p:nvSpPr>
          <p:cNvPr id="13" name="text-339"/>
          <p:cNvSpPr txBox="1"/>
          <p:nvPr/>
        </p:nvSpPr>
        <p:spPr>
          <a:xfrm>
            <a:off x="4526280" y="2148840"/>
            <a:ext cx="1920240" cy="548640"/>
          </a:xfrm>
          <a:prstGeom prst="rect">
            <a:avLst/>
          </a:prstGeom>
          <a:noFill/>
          <a:ln/>
        </p:spPr>
        <p:txBody>
          <a:bodyPr wrap="square" lIns="0" tIns="0" rIns="0" bIns="0" rtlCol="0" anchor="ctr"/>
          <a:lstStyle/>
          <a:p>
            <a:pPr indent="0" marL="0">
              <a:buNone/>
            </a:pPr>
            <a:r>
              <a:rPr lang="en-US" sz="1700" b="1" dirty="0">
                <a:solidFill>
                  <a:schemeClr val="tx1"/>
                </a:solidFill>
              </a:rPr>
              <a:t>Symmetry</a:t>
            </a:r>
            <a:endParaRPr lang="en-US" sz="1700" dirty="0"/>
          </a:p>
        </p:txBody>
      </p:sp>
      <p:sp>
        <p:nvSpPr>
          <p:cNvPr id="14" name="text-340"/>
          <p:cNvSpPr txBox="1"/>
          <p:nvPr/>
        </p:nvSpPr>
        <p:spPr>
          <a:xfrm>
            <a:off x="3840480" y="2807208"/>
            <a:ext cx="2606040" cy="731520"/>
          </a:xfrm>
          <a:prstGeom prst="rect">
            <a:avLst/>
          </a:prstGeom>
          <a:noFill/>
          <a:ln/>
        </p:spPr>
        <p:txBody>
          <a:bodyPr wrap="square" lIns="0" tIns="0" rIns="0" bIns="0" rtlCol="0" anchor="t"/>
          <a:lstStyle/>
          <a:p>
            <a:pPr indent="0" marL="0">
              <a:buNone/>
            </a:pPr>
            <a:r>
              <a:rPr lang="en-US" sz="1350" dirty="0">
                <a:solidFill>
                  <a:schemeClr val="tx2"/>
                </a:solidFill>
              </a:rPr>
              <a:t>Symmetric geometry and physics: model only half, or a quarter.</a:t>
            </a:r>
            <a:endParaRPr lang="en-US" sz="1350" dirty="0"/>
          </a:p>
        </p:txBody>
      </p:sp>
      <p:sp>
        <p:nvSpPr>
          <p:cNvPr id="15" name="card-341"/>
          <p:cNvSpPr/>
          <p:nvPr/>
        </p:nvSpPr>
        <p:spPr>
          <a:xfrm>
            <a:off x="548640" y="3749040"/>
            <a:ext cx="2926080" cy="1645920"/>
          </a:xfrm>
          <a:prstGeom prst="roundRect">
            <a:avLst>
              <a:gd name="adj" fmla="val 555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6" name="icon-bg-342"/>
          <p:cNvSpPr/>
          <p:nvPr/>
        </p:nvSpPr>
        <p:spPr>
          <a:xfrm>
            <a:off x="731520" y="3931920"/>
            <a:ext cx="548640" cy="548640"/>
          </a:xfrm>
          <a:prstGeom prst="ellipse">
            <a:avLst/>
          </a:prstGeom>
          <a:solidFill>
            <a:schemeClr val="accent1"/>
          </a:solidFill>
          <a:ln/>
        </p:spPr>
      </p:sp>
      <p:pic>
        <p:nvPicPr>
          <p:cNvPr id="17" name="icon-343" descr="preencoded.png">    </p:cNvPr>
          <p:cNvPicPr>
            <a:picLocks noChangeAspect="1"/>
          </p:cNvPicPr>
          <p:nvPr/>
        </p:nvPicPr>
        <p:blipFill>
          <a:blip r:embed="rId3"/>
          <a:stretch>
            <a:fillRect/>
          </a:stretch>
        </p:blipFill>
        <p:spPr>
          <a:xfrm>
            <a:off x="857707" y="4058107"/>
            <a:ext cx="296266" cy="296266"/>
          </a:xfrm>
          <a:prstGeom prst="rect">
            <a:avLst/>
          </a:prstGeom>
        </p:spPr>
      </p:pic>
      <p:sp>
        <p:nvSpPr>
          <p:cNvPr id="18" name="text-344"/>
          <p:cNvSpPr txBox="1"/>
          <p:nvPr/>
        </p:nvSpPr>
        <p:spPr>
          <a:xfrm>
            <a:off x="1417320" y="3931920"/>
            <a:ext cx="1920240" cy="548640"/>
          </a:xfrm>
          <a:prstGeom prst="rect">
            <a:avLst/>
          </a:prstGeom>
          <a:noFill/>
          <a:ln/>
        </p:spPr>
        <p:txBody>
          <a:bodyPr wrap="square" lIns="0" tIns="0" rIns="0" bIns="0" rtlCol="0" anchor="ctr"/>
          <a:lstStyle/>
          <a:p>
            <a:pPr indent="0" marL="0">
              <a:buNone/>
            </a:pPr>
            <a:r>
              <a:rPr lang="en-US" sz="1700" b="1" dirty="0">
                <a:solidFill>
                  <a:schemeClr val="tx1"/>
                </a:solidFill>
              </a:rPr>
              <a:t>Defeaturing</a:t>
            </a:r>
            <a:endParaRPr lang="en-US" sz="1700" dirty="0"/>
          </a:p>
        </p:txBody>
      </p:sp>
      <p:sp>
        <p:nvSpPr>
          <p:cNvPr id="19" name="text-345"/>
          <p:cNvSpPr txBox="1"/>
          <p:nvPr/>
        </p:nvSpPr>
        <p:spPr>
          <a:xfrm>
            <a:off x="731520" y="4590288"/>
            <a:ext cx="2606040" cy="731520"/>
          </a:xfrm>
          <a:prstGeom prst="rect">
            <a:avLst/>
          </a:prstGeom>
          <a:noFill/>
          <a:ln/>
        </p:spPr>
        <p:txBody>
          <a:bodyPr wrap="square" lIns="0" tIns="0" rIns="0" bIns="0" rtlCol="0" anchor="t"/>
          <a:lstStyle/>
          <a:p>
            <a:pPr indent="0" marL="0">
              <a:buNone/>
            </a:pPr>
            <a:r>
              <a:rPr lang="en-US" sz="1350" dirty="0">
                <a:solidFill>
                  <a:schemeClr val="tx2"/>
                </a:solidFill>
              </a:rPr>
              <a:t>Remove bolts, fillets and logos that do not change the result.</a:t>
            </a:r>
            <a:endParaRPr lang="en-US" sz="1350" dirty="0"/>
          </a:p>
        </p:txBody>
      </p:sp>
      <p:sp>
        <p:nvSpPr>
          <p:cNvPr id="20" name="card-346"/>
          <p:cNvSpPr/>
          <p:nvPr/>
        </p:nvSpPr>
        <p:spPr>
          <a:xfrm>
            <a:off x="3657600" y="3749040"/>
            <a:ext cx="2926080" cy="1645920"/>
          </a:xfrm>
          <a:prstGeom prst="roundRect">
            <a:avLst>
              <a:gd name="adj" fmla="val 555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1" name="icon-bg-347"/>
          <p:cNvSpPr/>
          <p:nvPr/>
        </p:nvSpPr>
        <p:spPr>
          <a:xfrm>
            <a:off x="3840480" y="3931920"/>
            <a:ext cx="548640" cy="548640"/>
          </a:xfrm>
          <a:prstGeom prst="ellipse">
            <a:avLst/>
          </a:prstGeom>
          <a:solidFill>
            <a:schemeClr val="accent1"/>
          </a:solidFill>
          <a:ln/>
        </p:spPr>
      </p:sp>
      <p:pic>
        <p:nvPicPr>
          <p:cNvPr id="22" name="icon-348" descr="preencoded.png">    </p:cNvPr>
          <p:cNvPicPr>
            <a:picLocks noChangeAspect="1"/>
          </p:cNvPicPr>
          <p:nvPr/>
        </p:nvPicPr>
        <p:blipFill>
          <a:blip r:embed="rId4"/>
          <a:stretch>
            <a:fillRect/>
          </a:stretch>
        </p:blipFill>
        <p:spPr>
          <a:xfrm>
            <a:off x="3966667" y="4058107"/>
            <a:ext cx="296266" cy="296266"/>
          </a:xfrm>
          <a:prstGeom prst="rect">
            <a:avLst/>
          </a:prstGeom>
        </p:spPr>
      </p:pic>
      <p:sp>
        <p:nvSpPr>
          <p:cNvPr id="23" name="text-349"/>
          <p:cNvSpPr txBox="1"/>
          <p:nvPr/>
        </p:nvSpPr>
        <p:spPr>
          <a:xfrm>
            <a:off x="4526280" y="3931920"/>
            <a:ext cx="1920240" cy="548640"/>
          </a:xfrm>
          <a:prstGeom prst="rect">
            <a:avLst/>
          </a:prstGeom>
          <a:noFill/>
          <a:ln/>
        </p:spPr>
        <p:txBody>
          <a:bodyPr wrap="square" lIns="0" tIns="0" rIns="0" bIns="0" rtlCol="0" anchor="ctr"/>
          <a:lstStyle/>
          <a:p>
            <a:pPr indent="0" marL="0">
              <a:buNone/>
            </a:pPr>
            <a:r>
              <a:rPr lang="en-US" sz="1700" b="1" dirty="0">
                <a:solidFill>
                  <a:schemeClr val="tx1"/>
                </a:solidFill>
              </a:rPr>
              <a:t>Extent</a:t>
            </a:r>
            <a:endParaRPr lang="en-US" sz="1700" dirty="0"/>
          </a:p>
        </p:txBody>
      </p:sp>
      <p:sp>
        <p:nvSpPr>
          <p:cNvPr id="24" name="text-350"/>
          <p:cNvSpPr txBox="1"/>
          <p:nvPr/>
        </p:nvSpPr>
        <p:spPr>
          <a:xfrm>
            <a:off x="3840480" y="4590288"/>
            <a:ext cx="2606040" cy="731520"/>
          </a:xfrm>
          <a:prstGeom prst="rect">
            <a:avLst/>
          </a:prstGeom>
          <a:noFill/>
          <a:ln/>
        </p:spPr>
        <p:txBody>
          <a:bodyPr wrap="square" lIns="0" tIns="0" rIns="0" bIns="0" rtlCol="0" anchor="t"/>
          <a:lstStyle/>
          <a:p>
            <a:pPr indent="0" marL="0">
              <a:buNone/>
            </a:pPr>
            <a:r>
              <a:rPr lang="en-US" sz="1350" dirty="0">
                <a:solidFill>
                  <a:schemeClr val="tx2"/>
                </a:solidFill>
              </a:rPr>
              <a:t>Put inlets and outlets far enough away not to disturb the region of interest.</a:t>
            </a:r>
            <a:endParaRPr lang="en-US" sz="1350" dirty="0"/>
          </a:p>
        </p:txBody>
      </p:sp>
      <p:sp>
        <p:nvSpPr>
          <p:cNvPr id="25" name="text-351"/>
          <p:cNvSpPr txBox="1"/>
          <p:nvPr/>
        </p:nvSpPr>
        <p:spPr>
          <a:xfrm>
            <a:off x="6949440" y="1965960"/>
            <a:ext cx="3657600" cy="320040"/>
          </a:xfrm>
          <a:prstGeom prst="rect">
            <a:avLst/>
          </a:prstGeom>
          <a:noFill/>
          <a:ln/>
        </p:spPr>
        <p:txBody>
          <a:bodyPr wrap="square" lIns="0" tIns="0" rIns="0" bIns="0" rtlCol="0" anchor="t"/>
          <a:lstStyle/>
          <a:p>
            <a:pPr indent="0" marL="0">
              <a:buNone/>
            </a:pPr>
            <a:r>
              <a:rPr lang="en-US" sz="1600" b="1" dirty="0">
                <a:solidFill>
                  <a:schemeClr val="tx1"/>
                </a:solidFill>
              </a:rPr>
              <a:t>1D, 2D or 3D?</a:t>
            </a:r>
            <a:endParaRPr lang="en-US" sz="1600" dirty="0"/>
          </a:p>
        </p:txBody>
      </p:sp>
      <p:sp>
        <p:nvSpPr>
          <p:cNvPr id="26" name="pill-352"/>
          <p:cNvSpPr/>
          <p:nvPr/>
        </p:nvSpPr>
        <p:spPr>
          <a:xfrm>
            <a:off x="6949440" y="2377440"/>
            <a:ext cx="868680" cy="868680"/>
          </a:xfrm>
          <a:prstGeom prst="roundRect">
            <a:avLst>
              <a:gd name="adj" fmla="val 50000"/>
            </a:avLst>
          </a:prstGeom>
          <a:solidFill>
            <a:schemeClr val="accent1"/>
          </a:solidFill>
          <a:ln/>
        </p:spPr>
        <p:txBody>
          <a:bodyPr wrap="square" lIns="0" tIns="0" rIns="0" bIns="0" rtlCol="0" anchor="ctr"/>
          <a:lstStyle/>
          <a:p>
            <a:pPr algn="ctr" indent="0" marL="0">
              <a:buNone/>
            </a:pPr>
            <a:r>
              <a:rPr lang="en-US" sz="2200" b="1" dirty="0">
                <a:solidFill>
                  <a:schemeClr val="bg1"/>
                </a:solidFill>
              </a:rPr>
              <a:t>1D</a:t>
            </a:r>
            <a:endParaRPr lang="en-US" sz="2200" dirty="0"/>
          </a:p>
        </p:txBody>
      </p:sp>
      <p:sp>
        <p:nvSpPr>
          <p:cNvPr id="27" name="text-353"/>
          <p:cNvSpPr txBox="1"/>
          <p:nvPr/>
        </p:nvSpPr>
        <p:spPr>
          <a:xfrm>
            <a:off x="8001000" y="2423160"/>
            <a:ext cx="3611880" cy="457200"/>
          </a:xfrm>
          <a:prstGeom prst="rect">
            <a:avLst/>
          </a:prstGeom>
          <a:noFill/>
          <a:ln/>
        </p:spPr>
        <p:txBody>
          <a:bodyPr wrap="square" lIns="0" tIns="0" rIns="0" bIns="0" rtlCol="0" anchor="t"/>
          <a:lstStyle/>
          <a:p>
            <a:pPr indent="0" marL="0">
              <a:buNone/>
            </a:pPr>
            <a:r>
              <a:rPr lang="en-US" sz="1500" b="1" dirty="0">
                <a:solidFill>
                  <a:schemeClr val="tx1"/>
                </a:solidFill>
              </a:rPr>
              <a:t>Heat conduction along a thin rod</a:t>
            </a:r>
            <a:endParaRPr lang="en-US" sz="1500" dirty="0"/>
          </a:p>
        </p:txBody>
      </p:sp>
      <p:sp>
        <p:nvSpPr>
          <p:cNvPr id="28" name="text-354"/>
          <p:cNvSpPr txBox="1"/>
          <p:nvPr/>
        </p:nvSpPr>
        <p:spPr>
          <a:xfrm>
            <a:off x="8001000" y="2880360"/>
            <a:ext cx="3611880" cy="320040"/>
          </a:xfrm>
          <a:prstGeom prst="rect">
            <a:avLst/>
          </a:prstGeom>
          <a:noFill/>
          <a:ln/>
        </p:spPr>
        <p:txBody>
          <a:bodyPr wrap="square" lIns="0" tIns="0" rIns="0" bIns="0" rtlCol="0" anchor="t"/>
          <a:lstStyle/>
          <a:p>
            <a:pPr indent="0" marL="0">
              <a:buNone/>
            </a:pPr>
            <a:r>
              <a:rPr lang="en-US" sz="1350" dirty="0">
                <a:solidFill>
                  <a:schemeClr val="tx2"/>
                </a:solidFill>
              </a:rPr>
              <a:t>a line, 0 ≤ x ≤ L</a:t>
            </a:r>
            <a:endParaRPr lang="en-US" sz="1350" dirty="0"/>
          </a:p>
        </p:txBody>
      </p:sp>
      <p:sp>
        <p:nvSpPr>
          <p:cNvPr id="29" name="pill-355"/>
          <p:cNvSpPr/>
          <p:nvPr/>
        </p:nvSpPr>
        <p:spPr>
          <a:xfrm>
            <a:off x="6949440" y="3401568"/>
            <a:ext cx="868680" cy="868680"/>
          </a:xfrm>
          <a:prstGeom prst="roundRect">
            <a:avLst>
              <a:gd name="adj" fmla="val 50000"/>
            </a:avLst>
          </a:prstGeom>
          <a:solidFill>
            <a:schemeClr val="accent1"/>
          </a:solidFill>
          <a:ln/>
        </p:spPr>
        <p:txBody>
          <a:bodyPr wrap="square" lIns="0" tIns="0" rIns="0" bIns="0" rtlCol="0" anchor="ctr"/>
          <a:lstStyle/>
          <a:p>
            <a:pPr algn="ctr" indent="0" marL="0">
              <a:buNone/>
            </a:pPr>
            <a:r>
              <a:rPr lang="en-US" sz="2200" b="1" dirty="0">
                <a:solidFill>
                  <a:schemeClr val="bg1"/>
                </a:solidFill>
              </a:rPr>
              <a:t>2D</a:t>
            </a:r>
            <a:endParaRPr lang="en-US" sz="2200" dirty="0"/>
          </a:p>
        </p:txBody>
      </p:sp>
      <p:sp>
        <p:nvSpPr>
          <p:cNvPr id="30" name="text-356"/>
          <p:cNvSpPr txBox="1"/>
          <p:nvPr/>
        </p:nvSpPr>
        <p:spPr>
          <a:xfrm>
            <a:off x="8001000" y="3447288"/>
            <a:ext cx="3611880" cy="457200"/>
          </a:xfrm>
          <a:prstGeom prst="rect">
            <a:avLst/>
          </a:prstGeom>
          <a:noFill/>
          <a:ln/>
        </p:spPr>
        <p:txBody>
          <a:bodyPr wrap="square" lIns="0" tIns="0" rIns="0" bIns="0" rtlCol="0" anchor="t"/>
          <a:lstStyle/>
          <a:p>
            <a:pPr indent="0" marL="0">
              <a:buNone/>
            </a:pPr>
            <a:r>
              <a:rPr lang="en-US" sz="1500" b="1" dirty="0">
                <a:solidFill>
                  <a:schemeClr val="tx1"/>
                </a:solidFill>
              </a:rPr>
              <a:t>Flow around a long cylinder, a heated plate</a:t>
            </a:r>
            <a:endParaRPr lang="en-US" sz="1500" dirty="0"/>
          </a:p>
        </p:txBody>
      </p:sp>
      <p:sp>
        <p:nvSpPr>
          <p:cNvPr id="31" name="text-357"/>
          <p:cNvSpPr txBox="1"/>
          <p:nvPr/>
        </p:nvSpPr>
        <p:spPr>
          <a:xfrm>
            <a:off x="8001000" y="3904488"/>
            <a:ext cx="3611880" cy="320040"/>
          </a:xfrm>
          <a:prstGeom prst="rect">
            <a:avLst/>
          </a:prstGeom>
          <a:noFill/>
          <a:ln/>
        </p:spPr>
        <p:txBody>
          <a:bodyPr wrap="square" lIns="0" tIns="0" rIns="0" bIns="0" rtlCol="0" anchor="t"/>
          <a:lstStyle/>
          <a:p>
            <a:pPr indent="0" marL="0">
              <a:buNone/>
            </a:pPr>
            <a:r>
              <a:rPr lang="en-US" sz="1350" dirty="0">
                <a:solidFill>
                  <a:schemeClr val="tx2"/>
                </a:solidFill>
              </a:rPr>
              <a:t>a plane region</a:t>
            </a:r>
            <a:endParaRPr lang="en-US" sz="1350" dirty="0"/>
          </a:p>
        </p:txBody>
      </p:sp>
      <p:sp>
        <p:nvSpPr>
          <p:cNvPr id="32" name="pill-358"/>
          <p:cNvSpPr/>
          <p:nvPr/>
        </p:nvSpPr>
        <p:spPr>
          <a:xfrm>
            <a:off x="6949440" y="4425696"/>
            <a:ext cx="868680" cy="868680"/>
          </a:xfrm>
          <a:prstGeom prst="roundRect">
            <a:avLst>
              <a:gd name="adj" fmla="val 50000"/>
            </a:avLst>
          </a:prstGeom>
          <a:solidFill>
            <a:schemeClr val="tx1"/>
          </a:solidFill>
          <a:ln/>
        </p:spPr>
        <p:txBody>
          <a:bodyPr wrap="square" lIns="0" tIns="0" rIns="0" bIns="0" rtlCol="0" anchor="ctr"/>
          <a:lstStyle/>
          <a:p>
            <a:pPr algn="ctr" indent="0" marL="0">
              <a:buNone/>
            </a:pPr>
            <a:r>
              <a:rPr lang="en-US" sz="2200" b="1" dirty="0">
                <a:solidFill>
                  <a:schemeClr val="bg1"/>
                </a:solidFill>
              </a:rPr>
              <a:t>3D</a:t>
            </a:r>
            <a:endParaRPr lang="en-US" sz="2200" dirty="0"/>
          </a:p>
        </p:txBody>
      </p:sp>
      <p:sp>
        <p:nvSpPr>
          <p:cNvPr id="33" name="text-359"/>
          <p:cNvSpPr txBox="1"/>
          <p:nvPr/>
        </p:nvSpPr>
        <p:spPr>
          <a:xfrm>
            <a:off x="8001000" y="4471416"/>
            <a:ext cx="3611880" cy="457200"/>
          </a:xfrm>
          <a:prstGeom prst="rect">
            <a:avLst/>
          </a:prstGeom>
          <a:noFill/>
          <a:ln/>
        </p:spPr>
        <p:txBody>
          <a:bodyPr wrap="square" lIns="0" tIns="0" rIns="0" bIns="0" rtlCol="0" anchor="t"/>
          <a:lstStyle/>
          <a:p>
            <a:pPr indent="0" marL="0">
              <a:buNone/>
            </a:pPr>
            <a:r>
              <a:rPr lang="en-US" sz="1500" b="1" dirty="0">
                <a:solidFill>
                  <a:schemeClr val="tx1"/>
                </a:solidFill>
              </a:rPr>
              <a:t>Flow around a car</a:t>
            </a:r>
            <a:endParaRPr lang="en-US" sz="1500" dirty="0"/>
          </a:p>
        </p:txBody>
      </p:sp>
      <p:sp>
        <p:nvSpPr>
          <p:cNvPr id="34" name="text-360"/>
          <p:cNvSpPr txBox="1"/>
          <p:nvPr/>
        </p:nvSpPr>
        <p:spPr>
          <a:xfrm>
            <a:off x="8001000" y="4928616"/>
            <a:ext cx="3611880" cy="320040"/>
          </a:xfrm>
          <a:prstGeom prst="rect">
            <a:avLst/>
          </a:prstGeom>
          <a:noFill/>
          <a:ln/>
        </p:spPr>
        <p:txBody>
          <a:bodyPr wrap="square" lIns="0" tIns="0" rIns="0" bIns="0" rtlCol="0" anchor="t"/>
          <a:lstStyle/>
          <a:p>
            <a:pPr indent="0" marL="0">
              <a:buNone/>
            </a:pPr>
            <a:r>
              <a:rPr lang="en-US" sz="1350" dirty="0">
                <a:solidFill>
                  <a:schemeClr val="tx2"/>
                </a:solidFill>
              </a:rPr>
              <a:t>a volume</a:t>
            </a:r>
            <a:endParaRPr lang="en-US" sz="1350" dirty="0"/>
          </a:p>
        </p:txBody>
      </p:sp>
      <p:sp>
        <p:nvSpPr>
          <p:cNvPr id="35" name="rod-strip-361"/>
          <p:cNvSpPr/>
          <p:nvPr/>
        </p:nvSpPr>
        <p:spPr>
          <a:xfrm>
            <a:off x="548640" y="5596128"/>
            <a:ext cx="11094415" cy="566928"/>
          </a:xfrm>
          <a:prstGeom prst="roundRect">
            <a:avLst>
              <a:gd name="adj" fmla="val 16129"/>
            </a:avLst>
          </a:prstGeom>
          <a:solidFill>
            <a:schemeClr val="accent2">
              <a:alpha val="12000"/>
            </a:schemeClr>
          </a:solidFill>
          <a:ln/>
        </p:spPr>
      </p:sp>
      <p:sp>
        <p:nvSpPr>
          <p:cNvPr id="36" name="icon-bg-362"/>
          <p:cNvSpPr/>
          <p:nvPr/>
        </p:nvSpPr>
        <p:spPr>
          <a:xfrm>
            <a:off x="685800" y="5687568"/>
            <a:ext cx="384048" cy="384048"/>
          </a:xfrm>
          <a:prstGeom prst="ellipse">
            <a:avLst/>
          </a:prstGeom>
          <a:solidFill>
            <a:schemeClr val="accent2"/>
          </a:solidFill>
          <a:ln/>
        </p:spPr>
      </p:sp>
      <p:pic>
        <p:nvPicPr>
          <p:cNvPr id="37" name="icon-363" descr="preencoded.png">    </p:cNvPr>
          <p:cNvPicPr>
            <a:picLocks noChangeAspect="1"/>
          </p:cNvPicPr>
          <p:nvPr/>
        </p:nvPicPr>
        <p:blipFill>
          <a:blip r:embed="rId5"/>
          <a:stretch>
            <a:fillRect/>
          </a:stretch>
        </p:blipFill>
        <p:spPr>
          <a:xfrm>
            <a:off x="774131" y="5775899"/>
            <a:ext cx="207386" cy="207386"/>
          </a:xfrm>
          <a:prstGeom prst="rect">
            <a:avLst/>
          </a:prstGeom>
        </p:spPr>
      </p:pic>
      <p:sp>
        <p:nvSpPr>
          <p:cNvPr id="38" name="text-364"/>
          <p:cNvSpPr txBox="1"/>
          <p:nvPr/>
        </p:nvSpPr>
        <p:spPr>
          <a:xfrm>
            <a:off x="1234440" y="5596128"/>
            <a:ext cx="10225735" cy="566928"/>
          </a:xfrm>
          <a:prstGeom prst="rect">
            <a:avLst/>
          </a:prstGeom>
          <a:noFill/>
          <a:ln/>
        </p:spPr>
        <p:txBody>
          <a:bodyPr wrap="square" lIns="0" tIns="0" rIns="0" bIns="0" rtlCol="0" anchor="ctr"/>
          <a:lstStyle/>
          <a:p>
            <a:pPr indent="0" marL="0">
              <a:buNone/>
            </a:pPr>
            <a:r>
              <a:rPr lang="en-US" sz="1500" b="1" dirty="0">
                <a:solidFill>
                  <a:schemeClr val="tx1"/>
                </a:solidFill>
              </a:rPr>
              <a:t>Rod:</a:t>
            </a:r>
            <a:pPr indent="0" marL="0">
              <a:buNone/>
            </a:pPr>
            <a:r>
              <a:rPr lang="en-US" sz="1500" dirty="0">
                <a:solidFill>
                  <a:schemeClr val="tx1"/>
                </a:solidFill>
              </a:rPr>
              <a:t> long and thin, so T varies only along its length → a </a:t>
            </a:r>
            <a:pPr indent="0" marL="0">
              <a:buNone/>
            </a:pPr>
            <a:r>
              <a:rPr lang="en-US" sz="1500" b="1" dirty="0">
                <a:solidFill>
                  <a:schemeClr val="tx1"/>
                </a:solidFill>
              </a:rPr>
              <a:t>1D domain</a:t>
            </a:r>
            <a:pPr indent="0" marL="0">
              <a:buNone/>
            </a:pPr>
            <a:r>
              <a:rPr lang="en-US" sz="1500" dirty="0">
                <a:solidFill>
                  <a:schemeClr val="tx1"/>
                </a:solidFill>
              </a:rPr>
              <a:t> 0 ≤ x ≤ L, hot end at x = 0, cold end at x = L.</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36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PILLAR 2 · PRE-PROCESSING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Grid: divide the domain into pieces</a:t>
            </a:r>
            <a:endParaRPr lang="en-US" sz="3200" dirty="0"/>
          </a:p>
        </p:txBody>
      </p:sp>
      <p:pic>
        <p:nvPicPr>
          <p:cNvPr id="4" name="img-366" descr="The same domain discretized by FDM grid points, FEM triangles and FVM cells">    </p:cNvPr>
          <p:cNvPicPr>
            <a:picLocks noChangeAspect="1"/>
          </p:cNvPicPr>
          <p:nvPr/>
        </p:nvPicPr>
        <p:blipFill>
          <a:blip r:embed="rId1"/>
          <a:stretch>
            <a:fillRect/>
          </a:stretch>
        </p:blipFill>
        <p:spPr>
          <a:xfrm>
            <a:off x="1402662" y="1371600"/>
            <a:ext cx="9386371" cy="3246120"/>
          </a:xfrm>
          <a:prstGeom prst="rect">
            <a:avLst/>
          </a:prstGeom>
        </p:spPr>
      </p:pic>
      <p:sp>
        <p:nvSpPr>
          <p:cNvPr id="5" name="card-367"/>
          <p:cNvSpPr/>
          <p:nvPr/>
        </p:nvSpPr>
        <p:spPr>
          <a:xfrm>
            <a:off x="548640" y="4754880"/>
            <a:ext cx="2651760" cy="713232"/>
          </a:xfrm>
          <a:prstGeom prst="roundRect">
            <a:avLst>
              <a:gd name="adj" fmla="val 12821"/>
            </a:avLst>
          </a:prstGeom>
          <a:solidFill>
            <a:schemeClr val="bg1"/>
          </a:solidFill>
          <a:ln w="9525">
            <a:solidFill>
              <a:schemeClr val="accent4">
                <a:alpha val="35000"/>
              </a:schemeClr>
            </a:solidFill>
            <a:prstDash val="solid"/>
          </a:ln>
        </p:spPr>
      </p:sp>
      <p:sp>
        <p:nvSpPr>
          <p:cNvPr id="6" name="icon-bg-368"/>
          <p:cNvSpPr/>
          <p:nvPr/>
        </p:nvSpPr>
        <p:spPr>
          <a:xfrm>
            <a:off x="658368" y="4910328"/>
            <a:ext cx="402336" cy="402336"/>
          </a:xfrm>
          <a:prstGeom prst="ellipse">
            <a:avLst/>
          </a:prstGeom>
          <a:solidFill>
            <a:schemeClr val="accent1"/>
          </a:solidFill>
          <a:ln/>
        </p:spPr>
      </p:sp>
      <p:pic>
        <p:nvPicPr>
          <p:cNvPr id="7" name="icon-369" descr="preencoded.png">    </p:cNvPr>
          <p:cNvPicPr>
            <a:picLocks noChangeAspect="1"/>
          </p:cNvPicPr>
          <p:nvPr/>
        </p:nvPicPr>
        <p:blipFill>
          <a:blip r:embed="rId2"/>
          <a:stretch>
            <a:fillRect/>
          </a:stretch>
        </p:blipFill>
        <p:spPr>
          <a:xfrm>
            <a:off x="750905" y="5002865"/>
            <a:ext cx="217261" cy="217261"/>
          </a:xfrm>
          <a:prstGeom prst="rect">
            <a:avLst/>
          </a:prstGeom>
        </p:spPr>
      </p:pic>
      <p:sp>
        <p:nvSpPr>
          <p:cNvPr id="8" name="text-370"/>
          <p:cNvSpPr txBox="1"/>
          <p:nvPr/>
        </p:nvSpPr>
        <p:spPr>
          <a:xfrm>
            <a:off x="1143000" y="4754880"/>
            <a:ext cx="1993392" cy="713232"/>
          </a:xfrm>
          <a:prstGeom prst="rect">
            <a:avLst/>
          </a:prstGeom>
          <a:noFill/>
          <a:ln/>
        </p:spPr>
        <p:txBody>
          <a:bodyPr wrap="square" lIns="0" tIns="0" rIns="0" bIns="0" rtlCol="0" anchor="ctr"/>
          <a:lstStyle/>
          <a:p>
            <a:pPr indent="0" marL="0">
              <a:buNone/>
            </a:pPr>
            <a:r>
              <a:rPr lang="en-US" sz="1250" b="1" dirty="0">
                <a:solidFill>
                  <a:schemeClr val="tx1"/>
                </a:solidFill>
              </a:rPr>
              <a:t>Node:</a:t>
            </a:r>
            <a:pPr indent="0" marL="0">
              <a:buNone/>
            </a:pPr>
            <a:r>
              <a:rPr lang="en-US" sz="1250" dirty="0">
                <a:solidFill>
                  <a:schemeClr val="tx1"/>
                </a:solidFill>
              </a:rPr>
              <a:t> where an unknown lives, index i or (i, j)</a:t>
            </a:r>
            <a:endParaRPr lang="en-US" sz="1250" dirty="0"/>
          </a:p>
        </p:txBody>
      </p:sp>
      <p:sp>
        <p:nvSpPr>
          <p:cNvPr id="9" name="card-371"/>
          <p:cNvSpPr/>
          <p:nvPr/>
        </p:nvSpPr>
        <p:spPr>
          <a:xfrm>
            <a:off x="3355848" y="4754880"/>
            <a:ext cx="2651760" cy="713232"/>
          </a:xfrm>
          <a:prstGeom prst="roundRect">
            <a:avLst>
              <a:gd name="adj" fmla="val 12821"/>
            </a:avLst>
          </a:prstGeom>
          <a:solidFill>
            <a:schemeClr val="bg1"/>
          </a:solidFill>
          <a:ln w="9525">
            <a:solidFill>
              <a:schemeClr val="accent4">
                <a:alpha val="35000"/>
              </a:schemeClr>
            </a:solidFill>
            <a:prstDash val="solid"/>
          </a:ln>
        </p:spPr>
      </p:sp>
      <p:sp>
        <p:nvSpPr>
          <p:cNvPr id="10" name="icon-bg-372"/>
          <p:cNvSpPr/>
          <p:nvPr/>
        </p:nvSpPr>
        <p:spPr>
          <a:xfrm>
            <a:off x="3465576" y="4910328"/>
            <a:ext cx="402336" cy="402336"/>
          </a:xfrm>
          <a:prstGeom prst="ellipse">
            <a:avLst/>
          </a:prstGeom>
          <a:solidFill>
            <a:schemeClr val="accent1"/>
          </a:solidFill>
          <a:ln/>
        </p:spPr>
      </p:sp>
      <p:pic>
        <p:nvPicPr>
          <p:cNvPr id="11" name="icon-373" descr="preencoded.png">    </p:cNvPr>
          <p:cNvPicPr>
            <a:picLocks noChangeAspect="1"/>
          </p:cNvPicPr>
          <p:nvPr/>
        </p:nvPicPr>
        <p:blipFill>
          <a:blip r:embed="rId3"/>
          <a:stretch>
            <a:fillRect/>
          </a:stretch>
        </p:blipFill>
        <p:spPr>
          <a:xfrm>
            <a:off x="3558113" y="5002865"/>
            <a:ext cx="217261" cy="217261"/>
          </a:xfrm>
          <a:prstGeom prst="rect">
            <a:avLst/>
          </a:prstGeom>
        </p:spPr>
      </p:pic>
      <p:sp>
        <p:nvSpPr>
          <p:cNvPr id="12" name="text-374"/>
          <p:cNvSpPr txBox="1"/>
          <p:nvPr/>
        </p:nvSpPr>
        <p:spPr>
          <a:xfrm>
            <a:off x="3950208" y="4754880"/>
            <a:ext cx="1993392" cy="713232"/>
          </a:xfrm>
          <a:prstGeom prst="rect">
            <a:avLst/>
          </a:prstGeom>
          <a:noFill/>
          <a:ln/>
        </p:spPr>
        <p:txBody>
          <a:bodyPr wrap="square" lIns="0" tIns="0" rIns="0" bIns="0" rtlCol="0" anchor="ctr"/>
          <a:lstStyle/>
          <a:p>
            <a:pPr indent="0" marL="0">
              <a:buNone/>
            </a:pPr>
            <a:r>
              <a:rPr lang="en-US" sz="1250" b="1" dirty="0">
                <a:solidFill>
                  <a:schemeClr val="tx1"/>
                </a:solidFill>
              </a:rPr>
              <a:t>Grid spacing:</a:t>
            </a:r>
            <a:pPr indent="0" marL="0">
              <a:buNone/>
            </a:pPr>
            <a:r>
              <a:rPr lang="en-US" sz="1250" dirty="0">
                <a:solidFill>
                  <a:schemeClr val="tx1"/>
                </a:solidFill>
              </a:rPr>
              <a:t> Δx, Δy between neighbouring nodes</a:t>
            </a:r>
            <a:endParaRPr lang="en-US" sz="1250" dirty="0"/>
          </a:p>
        </p:txBody>
      </p:sp>
      <p:sp>
        <p:nvSpPr>
          <p:cNvPr id="13" name="card-375"/>
          <p:cNvSpPr/>
          <p:nvPr/>
        </p:nvSpPr>
        <p:spPr>
          <a:xfrm>
            <a:off x="6163056" y="4754880"/>
            <a:ext cx="2651760" cy="713232"/>
          </a:xfrm>
          <a:prstGeom prst="roundRect">
            <a:avLst>
              <a:gd name="adj" fmla="val 12821"/>
            </a:avLst>
          </a:prstGeom>
          <a:solidFill>
            <a:schemeClr val="bg1"/>
          </a:solidFill>
          <a:ln w="9525">
            <a:solidFill>
              <a:schemeClr val="accent4">
                <a:alpha val="35000"/>
              </a:schemeClr>
            </a:solidFill>
            <a:prstDash val="solid"/>
          </a:ln>
        </p:spPr>
      </p:sp>
      <p:sp>
        <p:nvSpPr>
          <p:cNvPr id="14" name="icon-bg-376"/>
          <p:cNvSpPr/>
          <p:nvPr/>
        </p:nvSpPr>
        <p:spPr>
          <a:xfrm>
            <a:off x="6272784" y="4910328"/>
            <a:ext cx="402336" cy="402336"/>
          </a:xfrm>
          <a:prstGeom prst="ellipse">
            <a:avLst/>
          </a:prstGeom>
          <a:solidFill>
            <a:schemeClr val="accent1"/>
          </a:solidFill>
          <a:ln/>
        </p:spPr>
      </p:sp>
      <p:pic>
        <p:nvPicPr>
          <p:cNvPr id="15" name="icon-377" descr="preencoded.png">    </p:cNvPr>
          <p:cNvPicPr>
            <a:picLocks noChangeAspect="1"/>
          </p:cNvPicPr>
          <p:nvPr/>
        </p:nvPicPr>
        <p:blipFill>
          <a:blip r:embed="rId4"/>
          <a:stretch>
            <a:fillRect/>
          </a:stretch>
        </p:blipFill>
        <p:spPr>
          <a:xfrm>
            <a:off x="6365321" y="5002865"/>
            <a:ext cx="217261" cy="217261"/>
          </a:xfrm>
          <a:prstGeom prst="rect">
            <a:avLst/>
          </a:prstGeom>
        </p:spPr>
      </p:pic>
      <p:sp>
        <p:nvSpPr>
          <p:cNvPr id="16" name="text-378"/>
          <p:cNvSpPr txBox="1"/>
          <p:nvPr/>
        </p:nvSpPr>
        <p:spPr>
          <a:xfrm>
            <a:off x="6757416" y="4754880"/>
            <a:ext cx="1993392" cy="713232"/>
          </a:xfrm>
          <a:prstGeom prst="rect">
            <a:avLst/>
          </a:prstGeom>
          <a:noFill/>
          <a:ln/>
        </p:spPr>
        <p:txBody>
          <a:bodyPr wrap="square" lIns="0" tIns="0" rIns="0" bIns="0" rtlCol="0" anchor="ctr"/>
          <a:lstStyle/>
          <a:p>
            <a:pPr indent="0" marL="0">
              <a:buNone/>
            </a:pPr>
            <a:r>
              <a:rPr lang="en-US" sz="1250" b="1" dirty="0">
                <a:solidFill>
                  <a:schemeClr val="tx1"/>
                </a:solidFill>
              </a:rPr>
              <a:t>Structured / unstructured:</a:t>
            </a:r>
            <a:pPr indent="0" marL="0">
              <a:buNone/>
            </a:pPr>
            <a:r>
              <a:rPr lang="en-US" sz="1250" dirty="0">
                <a:solidFill>
                  <a:schemeClr val="tx1"/>
                </a:solidFill>
              </a:rPr>
              <a:t> rows &amp; columns, or any shape</a:t>
            </a:r>
            <a:endParaRPr lang="en-US" sz="1250" dirty="0"/>
          </a:p>
        </p:txBody>
      </p:sp>
      <p:sp>
        <p:nvSpPr>
          <p:cNvPr id="17" name="card-379"/>
          <p:cNvSpPr/>
          <p:nvPr/>
        </p:nvSpPr>
        <p:spPr>
          <a:xfrm>
            <a:off x="8970264" y="4754880"/>
            <a:ext cx="2651760" cy="713232"/>
          </a:xfrm>
          <a:prstGeom prst="roundRect">
            <a:avLst>
              <a:gd name="adj" fmla="val 12821"/>
            </a:avLst>
          </a:prstGeom>
          <a:solidFill>
            <a:schemeClr val="bg1"/>
          </a:solidFill>
          <a:ln w="9525">
            <a:solidFill>
              <a:schemeClr val="accent4">
                <a:alpha val="35000"/>
              </a:schemeClr>
            </a:solidFill>
            <a:prstDash val="solid"/>
          </a:ln>
        </p:spPr>
      </p:sp>
      <p:sp>
        <p:nvSpPr>
          <p:cNvPr id="18" name="icon-bg-380"/>
          <p:cNvSpPr/>
          <p:nvPr/>
        </p:nvSpPr>
        <p:spPr>
          <a:xfrm>
            <a:off x="9079992" y="4910328"/>
            <a:ext cx="402336" cy="402336"/>
          </a:xfrm>
          <a:prstGeom prst="ellipse">
            <a:avLst/>
          </a:prstGeom>
          <a:solidFill>
            <a:schemeClr val="accent1"/>
          </a:solidFill>
          <a:ln/>
        </p:spPr>
      </p:sp>
      <p:pic>
        <p:nvPicPr>
          <p:cNvPr id="19" name="icon-381" descr="preencoded.png">    </p:cNvPr>
          <p:cNvPicPr>
            <a:picLocks noChangeAspect="1"/>
          </p:cNvPicPr>
          <p:nvPr/>
        </p:nvPicPr>
        <p:blipFill>
          <a:blip r:embed="rId5"/>
          <a:stretch>
            <a:fillRect/>
          </a:stretch>
        </p:blipFill>
        <p:spPr>
          <a:xfrm>
            <a:off x="9172529" y="5002865"/>
            <a:ext cx="217261" cy="217261"/>
          </a:xfrm>
          <a:prstGeom prst="rect">
            <a:avLst/>
          </a:prstGeom>
        </p:spPr>
      </p:pic>
      <p:sp>
        <p:nvSpPr>
          <p:cNvPr id="20" name="text-382"/>
          <p:cNvSpPr txBox="1"/>
          <p:nvPr/>
        </p:nvSpPr>
        <p:spPr>
          <a:xfrm>
            <a:off x="9564624" y="4754880"/>
            <a:ext cx="1993392" cy="713232"/>
          </a:xfrm>
          <a:prstGeom prst="rect">
            <a:avLst/>
          </a:prstGeom>
          <a:noFill/>
          <a:ln/>
        </p:spPr>
        <p:txBody>
          <a:bodyPr wrap="square" lIns="0" tIns="0" rIns="0" bIns="0" rtlCol="0" anchor="ctr"/>
          <a:lstStyle/>
          <a:p>
            <a:pPr indent="0" marL="0">
              <a:buNone/>
            </a:pPr>
            <a:r>
              <a:rPr lang="en-US" sz="1250" b="1" dirty="0">
                <a:solidFill>
                  <a:schemeClr val="tx1"/>
                </a:solidFill>
              </a:rPr>
              <a:t>Grid independence:</a:t>
            </a:r>
            <a:pPr indent="0" marL="0">
              <a:buNone/>
            </a:pPr>
            <a:r>
              <a:rPr lang="en-US" sz="1250" dirty="0">
                <a:solidFill>
                  <a:schemeClr val="tx1"/>
                </a:solidFill>
              </a:rPr>
              <a:t> refine until the answer stops changing</a:t>
            </a:r>
            <a:endParaRPr lang="en-US" sz="1250" dirty="0"/>
          </a:p>
        </p:txBody>
      </p:sp>
      <p:sp>
        <p:nvSpPr>
          <p:cNvPr id="21" name="rod-strip-383"/>
          <p:cNvSpPr/>
          <p:nvPr/>
        </p:nvSpPr>
        <p:spPr>
          <a:xfrm>
            <a:off x="548640" y="5596128"/>
            <a:ext cx="11094415" cy="566928"/>
          </a:xfrm>
          <a:prstGeom prst="roundRect">
            <a:avLst>
              <a:gd name="adj" fmla="val 16129"/>
            </a:avLst>
          </a:prstGeom>
          <a:solidFill>
            <a:schemeClr val="accent2">
              <a:alpha val="12000"/>
            </a:schemeClr>
          </a:solidFill>
          <a:ln/>
        </p:spPr>
      </p:sp>
      <p:sp>
        <p:nvSpPr>
          <p:cNvPr id="22" name="icon-bg-384"/>
          <p:cNvSpPr/>
          <p:nvPr/>
        </p:nvSpPr>
        <p:spPr>
          <a:xfrm>
            <a:off x="685800" y="5687568"/>
            <a:ext cx="384048" cy="384048"/>
          </a:xfrm>
          <a:prstGeom prst="ellipse">
            <a:avLst/>
          </a:prstGeom>
          <a:solidFill>
            <a:schemeClr val="accent2"/>
          </a:solidFill>
          <a:ln/>
        </p:spPr>
      </p:sp>
      <p:pic>
        <p:nvPicPr>
          <p:cNvPr id="23" name="icon-385" descr="preencoded.png">    </p:cNvPr>
          <p:cNvPicPr>
            <a:picLocks noChangeAspect="1"/>
          </p:cNvPicPr>
          <p:nvPr/>
        </p:nvPicPr>
        <p:blipFill>
          <a:blip r:embed="rId6"/>
          <a:stretch>
            <a:fillRect/>
          </a:stretch>
        </p:blipFill>
        <p:spPr>
          <a:xfrm>
            <a:off x="774131" y="5775899"/>
            <a:ext cx="207386" cy="207386"/>
          </a:xfrm>
          <a:prstGeom prst="rect">
            <a:avLst/>
          </a:prstGeom>
        </p:spPr>
      </p:pic>
      <p:sp>
        <p:nvSpPr>
          <p:cNvPr id="24" name="text-386"/>
          <p:cNvSpPr txBox="1"/>
          <p:nvPr/>
        </p:nvSpPr>
        <p:spPr>
          <a:xfrm>
            <a:off x="1234440" y="5596128"/>
            <a:ext cx="10225735" cy="566928"/>
          </a:xfrm>
          <a:prstGeom prst="rect">
            <a:avLst/>
          </a:prstGeom>
          <a:noFill/>
          <a:ln/>
        </p:spPr>
        <p:txBody>
          <a:bodyPr wrap="square" lIns="0" tIns="0" rIns="0" bIns="0" rtlCol="0" anchor="ctr"/>
          <a:lstStyle/>
          <a:p>
            <a:pPr indent="0" marL="0">
              <a:buNone/>
            </a:pPr>
            <a:r>
              <a:rPr lang="en-US" sz="1500" b="1" dirty="0">
                <a:solidFill>
                  <a:schemeClr val="tx1"/>
                </a:solidFill>
              </a:rPr>
              <a:t>Rod:</a:t>
            </a:r>
            <a:pPr indent="0" marL="0">
              <a:buNone/>
            </a:pPr>
            <a:r>
              <a:rPr lang="en-US" sz="1500" dirty="0">
                <a:solidFill>
                  <a:schemeClr val="tx1"/>
                </a:solidFill>
              </a:rPr>
              <a:t> N + 1 equally spaced nodes, x</a:t>
            </a:r>
            <a:pPr indent="0" marL="0">
              <a:buNone/>
            </a:pPr>
            <a:r>
              <a:rPr lang="en-US" sz="1500" baseline="-40000" dirty="0">
                <a:solidFill>
                  <a:schemeClr val="tx1"/>
                </a:solidFill>
              </a:rPr>
              <a:t>i</a:t>
            </a:r>
            <a:pPr indent="0" marL="0">
              <a:buNone/>
            </a:pPr>
            <a:r>
              <a:rPr lang="en-US" sz="1500" dirty="0">
                <a:solidFill>
                  <a:schemeClr val="tx1"/>
                </a:solidFill>
              </a:rPr>
              <a:t> = iΔx with Δx = L/N. With N = 20, the whole rod is just </a:t>
            </a:r>
            <a:pPr indent="0" marL="0">
              <a:buNone/>
            </a:pPr>
            <a:r>
              <a:rPr lang="en-US" sz="1500" b="1" dirty="0">
                <a:solidFill>
                  <a:schemeClr val="tx1"/>
                </a:solidFill>
              </a:rPr>
              <a:t>21 temperatures</a:t>
            </a:r>
            <a:pPr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387"/>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PILLAR 2 · NUMERICAL METHODS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Three families of numerical methods</a:t>
            </a:r>
            <a:endParaRPr lang="en-US" sz="3200" dirty="0"/>
          </a:p>
        </p:txBody>
      </p:sp>
      <p:sp>
        <p:nvSpPr>
          <p:cNvPr id="4" name="card-388"/>
          <p:cNvSpPr/>
          <p:nvPr/>
        </p:nvSpPr>
        <p:spPr>
          <a:xfrm>
            <a:off x="548640" y="1417320"/>
            <a:ext cx="3520440" cy="402336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text-389"/>
          <p:cNvSpPr txBox="1"/>
          <p:nvPr/>
        </p:nvSpPr>
        <p:spPr>
          <a:xfrm>
            <a:off x="777240" y="1572768"/>
            <a:ext cx="3108960" cy="384048"/>
          </a:xfrm>
          <a:prstGeom prst="rect">
            <a:avLst/>
          </a:prstGeom>
          <a:noFill/>
          <a:ln/>
        </p:spPr>
        <p:txBody>
          <a:bodyPr wrap="square" lIns="0" tIns="0" rIns="0" bIns="0" rtlCol="0" anchor="t"/>
          <a:lstStyle/>
          <a:p>
            <a:pPr indent="0" marL="0">
              <a:buNone/>
            </a:pPr>
            <a:r>
              <a:rPr lang="en-US" sz="1900" b="1" dirty="0">
                <a:solidFill>
                  <a:schemeClr val="tx1"/>
                </a:solidFill>
              </a:rPr>
              <a:t>Finite Difference (FDM)</a:t>
            </a:r>
            <a:endParaRPr lang="en-US" sz="1900" dirty="0"/>
          </a:p>
        </p:txBody>
      </p:sp>
      <p:sp>
        <p:nvSpPr>
          <p:cNvPr id="6" name="pill-390"/>
          <p:cNvSpPr/>
          <p:nvPr/>
        </p:nvSpPr>
        <p:spPr>
          <a:xfrm>
            <a:off x="777240" y="2011680"/>
            <a:ext cx="21488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THIS COURSE · PART 1</a:t>
            </a:r>
            <a:endParaRPr lang="en-US" sz="1050" dirty="0"/>
          </a:p>
        </p:txBody>
      </p:sp>
      <p:sp>
        <p:nvSpPr>
          <p:cNvPr id="7" name="text-391"/>
          <p:cNvSpPr txBox="1"/>
          <p:nvPr/>
        </p:nvSpPr>
        <p:spPr>
          <a:xfrm>
            <a:off x="777240" y="2514600"/>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UNKNOWNS AT</a:t>
            </a:r>
            <a:endParaRPr lang="en-US" sz="1000" dirty="0"/>
          </a:p>
        </p:txBody>
      </p:sp>
      <p:sp>
        <p:nvSpPr>
          <p:cNvPr id="8" name="text-392"/>
          <p:cNvSpPr txBox="1"/>
          <p:nvPr/>
        </p:nvSpPr>
        <p:spPr>
          <a:xfrm>
            <a:off x="777240" y="2715768"/>
            <a:ext cx="3108960" cy="347472"/>
          </a:xfrm>
          <a:prstGeom prst="rect">
            <a:avLst/>
          </a:prstGeom>
          <a:noFill/>
          <a:ln/>
        </p:spPr>
        <p:txBody>
          <a:bodyPr wrap="square" lIns="0" tIns="0" rIns="0" bIns="0" rtlCol="0" anchor="t"/>
          <a:lstStyle/>
          <a:p>
            <a:pPr indent="0" marL="0">
              <a:buNone/>
            </a:pPr>
            <a:r>
              <a:rPr lang="en-US" sz="1350" dirty="0">
                <a:solidFill>
                  <a:schemeClr val="tx2"/>
                </a:solidFill>
              </a:rPr>
              <a:t>grid points (nodes)</a:t>
            </a:r>
            <a:endParaRPr lang="en-US" sz="1350" dirty="0"/>
          </a:p>
        </p:txBody>
      </p:sp>
      <p:sp>
        <p:nvSpPr>
          <p:cNvPr id="9" name="text-393"/>
          <p:cNvSpPr txBox="1"/>
          <p:nvPr/>
        </p:nvSpPr>
        <p:spPr>
          <a:xfrm>
            <a:off x="777240" y="3081528"/>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EQUATIONS IN</a:t>
            </a:r>
            <a:endParaRPr lang="en-US" sz="1000" dirty="0"/>
          </a:p>
        </p:txBody>
      </p:sp>
      <p:sp>
        <p:nvSpPr>
          <p:cNvPr id="10" name="text-394"/>
          <p:cNvSpPr txBox="1"/>
          <p:nvPr/>
        </p:nvSpPr>
        <p:spPr>
          <a:xfrm>
            <a:off x="777240" y="3282696"/>
            <a:ext cx="3108960" cy="347472"/>
          </a:xfrm>
          <a:prstGeom prst="rect">
            <a:avLst/>
          </a:prstGeom>
          <a:noFill/>
          <a:ln/>
        </p:spPr>
        <p:txBody>
          <a:bodyPr wrap="square" lIns="0" tIns="0" rIns="0" bIns="0" rtlCol="0" anchor="t"/>
          <a:lstStyle/>
          <a:p>
            <a:pPr indent="0" marL="0">
              <a:buNone/>
            </a:pPr>
            <a:r>
              <a:rPr lang="en-US" sz="1350" dirty="0">
                <a:solidFill>
                  <a:schemeClr val="tx2"/>
                </a:solidFill>
              </a:rPr>
              <a:t>differential form</a:t>
            </a:r>
            <a:endParaRPr lang="en-US" sz="1350" dirty="0"/>
          </a:p>
        </p:txBody>
      </p:sp>
      <p:sp>
        <p:nvSpPr>
          <p:cNvPr id="11" name="text-395"/>
          <p:cNvSpPr txBox="1"/>
          <p:nvPr/>
        </p:nvSpPr>
        <p:spPr>
          <a:xfrm>
            <a:off x="777240" y="3648456"/>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KEY IDEA</a:t>
            </a:r>
            <a:endParaRPr lang="en-US" sz="1000" dirty="0"/>
          </a:p>
        </p:txBody>
      </p:sp>
      <p:sp>
        <p:nvSpPr>
          <p:cNvPr id="12" name="text-396"/>
          <p:cNvSpPr txBox="1"/>
          <p:nvPr/>
        </p:nvSpPr>
        <p:spPr>
          <a:xfrm>
            <a:off x="777240" y="3849624"/>
            <a:ext cx="3108960" cy="347472"/>
          </a:xfrm>
          <a:prstGeom prst="rect">
            <a:avLst/>
          </a:prstGeom>
          <a:noFill/>
          <a:ln/>
        </p:spPr>
        <p:txBody>
          <a:bodyPr wrap="square" lIns="0" tIns="0" rIns="0" bIns="0" rtlCol="0" anchor="t"/>
          <a:lstStyle/>
          <a:p>
            <a:pPr indent="0" marL="0">
              <a:buNone/>
            </a:pPr>
            <a:r>
              <a:rPr lang="en-US" sz="1350" dirty="0">
                <a:solidFill>
                  <a:schemeClr val="tx2"/>
                </a:solidFill>
              </a:rPr>
              <a:t>derivatives → differences (Taylor)</a:t>
            </a:r>
            <a:endParaRPr lang="en-US" sz="1350" dirty="0"/>
          </a:p>
        </p:txBody>
      </p:sp>
      <p:sp>
        <p:nvSpPr>
          <p:cNvPr id="13" name="text-397"/>
          <p:cNvSpPr txBox="1"/>
          <p:nvPr/>
        </p:nvSpPr>
        <p:spPr>
          <a:xfrm>
            <a:off x="777240" y="4215384"/>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STRENGTHS</a:t>
            </a:r>
            <a:endParaRPr lang="en-US" sz="1000" dirty="0"/>
          </a:p>
        </p:txBody>
      </p:sp>
      <p:sp>
        <p:nvSpPr>
          <p:cNvPr id="14" name="text-398"/>
          <p:cNvSpPr txBox="1"/>
          <p:nvPr/>
        </p:nvSpPr>
        <p:spPr>
          <a:xfrm>
            <a:off x="777240" y="4416552"/>
            <a:ext cx="3108960" cy="347472"/>
          </a:xfrm>
          <a:prstGeom prst="rect">
            <a:avLst/>
          </a:prstGeom>
          <a:noFill/>
          <a:ln/>
        </p:spPr>
        <p:txBody>
          <a:bodyPr wrap="square" lIns="0" tIns="0" rIns="0" bIns="0" rtlCol="0" anchor="t"/>
          <a:lstStyle/>
          <a:p>
            <a:pPr indent="0" marL="0">
              <a:buNone/>
            </a:pPr>
            <a:r>
              <a:rPr lang="en-US" sz="1350" dirty="0">
                <a:solidFill>
                  <a:schemeClr val="tx2"/>
                </a:solidFill>
              </a:rPr>
              <a:t>simple, intuitive, easy to code</a:t>
            </a:r>
            <a:endParaRPr lang="en-US" sz="1350" dirty="0"/>
          </a:p>
        </p:txBody>
      </p:sp>
      <p:sp>
        <p:nvSpPr>
          <p:cNvPr id="15" name="text-399"/>
          <p:cNvSpPr txBox="1"/>
          <p:nvPr/>
        </p:nvSpPr>
        <p:spPr>
          <a:xfrm>
            <a:off x="777240" y="4782312"/>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TYPICAL USE</a:t>
            </a:r>
            <a:endParaRPr lang="en-US" sz="1000" dirty="0"/>
          </a:p>
        </p:txBody>
      </p:sp>
      <p:sp>
        <p:nvSpPr>
          <p:cNvPr id="16" name="text-400"/>
          <p:cNvSpPr txBox="1"/>
          <p:nvPr/>
        </p:nvSpPr>
        <p:spPr>
          <a:xfrm>
            <a:off x="777240" y="4983480"/>
            <a:ext cx="3108960" cy="347472"/>
          </a:xfrm>
          <a:prstGeom prst="rect">
            <a:avLst/>
          </a:prstGeom>
          <a:noFill/>
          <a:ln/>
        </p:spPr>
        <p:txBody>
          <a:bodyPr wrap="square" lIns="0" tIns="0" rIns="0" bIns="0" rtlCol="0" anchor="t"/>
          <a:lstStyle/>
          <a:p>
            <a:pPr indent="0" marL="0">
              <a:buNone/>
            </a:pPr>
            <a:r>
              <a:rPr lang="en-US" sz="1350" dirty="0">
                <a:solidFill>
                  <a:schemeClr val="tx2"/>
                </a:solidFill>
              </a:rPr>
              <a:t>teaching and research codes</a:t>
            </a:r>
            <a:endParaRPr lang="en-US" sz="1350" dirty="0"/>
          </a:p>
        </p:txBody>
      </p:sp>
      <p:sp>
        <p:nvSpPr>
          <p:cNvPr id="17" name="card-401"/>
          <p:cNvSpPr/>
          <p:nvPr/>
        </p:nvSpPr>
        <p:spPr>
          <a:xfrm>
            <a:off x="4334256" y="1417320"/>
            <a:ext cx="3520440" cy="4023360"/>
          </a:xfrm>
          <a:prstGeom prst="roundRect">
            <a:avLst>
              <a:gd name="adj" fmla="val 2597"/>
            </a:avLst>
          </a:prstGeom>
          <a:solidFill>
            <a:schemeClr val="bg1"/>
          </a:solidFill>
          <a:ln w="19050">
            <a:solidFill>
              <a:schemeClr val="accent1"/>
            </a:solidFill>
            <a:prstDash val="solid"/>
          </a:ln>
          <a:effectLst>
            <a:outerShdw sx="100000" sy="100000" kx="0" ky="0" algn="bl" rotWithShape="0" blurRad="88900" dist="19050" dir="5400000">
              <a:srgbClr val="0B2E47">
                <a:alpha val="12000"/>
              </a:srgbClr>
            </a:outerShdw>
          </a:effectLst>
        </p:spPr>
      </p:sp>
      <p:sp>
        <p:nvSpPr>
          <p:cNvPr id="18" name="text-402"/>
          <p:cNvSpPr txBox="1"/>
          <p:nvPr/>
        </p:nvSpPr>
        <p:spPr>
          <a:xfrm>
            <a:off x="4562856" y="1572768"/>
            <a:ext cx="3108960" cy="384048"/>
          </a:xfrm>
          <a:prstGeom prst="rect">
            <a:avLst/>
          </a:prstGeom>
          <a:noFill/>
          <a:ln/>
        </p:spPr>
        <p:txBody>
          <a:bodyPr wrap="square" lIns="0" tIns="0" rIns="0" bIns="0" rtlCol="0" anchor="t"/>
          <a:lstStyle/>
          <a:p>
            <a:pPr indent="0" marL="0">
              <a:buNone/>
            </a:pPr>
            <a:r>
              <a:rPr lang="en-US" sz="1900" b="1" dirty="0">
                <a:solidFill>
                  <a:schemeClr val="tx1"/>
                </a:solidFill>
              </a:rPr>
              <a:t>Finite Element (FEM)</a:t>
            </a:r>
            <a:endParaRPr lang="en-US" sz="1900" dirty="0"/>
          </a:p>
        </p:txBody>
      </p:sp>
      <p:sp>
        <p:nvSpPr>
          <p:cNvPr id="19" name="pill-403"/>
          <p:cNvSpPr/>
          <p:nvPr/>
        </p:nvSpPr>
        <p:spPr>
          <a:xfrm>
            <a:off x="4562856" y="2011680"/>
            <a:ext cx="17373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dirty="0">
                <a:solidFill>
                  <a:schemeClr val="bg1"/>
                </a:solidFill>
              </a:rPr>
              <a:t>COMSOL · PART 2</a:t>
            </a:r>
            <a:endParaRPr lang="en-US" sz="1050" dirty="0"/>
          </a:p>
        </p:txBody>
      </p:sp>
      <p:sp>
        <p:nvSpPr>
          <p:cNvPr id="20" name="text-404"/>
          <p:cNvSpPr txBox="1"/>
          <p:nvPr/>
        </p:nvSpPr>
        <p:spPr>
          <a:xfrm>
            <a:off x="4562856" y="2514600"/>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UNKNOWNS AT</a:t>
            </a:r>
            <a:endParaRPr lang="en-US" sz="1000" dirty="0"/>
          </a:p>
        </p:txBody>
      </p:sp>
      <p:sp>
        <p:nvSpPr>
          <p:cNvPr id="21" name="text-405"/>
          <p:cNvSpPr txBox="1"/>
          <p:nvPr/>
        </p:nvSpPr>
        <p:spPr>
          <a:xfrm>
            <a:off x="4562856" y="2715768"/>
            <a:ext cx="3108960" cy="347472"/>
          </a:xfrm>
          <a:prstGeom prst="rect">
            <a:avLst/>
          </a:prstGeom>
          <a:noFill/>
          <a:ln/>
        </p:spPr>
        <p:txBody>
          <a:bodyPr wrap="square" lIns="0" tIns="0" rIns="0" bIns="0" rtlCol="0" anchor="t"/>
          <a:lstStyle/>
          <a:p>
            <a:pPr indent="0" marL="0">
              <a:buNone/>
            </a:pPr>
            <a:r>
              <a:rPr lang="en-US" sz="1350" dirty="0">
                <a:solidFill>
                  <a:schemeClr val="tx2"/>
                </a:solidFill>
              </a:rPr>
              <a:t>element nodes</a:t>
            </a:r>
            <a:endParaRPr lang="en-US" sz="1350" dirty="0"/>
          </a:p>
        </p:txBody>
      </p:sp>
      <p:sp>
        <p:nvSpPr>
          <p:cNvPr id="22" name="text-406"/>
          <p:cNvSpPr txBox="1"/>
          <p:nvPr/>
        </p:nvSpPr>
        <p:spPr>
          <a:xfrm>
            <a:off x="4562856" y="3081528"/>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EQUATIONS IN</a:t>
            </a:r>
            <a:endParaRPr lang="en-US" sz="1000" dirty="0"/>
          </a:p>
        </p:txBody>
      </p:sp>
      <p:sp>
        <p:nvSpPr>
          <p:cNvPr id="23" name="text-407"/>
          <p:cNvSpPr txBox="1"/>
          <p:nvPr/>
        </p:nvSpPr>
        <p:spPr>
          <a:xfrm>
            <a:off x="4562856" y="3282696"/>
            <a:ext cx="3108960" cy="347472"/>
          </a:xfrm>
          <a:prstGeom prst="rect">
            <a:avLst/>
          </a:prstGeom>
          <a:noFill/>
          <a:ln/>
        </p:spPr>
        <p:txBody>
          <a:bodyPr wrap="square" lIns="0" tIns="0" rIns="0" bIns="0" rtlCol="0" anchor="t"/>
          <a:lstStyle/>
          <a:p>
            <a:pPr indent="0" marL="0">
              <a:buNone/>
            </a:pPr>
            <a:r>
              <a:rPr lang="en-US" sz="1350" dirty="0">
                <a:solidFill>
                  <a:schemeClr val="tx2"/>
                </a:solidFill>
              </a:rPr>
              <a:t>weak (weighted-integral) form</a:t>
            </a:r>
            <a:endParaRPr lang="en-US" sz="1350" dirty="0"/>
          </a:p>
        </p:txBody>
      </p:sp>
      <p:sp>
        <p:nvSpPr>
          <p:cNvPr id="24" name="text-408"/>
          <p:cNvSpPr txBox="1"/>
          <p:nvPr/>
        </p:nvSpPr>
        <p:spPr>
          <a:xfrm>
            <a:off x="4562856" y="3648456"/>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KEY IDEA</a:t>
            </a:r>
            <a:endParaRPr lang="en-US" sz="1000" dirty="0"/>
          </a:p>
        </p:txBody>
      </p:sp>
      <p:sp>
        <p:nvSpPr>
          <p:cNvPr id="25" name="text-409"/>
          <p:cNvSpPr txBox="1"/>
          <p:nvPr/>
        </p:nvSpPr>
        <p:spPr>
          <a:xfrm>
            <a:off x="4562856" y="3849624"/>
            <a:ext cx="3108960" cy="347472"/>
          </a:xfrm>
          <a:prstGeom prst="rect">
            <a:avLst/>
          </a:prstGeom>
          <a:noFill/>
          <a:ln/>
        </p:spPr>
        <p:txBody>
          <a:bodyPr wrap="square" lIns="0" tIns="0" rIns="0" bIns="0" rtlCol="0" anchor="t"/>
          <a:lstStyle/>
          <a:p>
            <a:pPr indent="0" marL="0">
              <a:buNone/>
            </a:pPr>
            <a:r>
              <a:rPr lang="en-US" sz="1350" dirty="0">
                <a:solidFill>
                  <a:schemeClr val="tx2"/>
                </a:solidFill>
              </a:rPr>
              <a:t>simple functions on every element</a:t>
            </a:r>
            <a:endParaRPr lang="en-US" sz="1350" dirty="0"/>
          </a:p>
        </p:txBody>
      </p:sp>
      <p:sp>
        <p:nvSpPr>
          <p:cNvPr id="26" name="text-410"/>
          <p:cNvSpPr txBox="1"/>
          <p:nvPr/>
        </p:nvSpPr>
        <p:spPr>
          <a:xfrm>
            <a:off x="4562856" y="4215384"/>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STRENGTHS</a:t>
            </a:r>
            <a:endParaRPr lang="en-US" sz="1000" dirty="0"/>
          </a:p>
        </p:txBody>
      </p:sp>
      <p:sp>
        <p:nvSpPr>
          <p:cNvPr id="27" name="text-411"/>
          <p:cNvSpPr txBox="1"/>
          <p:nvPr/>
        </p:nvSpPr>
        <p:spPr>
          <a:xfrm>
            <a:off x="4562856" y="4416552"/>
            <a:ext cx="3108960" cy="347472"/>
          </a:xfrm>
          <a:prstGeom prst="rect">
            <a:avLst/>
          </a:prstGeom>
          <a:noFill/>
          <a:ln/>
        </p:spPr>
        <p:txBody>
          <a:bodyPr wrap="square" lIns="0" tIns="0" rIns="0" bIns="0" rtlCol="0" anchor="t"/>
          <a:lstStyle/>
          <a:p>
            <a:pPr indent="0" marL="0">
              <a:buNone/>
            </a:pPr>
            <a:r>
              <a:rPr lang="en-US" sz="1350" dirty="0">
                <a:solidFill>
                  <a:schemeClr val="tx2"/>
                </a:solidFill>
              </a:rPr>
              <a:t>complex geometries, rigorous theory</a:t>
            </a:r>
            <a:endParaRPr lang="en-US" sz="1350" dirty="0"/>
          </a:p>
        </p:txBody>
      </p:sp>
      <p:sp>
        <p:nvSpPr>
          <p:cNvPr id="28" name="text-412"/>
          <p:cNvSpPr txBox="1"/>
          <p:nvPr/>
        </p:nvSpPr>
        <p:spPr>
          <a:xfrm>
            <a:off x="4562856" y="4782312"/>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SOFTWARE</a:t>
            </a:r>
            <a:endParaRPr lang="en-US" sz="1000" dirty="0"/>
          </a:p>
        </p:txBody>
      </p:sp>
      <p:sp>
        <p:nvSpPr>
          <p:cNvPr id="29" name="text-413"/>
          <p:cNvSpPr txBox="1"/>
          <p:nvPr/>
        </p:nvSpPr>
        <p:spPr>
          <a:xfrm>
            <a:off x="4562856" y="4983480"/>
            <a:ext cx="3108960" cy="347472"/>
          </a:xfrm>
          <a:prstGeom prst="rect">
            <a:avLst/>
          </a:prstGeom>
          <a:noFill/>
          <a:ln/>
        </p:spPr>
        <p:txBody>
          <a:bodyPr wrap="square" lIns="0" tIns="0" rIns="0" bIns="0" rtlCol="0" anchor="t"/>
          <a:lstStyle/>
          <a:p>
            <a:pPr indent="0" marL="0">
              <a:buNone/>
            </a:pPr>
            <a:r>
              <a:rPr lang="en-US" sz="1350" dirty="0">
                <a:solidFill>
                  <a:schemeClr val="tx2"/>
                </a:solidFill>
              </a:rPr>
              <a:t>COMSOL, Abaqus, FEniCS</a:t>
            </a:r>
            <a:endParaRPr lang="en-US" sz="1350" dirty="0"/>
          </a:p>
        </p:txBody>
      </p:sp>
      <p:sp>
        <p:nvSpPr>
          <p:cNvPr id="30" name="card-414"/>
          <p:cNvSpPr/>
          <p:nvPr/>
        </p:nvSpPr>
        <p:spPr>
          <a:xfrm>
            <a:off x="8119872" y="1417320"/>
            <a:ext cx="3520440" cy="402336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1" name="text-415"/>
          <p:cNvSpPr txBox="1"/>
          <p:nvPr/>
        </p:nvSpPr>
        <p:spPr>
          <a:xfrm>
            <a:off x="8348472" y="1572768"/>
            <a:ext cx="3108960" cy="384048"/>
          </a:xfrm>
          <a:prstGeom prst="rect">
            <a:avLst/>
          </a:prstGeom>
          <a:noFill/>
          <a:ln/>
        </p:spPr>
        <p:txBody>
          <a:bodyPr wrap="square" lIns="0" tIns="0" rIns="0" bIns="0" rtlCol="0" anchor="t"/>
          <a:lstStyle/>
          <a:p>
            <a:pPr indent="0" marL="0">
              <a:buNone/>
            </a:pPr>
            <a:r>
              <a:rPr lang="en-US" sz="1900" b="1" dirty="0">
                <a:solidFill>
                  <a:schemeClr val="tx1"/>
                </a:solidFill>
              </a:rPr>
              <a:t>Finite Volume (FVM)</a:t>
            </a:r>
            <a:endParaRPr lang="en-US" sz="1900" dirty="0"/>
          </a:p>
        </p:txBody>
      </p:sp>
      <p:sp>
        <p:nvSpPr>
          <p:cNvPr id="32" name="pill-416"/>
          <p:cNvSpPr/>
          <p:nvPr/>
        </p:nvSpPr>
        <p:spPr>
          <a:xfrm>
            <a:off x="8348472" y="2011680"/>
            <a:ext cx="18745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050" b="1" dirty="0">
                <a:solidFill>
                  <a:schemeClr val="bg1"/>
                </a:solidFill>
              </a:rPr>
              <a:t>FLUENT · OPENFOAM</a:t>
            </a:r>
            <a:endParaRPr lang="en-US" sz="1050" dirty="0"/>
          </a:p>
        </p:txBody>
      </p:sp>
      <p:sp>
        <p:nvSpPr>
          <p:cNvPr id="33" name="text-417"/>
          <p:cNvSpPr txBox="1"/>
          <p:nvPr/>
        </p:nvSpPr>
        <p:spPr>
          <a:xfrm>
            <a:off x="8348472" y="2514600"/>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UNKNOWNS AT</a:t>
            </a:r>
            <a:endParaRPr lang="en-US" sz="1000" dirty="0"/>
          </a:p>
        </p:txBody>
      </p:sp>
      <p:sp>
        <p:nvSpPr>
          <p:cNvPr id="34" name="text-418"/>
          <p:cNvSpPr txBox="1"/>
          <p:nvPr/>
        </p:nvSpPr>
        <p:spPr>
          <a:xfrm>
            <a:off x="8348472" y="2715768"/>
            <a:ext cx="3108960" cy="347472"/>
          </a:xfrm>
          <a:prstGeom prst="rect">
            <a:avLst/>
          </a:prstGeom>
          <a:noFill/>
          <a:ln/>
        </p:spPr>
        <p:txBody>
          <a:bodyPr wrap="square" lIns="0" tIns="0" rIns="0" bIns="0" rtlCol="0" anchor="t"/>
          <a:lstStyle/>
          <a:p>
            <a:pPr indent="0" marL="0">
              <a:buNone/>
            </a:pPr>
            <a:r>
              <a:rPr lang="en-US" sz="1350" dirty="0">
                <a:solidFill>
                  <a:schemeClr val="tx2"/>
                </a:solidFill>
              </a:rPr>
              <a:t>cell centres (cell averages)</a:t>
            </a:r>
            <a:endParaRPr lang="en-US" sz="1350" dirty="0"/>
          </a:p>
        </p:txBody>
      </p:sp>
      <p:sp>
        <p:nvSpPr>
          <p:cNvPr id="35" name="text-419"/>
          <p:cNvSpPr txBox="1"/>
          <p:nvPr/>
        </p:nvSpPr>
        <p:spPr>
          <a:xfrm>
            <a:off x="8348472" y="3081528"/>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EQUATIONS IN</a:t>
            </a:r>
            <a:endParaRPr lang="en-US" sz="1000" dirty="0"/>
          </a:p>
        </p:txBody>
      </p:sp>
      <p:sp>
        <p:nvSpPr>
          <p:cNvPr id="36" name="text-420"/>
          <p:cNvSpPr txBox="1"/>
          <p:nvPr/>
        </p:nvSpPr>
        <p:spPr>
          <a:xfrm>
            <a:off x="8348472" y="3282696"/>
            <a:ext cx="3108960" cy="347472"/>
          </a:xfrm>
          <a:prstGeom prst="rect">
            <a:avLst/>
          </a:prstGeom>
          <a:noFill/>
          <a:ln/>
        </p:spPr>
        <p:txBody>
          <a:bodyPr wrap="square" lIns="0" tIns="0" rIns="0" bIns="0" rtlCol="0" anchor="t"/>
          <a:lstStyle/>
          <a:p>
            <a:pPr indent="0" marL="0">
              <a:buNone/>
            </a:pPr>
            <a:r>
              <a:rPr lang="en-US" sz="1350" dirty="0">
                <a:solidFill>
                  <a:schemeClr val="tx2"/>
                </a:solidFill>
              </a:rPr>
              <a:t>integral (conservation) form</a:t>
            </a:r>
            <a:endParaRPr lang="en-US" sz="1350" dirty="0"/>
          </a:p>
        </p:txBody>
      </p:sp>
      <p:sp>
        <p:nvSpPr>
          <p:cNvPr id="37" name="text-421"/>
          <p:cNvSpPr txBox="1"/>
          <p:nvPr/>
        </p:nvSpPr>
        <p:spPr>
          <a:xfrm>
            <a:off x="8348472" y="3648456"/>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KEY IDEA</a:t>
            </a:r>
            <a:endParaRPr lang="en-US" sz="1000" dirty="0"/>
          </a:p>
        </p:txBody>
      </p:sp>
      <p:sp>
        <p:nvSpPr>
          <p:cNvPr id="38" name="text-422"/>
          <p:cNvSpPr txBox="1"/>
          <p:nvPr/>
        </p:nvSpPr>
        <p:spPr>
          <a:xfrm>
            <a:off x="8348472" y="3849624"/>
            <a:ext cx="3108960" cy="347472"/>
          </a:xfrm>
          <a:prstGeom prst="rect">
            <a:avLst/>
          </a:prstGeom>
          <a:noFill/>
          <a:ln/>
        </p:spPr>
        <p:txBody>
          <a:bodyPr wrap="square" lIns="0" tIns="0" rIns="0" bIns="0" rtlCol="0" anchor="t"/>
          <a:lstStyle/>
          <a:p>
            <a:pPr indent="0" marL="0">
              <a:buNone/>
            </a:pPr>
            <a:r>
              <a:rPr lang="en-US" sz="1350" dirty="0">
                <a:solidFill>
                  <a:schemeClr val="tx2"/>
                </a:solidFill>
              </a:rPr>
              <a:t>balance fluxes through cell faces</a:t>
            </a:r>
            <a:endParaRPr lang="en-US" sz="1350" dirty="0"/>
          </a:p>
        </p:txBody>
      </p:sp>
      <p:sp>
        <p:nvSpPr>
          <p:cNvPr id="39" name="text-423"/>
          <p:cNvSpPr txBox="1"/>
          <p:nvPr/>
        </p:nvSpPr>
        <p:spPr>
          <a:xfrm>
            <a:off x="8348472" y="4215384"/>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STRENGTHS</a:t>
            </a:r>
            <a:endParaRPr lang="en-US" sz="1000" dirty="0"/>
          </a:p>
        </p:txBody>
      </p:sp>
      <p:sp>
        <p:nvSpPr>
          <p:cNvPr id="40" name="text-424"/>
          <p:cNvSpPr txBox="1"/>
          <p:nvPr/>
        </p:nvSpPr>
        <p:spPr>
          <a:xfrm>
            <a:off x="8348472" y="4416552"/>
            <a:ext cx="3108960" cy="347472"/>
          </a:xfrm>
          <a:prstGeom prst="rect">
            <a:avLst/>
          </a:prstGeom>
          <a:noFill/>
          <a:ln/>
        </p:spPr>
        <p:txBody>
          <a:bodyPr wrap="square" lIns="0" tIns="0" rIns="0" bIns="0" rtlCol="0" anchor="t"/>
          <a:lstStyle/>
          <a:p>
            <a:pPr indent="0" marL="0">
              <a:buNone/>
            </a:pPr>
            <a:r>
              <a:rPr lang="en-US" sz="1350" dirty="0">
                <a:solidFill>
                  <a:schemeClr val="tx2"/>
                </a:solidFill>
              </a:rPr>
              <a:t>conserves mass, momentum, energy</a:t>
            </a:r>
            <a:endParaRPr lang="en-US" sz="1350" dirty="0"/>
          </a:p>
        </p:txBody>
      </p:sp>
      <p:sp>
        <p:nvSpPr>
          <p:cNvPr id="41" name="text-425"/>
          <p:cNvSpPr txBox="1"/>
          <p:nvPr/>
        </p:nvSpPr>
        <p:spPr>
          <a:xfrm>
            <a:off x="8348472" y="4782312"/>
            <a:ext cx="310896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SOFTWARE</a:t>
            </a:r>
            <a:endParaRPr lang="en-US" sz="1000" dirty="0"/>
          </a:p>
        </p:txBody>
      </p:sp>
      <p:sp>
        <p:nvSpPr>
          <p:cNvPr id="42" name="text-426"/>
          <p:cNvSpPr txBox="1"/>
          <p:nvPr/>
        </p:nvSpPr>
        <p:spPr>
          <a:xfrm>
            <a:off x="8348472" y="4983480"/>
            <a:ext cx="3108960" cy="347472"/>
          </a:xfrm>
          <a:prstGeom prst="rect">
            <a:avLst/>
          </a:prstGeom>
          <a:noFill/>
          <a:ln/>
        </p:spPr>
        <p:txBody>
          <a:bodyPr wrap="square" lIns="0" tIns="0" rIns="0" bIns="0" rtlCol="0" anchor="t"/>
          <a:lstStyle/>
          <a:p>
            <a:pPr indent="0" marL="0">
              <a:buNone/>
            </a:pPr>
            <a:r>
              <a:rPr lang="en-US" sz="1350" dirty="0">
                <a:solidFill>
                  <a:schemeClr val="tx2"/>
                </a:solidFill>
              </a:rPr>
              <a:t>Fluent, OpenFOAM, STAR-CCM+</a:t>
            </a:r>
            <a:endParaRPr lang="en-US" sz="1350" dirty="0"/>
          </a:p>
        </p:txBody>
      </p:sp>
      <p:sp>
        <p:nvSpPr>
          <p:cNvPr id="43" name="note-strip-427"/>
          <p:cNvSpPr/>
          <p:nvPr/>
        </p:nvSpPr>
        <p:spPr>
          <a:xfrm>
            <a:off x="548640" y="5596128"/>
            <a:ext cx="11094415" cy="621792"/>
          </a:xfrm>
          <a:prstGeom prst="roundRect">
            <a:avLst>
              <a:gd name="adj" fmla="val 14706"/>
            </a:avLst>
          </a:prstGeom>
          <a:solidFill>
            <a:schemeClr val="accent6">
              <a:alpha val="12000"/>
            </a:schemeClr>
          </a:solidFill>
          <a:ln/>
        </p:spPr>
      </p:sp>
      <p:sp>
        <p:nvSpPr>
          <p:cNvPr id="44" name="icon-bg-428"/>
          <p:cNvSpPr/>
          <p:nvPr/>
        </p:nvSpPr>
        <p:spPr>
          <a:xfrm>
            <a:off x="685800" y="5715000"/>
            <a:ext cx="384048" cy="384048"/>
          </a:xfrm>
          <a:prstGeom prst="ellipse">
            <a:avLst/>
          </a:prstGeom>
          <a:solidFill>
            <a:schemeClr val="accent6"/>
          </a:solidFill>
          <a:ln/>
        </p:spPr>
      </p:sp>
      <p:pic>
        <p:nvPicPr>
          <p:cNvPr id="45" name="icon-429" descr="preencoded.png">    </p:cNvPr>
          <p:cNvPicPr>
            <a:picLocks noChangeAspect="1"/>
          </p:cNvPicPr>
          <p:nvPr/>
        </p:nvPicPr>
        <p:blipFill>
          <a:blip r:embed="rId1"/>
          <a:stretch>
            <a:fillRect/>
          </a:stretch>
        </p:blipFill>
        <p:spPr>
          <a:xfrm>
            <a:off x="774131" y="5803331"/>
            <a:ext cx="207386" cy="207386"/>
          </a:xfrm>
          <a:prstGeom prst="rect">
            <a:avLst/>
          </a:prstGeom>
        </p:spPr>
      </p:pic>
      <p:sp>
        <p:nvSpPr>
          <p:cNvPr id="46" name="text-430"/>
          <p:cNvSpPr txBox="1"/>
          <p:nvPr/>
        </p:nvSpPr>
        <p:spPr>
          <a:xfrm>
            <a:off x="1234440" y="5596128"/>
            <a:ext cx="10225735" cy="621792"/>
          </a:xfrm>
          <a:prstGeom prst="rect">
            <a:avLst/>
          </a:prstGeom>
          <a:noFill/>
          <a:ln/>
        </p:spPr>
        <p:txBody>
          <a:bodyPr wrap="square" lIns="0" tIns="0" rIns="0" bIns="0" rtlCol="0" anchor="ctr"/>
          <a:lstStyle/>
          <a:p>
            <a:pPr indent="0" marL="0">
              <a:buNone/>
            </a:pPr>
            <a:r>
              <a:rPr lang="en-US" sz="1450" dirty="0">
                <a:solidFill>
                  <a:schemeClr val="tx1"/>
                </a:solidFill>
              </a:rPr>
              <a:t>We </a:t>
            </a:r>
            <a:pPr indent="0" marL="0">
              <a:buNone/>
            </a:pPr>
            <a:r>
              <a:rPr lang="en-US" sz="1450" b="1" dirty="0">
                <a:solidFill>
                  <a:schemeClr val="tx1"/>
                </a:solidFill>
              </a:rPr>
              <a:t>learn</a:t>
            </a:r>
            <a:pPr indent="0" marL="0">
              <a:buNone/>
            </a:pPr>
            <a:r>
              <a:rPr lang="en-US" sz="1450" dirty="0">
                <a:solidFill>
                  <a:schemeClr val="tx1"/>
                </a:solidFill>
              </a:rPr>
              <a:t> with FDM: the most direct translation of calculus into code. Grids, discretization, stability and convergence carry straight over to FEM and FVM.</a:t>
            </a:r>
            <a:endParaRPr lang="en-US" sz="14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43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PILLAR 3 · PRE-PROCESSING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Physics: choose the governing equations</a:t>
            </a:r>
            <a:endParaRPr lang="en-US" sz="3200" dirty="0"/>
          </a:p>
        </p:txBody>
      </p:sp>
      <p:sp>
        <p:nvSpPr>
          <p:cNvPr id="4" name="text-432"/>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700" b="1" dirty="0">
                <a:solidFill>
                  <a:schemeClr val="tx1"/>
                </a:solidFill>
              </a:rPr>
              <a:t>Ask yourself</a:t>
            </a:r>
            <a:endParaRPr lang="en-US" sz="1700" dirty="0"/>
          </a:p>
        </p:txBody>
      </p:sp>
      <p:sp>
        <p:nvSpPr>
          <p:cNvPr id="5" name="card-433"/>
          <p:cNvSpPr/>
          <p:nvPr/>
        </p:nvSpPr>
        <p:spPr>
          <a:xfrm>
            <a:off x="548640" y="1828800"/>
            <a:ext cx="3977640" cy="548640"/>
          </a:xfrm>
          <a:prstGeom prst="roundRect">
            <a:avLst>
              <a:gd name="adj" fmla="val 16667"/>
            </a:avLst>
          </a:prstGeom>
          <a:solidFill>
            <a:schemeClr val="bg2"/>
          </a:solidFill>
          <a:ln/>
        </p:spPr>
      </p:sp>
      <p:sp>
        <p:nvSpPr>
          <p:cNvPr id="6" name="icon-bg-434"/>
          <p:cNvSpPr/>
          <p:nvPr/>
        </p:nvSpPr>
        <p:spPr>
          <a:xfrm>
            <a:off x="640080" y="1911096"/>
            <a:ext cx="384048" cy="384048"/>
          </a:xfrm>
          <a:prstGeom prst="ellipse">
            <a:avLst/>
          </a:prstGeom>
          <a:solidFill>
            <a:schemeClr val="accent1"/>
          </a:solidFill>
          <a:ln/>
        </p:spPr>
      </p:sp>
      <p:pic>
        <p:nvPicPr>
          <p:cNvPr id="7" name="icon-435" descr="preencoded.png">    </p:cNvPr>
          <p:cNvPicPr>
            <a:picLocks noChangeAspect="1"/>
          </p:cNvPicPr>
          <p:nvPr/>
        </p:nvPicPr>
        <p:blipFill>
          <a:blip r:embed="rId1"/>
          <a:stretch>
            <a:fillRect/>
          </a:stretch>
        </p:blipFill>
        <p:spPr>
          <a:xfrm>
            <a:off x="728411" y="1999427"/>
            <a:ext cx="207386" cy="207386"/>
          </a:xfrm>
          <a:prstGeom prst="rect">
            <a:avLst/>
          </a:prstGeom>
        </p:spPr>
      </p:pic>
      <p:sp>
        <p:nvSpPr>
          <p:cNvPr id="8" name="text-436"/>
          <p:cNvSpPr txBox="1"/>
          <p:nvPr/>
        </p:nvSpPr>
        <p:spPr>
          <a:xfrm>
            <a:off x="1143000" y="1828800"/>
            <a:ext cx="3291840" cy="548640"/>
          </a:xfrm>
          <a:prstGeom prst="rect">
            <a:avLst/>
          </a:prstGeom>
          <a:noFill/>
          <a:ln/>
        </p:spPr>
        <p:txBody>
          <a:bodyPr wrap="square" lIns="0" tIns="0" rIns="0" bIns="0" rtlCol="0" anchor="ctr"/>
          <a:lstStyle/>
          <a:p>
            <a:pPr indent="0" marL="0">
              <a:buNone/>
            </a:pPr>
            <a:r>
              <a:rPr lang="en-US" sz="1500" dirty="0">
                <a:solidFill>
                  <a:schemeClr val="tx1"/>
                </a:solidFill>
              </a:rPr>
              <a:t>Steady or unsteady?</a:t>
            </a:r>
            <a:endParaRPr lang="en-US" sz="1500" dirty="0"/>
          </a:p>
        </p:txBody>
      </p:sp>
      <p:sp>
        <p:nvSpPr>
          <p:cNvPr id="9" name="card-437"/>
          <p:cNvSpPr/>
          <p:nvPr/>
        </p:nvSpPr>
        <p:spPr>
          <a:xfrm>
            <a:off x="548640" y="2487168"/>
            <a:ext cx="3977640" cy="548640"/>
          </a:xfrm>
          <a:prstGeom prst="roundRect">
            <a:avLst>
              <a:gd name="adj" fmla="val 16667"/>
            </a:avLst>
          </a:prstGeom>
          <a:solidFill>
            <a:schemeClr val="bg2"/>
          </a:solidFill>
          <a:ln/>
        </p:spPr>
      </p:sp>
      <p:sp>
        <p:nvSpPr>
          <p:cNvPr id="10" name="icon-bg-438"/>
          <p:cNvSpPr/>
          <p:nvPr/>
        </p:nvSpPr>
        <p:spPr>
          <a:xfrm>
            <a:off x="640080" y="2569464"/>
            <a:ext cx="384048" cy="384048"/>
          </a:xfrm>
          <a:prstGeom prst="ellipse">
            <a:avLst/>
          </a:prstGeom>
          <a:solidFill>
            <a:schemeClr val="accent1"/>
          </a:solidFill>
          <a:ln/>
        </p:spPr>
      </p:sp>
      <p:pic>
        <p:nvPicPr>
          <p:cNvPr id="11" name="icon-439" descr="preencoded.png">    </p:cNvPr>
          <p:cNvPicPr>
            <a:picLocks noChangeAspect="1"/>
          </p:cNvPicPr>
          <p:nvPr/>
        </p:nvPicPr>
        <p:blipFill>
          <a:blip r:embed="rId2"/>
          <a:stretch>
            <a:fillRect/>
          </a:stretch>
        </p:blipFill>
        <p:spPr>
          <a:xfrm>
            <a:off x="728411" y="2657795"/>
            <a:ext cx="207386" cy="207386"/>
          </a:xfrm>
          <a:prstGeom prst="rect">
            <a:avLst/>
          </a:prstGeom>
        </p:spPr>
      </p:pic>
      <p:sp>
        <p:nvSpPr>
          <p:cNvPr id="12" name="text-440"/>
          <p:cNvSpPr txBox="1"/>
          <p:nvPr/>
        </p:nvSpPr>
        <p:spPr>
          <a:xfrm>
            <a:off x="1143000" y="2487168"/>
            <a:ext cx="3291840" cy="548640"/>
          </a:xfrm>
          <a:prstGeom prst="rect">
            <a:avLst/>
          </a:prstGeom>
          <a:noFill/>
          <a:ln/>
        </p:spPr>
        <p:txBody>
          <a:bodyPr wrap="square" lIns="0" tIns="0" rIns="0" bIns="0" rtlCol="0" anchor="ctr"/>
          <a:lstStyle/>
          <a:p>
            <a:pPr indent="0" marL="0">
              <a:buNone/>
            </a:pPr>
            <a:r>
              <a:rPr lang="en-US" sz="1500" dirty="0">
                <a:solidFill>
                  <a:schemeClr val="tx1"/>
                </a:solidFill>
              </a:rPr>
              <a:t>Compressible or incompressible?</a:t>
            </a:r>
            <a:endParaRPr lang="en-US" sz="1500" dirty="0"/>
          </a:p>
        </p:txBody>
      </p:sp>
      <p:sp>
        <p:nvSpPr>
          <p:cNvPr id="13" name="card-441"/>
          <p:cNvSpPr/>
          <p:nvPr/>
        </p:nvSpPr>
        <p:spPr>
          <a:xfrm>
            <a:off x="548640" y="3145536"/>
            <a:ext cx="3977640" cy="548640"/>
          </a:xfrm>
          <a:prstGeom prst="roundRect">
            <a:avLst>
              <a:gd name="adj" fmla="val 16667"/>
            </a:avLst>
          </a:prstGeom>
          <a:solidFill>
            <a:schemeClr val="bg2"/>
          </a:solidFill>
          <a:ln/>
        </p:spPr>
      </p:sp>
      <p:sp>
        <p:nvSpPr>
          <p:cNvPr id="14" name="icon-bg-442"/>
          <p:cNvSpPr/>
          <p:nvPr/>
        </p:nvSpPr>
        <p:spPr>
          <a:xfrm>
            <a:off x="640080" y="3227832"/>
            <a:ext cx="384048" cy="384048"/>
          </a:xfrm>
          <a:prstGeom prst="ellipse">
            <a:avLst/>
          </a:prstGeom>
          <a:solidFill>
            <a:schemeClr val="accent1"/>
          </a:solidFill>
          <a:ln/>
        </p:spPr>
      </p:sp>
      <p:pic>
        <p:nvPicPr>
          <p:cNvPr id="15" name="icon-443" descr="preencoded.png">    </p:cNvPr>
          <p:cNvPicPr>
            <a:picLocks noChangeAspect="1"/>
          </p:cNvPicPr>
          <p:nvPr/>
        </p:nvPicPr>
        <p:blipFill>
          <a:blip r:embed="rId3"/>
          <a:stretch>
            <a:fillRect/>
          </a:stretch>
        </p:blipFill>
        <p:spPr>
          <a:xfrm>
            <a:off x="728411" y="3316163"/>
            <a:ext cx="207386" cy="207386"/>
          </a:xfrm>
          <a:prstGeom prst="rect">
            <a:avLst/>
          </a:prstGeom>
        </p:spPr>
      </p:pic>
      <p:sp>
        <p:nvSpPr>
          <p:cNvPr id="16" name="text-444"/>
          <p:cNvSpPr txBox="1"/>
          <p:nvPr/>
        </p:nvSpPr>
        <p:spPr>
          <a:xfrm>
            <a:off x="1143000" y="3145536"/>
            <a:ext cx="3291840" cy="548640"/>
          </a:xfrm>
          <a:prstGeom prst="rect">
            <a:avLst/>
          </a:prstGeom>
          <a:noFill/>
          <a:ln/>
        </p:spPr>
        <p:txBody>
          <a:bodyPr wrap="square" lIns="0" tIns="0" rIns="0" bIns="0" rtlCol="0" anchor="ctr"/>
          <a:lstStyle/>
          <a:p>
            <a:pPr indent="0" marL="0">
              <a:buNone/>
            </a:pPr>
            <a:r>
              <a:rPr lang="en-US" sz="1500" dirty="0">
                <a:solidFill>
                  <a:schemeClr val="tx1"/>
                </a:solidFill>
              </a:rPr>
              <a:t>Viscous? Laminar or turbulent?</a:t>
            </a:r>
            <a:endParaRPr lang="en-US" sz="1500" dirty="0"/>
          </a:p>
        </p:txBody>
      </p:sp>
      <p:sp>
        <p:nvSpPr>
          <p:cNvPr id="17" name="card-445"/>
          <p:cNvSpPr/>
          <p:nvPr/>
        </p:nvSpPr>
        <p:spPr>
          <a:xfrm>
            <a:off x="548640" y="3803904"/>
            <a:ext cx="3977640" cy="548640"/>
          </a:xfrm>
          <a:prstGeom prst="roundRect">
            <a:avLst>
              <a:gd name="adj" fmla="val 16667"/>
            </a:avLst>
          </a:prstGeom>
          <a:solidFill>
            <a:schemeClr val="bg2"/>
          </a:solidFill>
          <a:ln/>
        </p:spPr>
      </p:sp>
      <p:sp>
        <p:nvSpPr>
          <p:cNvPr id="18" name="icon-bg-446"/>
          <p:cNvSpPr/>
          <p:nvPr/>
        </p:nvSpPr>
        <p:spPr>
          <a:xfrm>
            <a:off x="640080" y="3886200"/>
            <a:ext cx="384048" cy="384048"/>
          </a:xfrm>
          <a:prstGeom prst="ellipse">
            <a:avLst/>
          </a:prstGeom>
          <a:solidFill>
            <a:schemeClr val="accent1"/>
          </a:solidFill>
          <a:ln/>
        </p:spPr>
      </p:sp>
      <p:pic>
        <p:nvPicPr>
          <p:cNvPr id="19" name="icon-447" descr="preencoded.png">    </p:cNvPr>
          <p:cNvPicPr>
            <a:picLocks noChangeAspect="1"/>
          </p:cNvPicPr>
          <p:nvPr/>
        </p:nvPicPr>
        <p:blipFill>
          <a:blip r:embed="rId4"/>
          <a:stretch>
            <a:fillRect/>
          </a:stretch>
        </p:blipFill>
        <p:spPr>
          <a:xfrm>
            <a:off x="728411" y="3974531"/>
            <a:ext cx="207386" cy="207386"/>
          </a:xfrm>
          <a:prstGeom prst="rect">
            <a:avLst/>
          </a:prstGeom>
        </p:spPr>
      </p:pic>
      <p:sp>
        <p:nvSpPr>
          <p:cNvPr id="20" name="text-448"/>
          <p:cNvSpPr txBox="1"/>
          <p:nvPr/>
        </p:nvSpPr>
        <p:spPr>
          <a:xfrm>
            <a:off x="1143000" y="3803904"/>
            <a:ext cx="3291840" cy="548640"/>
          </a:xfrm>
          <a:prstGeom prst="rect">
            <a:avLst/>
          </a:prstGeom>
          <a:noFill/>
          <a:ln/>
        </p:spPr>
        <p:txBody>
          <a:bodyPr wrap="square" lIns="0" tIns="0" rIns="0" bIns="0" rtlCol="0" anchor="ctr"/>
          <a:lstStyle/>
          <a:p>
            <a:pPr indent="0" marL="0">
              <a:buNone/>
            </a:pPr>
            <a:r>
              <a:rPr lang="en-US" sz="1500" dirty="0">
                <a:solidFill>
                  <a:schemeClr val="tx1"/>
                </a:solidFill>
              </a:rPr>
              <a:t>Does heat transfer matter?</a:t>
            </a:r>
            <a:endParaRPr lang="en-US" sz="1500" dirty="0"/>
          </a:p>
        </p:txBody>
      </p:sp>
      <p:sp>
        <p:nvSpPr>
          <p:cNvPr id="21" name="card-449"/>
          <p:cNvSpPr/>
          <p:nvPr/>
        </p:nvSpPr>
        <p:spPr>
          <a:xfrm>
            <a:off x="548640" y="4462272"/>
            <a:ext cx="3977640" cy="548640"/>
          </a:xfrm>
          <a:prstGeom prst="roundRect">
            <a:avLst>
              <a:gd name="adj" fmla="val 16667"/>
            </a:avLst>
          </a:prstGeom>
          <a:solidFill>
            <a:schemeClr val="bg2"/>
          </a:solidFill>
          <a:ln/>
        </p:spPr>
      </p:sp>
      <p:sp>
        <p:nvSpPr>
          <p:cNvPr id="22" name="icon-bg-450"/>
          <p:cNvSpPr/>
          <p:nvPr/>
        </p:nvSpPr>
        <p:spPr>
          <a:xfrm>
            <a:off x="640080" y="4544568"/>
            <a:ext cx="384048" cy="384048"/>
          </a:xfrm>
          <a:prstGeom prst="ellipse">
            <a:avLst/>
          </a:prstGeom>
          <a:solidFill>
            <a:schemeClr val="accent1"/>
          </a:solidFill>
          <a:ln/>
        </p:spPr>
      </p:sp>
      <p:pic>
        <p:nvPicPr>
          <p:cNvPr id="23" name="icon-451" descr="preencoded.png">    </p:cNvPr>
          <p:cNvPicPr>
            <a:picLocks noChangeAspect="1"/>
          </p:cNvPicPr>
          <p:nvPr/>
        </p:nvPicPr>
        <p:blipFill>
          <a:blip r:embed="rId5"/>
          <a:stretch>
            <a:fillRect/>
          </a:stretch>
        </p:blipFill>
        <p:spPr>
          <a:xfrm>
            <a:off x="728411" y="4632899"/>
            <a:ext cx="207386" cy="207386"/>
          </a:xfrm>
          <a:prstGeom prst="rect">
            <a:avLst/>
          </a:prstGeom>
        </p:spPr>
      </p:pic>
      <p:sp>
        <p:nvSpPr>
          <p:cNvPr id="24" name="text-452"/>
          <p:cNvSpPr txBox="1"/>
          <p:nvPr/>
        </p:nvSpPr>
        <p:spPr>
          <a:xfrm>
            <a:off x="1143000" y="4462272"/>
            <a:ext cx="3291840" cy="548640"/>
          </a:xfrm>
          <a:prstGeom prst="rect">
            <a:avLst/>
          </a:prstGeom>
          <a:noFill/>
          <a:ln/>
        </p:spPr>
        <p:txBody>
          <a:bodyPr wrap="square" lIns="0" tIns="0" rIns="0" bIns="0" rtlCol="0" anchor="ctr"/>
          <a:lstStyle/>
          <a:p>
            <a:pPr indent="0" marL="0">
              <a:buNone/>
            </a:pPr>
            <a:r>
              <a:rPr lang="en-US" sz="1500" dirty="0">
                <a:solidFill>
                  <a:schemeClr val="tx1"/>
                </a:solidFill>
              </a:rPr>
              <a:t>Buoyancy, reactions, phases?</a:t>
            </a:r>
            <a:endParaRPr lang="en-US" sz="1500" dirty="0"/>
          </a:p>
        </p:txBody>
      </p:sp>
      <p:sp>
        <p:nvSpPr>
          <p:cNvPr id="25" name="text-453"/>
          <p:cNvSpPr txBox="1"/>
          <p:nvPr/>
        </p:nvSpPr>
        <p:spPr>
          <a:xfrm>
            <a:off x="548640" y="5193792"/>
            <a:ext cx="3977640" cy="640080"/>
          </a:xfrm>
          <a:prstGeom prst="rect">
            <a:avLst/>
          </a:prstGeom>
          <a:noFill/>
          <a:ln/>
        </p:spPr>
        <p:txBody>
          <a:bodyPr wrap="square" lIns="0" tIns="0" rIns="0" bIns="0" rtlCol="0" anchor="t"/>
          <a:lstStyle/>
          <a:p>
            <a:pPr indent="0" marL="0">
              <a:buNone/>
            </a:pPr>
            <a:r>
              <a:rPr lang="en-US" sz="1400" i="1" dirty="0">
                <a:solidFill>
                  <a:schemeClr val="tx2"/>
                </a:solidFill>
              </a:rPr>
              <a:t>Every “yes” adds terms or equations; every justified “no” makes the problem simpler.</a:t>
            </a:r>
            <a:endParaRPr lang="en-US" sz="1400" dirty="0"/>
          </a:p>
        </p:txBody>
      </p:sp>
      <p:sp>
        <p:nvSpPr>
          <p:cNvPr id="26" name="text-454"/>
          <p:cNvSpPr txBox="1"/>
          <p:nvPr/>
        </p:nvSpPr>
        <p:spPr>
          <a:xfrm>
            <a:off x="4983480" y="1417320"/>
            <a:ext cx="2286000" cy="274320"/>
          </a:xfrm>
          <a:prstGeom prst="rect">
            <a:avLst/>
          </a:prstGeom>
          <a:noFill/>
          <a:ln/>
        </p:spPr>
        <p:txBody>
          <a:bodyPr wrap="square" lIns="0" tIns="0" rIns="0" bIns="0" rtlCol="0" anchor="t"/>
          <a:lstStyle/>
          <a:p>
            <a:pPr indent="0" marL="0">
              <a:buNone/>
            </a:pPr>
            <a:r>
              <a:rPr lang="en-US" sz="1050" b="1" spc="100" kern="0" dirty="0">
                <a:solidFill>
                  <a:schemeClr val="accent4"/>
                </a:solidFill>
              </a:rPr>
              <a:t>MODEL EQUATION</a:t>
            </a:r>
            <a:endParaRPr lang="en-US" sz="1050" dirty="0"/>
          </a:p>
        </p:txBody>
      </p:sp>
      <p:sp>
        <p:nvSpPr>
          <p:cNvPr id="27" name="text-455"/>
          <p:cNvSpPr txBox="1"/>
          <p:nvPr/>
        </p:nvSpPr>
        <p:spPr>
          <a:xfrm>
            <a:off x="7406640" y="1417320"/>
            <a:ext cx="1828800" cy="274320"/>
          </a:xfrm>
          <a:prstGeom prst="rect">
            <a:avLst/>
          </a:prstGeom>
          <a:noFill/>
          <a:ln/>
        </p:spPr>
        <p:txBody>
          <a:bodyPr wrap="square" lIns="0" tIns="0" rIns="0" bIns="0" rtlCol="0" anchor="t"/>
          <a:lstStyle/>
          <a:p>
            <a:pPr indent="0" marL="0">
              <a:buNone/>
            </a:pPr>
            <a:r>
              <a:rPr lang="en-US" sz="1050" b="1" spc="100" kern="0" dirty="0">
                <a:solidFill>
                  <a:schemeClr val="accent4"/>
                </a:solidFill>
              </a:rPr>
              <a:t>FORM</a:t>
            </a:r>
            <a:endParaRPr lang="en-US" sz="1050" dirty="0"/>
          </a:p>
        </p:txBody>
      </p:sp>
      <p:sp>
        <p:nvSpPr>
          <p:cNvPr id="28" name="text-456"/>
          <p:cNvSpPr txBox="1"/>
          <p:nvPr/>
        </p:nvSpPr>
        <p:spPr>
          <a:xfrm>
            <a:off x="10424160" y="1417320"/>
            <a:ext cx="1188720" cy="274320"/>
          </a:xfrm>
          <a:prstGeom prst="rect">
            <a:avLst/>
          </a:prstGeom>
          <a:noFill/>
          <a:ln/>
        </p:spPr>
        <p:txBody>
          <a:bodyPr wrap="square" lIns="0" tIns="0" rIns="0" bIns="0" rtlCol="0" anchor="t"/>
          <a:lstStyle/>
          <a:p>
            <a:pPr algn="ctr" indent="0" marL="0">
              <a:buNone/>
            </a:pPr>
            <a:r>
              <a:rPr lang="en-US" sz="1050" b="1" spc="100" kern="0" dirty="0">
                <a:solidFill>
                  <a:schemeClr val="accent4"/>
                </a:solidFill>
              </a:rPr>
              <a:t>TYPE</a:t>
            </a:r>
            <a:endParaRPr lang="en-US" sz="1050" dirty="0"/>
          </a:p>
        </p:txBody>
      </p:sp>
      <p:sp>
        <p:nvSpPr>
          <p:cNvPr id="29" name="card-457"/>
          <p:cNvSpPr/>
          <p:nvPr/>
        </p:nvSpPr>
        <p:spPr>
          <a:xfrm>
            <a:off x="4892040" y="1755648"/>
            <a:ext cx="6748272" cy="585216"/>
          </a:xfrm>
          <a:prstGeom prst="roundRect">
            <a:avLst>
              <a:gd name="adj" fmla="val 9375"/>
            </a:avLst>
          </a:prstGeom>
          <a:solidFill>
            <a:schemeClr val="bg2"/>
          </a:solidFill>
          <a:ln/>
        </p:spPr>
      </p:sp>
      <p:sp>
        <p:nvSpPr>
          <p:cNvPr id="30" name="text-458"/>
          <p:cNvSpPr txBox="1"/>
          <p:nvPr/>
        </p:nvSpPr>
        <p:spPr>
          <a:xfrm>
            <a:off x="4983480" y="1801368"/>
            <a:ext cx="2377440" cy="274320"/>
          </a:xfrm>
          <a:prstGeom prst="rect">
            <a:avLst/>
          </a:prstGeom>
          <a:noFill/>
          <a:ln/>
        </p:spPr>
        <p:txBody>
          <a:bodyPr wrap="square" lIns="0" tIns="0" rIns="0" bIns="0" rtlCol="0" anchor="t"/>
          <a:lstStyle/>
          <a:p>
            <a:pPr indent="0" marL="0">
              <a:buNone/>
            </a:pPr>
            <a:r>
              <a:rPr lang="en-US" sz="1500" b="1" dirty="0">
                <a:solidFill>
                  <a:schemeClr val="tx1"/>
                </a:solidFill>
              </a:rPr>
              <a:t>Laplace</a:t>
            </a:r>
            <a:endParaRPr lang="en-US" sz="1500" dirty="0"/>
          </a:p>
        </p:txBody>
      </p:sp>
      <p:sp>
        <p:nvSpPr>
          <p:cNvPr id="31" name="text-459"/>
          <p:cNvSpPr txBox="1"/>
          <p:nvPr/>
        </p:nvSpPr>
        <p:spPr>
          <a:xfrm>
            <a:off x="4983480" y="2075688"/>
            <a:ext cx="2377440" cy="237744"/>
          </a:xfrm>
          <a:prstGeom prst="rect">
            <a:avLst/>
          </a:prstGeom>
          <a:noFill/>
          <a:ln/>
        </p:spPr>
        <p:txBody>
          <a:bodyPr wrap="square" lIns="0" tIns="0" rIns="0" bIns="0" rtlCol="0" anchor="t"/>
          <a:lstStyle/>
          <a:p>
            <a:pPr indent="0" marL="0">
              <a:buNone/>
            </a:pPr>
            <a:r>
              <a:rPr lang="en-US" sz="1100" dirty="0">
                <a:solidFill>
                  <a:schemeClr val="tx2"/>
                </a:solidFill>
              </a:rPr>
              <a:t>steady conduction, ideal flow</a:t>
            </a:r>
            <a:endParaRPr lang="en-US" sz="1100" dirty="0"/>
          </a:p>
        </p:txBody>
      </p:sp>
      <p:pic>
        <p:nvPicPr>
          <p:cNvPr id="32" name="eq-460" descr="m_laplace">    </p:cNvPr>
          <p:cNvPicPr>
            <a:picLocks noChangeAspect="1"/>
          </p:cNvPicPr>
          <p:nvPr/>
        </p:nvPicPr>
        <p:blipFill>
          <a:blip r:embed="rId6"/>
          <a:stretch>
            <a:fillRect/>
          </a:stretch>
        </p:blipFill>
        <p:spPr>
          <a:xfrm>
            <a:off x="7406640" y="1844040"/>
            <a:ext cx="1066800" cy="408432"/>
          </a:xfrm>
          <a:prstGeom prst="rect">
            <a:avLst/>
          </a:prstGeom>
        </p:spPr>
      </p:pic>
      <p:sp>
        <p:nvSpPr>
          <p:cNvPr id="33" name="pill-461"/>
          <p:cNvSpPr/>
          <p:nvPr/>
        </p:nvSpPr>
        <p:spPr>
          <a:xfrm>
            <a:off x="10424160" y="1892808"/>
            <a:ext cx="114300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elliptic</a:t>
            </a:r>
            <a:endParaRPr lang="en-US" sz="1100" dirty="0"/>
          </a:p>
        </p:txBody>
      </p:sp>
      <p:sp>
        <p:nvSpPr>
          <p:cNvPr id="34" name="text-462"/>
          <p:cNvSpPr txBox="1"/>
          <p:nvPr/>
        </p:nvSpPr>
        <p:spPr>
          <a:xfrm>
            <a:off x="4983480" y="2432304"/>
            <a:ext cx="2377440" cy="274320"/>
          </a:xfrm>
          <a:prstGeom prst="rect">
            <a:avLst/>
          </a:prstGeom>
          <a:noFill/>
          <a:ln/>
        </p:spPr>
        <p:txBody>
          <a:bodyPr wrap="square" lIns="0" tIns="0" rIns="0" bIns="0" rtlCol="0" anchor="t"/>
          <a:lstStyle/>
          <a:p>
            <a:pPr indent="0" marL="0">
              <a:buNone/>
            </a:pPr>
            <a:r>
              <a:rPr lang="en-US" sz="1500" b="1" dirty="0">
                <a:solidFill>
                  <a:schemeClr val="tx1"/>
                </a:solidFill>
              </a:rPr>
              <a:t>Poisson</a:t>
            </a:r>
            <a:endParaRPr lang="en-US" sz="1500" dirty="0"/>
          </a:p>
        </p:txBody>
      </p:sp>
      <p:sp>
        <p:nvSpPr>
          <p:cNvPr id="35" name="text-463"/>
          <p:cNvSpPr txBox="1"/>
          <p:nvPr/>
        </p:nvSpPr>
        <p:spPr>
          <a:xfrm>
            <a:off x="4983480" y="2706624"/>
            <a:ext cx="2377440" cy="237744"/>
          </a:xfrm>
          <a:prstGeom prst="rect">
            <a:avLst/>
          </a:prstGeom>
          <a:noFill/>
          <a:ln/>
        </p:spPr>
        <p:txBody>
          <a:bodyPr wrap="square" lIns="0" tIns="0" rIns="0" bIns="0" rtlCol="0" anchor="t"/>
          <a:lstStyle/>
          <a:p>
            <a:pPr indent="0" marL="0">
              <a:buNone/>
            </a:pPr>
            <a:r>
              <a:rPr lang="en-US" sz="1100" dirty="0">
                <a:solidFill>
                  <a:schemeClr val="tx2"/>
                </a:solidFill>
              </a:rPr>
              <a:t>heat sources, pressure equation</a:t>
            </a:r>
            <a:endParaRPr lang="en-US" sz="1100" dirty="0"/>
          </a:p>
        </p:txBody>
      </p:sp>
      <p:pic>
        <p:nvPicPr>
          <p:cNvPr id="36" name="eq-464" descr="m_poisson">    </p:cNvPr>
          <p:cNvPicPr>
            <a:picLocks noChangeAspect="1"/>
          </p:cNvPicPr>
          <p:nvPr/>
        </p:nvPicPr>
        <p:blipFill>
          <a:blip r:embed="rId7"/>
          <a:stretch>
            <a:fillRect/>
          </a:stretch>
        </p:blipFill>
        <p:spPr>
          <a:xfrm>
            <a:off x="7406640" y="2474976"/>
            <a:ext cx="1063752" cy="408432"/>
          </a:xfrm>
          <a:prstGeom prst="rect">
            <a:avLst/>
          </a:prstGeom>
        </p:spPr>
      </p:pic>
      <p:sp>
        <p:nvSpPr>
          <p:cNvPr id="37" name="pill-465"/>
          <p:cNvSpPr/>
          <p:nvPr/>
        </p:nvSpPr>
        <p:spPr>
          <a:xfrm>
            <a:off x="10424160" y="2523744"/>
            <a:ext cx="114300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elliptic</a:t>
            </a:r>
            <a:endParaRPr lang="en-US" sz="1100" dirty="0"/>
          </a:p>
        </p:txBody>
      </p:sp>
      <p:sp>
        <p:nvSpPr>
          <p:cNvPr id="38" name="card-466"/>
          <p:cNvSpPr/>
          <p:nvPr/>
        </p:nvSpPr>
        <p:spPr>
          <a:xfrm>
            <a:off x="4892040" y="3017520"/>
            <a:ext cx="6748272" cy="585216"/>
          </a:xfrm>
          <a:prstGeom prst="roundRect">
            <a:avLst>
              <a:gd name="adj" fmla="val 9375"/>
            </a:avLst>
          </a:prstGeom>
          <a:solidFill>
            <a:schemeClr val="bg2"/>
          </a:solidFill>
          <a:ln/>
        </p:spPr>
      </p:sp>
      <p:sp>
        <p:nvSpPr>
          <p:cNvPr id="39" name="text-467"/>
          <p:cNvSpPr txBox="1"/>
          <p:nvPr/>
        </p:nvSpPr>
        <p:spPr>
          <a:xfrm>
            <a:off x="4983480" y="3063240"/>
            <a:ext cx="2377440" cy="274320"/>
          </a:xfrm>
          <a:prstGeom prst="rect">
            <a:avLst/>
          </a:prstGeom>
          <a:noFill/>
          <a:ln/>
        </p:spPr>
        <p:txBody>
          <a:bodyPr wrap="square" lIns="0" tIns="0" rIns="0" bIns="0" rtlCol="0" anchor="t"/>
          <a:lstStyle/>
          <a:p>
            <a:pPr indent="0" marL="0">
              <a:buNone/>
            </a:pPr>
            <a:r>
              <a:rPr lang="en-US" sz="1500" b="1" dirty="0">
                <a:solidFill>
                  <a:schemeClr val="tx1"/>
                </a:solidFill>
              </a:rPr>
              <a:t>Heat / diffusion</a:t>
            </a:r>
            <a:endParaRPr lang="en-US" sz="1500" dirty="0"/>
          </a:p>
        </p:txBody>
      </p:sp>
      <p:sp>
        <p:nvSpPr>
          <p:cNvPr id="40" name="text-468"/>
          <p:cNvSpPr txBox="1"/>
          <p:nvPr/>
        </p:nvSpPr>
        <p:spPr>
          <a:xfrm>
            <a:off x="4983480" y="3337560"/>
            <a:ext cx="2377440" cy="237744"/>
          </a:xfrm>
          <a:prstGeom prst="rect">
            <a:avLst/>
          </a:prstGeom>
          <a:noFill/>
          <a:ln/>
        </p:spPr>
        <p:txBody>
          <a:bodyPr wrap="square" lIns="0" tIns="0" rIns="0" bIns="0" rtlCol="0" anchor="t"/>
          <a:lstStyle/>
          <a:p>
            <a:pPr indent="0" marL="0">
              <a:buNone/>
            </a:pPr>
            <a:r>
              <a:rPr lang="en-US" sz="1100" dirty="0">
                <a:solidFill>
                  <a:schemeClr val="tx2"/>
                </a:solidFill>
              </a:rPr>
              <a:t>unsteady conduction, diffusion</a:t>
            </a:r>
            <a:endParaRPr lang="en-US" sz="1100" dirty="0"/>
          </a:p>
        </p:txBody>
      </p:sp>
      <p:pic>
        <p:nvPicPr>
          <p:cNvPr id="41" name="eq-469" descr="m_heat">    </p:cNvPr>
          <p:cNvPicPr>
            <a:picLocks noChangeAspect="1"/>
          </p:cNvPicPr>
          <p:nvPr/>
        </p:nvPicPr>
        <p:blipFill>
          <a:blip r:embed="rId8"/>
          <a:stretch>
            <a:fillRect/>
          </a:stretch>
        </p:blipFill>
        <p:spPr>
          <a:xfrm>
            <a:off x="7406640" y="3093720"/>
            <a:ext cx="1389888" cy="432816"/>
          </a:xfrm>
          <a:prstGeom prst="rect">
            <a:avLst/>
          </a:prstGeom>
        </p:spPr>
      </p:pic>
      <p:sp>
        <p:nvSpPr>
          <p:cNvPr id="42" name="pill-470"/>
          <p:cNvSpPr/>
          <p:nvPr/>
        </p:nvSpPr>
        <p:spPr>
          <a:xfrm>
            <a:off x="10424160" y="3154680"/>
            <a:ext cx="11430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parabolic</a:t>
            </a:r>
            <a:endParaRPr lang="en-US" sz="1100" dirty="0"/>
          </a:p>
        </p:txBody>
      </p:sp>
      <p:sp>
        <p:nvSpPr>
          <p:cNvPr id="43" name="text-471"/>
          <p:cNvSpPr txBox="1"/>
          <p:nvPr/>
        </p:nvSpPr>
        <p:spPr>
          <a:xfrm>
            <a:off x="4983480" y="3694176"/>
            <a:ext cx="2377440" cy="274320"/>
          </a:xfrm>
          <a:prstGeom prst="rect">
            <a:avLst/>
          </a:prstGeom>
          <a:noFill/>
          <a:ln/>
        </p:spPr>
        <p:txBody>
          <a:bodyPr wrap="square" lIns="0" tIns="0" rIns="0" bIns="0" rtlCol="0" anchor="t"/>
          <a:lstStyle/>
          <a:p>
            <a:pPr indent="0" marL="0">
              <a:buNone/>
            </a:pPr>
            <a:r>
              <a:rPr lang="en-US" sz="1500" b="1" dirty="0">
                <a:solidFill>
                  <a:schemeClr val="tx1"/>
                </a:solidFill>
              </a:rPr>
              <a:t>Linear advection</a:t>
            </a:r>
            <a:endParaRPr lang="en-US" sz="1500" dirty="0"/>
          </a:p>
        </p:txBody>
      </p:sp>
      <p:sp>
        <p:nvSpPr>
          <p:cNvPr id="44" name="text-472"/>
          <p:cNvSpPr txBox="1"/>
          <p:nvPr/>
        </p:nvSpPr>
        <p:spPr>
          <a:xfrm>
            <a:off x="4983480" y="3968496"/>
            <a:ext cx="2377440" cy="237744"/>
          </a:xfrm>
          <a:prstGeom prst="rect">
            <a:avLst/>
          </a:prstGeom>
          <a:noFill/>
          <a:ln/>
        </p:spPr>
        <p:txBody>
          <a:bodyPr wrap="square" lIns="0" tIns="0" rIns="0" bIns="0" rtlCol="0" anchor="t"/>
          <a:lstStyle/>
          <a:p>
            <a:pPr indent="0" marL="0">
              <a:buNone/>
            </a:pPr>
            <a:r>
              <a:rPr lang="en-US" sz="1100" dirty="0">
                <a:solidFill>
                  <a:schemeClr val="tx2"/>
                </a:solidFill>
              </a:rPr>
              <a:t>a quantity carried by a flow</a:t>
            </a:r>
            <a:endParaRPr lang="en-US" sz="1100" dirty="0"/>
          </a:p>
        </p:txBody>
      </p:sp>
      <p:pic>
        <p:nvPicPr>
          <p:cNvPr id="45" name="eq-473" descr="m_adv">    </p:cNvPr>
          <p:cNvPicPr>
            <a:picLocks noChangeAspect="1"/>
          </p:cNvPicPr>
          <p:nvPr/>
        </p:nvPicPr>
        <p:blipFill>
          <a:blip r:embed="rId9"/>
          <a:stretch>
            <a:fillRect/>
          </a:stretch>
        </p:blipFill>
        <p:spPr>
          <a:xfrm>
            <a:off x="7406640" y="3724656"/>
            <a:ext cx="1517904" cy="432816"/>
          </a:xfrm>
          <a:prstGeom prst="rect">
            <a:avLst/>
          </a:prstGeom>
        </p:spPr>
      </p:pic>
      <p:sp>
        <p:nvSpPr>
          <p:cNvPr id="46" name="pill-474"/>
          <p:cNvSpPr/>
          <p:nvPr/>
        </p:nvSpPr>
        <p:spPr>
          <a:xfrm>
            <a:off x="10424160" y="3785616"/>
            <a:ext cx="114300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hyperbolic</a:t>
            </a:r>
            <a:endParaRPr lang="en-US" sz="1100" dirty="0"/>
          </a:p>
        </p:txBody>
      </p:sp>
      <p:sp>
        <p:nvSpPr>
          <p:cNvPr id="47" name="card-475"/>
          <p:cNvSpPr/>
          <p:nvPr/>
        </p:nvSpPr>
        <p:spPr>
          <a:xfrm>
            <a:off x="4892040" y="4279392"/>
            <a:ext cx="6748272" cy="585216"/>
          </a:xfrm>
          <a:prstGeom prst="roundRect">
            <a:avLst>
              <a:gd name="adj" fmla="val 9375"/>
            </a:avLst>
          </a:prstGeom>
          <a:solidFill>
            <a:schemeClr val="bg2"/>
          </a:solidFill>
          <a:ln/>
        </p:spPr>
      </p:sp>
      <p:sp>
        <p:nvSpPr>
          <p:cNvPr id="48" name="text-476"/>
          <p:cNvSpPr txBox="1"/>
          <p:nvPr/>
        </p:nvSpPr>
        <p:spPr>
          <a:xfrm>
            <a:off x="4983480" y="4325112"/>
            <a:ext cx="2377440" cy="274320"/>
          </a:xfrm>
          <a:prstGeom prst="rect">
            <a:avLst/>
          </a:prstGeom>
          <a:noFill/>
          <a:ln/>
        </p:spPr>
        <p:txBody>
          <a:bodyPr wrap="square" lIns="0" tIns="0" rIns="0" bIns="0" rtlCol="0" anchor="t"/>
          <a:lstStyle/>
          <a:p>
            <a:pPr indent="0" marL="0">
              <a:buNone/>
            </a:pPr>
            <a:r>
              <a:rPr lang="en-US" sz="1500" b="1" dirty="0">
                <a:solidFill>
                  <a:schemeClr val="tx1"/>
                </a:solidFill>
              </a:rPr>
              <a:t>Burgers</a:t>
            </a:r>
            <a:endParaRPr lang="en-US" sz="1500" dirty="0"/>
          </a:p>
        </p:txBody>
      </p:sp>
      <p:sp>
        <p:nvSpPr>
          <p:cNvPr id="49" name="text-477"/>
          <p:cNvSpPr txBox="1"/>
          <p:nvPr/>
        </p:nvSpPr>
        <p:spPr>
          <a:xfrm>
            <a:off x="4983480" y="4599432"/>
            <a:ext cx="2377440" cy="237744"/>
          </a:xfrm>
          <a:prstGeom prst="rect">
            <a:avLst/>
          </a:prstGeom>
          <a:noFill/>
          <a:ln/>
        </p:spPr>
        <p:txBody>
          <a:bodyPr wrap="square" lIns="0" tIns="0" rIns="0" bIns="0" rtlCol="0" anchor="t"/>
          <a:lstStyle/>
          <a:p>
            <a:pPr indent="0" marL="0">
              <a:buNone/>
            </a:pPr>
            <a:r>
              <a:rPr lang="en-US" sz="1100" dirty="0">
                <a:solidFill>
                  <a:schemeClr val="tx2"/>
                </a:solidFill>
              </a:rPr>
              <a:t>a 1D “toy” Navier–Stokes</a:t>
            </a:r>
            <a:endParaRPr lang="en-US" sz="1100" dirty="0"/>
          </a:p>
        </p:txBody>
      </p:sp>
      <p:pic>
        <p:nvPicPr>
          <p:cNvPr id="50" name="eq-478" descr="m_burgers">    </p:cNvPr>
          <p:cNvPicPr>
            <a:picLocks noChangeAspect="1"/>
          </p:cNvPicPr>
          <p:nvPr/>
        </p:nvPicPr>
        <p:blipFill>
          <a:blip r:embed="rId10"/>
          <a:stretch>
            <a:fillRect/>
          </a:stretch>
        </p:blipFill>
        <p:spPr>
          <a:xfrm>
            <a:off x="7406640" y="4334256"/>
            <a:ext cx="1941576" cy="475488"/>
          </a:xfrm>
          <a:prstGeom prst="rect">
            <a:avLst/>
          </a:prstGeom>
        </p:spPr>
      </p:pic>
      <p:sp>
        <p:nvSpPr>
          <p:cNvPr id="51" name="pill-479"/>
          <p:cNvSpPr/>
          <p:nvPr/>
        </p:nvSpPr>
        <p:spPr>
          <a:xfrm>
            <a:off x="10424160" y="4416552"/>
            <a:ext cx="1143000"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mixed</a:t>
            </a:r>
            <a:endParaRPr lang="en-US" sz="1100" dirty="0"/>
          </a:p>
        </p:txBody>
      </p:sp>
      <p:sp>
        <p:nvSpPr>
          <p:cNvPr id="52" name="text-480"/>
          <p:cNvSpPr txBox="1"/>
          <p:nvPr/>
        </p:nvSpPr>
        <p:spPr>
          <a:xfrm>
            <a:off x="4983480" y="49560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Navier–Stokes</a:t>
            </a:r>
            <a:endParaRPr lang="en-US" sz="1500" dirty="0"/>
          </a:p>
        </p:txBody>
      </p:sp>
      <p:sp>
        <p:nvSpPr>
          <p:cNvPr id="53" name="text-481"/>
          <p:cNvSpPr txBox="1"/>
          <p:nvPr/>
        </p:nvSpPr>
        <p:spPr>
          <a:xfrm>
            <a:off x="4983480" y="5230368"/>
            <a:ext cx="2377440" cy="237744"/>
          </a:xfrm>
          <a:prstGeom prst="rect">
            <a:avLst/>
          </a:prstGeom>
          <a:noFill/>
          <a:ln/>
        </p:spPr>
        <p:txBody>
          <a:bodyPr wrap="square" lIns="0" tIns="0" rIns="0" bIns="0" rtlCol="0" anchor="t"/>
          <a:lstStyle/>
          <a:p>
            <a:pPr indent="0" marL="0">
              <a:buNone/>
            </a:pPr>
            <a:r>
              <a:rPr lang="en-US" sz="1100" dirty="0">
                <a:solidFill>
                  <a:schemeClr val="tx2"/>
                </a:solidFill>
              </a:rPr>
              <a:t>general viscous fluid flow</a:t>
            </a:r>
            <a:endParaRPr lang="en-US" sz="1100" dirty="0"/>
          </a:p>
        </p:txBody>
      </p:sp>
      <p:pic>
        <p:nvPicPr>
          <p:cNvPr id="54" name="eq-482" descr="m_ns">    </p:cNvPr>
          <p:cNvPicPr>
            <a:picLocks noChangeAspect="1"/>
          </p:cNvPicPr>
          <p:nvPr/>
        </p:nvPicPr>
        <p:blipFill>
          <a:blip r:embed="rId11"/>
          <a:stretch>
            <a:fillRect/>
          </a:stretch>
        </p:blipFill>
        <p:spPr>
          <a:xfrm>
            <a:off x="7406640" y="4985004"/>
            <a:ext cx="2548128" cy="435864"/>
          </a:xfrm>
          <a:prstGeom prst="rect">
            <a:avLst/>
          </a:prstGeom>
        </p:spPr>
      </p:pic>
      <p:sp>
        <p:nvSpPr>
          <p:cNvPr id="55" name="pill-483"/>
          <p:cNvSpPr/>
          <p:nvPr/>
        </p:nvSpPr>
        <p:spPr>
          <a:xfrm>
            <a:off x="10424160" y="5047488"/>
            <a:ext cx="1143000"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mixed</a:t>
            </a:r>
            <a:endParaRPr lang="en-US" sz="1100" dirty="0"/>
          </a:p>
        </p:txBody>
      </p:sp>
      <p:sp>
        <p:nvSpPr>
          <p:cNvPr id="56" name="text-484"/>
          <p:cNvSpPr txBox="1"/>
          <p:nvPr/>
        </p:nvSpPr>
        <p:spPr>
          <a:xfrm>
            <a:off x="4892040" y="5577840"/>
            <a:ext cx="6748272" cy="594360"/>
          </a:xfrm>
          <a:prstGeom prst="rect">
            <a:avLst/>
          </a:prstGeom>
          <a:noFill/>
          <a:ln/>
        </p:spPr>
        <p:txBody>
          <a:bodyPr wrap="square" lIns="0" tIns="0" rIns="0" bIns="0" rtlCol="0" anchor="t"/>
          <a:lstStyle/>
          <a:p>
            <a:pPr indent="0" marL="0">
              <a:buNone/>
            </a:pPr>
            <a:r>
              <a:rPr lang="en-US" sz="1250" b="1" dirty="0">
                <a:solidFill>
                  <a:schemeClr val="tx2"/>
                </a:solidFill>
              </a:rPr>
              <a:t>Elliptic:</a:t>
            </a:r>
            <a:pPr indent="0" marL="0">
              <a:buNone/>
            </a:pPr>
            <a:r>
              <a:rPr lang="en-US" sz="1250" dirty="0">
                <a:solidFill>
                  <a:schemeClr val="tx2"/>
                </a:solidFill>
              </a:rPr>
              <a:t> every point influences every other  ·  </a:t>
            </a:r>
            <a:pPr indent="0" marL="0">
              <a:buNone/>
            </a:pPr>
            <a:r>
              <a:rPr lang="en-US" sz="1250" b="1" dirty="0">
                <a:solidFill>
                  <a:schemeClr val="tx2"/>
                </a:solidFill>
              </a:rPr>
              <a:t>Parabolic:</a:t>
            </a:r>
            <a:pPr indent="0" marL="0">
              <a:buNone/>
            </a:pPr>
            <a:r>
              <a:rPr lang="en-US" sz="1250" dirty="0">
                <a:solidFill>
                  <a:schemeClr val="tx2"/>
                </a:solidFill>
              </a:rPr>
              <a:t> marches in time while smoothing  ·  </a:t>
            </a:r>
            <a:pPr indent="0" marL="0">
              <a:buNone/>
            </a:pPr>
            <a:r>
              <a:rPr lang="en-US" sz="1250" b="1" dirty="0">
                <a:solidFill>
                  <a:schemeClr val="tx2"/>
                </a:solidFill>
              </a:rPr>
              <a:t>Hyperbolic:</a:t>
            </a:r>
            <a:pPr indent="0" marL="0">
              <a:buNone/>
            </a:pPr>
            <a:r>
              <a:rPr lang="en-US" sz="1250" dirty="0">
                <a:solidFill>
                  <a:schemeClr val="tx2"/>
                </a:solidFill>
              </a:rPr>
              <a:t> carried along directions at finite speed</a:t>
            </a:r>
            <a:endParaRPr lang="en-US" sz="12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48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PILLAR 3 · PRE-PROCESSING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Boundary &amp; initial conditions</a:t>
            </a:r>
            <a:endParaRPr lang="en-US" sz="3200" dirty="0"/>
          </a:p>
        </p:txBody>
      </p:sp>
      <p:sp>
        <p:nvSpPr>
          <p:cNvPr id="4" name="text-486"/>
          <p:cNvSpPr txBox="1"/>
          <p:nvPr/>
        </p:nvSpPr>
        <p:spPr>
          <a:xfrm>
            <a:off x="548640" y="1371600"/>
            <a:ext cx="11094415" cy="594360"/>
          </a:xfrm>
          <a:prstGeom prst="rect">
            <a:avLst/>
          </a:prstGeom>
          <a:noFill/>
          <a:ln/>
        </p:spPr>
        <p:txBody>
          <a:bodyPr wrap="square" lIns="0" tIns="0" rIns="0" bIns="0" rtlCol="0" anchor="t"/>
          <a:lstStyle/>
          <a:p>
            <a:pPr indent="0" marL="0">
              <a:buNone/>
            </a:pPr>
            <a:r>
              <a:rPr lang="en-US" sz="1700" dirty="0">
                <a:solidFill>
                  <a:schemeClr val="tx2"/>
                </a:solidFill>
              </a:rPr>
              <a:t>A PDE alone has infinitely many solutions. Boundary conditions (and, if unsteady, initial conditions) pick the one that matches your problem.</a:t>
            </a:r>
            <a:endParaRPr lang="en-US" sz="1700" dirty="0"/>
          </a:p>
        </p:txBody>
      </p:sp>
      <p:sp>
        <p:nvSpPr>
          <p:cNvPr id="5" name="card-487"/>
          <p:cNvSpPr/>
          <p:nvPr/>
        </p:nvSpPr>
        <p:spPr>
          <a:xfrm>
            <a:off x="548640" y="2103120"/>
            <a:ext cx="3520440" cy="2788920"/>
          </a:xfrm>
          <a:prstGeom prst="roundRect">
            <a:avLst>
              <a:gd name="adj" fmla="val 327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 name="icon-bg-488"/>
          <p:cNvSpPr/>
          <p:nvPr/>
        </p:nvSpPr>
        <p:spPr>
          <a:xfrm>
            <a:off x="777240" y="2286000"/>
            <a:ext cx="640080" cy="640080"/>
          </a:xfrm>
          <a:prstGeom prst="ellipse">
            <a:avLst/>
          </a:prstGeom>
          <a:solidFill>
            <a:schemeClr val="accent2"/>
          </a:solidFill>
          <a:ln/>
        </p:spPr>
      </p:sp>
      <p:pic>
        <p:nvPicPr>
          <p:cNvPr id="7" name="icon-489" descr="preencoded.png">    </p:cNvPr>
          <p:cNvPicPr>
            <a:picLocks noChangeAspect="1"/>
          </p:cNvPicPr>
          <p:nvPr/>
        </p:nvPicPr>
        <p:blipFill>
          <a:blip r:embed="rId1"/>
          <a:stretch>
            <a:fillRect/>
          </a:stretch>
        </p:blipFill>
        <p:spPr>
          <a:xfrm>
            <a:off x="924458" y="2433218"/>
            <a:ext cx="345643" cy="345643"/>
          </a:xfrm>
          <a:prstGeom prst="rect">
            <a:avLst/>
          </a:prstGeom>
        </p:spPr>
      </p:pic>
      <p:sp>
        <p:nvSpPr>
          <p:cNvPr id="8" name="text-490"/>
          <p:cNvSpPr txBox="1"/>
          <p:nvPr/>
        </p:nvSpPr>
        <p:spPr>
          <a:xfrm>
            <a:off x="1554480" y="2267712"/>
            <a:ext cx="2377440" cy="365760"/>
          </a:xfrm>
          <a:prstGeom prst="rect">
            <a:avLst/>
          </a:prstGeom>
          <a:noFill/>
          <a:ln/>
        </p:spPr>
        <p:txBody>
          <a:bodyPr wrap="square" lIns="0" tIns="0" rIns="0" bIns="0" rtlCol="0" anchor="t"/>
          <a:lstStyle/>
          <a:p>
            <a:pPr indent="0" marL="0">
              <a:buNone/>
            </a:pPr>
            <a:r>
              <a:rPr lang="en-US" sz="2000" b="1" dirty="0">
                <a:solidFill>
                  <a:schemeClr val="tx1"/>
                </a:solidFill>
              </a:rPr>
              <a:t>Dirichlet</a:t>
            </a:r>
            <a:endParaRPr lang="en-US" sz="2000" dirty="0"/>
          </a:p>
        </p:txBody>
      </p:sp>
      <p:sp>
        <p:nvSpPr>
          <p:cNvPr id="9" name="text-491"/>
          <p:cNvSpPr txBox="1"/>
          <p:nvPr/>
        </p:nvSpPr>
        <p:spPr>
          <a:xfrm>
            <a:off x="1554480" y="2633472"/>
            <a:ext cx="2377440" cy="320040"/>
          </a:xfrm>
          <a:prstGeom prst="rect">
            <a:avLst/>
          </a:prstGeom>
          <a:noFill/>
          <a:ln/>
        </p:spPr>
        <p:txBody>
          <a:bodyPr wrap="square" lIns="0" tIns="0" rIns="0" bIns="0" rtlCol="0" anchor="t"/>
          <a:lstStyle/>
          <a:p>
            <a:pPr indent="0" marL="0">
              <a:buNone/>
            </a:pPr>
            <a:r>
              <a:rPr lang="en-US" sz="1400" i="1" dirty="0">
                <a:solidFill>
                  <a:schemeClr val="accent2"/>
                </a:solidFill>
              </a:rPr>
              <a:t>prescribes the value</a:t>
            </a:r>
            <a:endParaRPr lang="en-US" sz="1400" dirty="0"/>
          </a:p>
        </p:txBody>
      </p:sp>
      <p:sp>
        <p:nvSpPr>
          <p:cNvPr id="10" name="card-492"/>
          <p:cNvSpPr/>
          <p:nvPr/>
        </p:nvSpPr>
        <p:spPr>
          <a:xfrm>
            <a:off x="777240" y="3108960"/>
            <a:ext cx="3063240" cy="777240"/>
          </a:xfrm>
          <a:prstGeom prst="roundRect">
            <a:avLst>
              <a:gd name="adj" fmla="val 11765"/>
            </a:avLst>
          </a:prstGeom>
          <a:solidFill>
            <a:schemeClr val="bg2"/>
          </a:solidFill>
          <a:ln/>
        </p:spPr>
      </p:sp>
      <p:pic>
        <p:nvPicPr>
          <p:cNvPr id="11" name="eq-493" descr="bc_d">    </p:cNvPr>
          <p:cNvPicPr>
            <a:picLocks noChangeAspect="1"/>
          </p:cNvPicPr>
          <p:nvPr/>
        </p:nvPicPr>
        <p:blipFill>
          <a:blip r:embed="rId2"/>
          <a:stretch>
            <a:fillRect/>
          </a:stretch>
        </p:blipFill>
        <p:spPr>
          <a:xfrm>
            <a:off x="1828800" y="3282696"/>
            <a:ext cx="960120" cy="438912"/>
          </a:xfrm>
          <a:prstGeom prst="rect">
            <a:avLst/>
          </a:prstGeom>
        </p:spPr>
      </p:pic>
      <p:sp>
        <p:nvSpPr>
          <p:cNvPr id="12" name="text-494"/>
          <p:cNvSpPr txBox="1"/>
          <p:nvPr/>
        </p:nvSpPr>
        <p:spPr>
          <a:xfrm>
            <a:off x="777240" y="4023360"/>
            <a:ext cx="3063240" cy="777240"/>
          </a:xfrm>
          <a:prstGeom prst="rect">
            <a:avLst/>
          </a:prstGeom>
          <a:noFill/>
          <a:ln/>
        </p:spPr>
        <p:txBody>
          <a:bodyPr wrap="square" lIns="0" tIns="0" rIns="0" bIns="0" rtlCol="0" anchor="t"/>
          <a:lstStyle/>
          <a:p>
            <a:pPr indent="0" marL="0">
              <a:buNone/>
            </a:pPr>
            <a:r>
              <a:rPr lang="en-US" sz="1350" dirty="0">
                <a:solidFill>
                  <a:schemeClr val="tx2"/>
                </a:solidFill>
              </a:rPr>
              <a:t>e.g. a wall held at a fixed temperature, a known inlet velocity</a:t>
            </a:r>
            <a:endParaRPr lang="en-US" sz="1350" dirty="0"/>
          </a:p>
        </p:txBody>
      </p:sp>
      <p:sp>
        <p:nvSpPr>
          <p:cNvPr id="13" name="card-495"/>
          <p:cNvSpPr/>
          <p:nvPr/>
        </p:nvSpPr>
        <p:spPr>
          <a:xfrm>
            <a:off x="4334256" y="2103120"/>
            <a:ext cx="3520440" cy="2788920"/>
          </a:xfrm>
          <a:prstGeom prst="roundRect">
            <a:avLst>
              <a:gd name="adj" fmla="val 327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4" name="icon-bg-496"/>
          <p:cNvSpPr/>
          <p:nvPr/>
        </p:nvSpPr>
        <p:spPr>
          <a:xfrm>
            <a:off x="4562856" y="2286000"/>
            <a:ext cx="640080" cy="640080"/>
          </a:xfrm>
          <a:prstGeom prst="ellipse">
            <a:avLst/>
          </a:prstGeom>
          <a:solidFill>
            <a:schemeClr val="accent1"/>
          </a:solidFill>
          <a:ln/>
        </p:spPr>
      </p:sp>
      <p:pic>
        <p:nvPicPr>
          <p:cNvPr id="15" name="icon-497" descr="preencoded.png">    </p:cNvPr>
          <p:cNvPicPr>
            <a:picLocks noChangeAspect="1"/>
          </p:cNvPicPr>
          <p:nvPr/>
        </p:nvPicPr>
        <p:blipFill>
          <a:blip r:embed="rId3"/>
          <a:stretch>
            <a:fillRect/>
          </a:stretch>
        </p:blipFill>
        <p:spPr>
          <a:xfrm>
            <a:off x="4710074" y="2433218"/>
            <a:ext cx="345643" cy="345643"/>
          </a:xfrm>
          <a:prstGeom prst="rect">
            <a:avLst/>
          </a:prstGeom>
        </p:spPr>
      </p:pic>
      <p:sp>
        <p:nvSpPr>
          <p:cNvPr id="16" name="text-498"/>
          <p:cNvSpPr txBox="1"/>
          <p:nvPr/>
        </p:nvSpPr>
        <p:spPr>
          <a:xfrm>
            <a:off x="5340096" y="2267712"/>
            <a:ext cx="2377440" cy="365760"/>
          </a:xfrm>
          <a:prstGeom prst="rect">
            <a:avLst/>
          </a:prstGeom>
          <a:noFill/>
          <a:ln/>
        </p:spPr>
        <p:txBody>
          <a:bodyPr wrap="square" lIns="0" tIns="0" rIns="0" bIns="0" rtlCol="0" anchor="t"/>
          <a:lstStyle/>
          <a:p>
            <a:pPr indent="0" marL="0">
              <a:buNone/>
            </a:pPr>
            <a:r>
              <a:rPr lang="en-US" sz="2000" b="1" dirty="0">
                <a:solidFill>
                  <a:schemeClr val="tx1"/>
                </a:solidFill>
              </a:rPr>
              <a:t>Neumann</a:t>
            </a:r>
            <a:endParaRPr lang="en-US" sz="2000" dirty="0"/>
          </a:p>
        </p:txBody>
      </p:sp>
      <p:sp>
        <p:nvSpPr>
          <p:cNvPr id="17" name="text-499"/>
          <p:cNvSpPr txBox="1"/>
          <p:nvPr/>
        </p:nvSpPr>
        <p:spPr>
          <a:xfrm>
            <a:off x="5340096" y="2633472"/>
            <a:ext cx="2377440" cy="320040"/>
          </a:xfrm>
          <a:prstGeom prst="rect">
            <a:avLst/>
          </a:prstGeom>
          <a:noFill/>
          <a:ln/>
        </p:spPr>
        <p:txBody>
          <a:bodyPr wrap="square" lIns="0" tIns="0" rIns="0" bIns="0" rtlCol="0" anchor="t"/>
          <a:lstStyle/>
          <a:p>
            <a:pPr indent="0" marL="0">
              <a:buNone/>
            </a:pPr>
            <a:r>
              <a:rPr lang="en-US" sz="1400" i="1" dirty="0">
                <a:solidFill>
                  <a:schemeClr val="accent1"/>
                </a:solidFill>
              </a:rPr>
              <a:t>prescribes the gradient</a:t>
            </a:r>
            <a:endParaRPr lang="en-US" sz="1400" dirty="0"/>
          </a:p>
        </p:txBody>
      </p:sp>
      <p:sp>
        <p:nvSpPr>
          <p:cNvPr id="18" name="card-500"/>
          <p:cNvSpPr/>
          <p:nvPr/>
        </p:nvSpPr>
        <p:spPr>
          <a:xfrm>
            <a:off x="4562856" y="3108960"/>
            <a:ext cx="3063240" cy="777240"/>
          </a:xfrm>
          <a:prstGeom prst="roundRect">
            <a:avLst>
              <a:gd name="adj" fmla="val 11765"/>
            </a:avLst>
          </a:prstGeom>
          <a:solidFill>
            <a:schemeClr val="bg2"/>
          </a:solidFill>
          <a:ln/>
        </p:spPr>
      </p:sp>
      <p:pic>
        <p:nvPicPr>
          <p:cNvPr id="19" name="eq-501" descr="bc_n">    </p:cNvPr>
          <p:cNvPicPr>
            <a:picLocks noChangeAspect="1"/>
          </p:cNvPicPr>
          <p:nvPr/>
        </p:nvPicPr>
        <p:blipFill>
          <a:blip r:embed="rId4"/>
          <a:stretch>
            <a:fillRect/>
          </a:stretch>
        </p:blipFill>
        <p:spPr>
          <a:xfrm>
            <a:off x="5672328" y="3270504"/>
            <a:ext cx="844296" cy="463296"/>
          </a:xfrm>
          <a:prstGeom prst="rect">
            <a:avLst/>
          </a:prstGeom>
        </p:spPr>
      </p:pic>
      <p:sp>
        <p:nvSpPr>
          <p:cNvPr id="20" name="text-502"/>
          <p:cNvSpPr txBox="1"/>
          <p:nvPr/>
        </p:nvSpPr>
        <p:spPr>
          <a:xfrm>
            <a:off x="4562856" y="4023360"/>
            <a:ext cx="3063240" cy="777240"/>
          </a:xfrm>
          <a:prstGeom prst="rect">
            <a:avLst/>
          </a:prstGeom>
          <a:noFill/>
          <a:ln/>
        </p:spPr>
        <p:txBody>
          <a:bodyPr wrap="square" lIns="0" tIns="0" rIns="0" bIns="0" rtlCol="0" anchor="t"/>
          <a:lstStyle/>
          <a:p>
            <a:pPr indent="0" marL="0">
              <a:buNone/>
            </a:pPr>
            <a:r>
              <a:rPr lang="en-US" sz="1350" dirty="0">
                <a:solidFill>
                  <a:schemeClr val="tx2"/>
                </a:solidFill>
              </a:rPr>
              <a:t>e.g. an insulated wall (∂T/∂n = 0), a symmetry plane</a:t>
            </a:r>
            <a:endParaRPr lang="en-US" sz="1350" dirty="0"/>
          </a:p>
        </p:txBody>
      </p:sp>
      <p:sp>
        <p:nvSpPr>
          <p:cNvPr id="21" name="card-503"/>
          <p:cNvSpPr/>
          <p:nvPr/>
        </p:nvSpPr>
        <p:spPr>
          <a:xfrm>
            <a:off x="8119872" y="2103120"/>
            <a:ext cx="3520440" cy="2788920"/>
          </a:xfrm>
          <a:prstGeom prst="roundRect">
            <a:avLst>
              <a:gd name="adj" fmla="val 327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2" name="icon-bg-504"/>
          <p:cNvSpPr/>
          <p:nvPr/>
        </p:nvSpPr>
        <p:spPr>
          <a:xfrm>
            <a:off x="8348472" y="2286000"/>
            <a:ext cx="640080" cy="640080"/>
          </a:xfrm>
          <a:prstGeom prst="ellipse">
            <a:avLst/>
          </a:prstGeom>
          <a:solidFill>
            <a:schemeClr val="accent3"/>
          </a:solidFill>
          <a:ln/>
        </p:spPr>
      </p:sp>
      <p:pic>
        <p:nvPicPr>
          <p:cNvPr id="23" name="icon-505" descr="preencoded.png">    </p:cNvPr>
          <p:cNvPicPr>
            <a:picLocks noChangeAspect="1"/>
          </p:cNvPicPr>
          <p:nvPr/>
        </p:nvPicPr>
        <p:blipFill>
          <a:blip r:embed="rId5"/>
          <a:stretch>
            <a:fillRect/>
          </a:stretch>
        </p:blipFill>
        <p:spPr>
          <a:xfrm>
            <a:off x="8495690" y="2433218"/>
            <a:ext cx="345643" cy="345643"/>
          </a:xfrm>
          <a:prstGeom prst="rect">
            <a:avLst/>
          </a:prstGeom>
        </p:spPr>
      </p:pic>
      <p:sp>
        <p:nvSpPr>
          <p:cNvPr id="24" name="text-506"/>
          <p:cNvSpPr txBox="1"/>
          <p:nvPr/>
        </p:nvSpPr>
        <p:spPr>
          <a:xfrm>
            <a:off x="9125712" y="2267712"/>
            <a:ext cx="2377440" cy="365760"/>
          </a:xfrm>
          <a:prstGeom prst="rect">
            <a:avLst/>
          </a:prstGeom>
          <a:noFill/>
          <a:ln/>
        </p:spPr>
        <p:txBody>
          <a:bodyPr wrap="square" lIns="0" tIns="0" rIns="0" bIns="0" rtlCol="0" anchor="t"/>
          <a:lstStyle/>
          <a:p>
            <a:pPr indent="0" marL="0">
              <a:buNone/>
            </a:pPr>
            <a:r>
              <a:rPr lang="en-US" sz="2000" b="1" dirty="0">
                <a:solidFill>
                  <a:schemeClr val="tx1"/>
                </a:solidFill>
              </a:rPr>
              <a:t>Robin (mixed)</a:t>
            </a:r>
            <a:endParaRPr lang="en-US" sz="2000" dirty="0"/>
          </a:p>
        </p:txBody>
      </p:sp>
      <p:sp>
        <p:nvSpPr>
          <p:cNvPr id="25" name="text-507"/>
          <p:cNvSpPr txBox="1"/>
          <p:nvPr/>
        </p:nvSpPr>
        <p:spPr>
          <a:xfrm>
            <a:off x="9125712" y="2633472"/>
            <a:ext cx="2377440" cy="320040"/>
          </a:xfrm>
          <a:prstGeom prst="rect">
            <a:avLst/>
          </a:prstGeom>
          <a:noFill/>
          <a:ln/>
        </p:spPr>
        <p:txBody>
          <a:bodyPr wrap="square" lIns="0" tIns="0" rIns="0" bIns="0" rtlCol="0" anchor="t"/>
          <a:lstStyle/>
          <a:p>
            <a:pPr indent="0" marL="0">
              <a:buNone/>
            </a:pPr>
            <a:r>
              <a:rPr lang="en-US" sz="1400" i="1" dirty="0">
                <a:solidFill>
                  <a:schemeClr val="accent3"/>
                </a:solidFill>
              </a:rPr>
              <a:t>a combination of both</a:t>
            </a:r>
            <a:endParaRPr lang="en-US" sz="1400" dirty="0"/>
          </a:p>
        </p:txBody>
      </p:sp>
      <p:sp>
        <p:nvSpPr>
          <p:cNvPr id="26" name="card-508"/>
          <p:cNvSpPr/>
          <p:nvPr/>
        </p:nvSpPr>
        <p:spPr>
          <a:xfrm>
            <a:off x="8348472" y="3108960"/>
            <a:ext cx="3063240" cy="777240"/>
          </a:xfrm>
          <a:prstGeom prst="roundRect">
            <a:avLst>
              <a:gd name="adj" fmla="val 11765"/>
            </a:avLst>
          </a:prstGeom>
          <a:solidFill>
            <a:schemeClr val="bg2"/>
          </a:solidFill>
          <a:ln/>
        </p:spPr>
      </p:sp>
      <p:pic>
        <p:nvPicPr>
          <p:cNvPr id="27" name="eq-509" descr="bc_r">    </p:cNvPr>
          <p:cNvPicPr>
            <a:picLocks noChangeAspect="1"/>
          </p:cNvPicPr>
          <p:nvPr/>
        </p:nvPicPr>
        <p:blipFill>
          <a:blip r:embed="rId6"/>
          <a:stretch>
            <a:fillRect/>
          </a:stretch>
        </p:blipFill>
        <p:spPr>
          <a:xfrm>
            <a:off x="8602980" y="3270504"/>
            <a:ext cx="2554224" cy="463296"/>
          </a:xfrm>
          <a:prstGeom prst="rect">
            <a:avLst/>
          </a:prstGeom>
        </p:spPr>
      </p:pic>
      <p:sp>
        <p:nvSpPr>
          <p:cNvPr id="28" name="text-510"/>
          <p:cNvSpPr txBox="1"/>
          <p:nvPr/>
        </p:nvSpPr>
        <p:spPr>
          <a:xfrm>
            <a:off x="8348472" y="4023360"/>
            <a:ext cx="3063240" cy="777240"/>
          </a:xfrm>
          <a:prstGeom prst="rect">
            <a:avLst/>
          </a:prstGeom>
          <a:noFill/>
          <a:ln/>
        </p:spPr>
        <p:txBody>
          <a:bodyPr wrap="square" lIns="0" tIns="0" rIns="0" bIns="0" rtlCol="0" anchor="t"/>
          <a:lstStyle/>
          <a:p>
            <a:pPr indent="0" marL="0">
              <a:buNone/>
            </a:pPr>
            <a:r>
              <a:rPr lang="en-US" sz="1350" dirty="0">
                <a:solidFill>
                  <a:schemeClr val="tx2"/>
                </a:solidFill>
              </a:rPr>
              <a:t>e.g. a surface cooled by the surrounding air</a:t>
            </a:r>
            <a:endParaRPr lang="en-US" sz="1350" dirty="0"/>
          </a:p>
        </p:txBody>
      </p:sp>
      <p:sp>
        <p:nvSpPr>
          <p:cNvPr id="29" name="card-511"/>
          <p:cNvSpPr/>
          <p:nvPr/>
        </p:nvSpPr>
        <p:spPr>
          <a:xfrm>
            <a:off x="548640" y="5120640"/>
            <a:ext cx="11094415" cy="1051560"/>
          </a:xfrm>
          <a:prstGeom prst="roundRect">
            <a:avLst>
              <a:gd name="adj" fmla="val 8696"/>
            </a:avLst>
          </a:prstGeom>
          <a:solidFill>
            <a:schemeClr val="accent2">
              <a:alpha val="12000"/>
            </a:schemeClr>
          </a:solidFill>
          <a:ln/>
        </p:spPr>
      </p:sp>
      <p:sp>
        <p:nvSpPr>
          <p:cNvPr id="30" name="icon-bg-512"/>
          <p:cNvSpPr/>
          <p:nvPr/>
        </p:nvSpPr>
        <p:spPr>
          <a:xfrm>
            <a:off x="685800" y="5449824"/>
            <a:ext cx="384048" cy="384048"/>
          </a:xfrm>
          <a:prstGeom prst="ellipse">
            <a:avLst/>
          </a:prstGeom>
          <a:solidFill>
            <a:schemeClr val="accent2"/>
          </a:solidFill>
          <a:ln/>
        </p:spPr>
      </p:sp>
      <p:pic>
        <p:nvPicPr>
          <p:cNvPr id="31" name="icon-513" descr="preencoded.png">    </p:cNvPr>
          <p:cNvPicPr>
            <a:picLocks noChangeAspect="1"/>
          </p:cNvPicPr>
          <p:nvPr/>
        </p:nvPicPr>
        <p:blipFill>
          <a:blip r:embed="rId7"/>
          <a:stretch>
            <a:fillRect/>
          </a:stretch>
        </p:blipFill>
        <p:spPr>
          <a:xfrm>
            <a:off x="774131" y="5538155"/>
            <a:ext cx="207386" cy="207386"/>
          </a:xfrm>
          <a:prstGeom prst="rect">
            <a:avLst/>
          </a:prstGeom>
        </p:spPr>
      </p:pic>
      <p:sp>
        <p:nvSpPr>
          <p:cNvPr id="32" name="text-514"/>
          <p:cNvSpPr txBox="1"/>
          <p:nvPr/>
        </p:nvSpPr>
        <p:spPr>
          <a:xfrm>
            <a:off x="1234440" y="5257800"/>
            <a:ext cx="2468880" cy="365760"/>
          </a:xfrm>
          <a:prstGeom prst="rect">
            <a:avLst/>
          </a:prstGeom>
          <a:noFill/>
          <a:ln/>
        </p:spPr>
        <p:txBody>
          <a:bodyPr wrap="square" lIns="0" tIns="0" rIns="0" bIns="0" rtlCol="0" anchor="t"/>
          <a:lstStyle/>
          <a:p>
            <a:pPr indent="0" marL="0">
              <a:buNone/>
            </a:pPr>
            <a:r>
              <a:rPr lang="en-US" sz="1500" b="1" dirty="0">
                <a:solidFill>
                  <a:schemeClr val="tx1"/>
                </a:solidFill>
              </a:rPr>
              <a:t>Rod:</a:t>
            </a:r>
            <a:pPr indent="0" marL="0">
              <a:buNone/>
            </a:pPr>
            <a:r>
              <a:rPr lang="en-US" sz="1500" dirty="0">
                <a:solidFill>
                  <a:schemeClr val="tx1"/>
                </a:solidFill>
              </a:rPr>
              <a:t> the 1D heat equation</a:t>
            </a:r>
            <a:endParaRPr lang="en-US" sz="1500" dirty="0"/>
          </a:p>
        </p:txBody>
      </p:sp>
      <p:sp>
        <p:nvSpPr>
          <p:cNvPr id="33" name="text-515"/>
          <p:cNvSpPr txBox="1"/>
          <p:nvPr/>
        </p:nvSpPr>
        <p:spPr>
          <a:xfrm>
            <a:off x="1234440" y="5623560"/>
            <a:ext cx="2468880" cy="365760"/>
          </a:xfrm>
          <a:prstGeom prst="rect">
            <a:avLst/>
          </a:prstGeom>
          <a:noFill/>
          <a:ln/>
        </p:spPr>
        <p:txBody>
          <a:bodyPr wrap="square" lIns="0" tIns="0" rIns="0" bIns="0" rtlCol="0" anchor="t"/>
          <a:lstStyle/>
          <a:p>
            <a:pPr indent="0" marL="0">
              <a:buNone/>
            </a:pPr>
            <a:r>
              <a:rPr lang="en-US" sz="1250" dirty="0">
                <a:solidFill>
                  <a:schemeClr val="tx2"/>
                </a:solidFill>
              </a:rPr>
              <a:t>α = k/(ρc</a:t>
            </a:r>
            <a:pPr indent="0" marL="0">
              <a:buNone/>
            </a:pPr>
            <a:r>
              <a:rPr lang="en-US" sz="1250" baseline="-40000" dirty="0">
                <a:solidFill>
                  <a:schemeClr val="tx2"/>
                </a:solidFill>
              </a:rPr>
              <a:t>p</a:t>
            </a:r>
            <a:pPr indent="0" marL="0">
              <a:buNone/>
            </a:pPr>
            <a:r>
              <a:rPr lang="en-US" sz="1250" dirty="0">
                <a:solidFill>
                  <a:schemeClr val="tx2"/>
                </a:solidFill>
              </a:rPr>
              <a:t>): thermal diffusivity</a:t>
            </a:r>
            <a:endParaRPr lang="en-US" sz="1250" dirty="0"/>
          </a:p>
        </p:txBody>
      </p:sp>
      <p:pic>
        <p:nvPicPr>
          <p:cNvPr id="34" name="eq-516" descr="rod_pde">    </p:cNvPr>
          <p:cNvPicPr>
            <a:picLocks noChangeAspect="1"/>
          </p:cNvPicPr>
          <p:nvPr/>
        </p:nvPicPr>
        <p:blipFill>
          <a:blip r:embed="rId8"/>
          <a:stretch>
            <a:fillRect/>
          </a:stretch>
        </p:blipFill>
        <p:spPr>
          <a:xfrm>
            <a:off x="3429000" y="5390388"/>
            <a:ext cx="1313688" cy="512064"/>
          </a:xfrm>
          <a:prstGeom prst="rect">
            <a:avLst/>
          </a:prstGeom>
        </p:spPr>
      </p:pic>
      <p:pic>
        <p:nvPicPr>
          <p:cNvPr id="35" name="eq-517" descr="rod_bc">    </p:cNvPr>
          <p:cNvPicPr>
            <a:picLocks noChangeAspect="1"/>
          </p:cNvPicPr>
          <p:nvPr/>
        </p:nvPicPr>
        <p:blipFill>
          <a:blip r:embed="rId9"/>
          <a:stretch>
            <a:fillRect/>
          </a:stretch>
        </p:blipFill>
        <p:spPr>
          <a:xfrm>
            <a:off x="6172200" y="5471160"/>
            <a:ext cx="4995672" cy="350520"/>
          </a:xfrm>
          <a:prstGeom prst="rect">
            <a:avLst/>
          </a:prstGeom>
        </p:spPr>
      </p:pic>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51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4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Numerical scheme: derivatives → differences</a:t>
            </a:r>
            <a:endParaRPr lang="en-US" sz="3200" dirty="0"/>
          </a:p>
        </p:txBody>
      </p:sp>
      <p:sp>
        <p:nvSpPr>
          <p:cNvPr id="4" name="text-519"/>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50" b="1" spc="100" kern="0" dirty="0">
                <a:solidFill>
                  <a:schemeClr val="accent2"/>
                </a:solidFill>
              </a:rPr>
              <a:t>1 · TAYLOR SERIES AROUND x</a:t>
            </a:r>
            <a:pPr indent="0" marL="0">
              <a:buNone/>
            </a:pPr>
            <a:r>
              <a:rPr lang="en-US" sz="1250" b="1" baseline="-40000" spc="100" kern="0" dirty="0">
                <a:solidFill>
                  <a:schemeClr val="accent2"/>
                </a:solidFill>
              </a:rPr>
              <a:t>i</a:t>
            </a:r>
            <a:endParaRPr lang="en-US" sz="1250" dirty="0"/>
          </a:p>
        </p:txBody>
      </p:sp>
      <p:pic>
        <p:nvPicPr>
          <p:cNvPr id="5" name="eq-520" descr="taylor">    </p:cNvPr>
          <p:cNvPicPr>
            <a:picLocks noChangeAspect="1"/>
          </p:cNvPicPr>
          <p:nvPr/>
        </p:nvPicPr>
        <p:blipFill>
          <a:blip r:embed="rId1"/>
          <a:stretch>
            <a:fillRect/>
          </a:stretch>
        </p:blipFill>
        <p:spPr>
          <a:xfrm>
            <a:off x="548640" y="1872698"/>
            <a:ext cx="5852160" cy="415123"/>
          </a:xfrm>
          <a:prstGeom prst="rect">
            <a:avLst/>
          </a:prstGeom>
        </p:spPr>
      </p:pic>
      <p:sp>
        <p:nvSpPr>
          <p:cNvPr id="6" name="arrow-521"/>
          <p:cNvSpPr/>
          <p:nvPr/>
        </p:nvSpPr>
        <p:spPr>
          <a:xfrm>
            <a:off x="1005840" y="2514600"/>
            <a:ext cx="0" cy="365760"/>
          </a:xfrm>
          <a:prstGeom prst="line">
            <a:avLst/>
          </a:prstGeom>
          <a:noFill/>
          <a:ln w="25400">
            <a:solidFill>
              <a:schemeClr val="accent4"/>
            </a:solidFill>
            <a:prstDash val="solid"/>
            <a:tailEnd type="triangle"/>
          </a:ln>
        </p:spPr>
      </p:sp>
      <p:sp>
        <p:nvSpPr>
          <p:cNvPr id="7" name="text-522"/>
          <p:cNvSpPr txBox="1"/>
          <p:nvPr/>
        </p:nvSpPr>
        <p:spPr>
          <a:xfrm>
            <a:off x="548640" y="3017520"/>
            <a:ext cx="5852160" cy="274320"/>
          </a:xfrm>
          <a:prstGeom prst="rect">
            <a:avLst/>
          </a:prstGeom>
          <a:noFill/>
          <a:ln/>
        </p:spPr>
        <p:txBody>
          <a:bodyPr wrap="square" lIns="0" tIns="0" rIns="0" bIns="0" rtlCol="0" anchor="t"/>
          <a:lstStyle/>
          <a:p>
            <a:pPr indent="0" marL="0">
              <a:buNone/>
            </a:pPr>
            <a:r>
              <a:rPr lang="en-US" sz="1250" b="1" spc="100" kern="0" dirty="0">
                <a:solidFill>
                  <a:schemeClr val="accent2"/>
                </a:solidFill>
              </a:rPr>
              <a:t>2 · SOLVE FOR f′</a:t>
            </a:r>
            <a:pPr indent="0" marL="0">
              <a:buNone/>
            </a:pPr>
            <a:r>
              <a:rPr lang="en-US" sz="1250" b="1" baseline="-40000" spc="100" kern="0" dirty="0">
                <a:solidFill>
                  <a:schemeClr val="accent2"/>
                </a:solidFill>
              </a:rPr>
              <a:t>i</a:t>
            </a:r>
            <a:pPr indent="0" marL="0">
              <a:buNone/>
            </a:pPr>
            <a:r>
              <a:rPr lang="en-US" sz="1250" b="1" spc="100" kern="0" dirty="0">
                <a:solidFill>
                  <a:schemeClr val="accent2"/>
                </a:solidFill>
              </a:rPr>
              <a:t>: THE FORWARD DIFFERENCE</a:t>
            </a:r>
            <a:endParaRPr lang="en-US" sz="1250" dirty="0"/>
          </a:p>
        </p:txBody>
      </p:sp>
      <p:pic>
        <p:nvPicPr>
          <p:cNvPr id="8" name="eq-523" descr="fwd_main">    </p:cNvPr>
          <p:cNvPicPr>
            <a:picLocks noChangeAspect="1"/>
          </p:cNvPicPr>
          <p:nvPr/>
        </p:nvPicPr>
        <p:blipFill>
          <a:blip r:embed="rId2"/>
          <a:stretch>
            <a:fillRect/>
          </a:stretch>
        </p:blipFill>
        <p:spPr>
          <a:xfrm>
            <a:off x="548640" y="3525012"/>
            <a:ext cx="2090928" cy="585216"/>
          </a:xfrm>
          <a:prstGeom prst="rect">
            <a:avLst/>
          </a:prstGeom>
        </p:spPr>
      </p:pic>
      <p:pic>
        <p:nvPicPr>
          <p:cNvPr id="9" name="eq-524" descr="fwd_err">    </p:cNvPr>
          <p:cNvPicPr>
            <a:picLocks noChangeAspect="1"/>
          </p:cNvPicPr>
          <p:nvPr/>
        </p:nvPicPr>
        <p:blipFill>
          <a:blip r:embed="rId3"/>
          <a:stretch>
            <a:fillRect/>
          </a:stretch>
        </p:blipFill>
        <p:spPr>
          <a:xfrm>
            <a:off x="2731008" y="3537204"/>
            <a:ext cx="2267712" cy="560832"/>
          </a:xfrm>
          <a:prstGeom prst="rect">
            <a:avLst/>
          </a:prstGeom>
        </p:spPr>
      </p:pic>
      <p:sp>
        <p:nvSpPr>
          <p:cNvPr id="10" name="line-525"/>
          <p:cNvSpPr/>
          <p:nvPr/>
        </p:nvSpPr>
        <p:spPr>
          <a:xfrm>
            <a:off x="2776728" y="4152900"/>
            <a:ext cx="2176272" cy="0"/>
          </a:xfrm>
          <a:prstGeom prst="line">
            <a:avLst/>
          </a:prstGeom>
          <a:noFill/>
          <a:ln w="19050">
            <a:solidFill>
              <a:schemeClr val="accent2"/>
            </a:solidFill>
            <a:prstDash val="solid"/>
          </a:ln>
        </p:spPr>
      </p:sp>
      <p:sp>
        <p:nvSpPr>
          <p:cNvPr id="11" name="text-526"/>
          <p:cNvSpPr txBox="1"/>
          <p:nvPr/>
        </p:nvSpPr>
        <p:spPr>
          <a:xfrm>
            <a:off x="2456688" y="4207764"/>
            <a:ext cx="2816352" cy="320040"/>
          </a:xfrm>
          <a:prstGeom prst="rect">
            <a:avLst/>
          </a:prstGeom>
          <a:noFill/>
          <a:ln/>
        </p:spPr>
        <p:txBody>
          <a:bodyPr wrap="square" lIns="0" tIns="0" rIns="0" bIns="0" rtlCol="0" anchor="t"/>
          <a:lstStyle/>
          <a:p>
            <a:pPr algn="ctr" indent="0" marL="0">
              <a:buNone/>
            </a:pPr>
            <a:r>
              <a:rPr lang="en-US" sz="1400" b="1" dirty="0">
                <a:solidFill>
                  <a:schemeClr val="accent2"/>
                </a:solidFill>
              </a:rPr>
              <a:t>truncation error, O(Δx)</a:t>
            </a:r>
            <a:endParaRPr lang="en-US" sz="1400" dirty="0"/>
          </a:p>
        </p:txBody>
      </p:sp>
      <p:sp>
        <p:nvSpPr>
          <p:cNvPr id="12" name="note-strip-527"/>
          <p:cNvSpPr/>
          <p:nvPr/>
        </p:nvSpPr>
        <p:spPr>
          <a:xfrm>
            <a:off x="548640" y="5074920"/>
            <a:ext cx="5852160" cy="914400"/>
          </a:xfrm>
          <a:prstGeom prst="roundRect">
            <a:avLst>
              <a:gd name="adj" fmla="val 10000"/>
            </a:avLst>
          </a:prstGeom>
          <a:solidFill>
            <a:schemeClr val="accent6">
              <a:alpha val="12000"/>
            </a:schemeClr>
          </a:solidFill>
          <a:ln/>
        </p:spPr>
      </p:sp>
      <p:sp>
        <p:nvSpPr>
          <p:cNvPr id="13" name="icon-bg-528"/>
          <p:cNvSpPr/>
          <p:nvPr/>
        </p:nvSpPr>
        <p:spPr>
          <a:xfrm>
            <a:off x="685800" y="5340096"/>
            <a:ext cx="384048" cy="384048"/>
          </a:xfrm>
          <a:prstGeom prst="ellipse">
            <a:avLst/>
          </a:prstGeom>
          <a:solidFill>
            <a:schemeClr val="accent6"/>
          </a:solidFill>
          <a:ln/>
        </p:spPr>
      </p:sp>
      <p:pic>
        <p:nvPicPr>
          <p:cNvPr id="14" name="icon-529" descr="preencoded.png">    </p:cNvPr>
          <p:cNvPicPr>
            <a:picLocks noChangeAspect="1"/>
          </p:cNvPicPr>
          <p:nvPr/>
        </p:nvPicPr>
        <p:blipFill>
          <a:blip r:embed="rId4"/>
          <a:stretch>
            <a:fillRect/>
          </a:stretch>
        </p:blipFill>
        <p:spPr>
          <a:xfrm>
            <a:off x="774131" y="5428427"/>
            <a:ext cx="207386" cy="207386"/>
          </a:xfrm>
          <a:prstGeom prst="rect">
            <a:avLst/>
          </a:prstGeom>
        </p:spPr>
      </p:pic>
      <p:sp>
        <p:nvSpPr>
          <p:cNvPr id="15" name="text-530"/>
          <p:cNvSpPr txBox="1"/>
          <p:nvPr/>
        </p:nvSpPr>
        <p:spPr>
          <a:xfrm>
            <a:off x="1234440" y="5074920"/>
            <a:ext cx="4983480" cy="914400"/>
          </a:xfrm>
          <a:prstGeom prst="rect">
            <a:avLst/>
          </a:prstGeom>
          <a:noFill/>
          <a:ln/>
        </p:spPr>
        <p:txBody>
          <a:bodyPr wrap="square" lIns="0" tIns="0" rIns="0" bIns="0" rtlCol="0" anchor="ctr"/>
          <a:lstStyle/>
          <a:p>
            <a:pPr indent="0" marL="0">
              <a:buNone/>
            </a:pPr>
            <a:r>
              <a:rPr lang="en-US" sz="1500" dirty="0">
                <a:solidFill>
                  <a:schemeClr val="tx1"/>
                </a:solidFill>
              </a:rPr>
              <a:t>The terms we throw away are the </a:t>
            </a:r>
            <a:pPr indent="0" marL="0">
              <a:buNone/>
            </a:pPr>
            <a:r>
              <a:rPr lang="en-US" sz="1500" b="1" dirty="0">
                <a:solidFill>
                  <a:schemeClr val="tx1"/>
                </a:solidFill>
              </a:rPr>
              <a:t>truncation error</a:t>
            </a:r>
            <a:pPr indent="0" marL="0">
              <a:buNone/>
            </a:pPr>
            <a:r>
              <a:rPr lang="en-US" sz="1500" dirty="0">
                <a:solidFill>
                  <a:schemeClr val="tx1"/>
                </a:solidFill>
              </a:rPr>
              <a:t>. The power of Δx in its leading term is the </a:t>
            </a:r>
            <a:pPr indent="0" marL="0">
              <a:buNone/>
            </a:pPr>
            <a:r>
              <a:rPr lang="en-US" sz="1500" b="1" dirty="0">
                <a:solidFill>
                  <a:schemeClr val="tx1"/>
                </a:solidFill>
              </a:rPr>
              <a:t>order of accuracy</a:t>
            </a:r>
            <a:pPr indent="0" marL="0">
              <a:buNone/>
            </a:pPr>
            <a:r>
              <a:rPr lang="en-US" sz="1500" dirty="0">
                <a:solidFill>
                  <a:schemeClr val="tx1"/>
                </a:solidFill>
              </a:rPr>
              <a:t> p.</a:t>
            </a:r>
            <a:endParaRPr lang="en-US" sz="1500" dirty="0"/>
          </a:p>
        </p:txBody>
      </p:sp>
      <p:pic>
        <p:nvPicPr>
          <p:cNvPr id="16" name="img-531" descr="Exact slope compared with forward, backward and central difference estimates">    </p:cNvPr>
          <p:cNvPicPr>
            <a:picLocks noChangeAspect="1"/>
          </p:cNvPicPr>
          <p:nvPr/>
        </p:nvPicPr>
        <p:blipFill>
          <a:blip r:embed="rId5"/>
          <a:stretch>
            <a:fillRect/>
          </a:stretch>
        </p:blipFill>
        <p:spPr>
          <a:xfrm>
            <a:off x="6675120" y="1387761"/>
            <a:ext cx="4965192" cy="3579557"/>
          </a:xfrm>
          <a:prstGeom prst="rect">
            <a:avLst/>
          </a:prstGeom>
        </p:spPr>
      </p:pic>
      <p:sp>
        <p:nvSpPr>
          <p:cNvPr id="17" name="text-532"/>
          <p:cNvSpPr txBox="1"/>
          <p:nvPr/>
        </p:nvSpPr>
        <p:spPr>
          <a:xfrm>
            <a:off x="6675120" y="5120640"/>
            <a:ext cx="4965192" cy="640080"/>
          </a:xfrm>
          <a:prstGeom prst="rect">
            <a:avLst/>
          </a:prstGeom>
          <a:noFill/>
          <a:ln/>
        </p:spPr>
        <p:txBody>
          <a:bodyPr wrap="square" lIns="0" tIns="0" rIns="0" bIns="0" rtlCol="0" anchor="t"/>
          <a:lstStyle/>
          <a:p>
            <a:pPr indent="0" marL="0">
              <a:buNone/>
            </a:pPr>
            <a:r>
              <a:rPr lang="en-US" sz="1300" dirty="0">
                <a:solidFill>
                  <a:schemeClr val="tx2"/>
                </a:solidFill>
              </a:rPr>
              <a:t>Three ways to estimate the slope from neighbouring grid values. The central difference is closest to the exact tangent.</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533"/>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4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The finite difference toolbox</a:t>
            </a:r>
            <a:endParaRPr lang="en-US" sz="3200" dirty="0"/>
          </a:p>
        </p:txBody>
      </p:sp>
      <p:sp>
        <p:nvSpPr>
          <p:cNvPr id="4" name="card-534"/>
          <p:cNvSpPr/>
          <p:nvPr/>
        </p:nvSpPr>
        <p:spPr>
          <a:xfrm>
            <a:off x="548640" y="1417320"/>
            <a:ext cx="3108960" cy="1783080"/>
          </a:xfrm>
          <a:prstGeom prst="roundRect">
            <a:avLst>
              <a:gd name="adj" fmla="val 512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text-535"/>
          <p:cNvSpPr txBox="1"/>
          <p:nvPr/>
        </p:nvSpPr>
        <p:spPr>
          <a:xfrm>
            <a:off x="731520" y="1572768"/>
            <a:ext cx="1828800" cy="320040"/>
          </a:xfrm>
          <a:prstGeom prst="rect">
            <a:avLst/>
          </a:prstGeom>
          <a:noFill/>
          <a:ln/>
        </p:spPr>
        <p:txBody>
          <a:bodyPr wrap="square" lIns="0" tIns="0" rIns="0" bIns="0" rtlCol="0" anchor="t"/>
          <a:lstStyle/>
          <a:p>
            <a:pPr indent="0" marL="0">
              <a:buNone/>
            </a:pPr>
            <a:r>
              <a:rPr lang="en-US" sz="1500" b="1" dirty="0">
                <a:solidFill>
                  <a:schemeClr val="tx1"/>
                </a:solidFill>
              </a:rPr>
              <a:t>f′</a:t>
            </a:r>
            <a:pPr indent="0" marL="0">
              <a:buNone/>
            </a:pPr>
            <a:r>
              <a:rPr lang="en-US" sz="1500" b="1" baseline="-40000" dirty="0">
                <a:solidFill>
                  <a:schemeClr val="tx1"/>
                </a:solidFill>
              </a:rPr>
              <a:t>i</a:t>
            </a:r>
            <a:pPr indent="0" marL="0">
              <a:buNone/>
            </a:pPr>
            <a:r>
              <a:rPr lang="en-US" sz="1500" b="1" dirty="0">
                <a:solidFill>
                  <a:schemeClr val="tx1"/>
                </a:solidFill>
              </a:rPr>
              <a:t>  ·  forward</a:t>
            </a:r>
            <a:endParaRPr lang="en-US" sz="1500" dirty="0"/>
          </a:p>
        </p:txBody>
      </p:sp>
      <p:sp>
        <p:nvSpPr>
          <p:cNvPr id="6" name="pill-536"/>
          <p:cNvSpPr/>
          <p:nvPr/>
        </p:nvSpPr>
        <p:spPr>
          <a:xfrm>
            <a:off x="2560320" y="1581912"/>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1st order</a:t>
            </a:r>
            <a:endParaRPr lang="en-US" sz="1100" dirty="0"/>
          </a:p>
        </p:txBody>
      </p:sp>
      <p:pic>
        <p:nvPicPr>
          <p:cNvPr id="7" name="eq-537" descr="d_fwd">    </p:cNvPr>
          <p:cNvPicPr>
            <a:picLocks noChangeAspect="1"/>
          </p:cNvPicPr>
          <p:nvPr/>
        </p:nvPicPr>
        <p:blipFill>
          <a:blip r:embed="rId1"/>
          <a:stretch>
            <a:fillRect/>
          </a:stretch>
        </p:blipFill>
        <p:spPr>
          <a:xfrm>
            <a:off x="1627632" y="2295144"/>
            <a:ext cx="950976" cy="484632"/>
          </a:xfrm>
          <a:prstGeom prst="rect">
            <a:avLst/>
          </a:prstGeom>
        </p:spPr>
      </p:pic>
      <p:sp>
        <p:nvSpPr>
          <p:cNvPr id="8" name="card-538"/>
          <p:cNvSpPr/>
          <p:nvPr/>
        </p:nvSpPr>
        <p:spPr>
          <a:xfrm>
            <a:off x="3840480" y="1417320"/>
            <a:ext cx="3108960" cy="1783080"/>
          </a:xfrm>
          <a:prstGeom prst="roundRect">
            <a:avLst>
              <a:gd name="adj" fmla="val 512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9" name="text-539"/>
          <p:cNvSpPr txBox="1"/>
          <p:nvPr/>
        </p:nvSpPr>
        <p:spPr>
          <a:xfrm>
            <a:off x="4023360" y="1572768"/>
            <a:ext cx="1828800" cy="320040"/>
          </a:xfrm>
          <a:prstGeom prst="rect">
            <a:avLst/>
          </a:prstGeom>
          <a:noFill/>
          <a:ln/>
        </p:spPr>
        <p:txBody>
          <a:bodyPr wrap="square" lIns="0" tIns="0" rIns="0" bIns="0" rtlCol="0" anchor="t"/>
          <a:lstStyle/>
          <a:p>
            <a:pPr indent="0" marL="0">
              <a:buNone/>
            </a:pPr>
            <a:r>
              <a:rPr lang="en-US" sz="1500" b="1" dirty="0">
                <a:solidFill>
                  <a:schemeClr val="tx1"/>
                </a:solidFill>
              </a:rPr>
              <a:t>f′</a:t>
            </a:r>
            <a:pPr indent="0" marL="0">
              <a:buNone/>
            </a:pPr>
            <a:r>
              <a:rPr lang="en-US" sz="1500" b="1" baseline="-40000" dirty="0">
                <a:solidFill>
                  <a:schemeClr val="tx1"/>
                </a:solidFill>
              </a:rPr>
              <a:t>i</a:t>
            </a:r>
            <a:pPr indent="0" marL="0">
              <a:buNone/>
            </a:pPr>
            <a:r>
              <a:rPr lang="en-US" sz="1500" b="1" dirty="0">
                <a:solidFill>
                  <a:schemeClr val="tx1"/>
                </a:solidFill>
              </a:rPr>
              <a:t>  ·  backward</a:t>
            </a:r>
            <a:endParaRPr lang="en-US" sz="1500" dirty="0"/>
          </a:p>
        </p:txBody>
      </p:sp>
      <p:sp>
        <p:nvSpPr>
          <p:cNvPr id="10" name="pill-540"/>
          <p:cNvSpPr/>
          <p:nvPr/>
        </p:nvSpPr>
        <p:spPr>
          <a:xfrm>
            <a:off x="5852160" y="1581912"/>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1st order</a:t>
            </a:r>
            <a:endParaRPr lang="en-US" sz="1100" dirty="0"/>
          </a:p>
        </p:txBody>
      </p:sp>
      <p:pic>
        <p:nvPicPr>
          <p:cNvPr id="11" name="eq-541" descr="d_bwd">    </p:cNvPr>
          <p:cNvPicPr>
            <a:picLocks noChangeAspect="1"/>
          </p:cNvPicPr>
          <p:nvPr/>
        </p:nvPicPr>
        <p:blipFill>
          <a:blip r:embed="rId2"/>
          <a:stretch>
            <a:fillRect/>
          </a:stretch>
        </p:blipFill>
        <p:spPr>
          <a:xfrm>
            <a:off x="4919472" y="2295144"/>
            <a:ext cx="950976" cy="484632"/>
          </a:xfrm>
          <a:prstGeom prst="rect">
            <a:avLst/>
          </a:prstGeom>
        </p:spPr>
      </p:pic>
      <p:sp>
        <p:nvSpPr>
          <p:cNvPr id="12" name="card-542"/>
          <p:cNvSpPr/>
          <p:nvPr/>
        </p:nvSpPr>
        <p:spPr>
          <a:xfrm>
            <a:off x="548640" y="3355848"/>
            <a:ext cx="3108960" cy="1783080"/>
          </a:xfrm>
          <a:prstGeom prst="roundRect">
            <a:avLst>
              <a:gd name="adj" fmla="val 512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3" name="text-543"/>
          <p:cNvSpPr txBox="1"/>
          <p:nvPr/>
        </p:nvSpPr>
        <p:spPr>
          <a:xfrm>
            <a:off x="731520" y="3511296"/>
            <a:ext cx="1828800" cy="320040"/>
          </a:xfrm>
          <a:prstGeom prst="rect">
            <a:avLst/>
          </a:prstGeom>
          <a:noFill/>
          <a:ln/>
        </p:spPr>
        <p:txBody>
          <a:bodyPr wrap="square" lIns="0" tIns="0" rIns="0" bIns="0" rtlCol="0" anchor="t"/>
          <a:lstStyle/>
          <a:p>
            <a:pPr indent="0" marL="0">
              <a:buNone/>
            </a:pPr>
            <a:r>
              <a:rPr lang="en-US" sz="1500" b="1" dirty="0">
                <a:solidFill>
                  <a:schemeClr val="tx1"/>
                </a:solidFill>
              </a:rPr>
              <a:t>f′</a:t>
            </a:r>
            <a:pPr indent="0" marL="0">
              <a:buNone/>
            </a:pPr>
            <a:r>
              <a:rPr lang="en-US" sz="1500" b="1" baseline="-40000" dirty="0">
                <a:solidFill>
                  <a:schemeClr val="tx1"/>
                </a:solidFill>
              </a:rPr>
              <a:t>i</a:t>
            </a:r>
            <a:pPr indent="0" marL="0">
              <a:buNone/>
            </a:pPr>
            <a:r>
              <a:rPr lang="en-US" sz="1500" b="1" dirty="0">
                <a:solidFill>
                  <a:schemeClr val="tx1"/>
                </a:solidFill>
              </a:rPr>
              <a:t>  ·  central</a:t>
            </a:r>
            <a:endParaRPr lang="en-US" sz="1500" dirty="0"/>
          </a:p>
        </p:txBody>
      </p:sp>
      <p:sp>
        <p:nvSpPr>
          <p:cNvPr id="14" name="pill-544"/>
          <p:cNvSpPr/>
          <p:nvPr/>
        </p:nvSpPr>
        <p:spPr>
          <a:xfrm>
            <a:off x="2560320" y="3520440"/>
            <a:ext cx="91440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2nd order</a:t>
            </a:r>
            <a:endParaRPr lang="en-US" sz="1100" dirty="0"/>
          </a:p>
        </p:txBody>
      </p:sp>
      <p:pic>
        <p:nvPicPr>
          <p:cNvPr id="15" name="eq-545" descr="d_cen">    </p:cNvPr>
          <p:cNvPicPr>
            <a:picLocks noChangeAspect="1"/>
          </p:cNvPicPr>
          <p:nvPr/>
        </p:nvPicPr>
        <p:blipFill>
          <a:blip r:embed="rId3"/>
          <a:stretch>
            <a:fillRect/>
          </a:stretch>
        </p:blipFill>
        <p:spPr>
          <a:xfrm>
            <a:off x="1502664" y="4233672"/>
            <a:ext cx="1200912" cy="484632"/>
          </a:xfrm>
          <a:prstGeom prst="rect">
            <a:avLst/>
          </a:prstGeom>
        </p:spPr>
      </p:pic>
      <p:sp>
        <p:nvSpPr>
          <p:cNvPr id="16" name="card-546"/>
          <p:cNvSpPr/>
          <p:nvPr/>
        </p:nvSpPr>
        <p:spPr>
          <a:xfrm>
            <a:off x="3840480" y="3355848"/>
            <a:ext cx="3108960" cy="1783080"/>
          </a:xfrm>
          <a:prstGeom prst="roundRect">
            <a:avLst>
              <a:gd name="adj" fmla="val 512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7" name="text-547"/>
          <p:cNvSpPr txBox="1"/>
          <p:nvPr/>
        </p:nvSpPr>
        <p:spPr>
          <a:xfrm>
            <a:off x="4023360" y="3511296"/>
            <a:ext cx="1828800" cy="320040"/>
          </a:xfrm>
          <a:prstGeom prst="rect">
            <a:avLst/>
          </a:prstGeom>
          <a:noFill/>
          <a:ln/>
        </p:spPr>
        <p:txBody>
          <a:bodyPr wrap="square" lIns="0" tIns="0" rIns="0" bIns="0" rtlCol="0" anchor="t"/>
          <a:lstStyle/>
          <a:p>
            <a:pPr indent="0" marL="0">
              <a:buNone/>
            </a:pPr>
            <a:r>
              <a:rPr lang="en-US" sz="1500" b="1" dirty="0">
                <a:solidFill>
                  <a:schemeClr val="tx1"/>
                </a:solidFill>
              </a:rPr>
              <a:t>f″</a:t>
            </a:r>
            <a:pPr indent="0" marL="0">
              <a:buNone/>
            </a:pPr>
            <a:r>
              <a:rPr lang="en-US" sz="1500" b="1" baseline="-40000" dirty="0">
                <a:solidFill>
                  <a:schemeClr val="tx1"/>
                </a:solidFill>
              </a:rPr>
              <a:t>i</a:t>
            </a:r>
            <a:pPr indent="0" marL="0">
              <a:buNone/>
            </a:pPr>
            <a:r>
              <a:rPr lang="en-US" sz="1500" b="1" dirty="0">
                <a:solidFill>
                  <a:schemeClr val="tx1"/>
                </a:solidFill>
              </a:rPr>
              <a:t>  ·  central</a:t>
            </a:r>
            <a:endParaRPr lang="en-US" sz="1500" dirty="0"/>
          </a:p>
        </p:txBody>
      </p:sp>
      <p:sp>
        <p:nvSpPr>
          <p:cNvPr id="18" name="pill-548"/>
          <p:cNvSpPr/>
          <p:nvPr/>
        </p:nvSpPr>
        <p:spPr>
          <a:xfrm>
            <a:off x="5852160" y="3520440"/>
            <a:ext cx="91440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2nd order</a:t>
            </a:r>
            <a:endParaRPr lang="en-US" sz="1100" dirty="0"/>
          </a:p>
        </p:txBody>
      </p:sp>
      <p:pic>
        <p:nvPicPr>
          <p:cNvPr id="19" name="eq-549" descr="d_sec">    </p:cNvPr>
          <p:cNvPicPr>
            <a:picLocks noChangeAspect="1"/>
          </p:cNvPicPr>
          <p:nvPr/>
        </p:nvPicPr>
        <p:blipFill>
          <a:blip r:embed="rId4"/>
          <a:stretch>
            <a:fillRect/>
          </a:stretch>
        </p:blipFill>
        <p:spPr>
          <a:xfrm>
            <a:off x="4532376" y="4216908"/>
            <a:ext cx="1725168" cy="518160"/>
          </a:xfrm>
          <a:prstGeom prst="rect">
            <a:avLst/>
          </a:prstGeom>
        </p:spPr>
      </p:pic>
      <p:sp>
        <p:nvSpPr>
          <p:cNvPr id="20" name="card-550"/>
          <p:cNvSpPr/>
          <p:nvPr/>
        </p:nvSpPr>
        <p:spPr>
          <a:xfrm>
            <a:off x="7269480" y="1417320"/>
            <a:ext cx="4370832" cy="1600200"/>
          </a:xfrm>
          <a:prstGeom prst="roundRect">
            <a:avLst>
              <a:gd name="adj" fmla="val 5714"/>
            </a:avLst>
          </a:prstGeom>
          <a:solidFill>
            <a:schemeClr val="tx1"/>
          </a:solidFill>
          <a:ln/>
          <a:effectLst>
            <a:outerShdw sx="100000" sy="100000" kx="0" ky="0" algn="bl" rotWithShape="0" blurRad="88900" dist="19050" dir="5400000">
              <a:srgbClr val="0B2E47">
                <a:alpha val="12000"/>
              </a:srgbClr>
            </a:outerShdw>
          </a:effectLst>
        </p:spPr>
      </p:sp>
      <p:sp>
        <p:nvSpPr>
          <p:cNvPr id="21" name="text-551"/>
          <p:cNvSpPr txBox="1"/>
          <p:nvPr/>
        </p:nvSpPr>
        <p:spPr>
          <a:xfrm>
            <a:off x="7452360" y="1417320"/>
            <a:ext cx="1508760" cy="1600200"/>
          </a:xfrm>
          <a:prstGeom prst="rect">
            <a:avLst/>
          </a:prstGeom>
          <a:noFill/>
          <a:ln/>
        </p:spPr>
        <p:txBody>
          <a:bodyPr wrap="square" lIns="0" tIns="0" rIns="0" bIns="0" rtlCol="0" anchor="ctr"/>
          <a:lstStyle/>
          <a:p>
            <a:pPr algn="ctr" indent="0" marL="0">
              <a:buNone/>
            </a:pPr>
            <a:r>
              <a:rPr lang="en-US" sz="6000" b="1" dirty="0">
                <a:solidFill>
                  <a:schemeClr val="accent2"/>
                </a:solidFill>
              </a:rPr>
              <a:t>÷4</a:t>
            </a:r>
            <a:endParaRPr lang="en-US" sz="6000" dirty="0"/>
          </a:p>
        </p:txBody>
      </p:sp>
      <p:sp>
        <p:nvSpPr>
          <p:cNvPr id="22" name="text-552"/>
          <p:cNvSpPr txBox="1"/>
          <p:nvPr/>
        </p:nvSpPr>
        <p:spPr>
          <a:xfrm>
            <a:off x="9006840" y="1508760"/>
            <a:ext cx="2468880" cy="1417320"/>
          </a:xfrm>
          <a:prstGeom prst="rect">
            <a:avLst/>
          </a:prstGeom>
          <a:noFill/>
          <a:ln/>
        </p:spPr>
        <p:txBody>
          <a:bodyPr wrap="square" lIns="0" tIns="0" rIns="0" bIns="0" rtlCol="0" anchor="ctr"/>
          <a:lstStyle/>
          <a:p>
            <a:pPr indent="0" marL="0">
              <a:buNone/>
            </a:pPr>
            <a:r>
              <a:rPr lang="en-US" sz="1500" dirty="0">
                <a:solidFill>
                  <a:schemeClr val="bg1"/>
                </a:solidFill>
              </a:rPr>
              <a:t>Halve Δx and a </a:t>
            </a:r>
            <a:pPr indent="0" marL="0">
              <a:buNone/>
            </a:pPr>
            <a:r>
              <a:rPr lang="en-US" sz="1500" b="1" dirty="0">
                <a:solidFill>
                  <a:schemeClr val="bg1"/>
                </a:solidFill>
              </a:rPr>
              <a:t>2nd-order</a:t>
            </a:r>
            <a:pPr indent="0" marL="0">
              <a:buNone/>
            </a:pPr>
            <a:r>
              <a:rPr lang="en-US" sz="1500" dirty="0">
                <a:solidFill>
                  <a:schemeClr val="bg1"/>
                </a:solidFill>
              </a:rPr>
              <a:t> error falls 4×; a 1st-order error only 2×. In general, error ∝ Δx</a:t>
            </a:r>
            <a:pPr indent="0" marL="0">
              <a:buNone/>
            </a:pPr>
            <a:r>
              <a:rPr lang="en-US" sz="1500" baseline="30000" dirty="0">
                <a:solidFill>
                  <a:schemeClr val="bg1"/>
                </a:solidFill>
              </a:rPr>
              <a:t>p</a:t>
            </a:r>
            <a:pPr indent="0" marL="0">
              <a:buNone/>
            </a:pPr>
            <a:r>
              <a:rPr lang="en-US" sz="1500" dirty="0">
                <a:solidFill>
                  <a:schemeClr val="bg1"/>
                </a:solidFill>
              </a:rPr>
              <a:t>.</a:t>
            </a:r>
            <a:endParaRPr lang="en-US" sz="1500" dirty="0"/>
          </a:p>
        </p:txBody>
      </p:sp>
      <p:sp>
        <p:nvSpPr>
          <p:cNvPr id="23" name="card-553"/>
          <p:cNvSpPr/>
          <p:nvPr/>
        </p:nvSpPr>
        <p:spPr>
          <a:xfrm>
            <a:off x="7269480" y="3154680"/>
            <a:ext cx="4370832" cy="2103120"/>
          </a:xfrm>
          <a:prstGeom prst="roundRect">
            <a:avLst>
              <a:gd name="adj" fmla="val 434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24" name="img-554" descr="The five-point stencil around node (i, j)">    </p:cNvPr>
          <p:cNvPicPr>
            <a:picLocks noChangeAspect="1"/>
          </p:cNvPicPr>
          <p:nvPr/>
        </p:nvPicPr>
        <p:blipFill>
          <a:blip r:embed="rId5"/>
          <a:stretch>
            <a:fillRect/>
          </a:stretch>
        </p:blipFill>
        <p:spPr>
          <a:xfrm>
            <a:off x="7360920" y="3284632"/>
            <a:ext cx="2286000" cy="1843216"/>
          </a:xfrm>
          <a:prstGeom prst="rect">
            <a:avLst/>
          </a:prstGeom>
        </p:spPr>
      </p:pic>
      <p:sp>
        <p:nvSpPr>
          <p:cNvPr id="25" name="text-555"/>
          <p:cNvSpPr txBox="1"/>
          <p:nvPr/>
        </p:nvSpPr>
        <p:spPr>
          <a:xfrm>
            <a:off x="9784080" y="3154680"/>
            <a:ext cx="1737360" cy="2103120"/>
          </a:xfrm>
          <a:prstGeom prst="rect">
            <a:avLst/>
          </a:prstGeom>
          <a:noFill/>
          <a:ln/>
        </p:spPr>
        <p:txBody>
          <a:bodyPr wrap="square" lIns="0" tIns="0" rIns="0" bIns="0" rtlCol="0" anchor="ctr"/>
          <a:lstStyle/>
          <a:p>
            <a:pPr indent="0" marL="0">
              <a:buNone/>
            </a:pPr>
            <a:r>
              <a:rPr lang="en-US" sz="1400" dirty="0">
                <a:solidFill>
                  <a:schemeClr val="tx1"/>
                </a:solidFill>
              </a:rPr>
              <a:t>In 2D, the </a:t>
            </a:r>
            <a:pPr indent="0" marL="0">
              <a:buNone/>
            </a:pPr>
            <a:r>
              <a:rPr lang="en-US" sz="1400" b="1" dirty="0">
                <a:solidFill>
                  <a:schemeClr val="tx1"/>
                </a:solidFill>
              </a:rPr>
              <a:t>five-point stencil</a:t>
            </a:r>
            <a:pPr indent="0" marL="0">
              <a:buNone/>
            </a:pPr>
            <a:r>
              <a:rPr lang="en-US" sz="1400" dirty="0">
                <a:solidFill>
                  <a:schemeClr val="tx1"/>
                </a:solidFill>
              </a:rPr>
              <a:t> links node (i, j) to its four neighbours.</a:t>
            </a:r>
            <a:endParaRPr lang="en-US" sz="1400" dirty="0"/>
          </a:p>
        </p:txBody>
      </p:sp>
      <p:sp>
        <p:nvSpPr>
          <p:cNvPr id="26" name="note-strip-556"/>
          <p:cNvSpPr/>
          <p:nvPr/>
        </p:nvSpPr>
        <p:spPr>
          <a:xfrm>
            <a:off x="548640" y="5440680"/>
            <a:ext cx="11094415" cy="685800"/>
          </a:xfrm>
          <a:prstGeom prst="roundRect">
            <a:avLst>
              <a:gd name="adj" fmla="val 13333"/>
            </a:avLst>
          </a:prstGeom>
          <a:solidFill>
            <a:schemeClr val="accent1">
              <a:alpha val="12000"/>
            </a:schemeClr>
          </a:solidFill>
          <a:ln/>
        </p:spPr>
      </p:sp>
      <p:sp>
        <p:nvSpPr>
          <p:cNvPr id="27" name="icon-bg-557"/>
          <p:cNvSpPr/>
          <p:nvPr/>
        </p:nvSpPr>
        <p:spPr>
          <a:xfrm>
            <a:off x="685800" y="5591556"/>
            <a:ext cx="384048" cy="384048"/>
          </a:xfrm>
          <a:prstGeom prst="ellipse">
            <a:avLst/>
          </a:prstGeom>
          <a:solidFill>
            <a:schemeClr val="accent1"/>
          </a:solidFill>
          <a:ln/>
        </p:spPr>
      </p:sp>
      <p:pic>
        <p:nvPicPr>
          <p:cNvPr id="28" name="icon-558" descr="preencoded.png">    </p:cNvPr>
          <p:cNvPicPr>
            <a:picLocks noChangeAspect="1"/>
          </p:cNvPicPr>
          <p:nvPr/>
        </p:nvPicPr>
        <p:blipFill>
          <a:blip r:embed="rId6"/>
          <a:stretch>
            <a:fillRect/>
          </a:stretch>
        </p:blipFill>
        <p:spPr>
          <a:xfrm>
            <a:off x="774131" y="5679887"/>
            <a:ext cx="207386" cy="207386"/>
          </a:xfrm>
          <a:prstGeom prst="rect">
            <a:avLst/>
          </a:prstGeom>
        </p:spPr>
      </p:pic>
      <p:sp>
        <p:nvSpPr>
          <p:cNvPr id="29" name="text-559"/>
          <p:cNvSpPr txBox="1"/>
          <p:nvPr/>
        </p:nvSpPr>
        <p:spPr>
          <a:xfrm>
            <a:off x="1234440" y="5440680"/>
            <a:ext cx="10225735" cy="685800"/>
          </a:xfrm>
          <a:prstGeom prst="rect">
            <a:avLst/>
          </a:prstGeom>
          <a:noFill/>
          <a:ln/>
        </p:spPr>
        <p:txBody>
          <a:bodyPr wrap="square" lIns="0" tIns="0" rIns="0" bIns="0" rtlCol="0" anchor="ctr"/>
          <a:lstStyle/>
          <a:p>
            <a:pPr indent="0" marL="0">
              <a:buNone/>
            </a:pPr>
            <a:r>
              <a:rPr lang="en-US" sz="1600" dirty="0">
                <a:solidFill>
                  <a:schemeClr val="tx1"/>
                </a:solidFill>
              </a:rPr>
              <a:t>Write one formula at every node → the PDE becomes a set of </a:t>
            </a:r>
            <a:pPr indent="0" marL="0">
              <a:buNone/>
            </a:pPr>
            <a:r>
              <a:rPr lang="en-US" sz="1600" b="1" dirty="0">
                <a:solidFill>
                  <a:schemeClr val="tx1"/>
                </a:solidFill>
              </a:rPr>
              <a:t>algebraic equations</a:t>
            </a:r>
            <a:pPr indent="0" marL="0">
              <a:buNone/>
            </a:pPr>
            <a:r>
              <a:rPr lang="en-US" sz="1600" dirty="0">
                <a:solidFill>
                  <a:schemeClr val="tx1"/>
                </a:solidFill>
              </a:rPr>
              <a:t>, each linking a node to its neighbours.</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560"/>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4 · RUNNING EXAMPLE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The rod becomes plain arithmetic</a:t>
            </a:r>
            <a:endParaRPr lang="en-US" sz="3200" dirty="0"/>
          </a:p>
        </p:txBody>
      </p:sp>
      <p:sp>
        <p:nvSpPr>
          <p:cNvPr id="4" name="text-561"/>
          <p:cNvSpPr txBox="1"/>
          <p:nvPr/>
        </p:nvSpPr>
        <p:spPr>
          <a:xfrm>
            <a:off x="548640" y="1417320"/>
            <a:ext cx="6035040" cy="274320"/>
          </a:xfrm>
          <a:prstGeom prst="rect">
            <a:avLst/>
          </a:prstGeom>
          <a:noFill/>
          <a:ln/>
        </p:spPr>
        <p:txBody>
          <a:bodyPr wrap="square" lIns="0" tIns="0" rIns="0" bIns="0" rtlCol="0" anchor="t"/>
          <a:lstStyle/>
          <a:p>
            <a:pPr indent="0" marL="0">
              <a:buNone/>
            </a:pPr>
            <a:r>
              <a:rPr lang="en-US" sz="1250" b="1" spc="100" kern="0" dirty="0">
                <a:solidFill>
                  <a:schemeClr val="accent2"/>
                </a:solidFill>
              </a:rPr>
              <a:t>FORWARD IN TIME + CENTRED IN SPACE = FTCS</a:t>
            </a:r>
            <a:endParaRPr lang="en-US" sz="1250" dirty="0"/>
          </a:p>
        </p:txBody>
      </p:sp>
      <p:pic>
        <p:nvPicPr>
          <p:cNvPr id="5" name="eq-562" descr="ftcs">    </p:cNvPr>
          <p:cNvPicPr>
            <a:picLocks noChangeAspect="1"/>
          </p:cNvPicPr>
          <p:nvPr/>
        </p:nvPicPr>
        <p:blipFill>
          <a:blip r:embed="rId1"/>
          <a:stretch>
            <a:fillRect/>
          </a:stretch>
        </p:blipFill>
        <p:spPr>
          <a:xfrm>
            <a:off x="548640" y="1900428"/>
            <a:ext cx="3602736" cy="588264"/>
          </a:xfrm>
          <a:prstGeom prst="rect">
            <a:avLst/>
          </a:prstGeom>
        </p:spPr>
      </p:pic>
      <p:sp>
        <p:nvSpPr>
          <p:cNvPr id="6" name="arrow-563"/>
          <p:cNvSpPr/>
          <p:nvPr/>
        </p:nvSpPr>
        <p:spPr>
          <a:xfrm>
            <a:off x="1005840" y="2743200"/>
            <a:ext cx="0" cy="320040"/>
          </a:xfrm>
          <a:prstGeom prst="line">
            <a:avLst/>
          </a:prstGeom>
          <a:noFill/>
          <a:ln w="25400">
            <a:solidFill>
              <a:schemeClr val="accent4"/>
            </a:solidFill>
            <a:prstDash val="solid"/>
            <a:tailEnd type="triangle"/>
          </a:ln>
        </p:spPr>
      </p:sp>
      <p:sp>
        <p:nvSpPr>
          <p:cNvPr id="7" name="card-564"/>
          <p:cNvSpPr/>
          <p:nvPr/>
        </p:nvSpPr>
        <p:spPr>
          <a:xfrm>
            <a:off x="548640" y="3154680"/>
            <a:ext cx="6035040" cy="1508760"/>
          </a:xfrm>
          <a:prstGeom prst="roundRect">
            <a:avLst>
              <a:gd name="adj" fmla="val 6061"/>
            </a:avLst>
          </a:prstGeom>
          <a:solidFill>
            <a:schemeClr val="accent2">
              <a:alpha val="12000"/>
            </a:schemeClr>
          </a:solidFill>
          <a:ln w="15875">
            <a:solidFill>
              <a:schemeClr val="accent2"/>
            </a:solidFill>
            <a:prstDash val="solid"/>
          </a:ln>
        </p:spPr>
      </p:sp>
      <p:pic>
        <p:nvPicPr>
          <p:cNvPr id="8" name="eq-565" descr="ftcs_upd">    </p:cNvPr>
          <p:cNvPicPr>
            <a:picLocks noChangeAspect="1"/>
          </p:cNvPicPr>
          <p:nvPr/>
        </p:nvPicPr>
        <p:blipFill>
          <a:blip r:embed="rId2"/>
          <a:stretch>
            <a:fillRect/>
          </a:stretch>
        </p:blipFill>
        <p:spPr>
          <a:xfrm>
            <a:off x="731520" y="3355848"/>
            <a:ext cx="5346192" cy="512064"/>
          </a:xfrm>
          <a:prstGeom prst="rect">
            <a:avLst/>
          </a:prstGeom>
        </p:spPr>
      </p:pic>
      <p:pic>
        <p:nvPicPr>
          <p:cNvPr id="9" name="eq-566" descr="r_def">    </p:cNvPr>
          <p:cNvPicPr>
            <a:picLocks noChangeAspect="1"/>
          </p:cNvPicPr>
          <p:nvPr/>
        </p:nvPicPr>
        <p:blipFill>
          <a:blip r:embed="rId3"/>
          <a:stretch>
            <a:fillRect/>
          </a:stretch>
        </p:blipFill>
        <p:spPr>
          <a:xfrm>
            <a:off x="731520" y="4052316"/>
            <a:ext cx="1036320" cy="509016"/>
          </a:xfrm>
          <a:prstGeom prst="rect">
            <a:avLst/>
          </a:prstGeom>
        </p:spPr>
      </p:pic>
      <p:sp>
        <p:nvSpPr>
          <p:cNvPr id="10" name="text-567"/>
          <p:cNvSpPr txBox="1"/>
          <p:nvPr/>
        </p:nvSpPr>
        <p:spPr>
          <a:xfrm>
            <a:off x="2606040" y="4023360"/>
            <a:ext cx="3657600" cy="566928"/>
          </a:xfrm>
          <a:prstGeom prst="rect">
            <a:avLst/>
          </a:prstGeom>
          <a:noFill/>
          <a:ln/>
        </p:spPr>
        <p:txBody>
          <a:bodyPr wrap="square" lIns="0" tIns="0" rIns="0" bIns="0" rtlCol="0" anchor="ctr"/>
          <a:lstStyle/>
          <a:p>
            <a:pPr indent="0" marL="0">
              <a:buNone/>
            </a:pPr>
            <a:r>
              <a:rPr lang="en-US" sz="1400" dirty="0">
                <a:solidFill>
                  <a:schemeClr val="tx2"/>
                </a:solidFill>
              </a:rPr>
              <a:t>the stability number (Pillar 5)</a:t>
            </a:r>
            <a:endParaRPr lang="en-US" sz="1400" dirty="0"/>
          </a:p>
        </p:txBody>
      </p:sp>
      <p:sp>
        <p:nvSpPr>
          <p:cNvPr id="11" name="note-strip-568"/>
          <p:cNvSpPr/>
          <p:nvPr/>
        </p:nvSpPr>
        <p:spPr>
          <a:xfrm>
            <a:off x="548640" y="4892040"/>
            <a:ext cx="6035040" cy="777240"/>
          </a:xfrm>
          <a:prstGeom prst="roundRect">
            <a:avLst>
              <a:gd name="adj" fmla="val 11765"/>
            </a:avLst>
          </a:prstGeom>
          <a:solidFill>
            <a:schemeClr val="accent1">
              <a:alpha val="12000"/>
            </a:schemeClr>
          </a:solidFill>
          <a:ln/>
        </p:spPr>
      </p:sp>
      <p:sp>
        <p:nvSpPr>
          <p:cNvPr id="12" name="icon-bg-569"/>
          <p:cNvSpPr/>
          <p:nvPr/>
        </p:nvSpPr>
        <p:spPr>
          <a:xfrm>
            <a:off x="685800" y="5088636"/>
            <a:ext cx="384048" cy="384048"/>
          </a:xfrm>
          <a:prstGeom prst="ellipse">
            <a:avLst/>
          </a:prstGeom>
          <a:solidFill>
            <a:schemeClr val="accent1"/>
          </a:solidFill>
          <a:ln/>
        </p:spPr>
      </p:sp>
      <p:pic>
        <p:nvPicPr>
          <p:cNvPr id="13" name="icon-570" descr="preencoded.png">    </p:cNvPr>
          <p:cNvPicPr>
            <a:picLocks noChangeAspect="1"/>
          </p:cNvPicPr>
          <p:nvPr/>
        </p:nvPicPr>
        <p:blipFill>
          <a:blip r:embed="rId4"/>
          <a:stretch>
            <a:fillRect/>
          </a:stretch>
        </p:blipFill>
        <p:spPr>
          <a:xfrm>
            <a:off x="774131" y="5176967"/>
            <a:ext cx="207386" cy="207386"/>
          </a:xfrm>
          <a:prstGeom prst="rect">
            <a:avLst/>
          </a:prstGeom>
        </p:spPr>
      </p:pic>
      <p:sp>
        <p:nvSpPr>
          <p:cNvPr id="14" name="text-571"/>
          <p:cNvSpPr txBox="1"/>
          <p:nvPr/>
        </p:nvSpPr>
        <p:spPr>
          <a:xfrm>
            <a:off x="1234440" y="4892040"/>
            <a:ext cx="5166360" cy="777240"/>
          </a:xfrm>
          <a:prstGeom prst="rect">
            <a:avLst/>
          </a:prstGeom>
          <a:noFill/>
          <a:ln/>
        </p:spPr>
        <p:txBody>
          <a:bodyPr wrap="square" lIns="0" tIns="0" rIns="0" bIns="0" rtlCol="0" anchor="ctr"/>
          <a:lstStyle/>
          <a:p>
            <a:pPr indent="0" marL="0">
              <a:buNone/>
            </a:pPr>
            <a:r>
              <a:rPr lang="en-US" sz="1500" dirty="0">
                <a:solidFill>
                  <a:schemeClr val="tx1"/>
                </a:solidFill>
              </a:rPr>
              <a:t>No calculus left: each new temperature = old value + r × (sum of neighbour differences).</a:t>
            </a:r>
            <a:endParaRPr lang="en-US" sz="1500" dirty="0"/>
          </a:p>
        </p:txBody>
      </p:sp>
      <p:pic>
        <p:nvPicPr>
          <p:cNvPr id="15" name="img-572" descr="Explicit FTCS stencil: three known values at time level n give one new value at n+1">    </p:cNvPr>
          <p:cNvPicPr>
            <a:picLocks noChangeAspect="1"/>
          </p:cNvPicPr>
          <p:nvPr/>
        </p:nvPicPr>
        <p:blipFill>
          <a:blip r:embed="rId5"/>
          <a:stretch>
            <a:fillRect/>
          </a:stretch>
        </p:blipFill>
        <p:spPr>
          <a:xfrm>
            <a:off x="6903720" y="1386712"/>
            <a:ext cx="4736592" cy="3398776"/>
          </a:xfrm>
          <a:prstGeom prst="rect">
            <a:avLst/>
          </a:prstGeom>
        </p:spPr>
      </p:pic>
      <p:sp>
        <p:nvSpPr>
          <p:cNvPr id="16" name="text-573"/>
          <p:cNvSpPr txBox="1"/>
          <p:nvPr/>
        </p:nvSpPr>
        <p:spPr>
          <a:xfrm>
            <a:off x="6903720" y="4937760"/>
            <a:ext cx="4736592" cy="640080"/>
          </a:xfrm>
          <a:prstGeom prst="rect">
            <a:avLst/>
          </a:prstGeom>
          <a:noFill/>
          <a:ln/>
        </p:spPr>
        <p:txBody>
          <a:bodyPr wrap="square" lIns="0" tIns="0" rIns="0" bIns="0" rtlCol="0" anchor="t"/>
          <a:lstStyle/>
          <a:p>
            <a:pPr indent="0" marL="0">
              <a:buNone/>
            </a:pPr>
            <a:r>
              <a:rPr lang="en-US" sz="1350" dirty="0">
                <a:solidFill>
                  <a:schemeClr val="tx2"/>
                </a:solidFill>
              </a:rPr>
              <a:t>3 known values at time level n → 1 new value at n + 1: every node is updated directly.</a:t>
            </a:r>
            <a:endParaRPr lang="en-US" sz="13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57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5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Solution setup ①: explicit or implicit?</a:t>
            </a:r>
            <a:endParaRPr lang="en-US" sz="3200" dirty="0"/>
          </a:p>
        </p:txBody>
      </p:sp>
      <p:pic>
        <p:nvPicPr>
          <p:cNvPr id="4" name="img-575" descr="Explicit (e.g. FTCS) stencil">    </p:cNvPr>
          <p:cNvPicPr>
            <a:picLocks noChangeAspect="1"/>
          </p:cNvPicPr>
          <p:nvPr/>
        </p:nvPicPr>
        <p:blipFill>
          <a:blip r:embed="rId1"/>
          <a:stretch>
            <a:fillRect/>
          </a:stretch>
        </p:blipFill>
        <p:spPr>
          <a:xfrm>
            <a:off x="1475929" y="1371600"/>
            <a:ext cx="3631822" cy="2606040"/>
          </a:xfrm>
          <a:prstGeom prst="rect">
            <a:avLst/>
          </a:prstGeom>
        </p:spPr>
      </p:pic>
      <p:pic>
        <p:nvPicPr>
          <p:cNvPr id="5" name="icon-576" descr="preencoded.png">    </p:cNvPr>
          <p:cNvPicPr>
            <a:picLocks noChangeAspect="1"/>
          </p:cNvPicPr>
          <p:nvPr/>
        </p:nvPicPr>
        <p:blipFill>
          <a:blip r:embed="rId2"/>
          <a:stretch>
            <a:fillRect/>
          </a:stretch>
        </p:blipFill>
        <p:spPr>
          <a:xfrm>
            <a:off x="640080" y="4224528"/>
            <a:ext cx="310896" cy="310896"/>
          </a:xfrm>
          <a:prstGeom prst="rect">
            <a:avLst/>
          </a:prstGeom>
        </p:spPr>
      </p:pic>
      <p:sp>
        <p:nvSpPr>
          <p:cNvPr id="6" name="text-577"/>
          <p:cNvSpPr txBox="1"/>
          <p:nvPr/>
        </p:nvSpPr>
        <p:spPr>
          <a:xfrm>
            <a:off x="1097280" y="4160520"/>
            <a:ext cx="4846320" cy="438912"/>
          </a:xfrm>
          <a:prstGeom prst="rect">
            <a:avLst/>
          </a:prstGeom>
          <a:noFill/>
          <a:ln/>
        </p:spPr>
        <p:txBody>
          <a:bodyPr wrap="square" lIns="0" tIns="0" rIns="0" bIns="0" rtlCol="0" anchor="ctr"/>
          <a:lstStyle/>
          <a:p>
            <a:pPr indent="0" marL="0">
              <a:buNone/>
            </a:pPr>
            <a:r>
              <a:rPr lang="en-US" sz="1550" dirty="0">
                <a:solidFill>
                  <a:schemeClr val="tx1"/>
                </a:solidFill>
              </a:rPr>
              <a:t>new values from old values only</a:t>
            </a:r>
            <a:endParaRPr lang="en-US" sz="1550" dirty="0"/>
          </a:p>
        </p:txBody>
      </p:sp>
      <p:pic>
        <p:nvPicPr>
          <p:cNvPr id="7" name="icon-578" descr="preencoded.png">    </p:cNvPr>
          <p:cNvPicPr>
            <a:picLocks noChangeAspect="1"/>
          </p:cNvPicPr>
          <p:nvPr/>
        </p:nvPicPr>
        <p:blipFill>
          <a:blip r:embed="rId3"/>
          <a:stretch>
            <a:fillRect/>
          </a:stretch>
        </p:blipFill>
        <p:spPr>
          <a:xfrm>
            <a:off x="640080" y="4727448"/>
            <a:ext cx="310896" cy="310896"/>
          </a:xfrm>
          <a:prstGeom prst="rect">
            <a:avLst/>
          </a:prstGeom>
        </p:spPr>
      </p:pic>
      <p:sp>
        <p:nvSpPr>
          <p:cNvPr id="8" name="text-579"/>
          <p:cNvSpPr txBox="1"/>
          <p:nvPr/>
        </p:nvSpPr>
        <p:spPr>
          <a:xfrm>
            <a:off x="1097280" y="4663440"/>
            <a:ext cx="4846320" cy="438912"/>
          </a:xfrm>
          <a:prstGeom prst="rect">
            <a:avLst/>
          </a:prstGeom>
          <a:noFill/>
          <a:ln/>
        </p:spPr>
        <p:txBody>
          <a:bodyPr wrap="square" lIns="0" tIns="0" rIns="0" bIns="0" rtlCol="0" anchor="ctr"/>
          <a:lstStyle/>
          <a:p>
            <a:pPr indent="0" marL="0">
              <a:buNone/>
            </a:pPr>
            <a:r>
              <a:rPr lang="en-US" sz="1550" dirty="0">
                <a:solidFill>
                  <a:schemeClr val="tx1"/>
                </a:solidFill>
              </a:rPr>
              <a:t>tiny work per step: just arithmetic</a:t>
            </a:r>
            <a:endParaRPr lang="en-US" sz="1550" dirty="0"/>
          </a:p>
        </p:txBody>
      </p:sp>
      <p:pic>
        <p:nvPicPr>
          <p:cNvPr id="9" name="icon-580" descr="preencoded.png">    </p:cNvPr>
          <p:cNvPicPr>
            <a:picLocks noChangeAspect="1"/>
          </p:cNvPicPr>
          <p:nvPr/>
        </p:nvPicPr>
        <p:blipFill>
          <a:blip r:embed="rId4"/>
          <a:stretch>
            <a:fillRect/>
          </a:stretch>
        </p:blipFill>
        <p:spPr>
          <a:xfrm>
            <a:off x="640080" y="5230368"/>
            <a:ext cx="310896" cy="310896"/>
          </a:xfrm>
          <a:prstGeom prst="rect">
            <a:avLst/>
          </a:prstGeom>
        </p:spPr>
      </p:pic>
      <p:sp>
        <p:nvSpPr>
          <p:cNvPr id="10" name="text-581"/>
          <p:cNvSpPr txBox="1"/>
          <p:nvPr/>
        </p:nvSpPr>
        <p:spPr>
          <a:xfrm>
            <a:off x="1097280" y="5166360"/>
            <a:ext cx="4846320" cy="438912"/>
          </a:xfrm>
          <a:prstGeom prst="rect">
            <a:avLst/>
          </a:prstGeom>
          <a:noFill/>
          <a:ln/>
        </p:spPr>
        <p:txBody>
          <a:bodyPr wrap="square" lIns="0" tIns="0" rIns="0" bIns="0" rtlCol="0" anchor="ctr"/>
          <a:lstStyle/>
          <a:p>
            <a:pPr indent="0" marL="0">
              <a:buNone/>
            </a:pPr>
            <a:r>
              <a:rPr lang="en-US" sz="1550" dirty="0">
                <a:solidFill>
                  <a:schemeClr val="tx1"/>
                </a:solidFill>
              </a:rPr>
              <a:t>a few lines of code</a:t>
            </a:r>
            <a:endParaRPr lang="en-US" sz="1550" dirty="0"/>
          </a:p>
        </p:txBody>
      </p:sp>
      <p:pic>
        <p:nvPicPr>
          <p:cNvPr id="11" name="icon-582" descr="preencoded.png">    </p:cNvPr>
          <p:cNvPicPr>
            <a:picLocks noChangeAspect="1"/>
          </p:cNvPicPr>
          <p:nvPr/>
        </p:nvPicPr>
        <p:blipFill>
          <a:blip r:embed="rId5"/>
          <a:stretch>
            <a:fillRect/>
          </a:stretch>
        </p:blipFill>
        <p:spPr>
          <a:xfrm>
            <a:off x="640080" y="5733288"/>
            <a:ext cx="310896" cy="310896"/>
          </a:xfrm>
          <a:prstGeom prst="rect">
            <a:avLst/>
          </a:prstGeom>
        </p:spPr>
      </p:pic>
      <p:sp>
        <p:nvSpPr>
          <p:cNvPr id="12" name="text-583"/>
          <p:cNvSpPr txBox="1"/>
          <p:nvPr/>
        </p:nvSpPr>
        <p:spPr>
          <a:xfrm>
            <a:off x="1097280" y="5669280"/>
            <a:ext cx="4846320" cy="438912"/>
          </a:xfrm>
          <a:prstGeom prst="rect">
            <a:avLst/>
          </a:prstGeom>
          <a:noFill/>
          <a:ln/>
        </p:spPr>
        <p:txBody>
          <a:bodyPr wrap="square" lIns="0" tIns="0" rIns="0" bIns="0" rtlCol="0" anchor="ctr"/>
          <a:lstStyle/>
          <a:p>
            <a:pPr indent="0" marL="0">
              <a:buNone/>
            </a:pPr>
            <a:r>
              <a:rPr lang="en-US" sz="1550" dirty="0">
                <a:solidFill>
                  <a:schemeClr val="tx1"/>
                </a:solidFill>
              </a:rPr>
              <a:t>Δt limited by stability (r ≤ ½)</a:t>
            </a:r>
            <a:endParaRPr lang="en-US" sz="1550" dirty="0"/>
          </a:p>
        </p:txBody>
      </p:sp>
      <p:pic>
        <p:nvPicPr>
          <p:cNvPr id="13" name="img-584" descr="Implicit (e.g. BTCS, Crank–Nicolson) stencil">    </p:cNvPr>
          <p:cNvPicPr>
            <a:picLocks noChangeAspect="1"/>
          </p:cNvPicPr>
          <p:nvPr/>
        </p:nvPicPr>
        <p:blipFill>
          <a:blip r:embed="rId6"/>
          <a:stretch>
            <a:fillRect/>
          </a:stretch>
        </p:blipFill>
        <p:spPr>
          <a:xfrm>
            <a:off x="7072057" y="1371600"/>
            <a:ext cx="3631822" cy="2606040"/>
          </a:xfrm>
          <a:prstGeom prst="rect">
            <a:avLst/>
          </a:prstGeom>
        </p:spPr>
      </p:pic>
      <p:pic>
        <p:nvPicPr>
          <p:cNvPr id="14" name="icon-585" descr="preencoded.png">    </p:cNvPr>
          <p:cNvPicPr>
            <a:picLocks noChangeAspect="1"/>
          </p:cNvPicPr>
          <p:nvPr/>
        </p:nvPicPr>
        <p:blipFill>
          <a:blip r:embed="rId7"/>
          <a:stretch>
            <a:fillRect/>
          </a:stretch>
        </p:blipFill>
        <p:spPr>
          <a:xfrm>
            <a:off x="6236208" y="4224528"/>
            <a:ext cx="310896" cy="310896"/>
          </a:xfrm>
          <a:prstGeom prst="rect">
            <a:avLst/>
          </a:prstGeom>
        </p:spPr>
      </p:pic>
      <p:sp>
        <p:nvSpPr>
          <p:cNvPr id="15" name="text-586"/>
          <p:cNvSpPr txBox="1"/>
          <p:nvPr/>
        </p:nvSpPr>
        <p:spPr>
          <a:xfrm>
            <a:off x="6693408" y="4160520"/>
            <a:ext cx="4846320" cy="438912"/>
          </a:xfrm>
          <a:prstGeom prst="rect">
            <a:avLst/>
          </a:prstGeom>
          <a:noFill/>
          <a:ln/>
        </p:spPr>
        <p:txBody>
          <a:bodyPr wrap="square" lIns="0" tIns="0" rIns="0" bIns="0" rtlCol="0" anchor="ctr"/>
          <a:lstStyle/>
          <a:p>
            <a:pPr indent="0" marL="0">
              <a:buNone/>
            </a:pPr>
            <a:r>
              <a:rPr lang="en-US" sz="1550" dirty="0">
                <a:solidFill>
                  <a:schemeClr val="tx1"/>
                </a:solidFill>
              </a:rPr>
              <a:t>new values from old values and each other</a:t>
            </a:r>
            <a:endParaRPr lang="en-US" sz="1550" dirty="0"/>
          </a:p>
        </p:txBody>
      </p:sp>
      <p:pic>
        <p:nvPicPr>
          <p:cNvPr id="16" name="icon-587" descr="preencoded.png">    </p:cNvPr>
          <p:cNvPicPr>
            <a:picLocks noChangeAspect="1"/>
          </p:cNvPicPr>
          <p:nvPr/>
        </p:nvPicPr>
        <p:blipFill>
          <a:blip r:embed="rId8"/>
          <a:stretch>
            <a:fillRect/>
          </a:stretch>
        </p:blipFill>
        <p:spPr>
          <a:xfrm>
            <a:off x="6236208" y="4727448"/>
            <a:ext cx="310896" cy="310896"/>
          </a:xfrm>
          <a:prstGeom prst="rect">
            <a:avLst/>
          </a:prstGeom>
        </p:spPr>
      </p:pic>
      <p:sp>
        <p:nvSpPr>
          <p:cNvPr id="17" name="text-588"/>
          <p:cNvSpPr txBox="1"/>
          <p:nvPr/>
        </p:nvSpPr>
        <p:spPr>
          <a:xfrm>
            <a:off x="6693408" y="4663440"/>
            <a:ext cx="4846320" cy="438912"/>
          </a:xfrm>
          <a:prstGeom prst="rect">
            <a:avLst/>
          </a:prstGeom>
          <a:noFill/>
          <a:ln/>
        </p:spPr>
        <p:txBody>
          <a:bodyPr wrap="square" lIns="0" tIns="0" rIns="0" bIns="0" rtlCol="0" anchor="ctr"/>
          <a:lstStyle/>
          <a:p>
            <a:pPr indent="0" marL="0">
              <a:buNone/>
            </a:pPr>
            <a:r>
              <a:rPr lang="en-US" sz="1550" dirty="0">
                <a:solidFill>
                  <a:schemeClr val="tx1"/>
                </a:solidFill>
              </a:rPr>
              <a:t>solve a linear system every step</a:t>
            </a:r>
            <a:endParaRPr lang="en-US" sz="1550" dirty="0"/>
          </a:p>
        </p:txBody>
      </p:sp>
      <p:pic>
        <p:nvPicPr>
          <p:cNvPr id="18" name="icon-589" descr="preencoded.png">    </p:cNvPr>
          <p:cNvPicPr>
            <a:picLocks noChangeAspect="1"/>
          </p:cNvPicPr>
          <p:nvPr/>
        </p:nvPicPr>
        <p:blipFill>
          <a:blip r:embed="rId9"/>
          <a:stretch>
            <a:fillRect/>
          </a:stretch>
        </p:blipFill>
        <p:spPr>
          <a:xfrm>
            <a:off x="6236208" y="5230368"/>
            <a:ext cx="310896" cy="310896"/>
          </a:xfrm>
          <a:prstGeom prst="rect">
            <a:avLst/>
          </a:prstGeom>
        </p:spPr>
      </p:pic>
      <p:sp>
        <p:nvSpPr>
          <p:cNvPr id="19" name="text-590"/>
          <p:cNvSpPr txBox="1"/>
          <p:nvPr/>
        </p:nvSpPr>
        <p:spPr>
          <a:xfrm>
            <a:off x="6693408" y="5166360"/>
            <a:ext cx="4846320" cy="438912"/>
          </a:xfrm>
          <a:prstGeom prst="rect">
            <a:avLst/>
          </a:prstGeom>
          <a:noFill/>
          <a:ln/>
        </p:spPr>
        <p:txBody>
          <a:bodyPr wrap="square" lIns="0" tIns="0" rIns="0" bIns="0" rtlCol="0" anchor="ctr"/>
          <a:lstStyle/>
          <a:p>
            <a:pPr indent="0" marL="0">
              <a:buNone/>
            </a:pPr>
            <a:r>
              <a:rPr lang="en-US" sz="1550" dirty="0">
                <a:solidFill>
                  <a:schemeClr val="tx1"/>
                </a:solidFill>
              </a:rPr>
              <a:t>needs a matrix solver</a:t>
            </a:r>
            <a:endParaRPr lang="en-US" sz="1550" dirty="0"/>
          </a:p>
        </p:txBody>
      </p:sp>
      <p:pic>
        <p:nvPicPr>
          <p:cNvPr id="20" name="icon-591" descr="preencoded.png">    </p:cNvPr>
          <p:cNvPicPr>
            <a:picLocks noChangeAspect="1"/>
          </p:cNvPicPr>
          <p:nvPr/>
        </p:nvPicPr>
        <p:blipFill>
          <a:blip r:embed="rId10"/>
          <a:stretch>
            <a:fillRect/>
          </a:stretch>
        </p:blipFill>
        <p:spPr>
          <a:xfrm>
            <a:off x="6236208" y="5733288"/>
            <a:ext cx="310896" cy="310896"/>
          </a:xfrm>
          <a:prstGeom prst="rect">
            <a:avLst/>
          </a:prstGeom>
        </p:spPr>
      </p:pic>
      <p:sp>
        <p:nvSpPr>
          <p:cNvPr id="21" name="text-592"/>
          <p:cNvSpPr txBox="1"/>
          <p:nvPr/>
        </p:nvSpPr>
        <p:spPr>
          <a:xfrm>
            <a:off x="6693408" y="5669280"/>
            <a:ext cx="4846320" cy="438912"/>
          </a:xfrm>
          <a:prstGeom prst="rect">
            <a:avLst/>
          </a:prstGeom>
          <a:noFill/>
          <a:ln/>
        </p:spPr>
        <p:txBody>
          <a:bodyPr wrap="square" lIns="0" tIns="0" rIns="0" bIns="0" rtlCol="0" anchor="ctr"/>
          <a:lstStyle/>
          <a:p>
            <a:pPr indent="0" marL="0">
              <a:buNone/>
            </a:pPr>
            <a:r>
              <a:rPr lang="en-US" sz="1550" dirty="0">
                <a:solidFill>
                  <a:schemeClr val="tx1"/>
                </a:solidFill>
              </a:rPr>
              <a:t>any Δt is stable: choose it for accuracy</a:t>
            </a:r>
            <a:endParaRPr lang="en-US" sz="1550" dirty="0"/>
          </a:p>
        </p:txBody>
      </p:sp>
      <p:sp>
        <p:nvSpPr>
          <p:cNvPr id="22" name="line-593"/>
          <p:cNvSpPr/>
          <p:nvPr/>
        </p:nvSpPr>
        <p:spPr>
          <a:xfrm>
            <a:off x="6089904" y="4160520"/>
            <a:ext cx="0" cy="192024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59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5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Solution setup ②: is the scheme stable?</a:t>
            </a:r>
            <a:endParaRPr lang="en-US" sz="3200" dirty="0"/>
          </a:p>
        </p:txBody>
      </p:sp>
      <p:pic>
        <p:nvPicPr>
          <p:cNvPr id="4" name="img-595" descr="FTCS with r = 0.45 smooths a top-hat profile; with r = 0.52 a saw-tooth oscillation grows">    </p:cNvPr>
          <p:cNvPicPr>
            <a:picLocks noChangeAspect="1"/>
          </p:cNvPicPr>
          <p:nvPr/>
        </p:nvPicPr>
        <p:blipFill>
          <a:blip r:embed="rId1"/>
          <a:stretch>
            <a:fillRect/>
          </a:stretch>
        </p:blipFill>
        <p:spPr>
          <a:xfrm>
            <a:off x="548640" y="1384580"/>
            <a:ext cx="7178040" cy="2808680"/>
          </a:xfrm>
          <a:prstGeom prst="rect">
            <a:avLst/>
          </a:prstGeom>
        </p:spPr>
      </p:pic>
      <p:sp>
        <p:nvSpPr>
          <p:cNvPr id="5" name="card-596"/>
          <p:cNvSpPr/>
          <p:nvPr/>
        </p:nvSpPr>
        <p:spPr>
          <a:xfrm>
            <a:off x="8001000" y="1371600"/>
            <a:ext cx="3639312"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 name="text-597"/>
          <p:cNvSpPr txBox="1"/>
          <p:nvPr/>
        </p:nvSpPr>
        <p:spPr>
          <a:xfrm>
            <a:off x="8183880" y="1463040"/>
            <a:ext cx="329184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FTCS · DIFFUSION</a:t>
            </a:r>
            <a:endParaRPr lang="en-US" sz="1100" dirty="0"/>
          </a:p>
        </p:txBody>
      </p:sp>
      <p:pic>
        <p:nvPicPr>
          <p:cNvPr id="7" name="eq-598" descr="r_stab">    </p:cNvPr>
          <p:cNvPicPr>
            <a:picLocks noChangeAspect="1"/>
          </p:cNvPicPr>
          <p:nvPr/>
        </p:nvPicPr>
        <p:blipFill>
          <a:blip r:embed="rId2"/>
          <a:stretch>
            <a:fillRect/>
          </a:stretch>
        </p:blipFill>
        <p:spPr>
          <a:xfrm>
            <a:off x="8877300" y="1860804"/>
            <a:ext cx="1905000" cy="621792"/>
          </a:xfrm>
          <a:prstGeom prst="rect">
            <a:avLst/>
          </a:prstGeom>
        </p:spPr>
      </p:pic>
      <p:sp>
        <p:nvSpPr>
          <p:cNvPr id="8" name="card-599"/>
          <p:cNvSpPr/>
          <p:nvPr/>
        </p:nvSpPr>
        <p:spPr>
          <a:xfrm>
            <a:off x="8001000" y="2880360"/>
            <a:ext cx="3639312"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9" name="text-600"/>
          <p:cNvSpPr txBox="1"/>
          <p:nvPr/>
        </p:nvSpPr>
        <p:spPr>
          <a:xfrm>
            <a:off x="8183880" y="2971800"/>
            <a:ext cx="329184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EXPLICIT CONVECTION · CFL</a:t>
            </a:r>
            <a:endParaRPr lang="en-US" sz="1100" dirty="0"/>
          </a:p>
        </p:txBody>
      </p:sp>
      <p:pic>
        <p:nvPicPr>
          <p:cNvPr id="10" name="eq-601" descr="cfl">    </p:cNvPr>
          <p:cNvPicPr>
            <a:picLocks noChangeAspect="1"/>
          </p:cNvPicPr>
          <p:nvPr/>
        </p:nvPicPr>
        <p:blipFill>
          <a:blip r:embed="rId3"/>
          <a:stretch>
            <a:fillRect/>
          </a:stretch>
        </p:blipFill>
        <p:spPr>
          <a:xfrm>
            <a:off x="9267444" y="3429000"/>
            <a:ext cx="1124712" cy="502920"/>
          </a:xfrm>
          <a:prstGeom prst="rect">
            <a:avLst/>
          </a:prstGeom>
        </p:spPr>
      </p:pic>
      <p:sp>
        <p:nvSpPr>
          <p:cNvPr id="11" name="card-602"/>
          <p:cNvSpPr/>
          <p:nvPr/>
        </p:nvSpPr>
        <p:spPr>
          <a:xfrm>
            <a:off x="1161288" y="4480560"/>
            <a:ext cx="2926080" cy="777240"/>
          </a:xfrm>
          <a:prstGeom prst="roundRect">
            <a:avLst>
              <a:gd name="adj" fmla="val 11765"/>
            </a:avLst>
          </a:prstGeom>
          <a:solidFill>
            <a:schemeClr val="accent1"/>
          </a:solidFill>
          <a:ln/>
          <a:effectLst>
            <a:outerShdw sx="100000" sy="100000" kx="0" ky="0" algn="bl" rotWithShape="0" blurRad="88900" dist="19050" dir="5400000">
              <a:srgbClr val="0B2E47">
                <a:alpha val="12000"/>
              </a:srgbClr>
            </a:outerShdw>
          </a:effectLst>
        </p:spPr>
      </p:sp>
      <p:pic>
        <p:nvPicPr>
          <p:cNvPr id="12" name="icon-603" descr="preencoded.png">    </p:cNvPr>
          <p:cNvPicPr>
            <a:picLocks noChangeAspect="1"/>
          </p:cNvPicPr>
          <p:nvPr/>
        </p:nvPicPr>
        <p:blipFill>
          <a:blip r:embed="rId4"/>
          <a:stretch>
            <a:fillRect/>
          </a:stretch>
        </p:blipFill>
        <p:spPr>
          <a:xfrm>
            <a:off x="1435608" y="4663440"/>
            <a:ext cx="411480" cy="411480"/>
          </a:xfrm>
          <a:prstGeom prst="rect">
            <a:avLst/>
          </a:prstGeom>
        </p:spPr>
      </p:pic>
      <p:sp>
        <p:nvSpPr>
          <p:cNvPr id="13" name="text-604"/>
          <p:cNvSpPr txBox="1"/>
          <p:nvPr/>
        </p:nvSpPr>
        <p:spPr>
          <a:xfrm>
            <a:off x="1984248" y="4480560"/>
            <a:ext cx="2011680" cy="777240"/>
          </a:xfrm>
          <a:prstGeom prst="rect">
            <a:avLst/>
          </a:prstGeom>
          <a:noFill/>
          <a:ln/>
        </p:spPr>
        <p:txBody>
          <a:bodyPr wrap="square" lIns="0" tIns="0" rIns="0" bIns="0" rtlCol="0" anchor="ctr"/>
          <a:lstStyle/>
          <a:p>
            <a:pPr indent="0" marL="0">
              <a:buNone/>
            </a:pPr>
            <a:r>
              <a:rPr lang="en-US" sz="1900" b="1" dirty="0">
                <a:solidFill>
                  <a:schemeClr val="bg1"/>
                </a:solidFill>
              </a:rPr>
              <a:t>Consistency</a:t>
            </a:r>
            <a:endParaRPr lang="en-US" sz="1900" dirty="0"/>
          </a:p>
        </p:txBody>
      </p:sp>
      <p:sp>
        <p:nvSpPr>
          <p:cNvPr id="14" name="text-605"/>
          <p:cNvSpPr txBox="1"/>
          <p:nvPr/>
        </p:nvSpPr>
        <p:spPr>
          <a:xfrm>
            <a:off x="4087368" y="4480560"/>
            <a:ext cx="548640" cy="777240"/>
          </a:xfrm>
          <a:prstGeom prst="rect">
            <a:avLst/>
          </a:prstGeom>
          <a:noFill/>
          <a:ln/>
        </p:spPr>
        <p:txBody>
          <a:bodyPr wrap="square" lIns="0" tIns="0" rIns="0" bIns="0" rtlCol="0" anchor="ctr"/>
          <a:lstStyle/>
          <a:p>
            <a:pPr algn="ctr" indent="0" marL="0">
              <a:buNone/>
            </a:pPr>
            <a:r>
              <a:rPr lang="en-US" sz="3000" b="1" dirty="0">
                <a:solidFill>
                  <a:schemeClr val="tx1"/>
                </a:solidFill>
              </a:rPr>
              <a:t>+</a:t>
            </a:r>
            <a:endParaRPr lang="en-US" sz="3000" dirty="0"/>
          </a:p>
        </p:txBody>
      </p:sp>
      <p:sp>
        <p:nvSpPr>
          <p:cNvPr id="15" name="card-606"/>
          <p:cNvSpPr/>
          <p:nvPr/>
        </p:nvSpPr>
        <p:spPr>
          <a:xfrm>
            <a:off x="4636008" y="4480560"/>
            <a:ext cx="2926080" cy="777240"/>
          </a:xfrm>
          <a:prstGeom prst="roundRect">
            <a:avLst>
              <a:gd name="adj" fmla="val 11765"/>
            </a:avLst>
          </a:prstGeom>
          <a:solidFill>
            <a:schemeClr val="accent2"/>
          </a:solidFill>
          <a:ln/>
          <a:effectLst>
            <a:outerShdw sx="100000" sy="100000" kx="0" ky="0" algn="bl" rotWithShape="0" blurRad="88900" dist="19050" dir="5400000">
              <a:srgbClr val="0B2E47">
                <a:alpha val="12000"/>
              </a:srgbClr>
            </a:outerShdw>
          </a:effectLst>
        </p:spPr>
      </p:sp>
      <p:pic>
        <p:nvPicPr>
          <p:cNvPr id="16" name="icon-607" descr="preencoded.png">    </p:cNvPr>
          <p:cNvPicPr>
            <a:picLocks noChangeAspect="1"/>
          </p:cNvPicPr>
          <p:nvPr/>
        </p:nvPicPr>
        <p:blipFill>
          <a:blip r:embed="rId5"/>
          <a:stretch>
            <a:fillRect/>
          </a:stretch>
        </p:blipFill>
        <p:spPr>
          <a:xfrm>
            <a:off x="4910328" y="4663440"/>
            <a:ext cx="411480" cy="411480"/>
          </a:xfrm>
          <a:prstGeom prst="rect">
            <a:avLst/>
          </a:prstGeom>
        </p:spPr>
      </p:pic>
      <p:sp>
        <p:nvSpPr>
          <p:cNvPr id="17" name="text-608"/>
          <p:cNvSpPr txBox="1"/>
          <p:nvPr/>
        </p:nvSpPr>
        <p:spPr>
          <a:xfrm>
            <a:off x="5458968" y="4480560"/>
            <a:ext cx="2011680" cy="777240"/>
          </a:xfrm>
          <a:prstGeom prst="rect">
            <a:avLst/>
          </a:prstGeom>
          <a:noFill/>
          <a:ln/>
        </p:spPr>
        <p:txBody>
          <a:bodyPr wrap="square" lIns="0" tIns="0" rIns="0" bIns="0" rtlCol="0" anchor="ctr"/>
          <a:lstStyle/>
          <a:p>
            <a:pPr indent="0" marL="0">
              <a:buNone/>
            </a:pPr>
            <a:r>
              <a:rPr lang="en-US" sz="1900" b="1" dirty="0">
                <a:solidFill>
                  <a:schemeClr val="bg1"/>
                </a:solidFill>
              </a:rPr>
              <a:t>Stability</a:t>
            </a:r>
            <a:endParaRPr lang="en-US" sz="1900" dirty="0"/>
          </a:p>
        </p:txBody>
      </p:sp>
      <p:sp>
        <p:nvSpPr>
          <p:cNvPr id="18" name="text-609"/>
          <p:cNvSpPr txBox="1"/>
          <p:nvPr/>
        </p:nvSpPr>
        <p:spPr>
          <a:xfrm>
            <a:off x="7562088" y="4480560"/>
            <a:ext cx="548640" cy="777240"/>
          </a:xfrm>
          <a:prstGeom prst="rect">
            <a:avLst/>
          </a:prstGeom>
          <a:noFill/>
          <a:ln/>
        </p:spPr>
        <p:txBody>
          <a:bodyPr wrap="square" lIns="0" tIns="0" rIns="0" bIns="0" rtlCol="0" anchor="ctr"/>
          <a:lstStyle/>
          <a:p>
            <a:pPr algn="ctr" indent="0" marL="0">
              <a:buNone/>
            </a:pPr>
            <a:r>
              <a:rPr lang="en-US" sz="3000" b="1" dirty="0">
                <a:solidFill>
                  <a:schemeClr val="tx1"/>
                </a:solidFill>
              </a:rPr>
              <a:t>=</a:t>
            </a:r>
            <a:endParaRPr lang="en-US" sz="3000" dirty="0"/>
          </a:p>
        </p:txBody>
      </p:sp>
      <p:sp>
        <p:nvSpPr>
          <p:cNvPr id="19" name="card-610"/>
          <p:cNvSpPr/>
          <p:nvPr/>
        </p:nvSpPr>
        <p:spPr>
          <a:xfrm>
            <a:off x="8110728" y="4480560"/>
            <a:ext cx="2926080" cy="777240"/>
          </a:xfrm>
          <a:prstGeom prst="roundRect">
            <a:avLst>
              <a:gd name="adj" fmla="val 11765"/>
            </a:avLst>
          </a:prstGeom>
          <a:solidFill>
            <a:schemeClr val="accent3"/>
          </a:solidFill>
          <a:ln/>
          <a:effectLst>
            <a:outerShdw sx="100000" sy="100000" kx="0" ky="0" algn="bl" rotWithShape="0" blurRad="88900" dist="19050" dir="5400000">
              <a:srgbClr val="0B2E47">
                <a:alpha val="12000"/>
              </a:srgbClr>
            </a:outerShdw>
          </a:effectLst>
        </p:spPr>
      </p:sp>
      <p:pic>
        <p:nvPicPr>
          <p:cNvPr id="20" name="icon-611" descr="preencoded.png">    </p:cNvPr>
          <p:cNvPicPr>
            <a:picLocks noChangeAspect="1"/>
          </p:cNvPicPr>
          <p:nvPr/>
        </p:nvPicPr>
        <p:blipFill>
          <a:blip r:embed="rId6"/>
          <a:stretch>
            <a:fillRect/>
          </a:stretch>
        </p:blipFill>
        <p:spPr>
          <a:xfrm>
            <a:off x="8385048" y="4663440"/>
            <a:ext cx="411480" cy="411480"/>
          </a:xfrm>
          <a:prstGeom prst="rect">
            <a:avLst/>
          </a:prstGeom>
        </p:spPr>
      </p:pic>
      <p:sp>
        <p:nvSpPr>
          <p:cNvPr id="21" name="text-612"/>
          <p:cNvSpPr txBox="1"/>
          <p:nvPr/>
        </p:nvSpPr>
        <p:spPr>
          <a:xfrm>
            <a:off x="8933688" y="4480560"/>
            <a:ext cx="2011680" cy="777240"/>
          </a:xfrm>
          <a:prstGeom prst="rect">
            <a:avLst/>
          </a:prstGeom>
          <a:noFill/>
          <a:ln/>
        </p:spPr>
        <p:txBody>
          <a:bodyPr wrap="square" lIns="0" tIns="0" rIns="0" bIns="0" rtlCol="0" anchor="ctr"/>
          <a:lstStyle/>
          <a:p>
            <a:pPr indent="0" marL="0">
              <a:buNone/>
            </a:pPr>
            <a:r>
              <a:rPr lang="en-US" sz="1900" b="1" dirty="0">
                <a:solidFill>
                  <a:schemeClr val="bg1"/>
                </a:solidFill>
              </a:rPr>
              <a:t>Convergence</a:t>
            </a:r>
            <a:endParaRPr lang="en-US" sz="1900" dirty="0"/>
          </a:p>
        </p:txBody>
      </p:sp>
      <p:sp>
        <p:nvSpPr>
          <p:cNvPr id="22" name="text-613"/>
          <p:cNvSpPr txBox="1"/>
          <p:nvPr/>
        </p:nvSpPr>
        <p:spPr>
          <a:xfrm>
            <a:off x="548640" y="5440680"/>
            <a:ext cx="11094415" cy="731520"/>
          </a:xfrm>
          <a:prstGeom prst="rect">
            <a:avLst/>
          </a:prstGeom>
          <a:noFill/>
          <a:ln/>
        </p:spPr>
        <p:txBody>
          <a:bodyPr wrap="square" lIns="0" tIns="0" rIns="0" bIns="0" rtlCol="0" anchor="t"/>
          <a:lstStyle/>
          <a:p>
            <a:pPr indent="0" marL="0">
              <a:buNone/>
            </a:pPr>
            <a:r>
              <a:rPr lang="en-US" sz="1500" b="1" dirty="0">
                <a:solidFill>
                  <a:schemeClr val="tx2"/>
                </a:solidFill>
              </a:rPr>
              <a:t>Lax equivalence theorem:</a:t>
            </a:r>
            <a:pPr indent="0" marL="0">
              <a:buNone/>
            </a:pPr>
            <a:r>
              <a:rPr lang="en-US" sz="1500" dirty="0">
                <a:solidFill>
                  <a:schemeClr val="tx2"/>
                </a:solidFill>
              </a:rPr>
              <a:t> a scheme approaches the true solution as Δx, Δt → 0 only if it is consistent </a:t>
            </a:r>
            <a:pPr indent="0" marL="0">
              <a:buNone/>
            </a:pPr>
            <a:r>
              <a:rPr lang="en-US" sz="1500" b="1" dirty="0">
                <a:solidFill>
                  <a:schemeClr val="tx2"/>
                </a:solidFill>
              </a:rPr>
              <a:t>and</a:t>
            </a:r>
            <a:pPr indent="0" marL="0">
              <a:buNone/>
            </a:pPr>
            <a:r>
              <a:rPr lang="en-US" sz="1500" dirty="0">
                <a:solidFill>
                  <a:schemeClr val="tx2"/>
                </a:solidFill>
              </a:rPr>
              <a:t> stable. Exceed the stability limit by a few percent and the solution explodes (right plot).</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61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5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Solution setup ③: direct or iterative?</a:t>
            </a:r>
            <a:endParaRPr lang="en-US" sz="3200" dirty="0"/>
          </a:p>
        </p:txBody>
      </p:sp>
      <p:pic>
        <p:nvPicPr>
          <p:cNvPr id="4" name="img-615" descr="Sparse banded matrix and residual histories of Jacobi, Gauss-Seidel and SOR">    </p:cNvPr>
          <p:cNvPicPr>
            <a:picLocks noChangeAspect="1"/>
          </p:cNvPicPr>
          <p:nvPr/>
        </p:nvPicPr>
        <p:blipFill>
          <a:blip r:embed="rId1"/>
          <a:stretch>
            <a:fillRect/>
          </a:stretch>
        </p:blipFill>
        <p:spPr>
          <a:xfrm>
            <a:off x="548640" y="1373644"/>
            <a:ext cx="6766560" cy="2647673"/>
          </a:xfrm>
          <a:prstGeom prst="rect">
            <a:avLst/>
          </a:prstGeom>
        </p:spPr>
      </p:pic>
      <p:pic>
        <p:nvPicPr>
          <p:cNvPr id="5" name="eq-616" descr="axb">    </p:cNvPr>
          <p:cNvPicPr>
            <a:picLocks noChangeAspect="1"/>
          </p:cNvPicPr>
          <p:nvPr/>
        </p:nvPicPr>
        <p:blipFill>
          <a:blip r:embed="rId2"/>
          <a:stretch>
            <a:fillRect/>
          </a:stretch>
        </p:blipFill>
        <p:spPr>
          <a:xfrm>
            <a:off x="7635240" y="1524000"/>
            <a:ext cx="1133856" cy="472440"/>
          </a:xfrm>
          <a:prstGeom prst="rect">
            <a:avLst/>
          </a:prstGeom>
        </p:spPr>
      </p:pic>
      <p:sp>
        <p:nvSpPr>
          <p:cNvPr id="6" name="text-617"/>
          <p:cNvSpPr txBox="1"/>
          <p:nvPr/>
        </p:nvSpPr>
        <p:spPr>
          <a:xfrm>
            <a:off x="7635240" y="2194560"/>
            <a:ext cx="4005072" cy="1463040"/>
          </a:xfrm>
          <a:prstGeom prst="rect">
            <a:avLst/>
          </a:prstGeom>
          <a:noFill/>
          <a:ln/>
        </p:spPr>
        <p:txBody>
          <a:bodyPr wrap="square" lIns="0" tIns="0" rIns="0" bIns="0" rtlCol="0" anchor="t"/>
          <a:lstStyle/>
          <a:p>
            <a:pPr indent="0" marL="0">
              <a:buNone/>
            </a:pPr>
            <a:r>
              <a:rPr lang="en-US" sz="1500" dirty="0">
                <a:solidFill>
                  <a:schemeClr val="tx2"/>
                </a:solidFill>
              </a:rPr>
              <a:t>Implicit schemes and steady problems give a linear system. </a:t>
            </a:r>
            <a:pPr indent="0" marL="0">
              <a:buNone/>
            </a:pPr>
            <a:r>
              <a:rPr lang="en-US" sz="1500" b="1" dirty="0">
                <a:solidFill>
                  <a:schemeClr val="tx2"/>
                </a:solidFill>
              </a:rPr>
              <a:t>A</a:t>
            </a:r>
            <a:pPr indent="0" marL="0">
              <a:buNone/>
            </a:pPr>
            <a:r>
              <a:rPr lang="en-US" sz="1500" dirty="0">
                <a:solidFill>
                  <a:schemeClr val="tx2"/>
                </a:solidFill>
              </a:rPr>
              <a:t> is huge but </a:t>
            </a:r>
            <a:pPr indent="0" marL="0">
              <a:buNone/>
            </a:pPr>
            <a:r>
              <a:rPr lang="en-US" sz="1500" b="1" dirty="0">
                <a:solidFill>
                  <a:schemeClr val="tx2"/>
                </a:solidFill>
              </a:rPr>
              <a:t>sparse</a:t>
            </a:r>
            <a:pPr indent="0" marL="0">
              <a:buNone/>
            </a:pPr>
            <a:r>
              <a:rPr lang="en-US" sz="1500" dirty="0">
                <a:solidFill>
                  <a:schemeClr val="tx2"/>
                </a:solidFill>
              </a:rPr>
              <a:t>: each equation involves only a node and its neighbours.</a:t>
            </a:r>
            <a:endParaRPr lang="en-US" sz="1500" dirty="0"/>
          </a:p>
        </p:txBody>
      </p:sp>
      <p:sp>
        <p:nvSpPr>
          <p:cNvPr id="7" name="card-618"/>
          <p:cNvSpPr/>
          <p:nvPr/>
        </p:nvSpPr>
        <p:spPr>
          <a:xfrm>
            <a:off x="548640" y="4206240"/>
            <a:ext cx="2651760" cy="1234440"/>
          </a:xfrm>
          <a:prstGeom prst="roundRect">
            <a:avLst>
              <a:gd name="adj" fmla="val 740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8" name="icon-bg-619"/>
          <p:cNvSpPr/>
          <p:nvPr/>
        </p:nvSpPr>
        <p:spPr>
          <a:xfrm>
            <a:off x="685800" y="4315968"/>
            <a:ext cx="411480" cy="411480"/>
          </a:xfrm>
          <a:prstGeom prst="ellipse">
            <a:avLst/>
          </a:prstGeom>
          <a:solidFill>
            <a:schemeClr val="tx1"/>
          </a:solidFill>
          <a:ln/>
        </p:spPr>
      </p:sp>
      <p:pic>
        <p:nvPicPr>
          <p:cNvPr id="9" name="icon-620" descr="preencoded.png">    </p:cNvPr>
          <p:cNvPicPr>
            <a:picLocks noChangeAspect="1"/>
          </p:cNvPicPr>
          <p:nvPr/>
        </p:nvPicPr>
        <p:blipFill>
          <a:blip r:embed="rId3"/>
          <a:stretch>
            <a:fillRect/>
          </a:stretch>
        </p:blipFill>
        <p:spPr>
          <a:xfrm>
            <a:off x="780440" y="4410608"/>
            <a:ext cx="222199" cy="222199"/>
          </a:xfrm>
          <a:prstGeom prst="rect">
            <a:avLst/>
          </a:prstGeom>
        </p:spPr>
      </p:pic>
      <p:sp>
        <p:nvSpPr>
          <p:cNvPr id="10" name="text-621"/>
          <p:cNvSpPr txBox="1"/>
          <p:nvPr/>
        </p:nvSpPr>
        <p:spPr>
          <a:xfrm>
            <a:off x="1188720" y="4315968"/>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Direct</a:t>
            </a:r>
            <a:endParaRPr lang="en-US" sz="1600" dirty="0"/>
          </a:p>
        </p:txBody>
      </p:sp>
      <p:sp>
        <p:nvSpPr>
          <p:cNvPr id="11" name="text-622"/>
          <p:cNvSpPr txBox="1"/>
          <p:nvPr/>
        </p:nvSpPr>
        <p:spPr>
          <a:xfrm>
            <a:off x="685800" y="4773168"/>
            <a:ext cx="2423160" cy="640080"/>
          </a:xfrm>
          <a:prstGeom prst="rect">
            <a:avLst/>
          </a:prstGeom>
          <a:noFill/>
          <a:ln/>
        </p:spPr>
        <p:txBody>
          <a:bodyPr wrap="square" lIns="0" tIns="0" rIns="0" bIns="0" rtlCol="0" anchor="t"/>
          <a:lstStyle/>
          <a:p>
            <a:pPr indent="0" marL="0">
              <a:buNone/>
            </a:pPr>
            <a:r>
              <a:rPr lang="en-US" sz="1250" dirty="0">
                <a:solidFill>
                  <a:schemeClr val="tx2"/>
                </a:solidFill>
              </a:rPr>
              <a:t>Gauss, LU, </a:t>
            </a:r>
            <a:pPr indent="0" marL="0">
              <a:buNone/>
            </a:pPr>
            <a:r>
              <a:rPr lang="en-US" sz="1250" b="1" dirty="0">
                <a:solidFill>
                  <a:schemeClr val="tx2"/>
                </a:solidFill>
              </a:rPr>
              <a:t>Thomas</a:t>
            </a:r>
            <a:pPr indent="0" marL="0">
              <a:buNone/>
            </a:pPr>
            <a:r>
              <a:rPr lang="en-US" sz="1250" dirty="0">
                <a:solidFill>
                  <a:schemeClr val="tx2"/>
                </a:solidFill>
              </a:rPr>
              <a:t>: exact in one pass; Thomas costs only O(N)</a:t>
            </a:r>
            <a:endParaRPr lang="en-US" sz="1250" dirty="0"/>
          </a:p>
        </p:txBody>
      </p:sp>
      <p:sp>
        <p:nvSpPr>
          <p:cNvPr id="12" name="card-623"/>
          <p:cNvSpPr/>
          <p:nvPr/>
        </p:nvSpPr>
        <p:spPr>
          <a:xfrm>
            <a:off x="3355848" y="4206240"/>
            <a:ext cx="2651760" cy="1234440"/>
          </a:xfrm>
          <a:prstGeom prst="roundRect">
            <a:avLst>
              <a:gd name="adj" fmla="val 740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3" name="icon-bg-624"/>
          <p:cNvSpPr/>
          <p:nvPr/>
        </p:nvSpPr>
        <p:spPr>
          <a:xfrm>
            <a:off x="3493008" y="4315968"/>
            <a:ext cx="411480" cy="411480"/>
          </a:xfrm>
          <a:prstGeom prst="ellipse">
            <a:avLst/>
          </a:prstGeom>
          <a:solidFill>
            <a:schemeClr val="accent2"/>
          </a:solidFill>
          <a:ln/>
        </p:spPr>
      </p:sp>
      <p:pic>
        <p:nvPicPr>
          <p:cNvPr id="14" name="icon-625" descr="preencoded.png">    </p:cNvPr>
          <p:cNvPicPr>
            <a:picLocks noChangeAspect="1"/>
          </p:cNvPicPr>
          <p:nvPr/>
        </p:nvPicPr>
        <p:blipFill>
          <a:blip r:embed="rId4"/>
          <a:stretch>
            <a:fillRect/>
          </a:stretch>
        </p:blipFill>
        <p:spPr>
          <a:xfrm>
            <a:off x="3587648" y="4410608"/>
            <a:ext cx="222199" cy="222199"/>
          </a:xfrm>
          <a:prstGeom prst="rect">
            <a:avLst/>
          </a:prstGeom>
        </p:spPr>
      </p:pic>
      <p:sp>
        <p:nvSpPr>
          <p:cNvPr id="15" name="text-626"/>
          <p:cNvSpPr txBox="1"/>
          <p:nvPr/>
        </p:nvSpPr>
        <p:spPr>
          <a:xfrm>
            <a:off x="3995928" y="4315968"/>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Jacobi</a:t>
            </a:r>
            <a:endParaRPr lang="en-US" sz="1600" dirty="0"/>
          </a:p>
        </p:txBody>
      </p:sp>
      <p:sp>
        <p:nvSpPr>
          <p:cNvPr id="16" name="text-627"/>
          <p:cNvSpPr txBox="1"/>
          <p:nvPr/>
        </p:nvSpPr>
        <p:spPr>
          <a:xfrm>
            <a:off x="3493008" y="4773168"/>
            <a:ext cx="2423160" cy="640080"/>
          </a:xfrm>
          <a:prstGeom prst="rect">
            <a:avLst/>
          </a:prstGeom>
          <a:noFill/>
          <a:ln/>
        </p:spPr>
        <p:txBody>
          <a:bodyPr wrap="square" lIns="0" tIns="0" rIns="0" bIns="0" rtlCol="0" anchor="t"/>
          <a:lstStyle/>
          <a:p>
            <a:pPr indent="0" marL="0">
              <a:buNone/>
            </a:pPr>
            <a:r>
              <a:rPr lang="en-US" sz="1250" dirty="0">
                <a:solidFill>
                  <a:schemeClr val="tx2"/>
                </a:solidFill>
              </a:rPr>
              <a:t>neighbours' </a:t>
            </a:r>
            <a:pPr indent="0" marL="0">
              <a:buNone/>
            </a:pPr>
            <a:r>
              <a:rPr lang="en-US" sz="1250" b="1" dirty="0">
                <a:solidFill>
                  <a:schemeClr val="tx2"/>
                </a:solidFill>
              </a:rPr>
              <a:t>old</a:t>
            </a:r>
            <a:pPr indent="0" marL="0">
              <a:buNone/>
            </a:pPr>
            <a:r>
              <a:rPr lang="en-US" sz="1250" dirty="0">
                <a:solidFill>
                  <a:schemeClr val="tx2"/>
                </a:solidFill>
              </a:rPr>
              <a:t> values: simple, but very slow</a:t>
            </a:r>
            <a:endParaRPr lang="en-US" sz="1250" dirty="0"/>
          </a:p>
        </p:txBody>
      </p:sp>
      <p:sp>
        <p:nvSpPr>
          <p:cNvPr id="17" name="card-628"/>
          <p:cNvSpPr/>
          <p:nvPr/>
        </p:nvSpPr>
        <p:spPr>
          <a:xfrm>
            <a:off x="6163056" y="4206240"/>
            <a:ext cx="2651760" cy="1234440"/>
          </a:xfrm>
          <a:prstGeom prst="roundRect">
            <a:avLst>
              <a:gd name="adj" fmla="val 740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8" name="icon-bg-629"/>
          <p:cNvSpPr/>
          <p:nvPr/>
        </p:nvSpPr>
        <p:spPr>
          <a:xfrm>
            <a:off x="6300216" y="4315968"/>
            <a:ext cx="411480" cy="411480"/>
          </a:xfrm>
          <a:prstGeom prst="ellipse">
            <a:avLst/>
          </a:prstGeom>
          <a:solidFill>
            <a:schemeClr val="accent2"/>
          </a:solidFill>
          <a:ln/>
        </p:spPr>
      </p:sp>
      <p:pic>
        <p:nvPicPr>
          <p:cNvPr id="19" name="icon-630" descr="preencoded.png">    </p:cNvPr>
          <p:cNvPicPr>
            <a:picLocks noChangeAspect="1"/>
          </p:cNvPicPr>
          <p:nvPr/>
        </p:nvPicPr>
        <p:blipFill>
          <a:blip r:embed="rId5"/>
          <a:stretch>
            <a:fillRect/>
          </a:stretch>
        </p:blipFill>
        <p:spPr>
          <a:xfrm>
            <a:off x="6394856" y="4410608"/>
            <a:ext cx="222199" cy="222199"/>
          </a:xfrm>
          <a:prstGeom prst="rect">
            <a:avLst/>
          </a:prstGeom>
        </p:spPr>
      </p:pic>
      <p:sp>
        <p:nvSpPr>
          <p:cNvPr id="20" name="text-631"/>
          <p:cNvSpPr txBox="1"/>
          <p:nvPr/>
        </p:nvSpPr>
        <p:spPr>
          <a:xfrm>
            <a:off x="6803136" y="4315968"/>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Gauss–Seidel</a:t>
            </a:r>
            <a:endParaRPr lang="en-US" sz="1600" dirty="0"/>
          </a:p>
        </p:txBody>
      </p:sp>
      <p:sp>
        <p:nvSpPr>
          <p:cNvPr id="21" name="text-632"/>
          <p:cNvSpPr txBox="1"/>
          <p:nvPr/>
        </p:nvSpPr>
        <p:spPr>
          <a:xfrm>
            <a:off x="6300216" y="4773168"/>
            <a:ext cx="2423160" cy="640080"/>
          </a:xfrm>
          <a:prstGeom prst="rect">
            <a:avLst/>
          </a:prstGeom>
          <a:noFill/>
          <a:ln/>
        </p:spPr>
        <p:txBody>
          <a:bodyPr wrap="square" lIns="0" tIns="0" rIns="0" bIns="0" rtlCol="0" anchor="t"/>
          <a:lstStyle/>
          <a:p>
            <a:pPr indent="0" marL="0">
              <a:buNone/>
            </a:pPr>
            <a:r>
              <a:rPr lang="en-US" sz="1250" dirty="0">
                <a:solidFill>
                  <a:schemeClr val="tx2"/>
                </a:solidFill>
              </a:rPr>
              <a:t>uses </a:t>
            </a:r>
            <a:pPr indent="0" marL="0">
              <a:buNone/>
            </a:pPr>
            <a:r>
              <a:rPr lang="en-US" sz="1250" b="1" dirty="0">
                <a:solidFill>
                  <a:schemeClr val="tx2"/>
                </a:solidFill>
              </a:rPr>
              <a:t>new</a:t>
            </a:r>
            <a:pPr indent="0" marL="0">
              <a:buNone/>
            </a:pPr>
            <a:r>
              <a:rPr lang="en-US" sz="1250" dirty="0">
                <a:solidFill>
                  <a:schemeClr val="tx2"/>
                </a:solidFill>
              </a:rPr>
              <a:t> values at once: ~2× faster than Jacobi</a:t>
            </a:r>
            <a:endParaRPr lang="en-US" sz="1250" dirty="0"/>
          </a:p>
        </p:txBody>
      </p:sp>
      <p:sp>
        <p:nvSpPr>
          <p:cNvPr id="22" name="card-633"/>
          <p:cNvSpPr/>
          <p:nvPr/>
        </p:nvSpPr>
        <p:spPr>
          <a:xfrm>
            <a:off x="8970264" y="4206240"/>
            <a:ext cx="2651760" cy="1234440"/>
          </a:xfrm>
          <a:prstGeom prst="roundRect">
            <a:avLst>
              <a:gd name="adj" fmla="val 740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3" name="icon-bg-634"/>
          <p:cNvSpPr/>
          <p:nvPr/>
        </p:nvSpPr>
        <p:spPr>
          <a:xfrm>
            <a:off x="9107424" y="4315968"/>
            <a:ext cx="411480" cy="411480"/>
          </a:xfrm>
          <a:prstGeom prst="ellipse">
            <a:avLst/>
          </a:prstGeom>
          <a:solidFill>
            <a:schemeClr val="accent2"/>
          </a:solidFill>
          <a:ln/>
        </p:spPr>
      </p:sp>
      <p:pic>
        <p:nvPicPr>
          <p:cNvPr id="24" name="icon-635" descr="preencoded.png">    </p:cNvPr>
          <p:cNvPicPr>
            <a:picLocks noChangeAspect="1"/>
          </p:cNvPicPr>
          <p:nvPr/>
        </p:nvPicPr>
        <p:blipFill>
          <a:blip r:embed="rId6"/>
          <a:stretch>
            <a:fillRect/>
          </a:stretch>
        </p:blipFill>
        <p:spPr>
          <a:xfrm>
            <a:off x="9202064" y="4410608"/>
            <a:ext cx="222199" cy="222199"/>
          </a:xfrm>
          <a:prstGeom prst="rect">
            <a:avLst/>
          </a:prstGeom>
        </p:spPr>
      </p:pic>
      <p:sp>
        <p:nvSpPr>
          <p:cNvPr id="25" name="text-636"/>
          <p:cNvSpPr txBox="1"/>
          <p:nvPr/>
        </p:nvSpPr>
        <p:spPr>
          <a:xfrm>
            <a:off x="9610344" y="4315968"/>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SOR</a:t>
            </a:r>
            <a:endParaRPr lang="en-US" sz="1600" dirty="0"/>
          </a:p>
        </p:txBody>
      </p:sp>
      <p:sp>
        <p:nvSpPr>
          <p:cNvPr id="26" name="text-637"/>
          <p:cNvSpPr txBox="1"/>
          <p:nvPr/>
        </p:nvSpPr>
        <p:spPr>
          <a:xfrm>
            <a:off x="9107424" y="4773168"/>
            <a:ext cx="2423160" cy="640080"/>
          </a:xfrm>
          <a:prstGeom prst="rect">
            <a:avLst/>
          </a:prstGeom>
          <a:noFill/>
          <a:ln/>
        </p:spPr>
        <p:txBody>
          <a:bodyPr wrap="square" lIns="0" tIns="0" rIns="0" bIns="0" rtlCol="0" anchor="t"/>
          <a:lstStyle/>
          <a:p>
            <a:pPr indent="0" marL="0">
              <a:buNone/>
            </a:pPr>
            <a:r>
              <a:rPr lang="en-US" sz="1250" dirty="0">
                <a:solidFill>
                  <a:schemeClr val="tx2"/>
                </a:solidFill>
              </a:rPr>
              <a:t>over-corrects with 1 &lt; ω &lt; 2: often </a:t>
            </a:r>
            <a:pPr indent="0" marL="0">
              <a:buNone/>
            </a:pPr>
            <a:r>
              <a:rPr lang="en-US" sz="1250" b="1" dirty="0">
                <a:solidFill>
                  <a:schemeClr val="tx2"/>
                </a:solidFill>
              </a:rPr>
              <a:t>10–100×</a:t>
            </a:r>
            <a:pPr indent="0" marL="0">
              <a:buNone/>
            </a:pPr>
            <a:r>
              <a:rPr lang="en-US" sz="1250" dirty="0">
                <a:solidFill>
                  <a:schemeClr val="tx2"/>
                </a:solidFill>
              </a:rPr>
              <a:t> faster</a:t>
            </a:r>
            <a:endParaRPr lang="en-US" sz="1250" dirty="0"/>
          </a:p>
        </p:txBody>
      </p:sp>
      <p:sp>
        <p:nvSpPr>
          <p:cNvPr id="27" name="rod-strip-638"/>
          <p:cNvSpPr/>
          <p:nvPr/>
        </p:nvSpPr>
        <p:spPr>
          <a:xfrm>
            <a:off x="548640" y="5596128"/>
            <a:ext cx="11094415" cy="566928"/>
          </a:xfrm>
          <a:prstGeom prst="roundRect">
            <a:avLst>
              <a:gd name="adj" fmla="val 16129"/>
            </a:avLst>
          </a:prstGeom>
          <a:solidFill>
            <a:schemeClr val="accent2">
              <a:alpha val="12000"/>
            </a:schemeClr>
          </a:solidFill>
          <a:ln/>
        </p:spPr>
      </p:sp>
      <p:sp>
        <p:nvSpPr>
          <p:cNvPr id="28" name="icon-bg-639"/>
          <p:cNvSpPr/>
          <p:nvPr/>
        </p:nvSpPr>
        <p:spPr>
          <a:xfrm>
            <a:off x="685800" y="5687568"/>
            <a:ext cx="384048" cy="384048"/>
          </a:xfrm>
          <a:prstGeom prst="ellipse">
            <a:avLst/>
          </a:prstGeom>
          <a:solidFill>
            <a:schemeClr val="accent2"/>
          </a:solidFill>
          <a:ln/>
        </p:spPr>
      </p:sp>
      <p:pic>
        <p:nvPicPr>
          <p:cNvPr id="29" name="icon-640" descr="preencoded.png">    </p:cNvPr>
          <p:cNvPicPr>
            <a:picLocks noChangeAspect="1"/>
          </p:cNvPicPr>
          <p:nvPr/>
        </p:nvPicPr>
        <p:blipFill>
          <a:blip r:embed="rId7"/>
          <a:stretch>
            <a:fillRect/>
          </a:stretch>
        </p:blipFill>
        <p:spPr>
          <a:xfrm>
            <a:off x="774131" y="5775899"/>
            <a:ext cx="207386" cy="207386"/>
          </a:xfrm>
          <a:prstGeom prst="rect">
            <a:avLst/>
          </a:prstGeom>
        </p:spPr>
      </p:pic>
      <p:sp>
        <p:nvSpPr>
          <p:cNvPr id="30" name="text-641"/>
          <p:cNvSpPr txBox="1"/>
          <p:nvPr/>
        </p:nvSpPr>
        <p:spPr>
          <a:xfrm>
            <a:off x="1234440" y="5596128"/>
            <a:ext cx="10225735" cy="566928"/>
          </a:xfrm>
          <a:prstGeom prst="rect">
            <a:avLst/>
          </a:prstGeom>
          <a:noFill/>
          <a:ln/>
        </p:spPr>
        <p:txBody>
          <a:bodyPr wrap="square" lIns="0" tIns="0" rIns="0" bIns="0" rtlCol="0" anchor="ctr"/>
          <a:lstStyle/>
          <a:p>
            <a:pPr indent="0" marL="0">
              <a:buNone/>
            </a:pPr>
            <a:r>
              <a:rPr lang="en-US" sz="1500" b="1" dirty="0">
                <a:solidFill>
                  <a:schemeClr val="tx1"/>
                </a:solidFill>
              </a:rPr>
              <a:t>Rod:</a:t>
            </a:r>
            <a:pPr indent="0" marL="0">
              <a:buNone/>
            </a:pPr>
            <a:r>
              <a:rPr lang="en-US" sz="1500" dirty="0">
                <a:solidFill>
                  <a:schemeClr val="tx1"/>
                </a:solidFill>
              </a:rPr>
              <a:t> explicit FTCS with r = 0.4 ≤ ½: simple and stable. (Implicit BTCS would need the Thomas algorithm every step, but allows a larger Δt.)</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642"/>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PILLAR 6 · SOLVING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Compute: run the program</a:t>
            </a:r>
            <a:endParaRPr lang="en-US" sz="3200" dirty="0"/>
          </a:p>
        </p:txBody>
      </p:sp>
      <p:sp>
        <p:nvSpPr>
          <p:cNvPr id="4" name="card-643"/>
          <p:cNvSpPr/>
          <p:nvPr/>
        </p:nvSpPr>
        <p:spPr>
          <a:xfrm>
            <a:off x="548640" y="1417320"/>
            <a:ext cx="2624328"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icon-bg-644"/>
          <p:cNvSpPr/>
          <p:nvPr/>
        </p:nvSpPr>
        <p:spPr>
          <a:xfrm>
            <a:off x="713232" y="1600200"/>
            <a:ext cx="530352" cy="530352"/>
          </a:xfrm>
          <a:prstGeom prst="ellipse">
            <a:avLst/>
          </a:prstGeom>
          <a:solidFill>
            <a:schemeClr val="accent1"/>
          </a:solidFill>
          <a:ln/>
        </p:spPr>
      </p:sp>
      <p:pic>
        <p:nvPicPr>
          <p:cNvPr id="6" name="icon-645" descr="preencoded.png">    </p:cNvPr>
          <p:cNvPicPr>
            <a:picLocks noChangeAspect="1"/>
          </p:cNvPicPr>
          <p:nvPr/>
        </p:nvPicPr>
        <p:blipFill>
          <a:blip r:embed="rId1"/>
          <a:stretch>
            <a:fillRect/>
          </a:stretch>
        </p:blipFill>
        <p:spPr>
          <a:xfrm>
            <a:off x="835213" y="1722181"/>
            <a:ext cx="286390" cy="286390"/>
          </a:xfrm>
          <a:prstGeom prst="rect">
            <a:avLst/>
          </a:prstGeom>
        </p:spPr>
      </p:pic>
      <p:sp>
        <p:nvSpPr>
          <p:cNvPr id="7" name="text-646"/>
          <p:cNvSpPr txBox="1"/>
          <p:nvPr/>
        </p:nvSpPr>
        <p:spPr>
          <a:xfrm>
            <a:off x="1371600" y="1600200"/>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Python</a:t>
            </a:r>
            <a:endParaRPr lang="en-US" sz="1450" dirty="0"/>
          </a:p>
        </p:txBody>
      </p:sp>
      <p:sp>
        <p:nvSpPr>
          <p:cNvPr id="8" name="text-647"/>
          <p:cNvSpPr txBox="1"/>
          <p:nvPr/>
        </p:nvSpPr>
        <p:spPr>
          <a:xfrm>
            <a:off x="713232" y="2194560"/>
            <a:ext cx="2377440" cy="365760"/>
          </a:xfrm>
          <a:prstGeom prst="rect">
            <a:avLst/>
          </a:prstGeom>
          <a:noFill/>
          <a:ln/>
        </p:spPr>
        <p:txBody>
          <a:bodyPr wrap="square" lIns="0" tIns="0" rIns="0" bIns="0" rtlCol="0" anchor="t"/>
          <a:lstStyle/>
          <a:p>
            <a:pPr indent="0" marL="0">
              <a:buNone/>
            </a:pPr>
            <a:r>
              <a:rPr lang="en-US" sz="1200" dirty="0">
                <a:solidFill>
                  <a:schemeClr val="tx2"/>
                </a:solidFill>
              </a:rPr>
              <a:t>learning, prototyping: this course</a:t>
            </a:r>
            <a:endParaRPr lang="en-US" sz="1200" dirty="0"/>
          </a:p>
        </p:txBody>
      </p:sp>
      <p:sp>
        <p:nvSpPr>
          <p:cNvPr id="9" name="card-648"/>
          <p:cNvSpPr/>
          <p:nvPr/>
        </p:nvSpPr>
        <p:spPr>
          <a:xfrm>
            <a:off x="3319272" y="1417320"/>
            <a:ext cx="2624328"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icon-bg-649"/>
          <p:cNvSpPr/>
          <p:nvPr/>
        </p:nvSpPr>
        <p:spPr>
          <a:xfrm>
            <a:off x="3483864" y="1600200"/>
            <a:ext cx="530352" cy="530352"/>
          </a:xfrm>
          <a:prstGeom prst="ellipse">
            <a:avLst/>
          </a:prstGeom>
          <a:solidFill>
            <a:schemeClr val="accent1"/>
          </a:solidFill>
          <a:ln/>
        </p:spPr>
      </p:sp>
      <p:pic>
        <p:nvPicPr>
          <p:cNvPr id="11" name="icon-650" descr="preencoded.png">    </p:cNvPr>
          <p:cNvPicPr>
            <a:picLocks noChangeAspect="1"/>
          </p:cNvPicPr>
          <p:nvPr/>
        </p:nvPicPr>
        <p:blipFill>
          <a:blip r:embed="rId2"/>
          <a:stretch>
            <a:fillRect/>
          </a:stretch>
        </p:blipFill>
        <p:spPr>
          <a:xfrm>
            <a:off x="3605845" y="1722181"/>
            <a:ext cx="286390" cy="286390"/>
          </a:xfrm>
          <a:prstGeom prst="rect">
            <a:avLst/>
          </a:prstGeom>
        </p:spPr>
      </p:pic>
      <p:sp>
        <p:nvSpPr>
          <p:cNvPr id="12" name="text-651"/>
          <p:cNvSpPr txBox="1"/>
          <p:nvPr/>
        </p:nvSpPr>
        <p:spPr>
          <a:xfrm>
            <a:off x="4142232" y="1600200"/>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Excel / Calc</a:t>
            </a:r>
            <a:endParaRPr lang="en-US" sz="1450" dirty="0"/>
          </a:p>
        </p:txBody>
      </p:sp>
      <p:sp>
        <p:nvSpPr>
          <p:cNvPr id="13" name="text-652"/>
          <p:cNvSpPr txBox="1"/>
          <p:nvPr/>
        </p:nvSpPr>
        <p:spPr>
          <a:xfrm>
            <a:off x="3483864" y="2194560"/>
            <a:ext cx="2377440" cy="365760"/>
          </a:xfrm>
          <a:prstGeom prst="rect">
            <a:avLst/>
          </a:prstGeom>
          <a:noFill/>
          <a:ln/>
        </p:spPr>
        <p:txBody>
          <a:bodyPr wrap="square" lIns="0" tIns="0" rIns="0" bIns="0" rtlCol="0" anchor="t"/>
          <a:lstStyle/>
          <a:p>
            <a:pPr indent="0" marL="0">
              <a:buNone/>
            </a:pPr>
            <a:r>
              <a:rPr lang="en-US" sz="1200" dirty="0">
                <a:solidFill>
                  <a:schemeClr val="tx2"/>
                </a:solidFill>
              </a:rPr>
              <a:t>one cell = one node</a:t>
            </a:r>
            <a:endParaRPr lang="en-US" sz="1200" dirty="0"/>
          </a:p>
        </p:txBody>
      </p:sp>
      <p:sp>
        <p:nvSpPr>
          <p:cNvPr id="14" name="card-653"/>
          <p:cNvSpPr/>
          <p:nvPr/>
        </p:nvSpPr>
        <p:spPr>
          <a:xfrm>
            <a:off x="548640" y="2761488"/>
            <a:ext cx="2624328"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icon-bg-654"/>
          <p:cNvSpPr/>
          <p:nvPr/>
        </p:nvSpPr>
        <p:spPr>
          <a:xfrm>
            <a:off x="713232" y="2944368"/>
            <a:ext cx="530352" cy="530352"/>
          </a:xfrm>
          <a:prstGeom prst="ellipse">
            <a:avLst/>
          </a:prstGeom>
          <a:solidFill>
            <a:schemeClr val="accent1"/>
          </a:solidFill>
          <a:ln/>
        </p:spPr>
      </p:sp>
      <p:pic>
        <p:nvPicPr>
          <p:cNvPr id="16" name="icon-655" descr="preencoded.png">    </p:cNvPr>
          <p:cNvPicPr>
            <a:picLocks noChangeAspect="1"/>
          </p:cNvPicPr>
          <p:nvPr/>
        </p:nvPicPr>
        <p:blipFill>
          <a:blip r:embed="rId3"/>
          <a:stretch>
            <a:fillRect/>
          </a:stretch>
        </p:blipFill>
        <p:spPr>
          <a:xfrm>
            <a:off x="835213" y="3066349"/>
            <a:ext cx="286390" cy="286390"/>
          </a:xfrm>
          <a:prstGeom prst="rect">
            <a:avLst/>
          </a:prstGeom>
        </p:spPr>
      </p:pic>
      <p:sp>
        <p:nvSpPr>
          <p:cNvPr id="17" name="text-656"/>
          <p:cNvSpPr txBox="1"/>
          <p:nvPr/>
        </p:nvSpPr>
        <p:spPr>
          <a:xfrm>
            <a:off x="1371600" y="2944368"/>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MATLAB / Octave</a:t>
            </a:r>
            <a:endParaRPr lang="en-US" sz="1450" dirty="0"/>
          </a:p>
        </p:txBody>
      </p:sp>
      <p:sp>
        <p:nvSpPr>
          <p:cNvPr id="18" name="text-657"/>
          <p:cNvSpPr txBox="1"/>
          <p:nvPr/>
        </p:nvSpPr>
        <p:spPr>
          <a:xfrm>
            <a:off x="713232" y="3538728"/>
            <a:ext cx="2377440" cy="365760"/>
          </a:xfrm>
          <a:prstGeom prst="rect">
            <a:avLst/>
          </a:prstGeom>
          <a:noFill/>
          <a:ln/>
        </p:spPr>
        <p:txBody>
          <a:bodyPr wrap="square" lIns="0" tIns="0" rIns="0" bIns="0" rtlCol="0" anchor="t"/>
          <a:lstStyle/>
          <a:p>
            <a:pPr indent="0" marL="0">
              <a:buNone/>
            </a:pPr>
            <a:r>
              <a:rPr lang="en-US" sz="1200" dirty="0">
                <a:solidFill>
                  <a:schemeClr val="tx2"/>
                </a:solidFill>
              </a:rPr>
              <a:t>matrix-friendly teaching &amp; research</a:t>
            </a:r>
            <a:endParaRPr lang="en-US" sz="1200" dirty="0"/>
          </a:p>
        </p:txBody>
      </p:sp>
      <p:sp>
        <p:nvSpPr>
          <p:cNvPr id="19" name="card-658"/>
          <p:cNvSpPr/>
          <p:nvPr/>
        </p:nvSpPr>
        <p:spPr>
          <a:xfrm>
            <a:off x="3319272" y="2761488"/>
            <a:ext cx="2624328"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0" name="icon-bg-659"/>
          <p:cNvSpPr/>
          <p:nvPr/>
        </p:nvSpPr>
        <p:spPr>
          <a:xfrm>
            <a:off x="3483864" y="2944368"/>
            <a:ext cx="530352" cy="530352"/>
          </a:xfrm>
          <a:prstGeom prst="ellipse">
            <a:avLst/>
          </a:prstGeom>
          <a:solidFill>
            <a:schemeClr val="accent1"/>
          </a:solidFill>
          <a:ln/>
        </p:spPr>
      </p:sp>
      <p:pic>
        <p:nvPicPr>
          <p:cNvPr id="21" name="icon-660" descr="preencoded.png">    </p:cNvPr>
          <p:cNvPicPr>
            <a:picLocks noChangeAspect="1"/>
          </p:cNvPicPr>
          <p:nvPr/>
        </p:nvPicPr>
        <p:blipFill>
          <a:blip r:embed="rId4"/>
          <a:stretch>
            <a:fillRect/>
          </a:stretch>
        </p:blipFill>
        <p:spPr>
          <a:xfrm>
            <a:off x="3605845" y="3066349"/>
            <a:ext cx="286390" cy="286390"/>
          </a:xfrm>
          <a:prstGeom prst="rect">
            <a:avLst/>
          </a:prstGeom>
        </p:spPr>
      </p:pic>
      <p:sp>
        <p:nvSpPr>
          <p:cNvPr id="22" name="text-661"/>
          <p:cNvSpPr txBox="1"/>
          <p:nvPr/>
        </p:nvSpPr>
        <p:spPr>
          <a:xfrm>
            <a:off x="4142232" y="2944368"/>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C++ / Fortran / Julia</a:t>
            </a:r>
            <a:endParaRPr lang="en-US" sz="1450" dirty="0"/>
          </a:p>
        </p:txBody>
      </p:sp>
      <p:sp>
        <p:nvSpPr>
          <p:cNvPr id="23" name="text-662"/>
          <p:cNvSpPr txBox="1"/>
          <p:nvPr/>
        </p:nvSpPr>
        <p:spPr>
          <a:xfrm>
            <a:off x="3483864" y="3538728"/>
            <a:ext cx="2377440" cy="365760"/>
          </a:xfrm>
          <a:prstGeom prst="rect">
            <a:avLst/>
          </a:prstGeom>
          <a:noFill/>
          <a:ln/>
        </p:spPr>
        <p:txBody>
          <a:bodyPr wrap="square" lIns="0" tIns="0" rIns="0" bIns="0" rtlCol="0" anchor="t"/>
          <a:lstStyle/>
          <a:p>
            <a:pPr indent="0" marL="0">
              <a:buNone/>
            </a:pPr>
            <a:r>
              <a:rPr lang="en-US" sz="1200" dirty="0">
                <a:solidFill>
                  <a:schemeClr val="tx2"/>
                </a:solidFill>
              </a:rPr>
              <a:t>large, fast production codes</a:t>
            </a:r>
            <a:endParaRPr lang="en-US" sz="1200" dirty="0"/>
          </a:p>
        </p:txBody>
      </p:sp>
      <p:sp>
        <p:nvSpPr>
          <p:cNvPr id="24" name="card-663"/>
          <p:cNvSpPr/>
          <p:nvPr/>
        </p:nvSpPr>
        <p:spPr>
          <a:xfrm>
            <a:off x="548640" y="4105656"/>
            <a:ext cx="2624328"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5" name="icon-bg-664"/>
          <p:cNvSpPr/>
          <p:nvPr/>
        </p:nvSpPr>
        <p:spPr>
          <a:xfrm>
            <a:off x="713232" y="4288536"/>
            <a:ext cx="530352" cy="530352"/>
          </a:xfrm>
          <a:prstGeom prst="ellipse">
            <a:avLst/>
          </a:prstGeom>
          <a:solidFill>
            <a:schemeClr val="accent1"/>
          </a:solidFill>
          <a:ln/>
        </p:spPr>
      </p:sp>
      <p:pic>
        <p:nvPicPr>
          <p:cNvPr id="26" name="icon-665" descr="preencoded.png">    </p:cNvPr>
          <p:cNvPicPr>
            <a:picLocks noChangeAspect="1"/>
          </p:cNvPicPr>
          <p:nvPr/>
        </p:nvPicPr>
        <p:blipFill>
          <a:blip r:embed="rId5"/>
          <a:stretch>
            <a:fillRect/>
          </a:stretch>
        </p:blipFill>
        <p:spPr>
          <a:xfrm>
            <a:off x="835213" y="4410517"/>
            <a:ext cx="286390" cy="286390"/>
          </a:xfrm>
          <a:prstGeom prst="rect">
            <a:avLst/>
          </a:prstGeom>
        </p:spPr>
      </p:pic>
      <p:sp>
        <p:nvSpPr>
          <p:cNvPr id="27" name="text-666"/>
          <p:cNvSpPr txBox="1"/>
          <p:nvPr/>
        </p:nvSpPr>
        <p:spPr>
          <a:xfrm>
            <a:off x="1371600" y="4288536"/>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OpenFOAM · SU2</a:t>
            </a:r>
            <a:endParaRPr lang="en-US" sz="1450" dirty="0"/>
          </a:p>
        </p:txBody>
      </p:sp>
      <p:sp>
        <p:nvSpPr>
          <p:cNvPr id="28" name="text-667"/>
          <p:cNvSpPr txBox="1"/>
          <p:nvPr/>
        </p:nvSpPr>
        <p:spPr>
          <a:xfrm>
            <a:off x="713232" y="4882896"/>
            <a:ext cx="2377440" cy="365760"/>
          </a:xfrm>
          <a:prstGeom prst="rect">
            <a:avLst/>
          </a:prstGeom>
          <a:noFill/>
          <a:ln/>
        </p:spPr>
        <p:txBody>
          <a:bodyPr wrap="square" lIns="0" tIns="0" rIns="0" bIns="0" rtlCol="0" anchor="t"/>
          <a:lstStyle/>
          <a:p>
            <a:pPr indent="0" marL="0">
              <a:buNone/>
            </a:pPr>
            <a:r>
              <a:rPr lang="en-US" sz="1200" dirty="0">
                <a:solidFill>
                  <a:schemeClr val="tx2"/>
                </a:solidFill>
              </a:rPr>
              <a:t>open-source CFD packages</a:t>
            </a:r>
            <a:endParaRPr lang="en-US" sz="1200" dirty="0"/>
          </a:p>
        </p:txBody>
      </p:sp>
      <p:sp>
        <p:nvSpPr>
          <p:cNvPr id="29" name="card-668"/>
          <p:cNvSpPr/>
          <p:nvPr/>
        </p:nvSpPr>
        <p:spPr>
          <a:xfrm>
            <a:off x="3319272" y="4105656"/>
            <a:ext cx="2624328" cy="1188720"/>
          </a:xfrm>
          <a:prstGeom prst="roundRect">
            <a:avLst>
              <a:gd name="adj" fmla="val 7692"/>
            </a:avLst>
          </a:prstGeom>
          <a:solidFill>
            <a:schemeClr val="bg1"/>
          </a:solidFill>
          <a:ln w="25400">
            <a:solidFill>
              <a:schemeClr val="accent2"/>
            </a:solidFill>
            <a:prstDash val="solid"/>
          </a:ln>
          <a:effectLst>
            <a:outerShdw sx="100000" sy="100000" kx="0" ky="0" algn="bl" rotWithShape="0" blurRad="88900" dist="19050" dir="5400000">
              <a:srgbClr val="0B2E47">
                <a:alpha val="12000"/>
              </a:srgbClr>
            </a:outerShdw>
          </a:effectLst>
        </p:spPr>
      </p:sp>
      <p:sp>
        <p:nvSpPr>
          <p:cNvPr id="30" name="icon-bg-669"/>
          <p:cNvSpPr/>
          <p:nvPr/>
        </p:nvSpPr>
        <p:spPr>
          <a:xfrm>
            <a:off x="3483864" y="4288536"/>
            <a:ext cx="530352" cy="530352"/>
          </a:xfrm>
          <a:prstGeom prst="ellipse">
            <a:avLst/>
          </a:prstGeom>
          <a:solidFill>
            <a:schemeClr val="accent2"/>
          </a:solidFill>
          <a:ln/>
        </p:spPr>
      </p:sp>
      <p:pic>
        <p:nvPicPr>
          <p:cNvPr id="31" name="icon-670" descr="preencoded.png">    </p:cNvPr>
          <p:cNvPicPr>
            <a:picLocks noChangeAspect="1"/>
          </p:cNvPicPr>
          <p:nvPr/>
        </p:nvPicPr>
        <p:blipFill>
          <a:blip r:embed="rId6"/>
          <a:stretch>
            <a:fillRect/>
          </a:stretch>
        </p:blipFill>
        <p:spPr>
          <a:xfrm>
            <a:off x="3605845" y="4410517"/>
            <a:ext cx="286390" cy="286390"/>
          </a:xfrm>
          <a:prstGeom prst="rect">
            <a:avLst/>
          </a:prstGeom>
        </p:spPr>
      </p:pic>
      <p:sp>
        <p:nvSpPr>
          <p:cNvPr id="32" name="text-671"/>
          <p:cNvSpPr txBox="1"/>
          <p:nvPr/>
        </p:nvSpPr>
        <p:spPr>
          <a:xfrm>
            <a:off x="4142232" y="4288536"/>
            <a:ext cx="1737360" cy="530352"/>
          </a:xfrm>
          <a:prstGeom prst="rect">
            <a:avLst/>
          </a:prstGeom>
          <a:noFill/>
          <a:ln/>
        </p:spPr>
        <p:txBody>
          <a:bodyPr wrap="square" lIns="0" tIns="0" rIns="0" bIns="0" rtlCol="0" anchor="ctr"/>
          <a:lstStyle/>
          <a:p>
            <a:pPr indent="0" marL="0">
              <a:buNone/>
            </a:pPr>
            <a:r>
              <a:rPr lang="en-US" sz="1450" b="1" dirty="0">
                <a:solidFill>
                  <a:schemeClr val="tx1"/>
                </a:solidFill>
              </a:rPr>
              <a:t>Fluent · COMSOL</a:t>
            </a:r>
            <a:endParaRPr lang="en-US" sz="1450" dirty="0"/>
          </a:p>
        </p:txBody>
      </p:sp>
      <p:sp>
        <p:nvSpPr>
          <p:cNvPr id="33" name="text-672"/>
          <p:cNvSpPr txBox="1"/>
          <p:nvPr/>
        </p:nvSpPr>
        <p:spPr>
          <a:xfrm>
            <a:off x="3483864" y="4882896"/>
            <a:ext cx="2377440" cy="365760"/>
          </a:xfrm>
          <a:prstGeom prst="rect">
            <a:avLst/>
          </a:prstGeom>
          <a:noFill/>
          <a:ln/>
        </p:spPr>
        <p:txBody>
          <a:bodyPr wrap="square" lIns="0" tIns="0" rIns="0" bIns="0" rtlCol="0" anchor="t"/>
          <a:lstStyle/>
          <a:p>
            <a:pPr indent="0" marL="0">
              <a:buNone/>
            </a:pPr>
            <a:r>
              <a:rPr lang="en-US" sz="1200" dirty="0">
                <a:solidFill>
                  <a:schemeClr val="tx2"/>
                </a:solidFill>
              </a:rPr>
              <a:t>commercial, graphical workflow</a:t>
            </a:r>
            <a:endParaRPr lang="en-US" sz="1200" dirty="0"/>
          </a:p>
        </p:txBody>
      </p:sp>
      <p:sp>
        <p:nvSpPr>
          <p:cNvPr id="34" name="pill-673"/>
          <p:cNvSpPr/>
          <p:nvPr/>
        </p:nvSpPr>
        <p:spPr>
          <a:xfrm>
            <a:off x="5102352" y="3959352"/>
            <a:ext cx="7315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Part 2</a:t>
            </a:r>
            <a:endParaRPr lang="en-US" sz="1050" dirty="0"/>
          </a:p>
        </p:txBody>
      </p:sp>
      <p:sp>
        <p:nvSpPr>
          <p:cNvPr id="35" name="text-674"/>
          <p:cNvSpPr txBox="1"/>
          <p:nvPr/>
        </p:nvSpPr>
        <p:spPr>
          <a:xfrm>
            <a:off x="548640" y="5532120"/>
            <a:ext cx="5394960" cy="320040"/>
          </a:xfrm>
          <a:prstGeom prst="rect">
            <a:avLst/>
          </a:prstGeom>
          <a:noFill/>
          <a:ln/>
        </p:spPr>
        <p:txBody>
          <a:bodyPr wrap="square" lIns="0" tIns="0" rIns="0" bIns="0" rtlCol="0" anchor="t"/>
          <a:lstStyle/>
          <a:p>
            <a:pPr indent="0" marL="0">
              <a:buNone/>
            </a:pPr>
            <a:r>
              <a:rPr lang="en-US" sz="1400" i="1" dirty="0">
                <a:solidFill>
                  <a:schemeClr val="accent4"/>
                </a:solidFill>
              </a:rPr>
              <a:t>Same algorithm, many environments.</a:t>
            </a:r>
            <a:endParaRPr lang="en-US" sz="1400" dirty="0"/>
          </a:p>
        </p:txBody>
      </p:sp>
      <p:sp>
        <p:nvSpPr>
          <p:cNvPr id="36" name="card-675"/>
          <p:cNvSpPr/>
          <p:nvPr/>
        </p:nvSpPr>
        <p:spPr>
          <a:xfrm>
            <a:off x="6263640" y="1417320"/>
            <a:ext cx="5376672" cy="4572000"/>
          </a:xfrm>
          <a:prstGeom prst="roundRect">
            <a:avLst>
              <a:gd name="adj" fmla="val 2000"/>
            </a:avLst>
          </a:prstGeom>
          <a:solidFill>
            <a:schemeClr val="tx1"/>
          </a:solidFill>
          <a:ln/>
          <a:effectLst>
            <a:outerShdw sx="100000" sy="100000" kx="0" ky="0" algn="bl" rotWithShape="0" blurRad="88900" dist="19050" dir="5400000">
              <a:srgbClr val="0B2E47">
                <a:alpha val="12000"/>
              </a:srgbClr>
            </a:outerShdw>
          </a:effectLst>
        </p:spPr>
      </p:sp>
      <p:sp>
        <p:nvSpPr>
          <p:cNvPr id="37" name="text-676"/>
          <p:cNvSpPr txBox="1"/>
          <p:nvPr/>
        </p:nvSpPr>
        <p:spPr>
          <a:xfrm>
            <a:off x="6537960" y="1600200"/>
            <a:ext cx="493776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ROD SOLVER: ABOUT A DOZEN LINES OF PYTHON</a:t>
            </a:r>
            <a:endParaRPr lang="en-US" sz="1200" dirty="0"/>
          </a:p>
        </p:txBody>
      </p:sp>
      <p:sp>
        <p:nvSpPr>
          <p:cNvPr id="38" name="code-block-677"/>
          <p:cNvSpPr txBox="1"/>
          <p:nvPr/>
        </p:nvSpPr>
        <p:spPr>
          <a:xfrm>
            <a:off x="6537960" y="2011680"/>
            <a:ext cx="4983480" cy="37947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import numpy as np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import matplotlib.pyplot as plt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 N, alpha = 1.0, 20, 1e-4   </a:t>
            </a:r>
            <a:pPr indent="0" marL="0">
              <a:buNone/>
            </a:pPr>
            <a:r>
              <a:rPr lang="en-US" sz="1200" dirty="0">
                <a:solidFill>
                  <a:schemeClr val="accent5"/>
                </a:solidFill>
                <a:latin typeface="Courier New" pitchFamily="34" charset="0"/>
                <a:ea typeface="Courier New" pitchFamily="34" charset="-122"/>
                <a:cs typeface="Courier New" pitchFamily="34" charset="-120"/>
              </a:rPr>
              <a:t># rod, intervals, α</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dx = L / N                    </a:t>
            </a:r>
            <a:pPr indent="0" marL="0">
              <a:buNone/>
            </a:pPr>
            <a:r>
              <a:rPr lang="en-US" sz="1200" dirty="0">
                <a:solidFill>
                  <a:schemeClr val="accent5"/>
                </a:solidFill>
                <a:latin typeface="Courier New" pitchFamily="34" charset="0"/>
                <a:ea typeface="Courier New" pitchFamily="34" charset="-122"/>
                <a:cs typeface="Courier New" pitchFamily="34" charset="-120"/>
              </a:rPr>
              <a:t># pillar 2: grid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  = 0.4                      </a:t>
            </a:r>
            <a:pPr indent="0" marL="0">
              <a:buNone/>
            </a:pPr>
            <a:r>
              <a:rPr lang="en-US" sz="1200" dirty="0">
                <a:solidFill>
                  <a:schemeClr val="accent5"/>
                </a:solidFill>
                <a:latin typeface="Courier New" pitchFamily="34" charset="0"/>
                <a:ea typeface="Courier New" pitchFamily="34" charset="-122"/>
                <a:cs typeface="Courier New" pitchFamily="34" charset="-120"/>
              </a:rPr>
              <a:t># pillar 5: r ≤ 0.5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dt = r * dx**2 / alpha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x = np.linspace(0, L, N + 1)  </a:t>
            </a:r>
            <a:pPr indent="0" marL="0">
              <a:buNone/>
            </a:pPr>
            <a:r>
              <a:rPr lang="en-US" sz="1200" dirty="0">
                <a:solidFill>
                  <a:schemeClr val="accent5"/>
                </a:solidFill>
                <a:latin typeface="Courier New" pitchFamily="34" charset="0"/>
                <a:ea typeface="Courier New" pitchFamily="34" charset="-122"/>
                <a:cs typeface="Courier New" pitchFamily="34" charset="-120"/>
              </a:rPr>
              <a:t># 21 nodes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 = np.full(N + 1, 20.0)      </a:t>
            </a:r>
            <a:pPr indent="0" marL="0">
              <a:buNone/>
            </a:pPr>
            <a:r>
              <a:rPr lang="en-US" sz="1200" dirty="0">
                <a:solidFill>
                  <a:schemeClr val="accent5"/>
                </a:solidFill>
                <a:latin typeface="Courier New" pitchFamily="34" charset="0"/>
                <a:ea typeface="Courier New" pitchFamily="34" charset="-122"/>
                <a:cs typeface="Courier New" pitchFamily="34" charset="-120"/>
              </a:rPr>
              <a:t># pillar 3: 20 °C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T[0] = 100.0                  </a:t>
            </a:r>
            <a:pPr indent="0" marL="0">
              <a:buNone/>
            </a:pPr>
            <a:r>
              <a:rPr lang="en-US" sz="1200" dirty="0">
                <a:solidFill>
                  <a:schemeClr val="accent5"/>
                </a:solidFill>
                <a:latin typeface="Courier New" pitchFamily="34" charset="0"/>
                <a:ea typeface="Courier New" pitchFamily="34" charset="-122"/>
                <a:cs typeface="Courier New" pitchFamily="34" charset="-120"/>
              </a:rPr>
              <a:t># hot left end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for n in range(600):          </a:t>
            </a:r>
            <a:pPr indent="0" marL="0">
              <a:buNone/>
            </a:pPr>
            <a:r>
              <a:rPr lang="en-US" sz="1200" dirty="0">
                <a:solidFill>
                  <a:schemeClr val="accent5"/>
                </a:solidFill>
                <a:latin typeface="Courier New" pitchFamily="34" charset="0"/>
                <a:ea typeface="Courier New" pitchFamily="34" charset="-122"/>
                <a:cs typeface="Courier New" pitchFamily="34" charset="-120"/>
              </a:rPr>
              <a:t># pillars 4 + 6</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T[1:-1] += r*(T[2:] - 2*T[1:-1] + T[:-2])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plt.plot(x, T, "o-")          </a:t>
            </a:r>
            <a:pPr indent="0" marL="0">
              <a:buNone/>
            </a:pPr>
            <a:r>
              <a:rPr lang="en-US" sz="1200" dirty="0">
                <a:solidFill>
                  <a:schemeClr val="accent5"/>
                </a:solidFill>
                <a:latin typeface="Courier New" pitchFamily="34" charset="0"/>
                <a:ea typeface="Courier New" pitchFamily="34" charset="-122"/>
                <a:cs typeface="Courier New" pitchFamily="34" charset="-120"/>
              </a:rPr>
              <a:t># pillar 7</a:t>
            </a:r>
            <a:endParaRPr lang="en-US" sz="12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67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PILLAR 7 · POST-PROCESSING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Visualize: turn numbers into insight</a:t>
            </a:r>
            <a:endParaRPr lang="en-US" sz="3200" dirty="0"/>
          </a:p>
        </p:txBody>
      </p:sp>
      <p:pic>
        <p:nvPicPr>
          <p:cNvPr id="4" name="img-679" descr="Contour map, heat-flux streamlines, line plot against the analytical solution and a grid-convergence plot">    </p:cNvPr>
          <p:cNvPicPr>
            <a:picLocks noChangeAspect="1"/>
          </p:cNvPicPr>
          <p:nvPr/>
        </p:nvPicPr>
        <p:blipFill>
          <a:blip r:embed="rId1"/>
          <a:stretch>
            <a:fillRect/>
          </a:stretch>
        </p:blipFill>
        <p:spPr>
          <a:xfrm>
            <a:off x="548640" y="1372906"/>
            <a:ext cx="5650992" cy="4843707"/>
          </a:xfrm>
          <a:prstGeom prst="rect">
            <a:avLst/>
          </a:prstGeom>
        </p:spPr>
      </p:pic>
      <p:sp>
        <p:nvSpPr>
          <p:cNvPr id="5" name="icon-bg-680"/>
          <p:cNvSpPr/>
          <p:nvPr/>
        </p:nvSpPr>
        <p:spPr>
          <a:xfrm>
            <a:off x="6537960" y="1463040"/>
            <a:ext cx="548640" cy="548640"/>
          </a:xfrm>
          <a:prstGeom prst="ellipse">
            <a:avLst/>
          </a:prstGeom>
          <a:solidFill>
            <a:schemeClr val="accent3"/>
          </a:solidFill>
          <a:ln/>
        </p:spPr>
      </p:sp>
      <p:pic>
        <p:nvPicPr>
          <p:cNvPr id="6" name="icon-681" descr="preencoded.png">    </p:cNvPr>
          <p:cNvPicPr>
            <a:picLocks noChangeAspect="1"/>
          </p:cNvPicPr>
          <p:nvPr/>
        </p:nvPicPr>
        <p:blipFill>
          <a:blip r:embed="rId2"/>
          <a:stretch>
            <a:fillRect/>
          </a:stretch>
        </p:blipFill>
        <p:spPr>
          <a:xfrm>
            <a:off x="6664147" y="1589227"/>
            <a:ext cx="296266" cy="296266"/>
          </a:xfrm>
          <a:prstGeom prst="rect">
            <a:avLst/>
          </a:prstGeom>
        </p:spPr>
      </p:pic>
      <p:sp>
        <p:nvSpPr>
          <p:cNvPr id="7" name="text-682"/>
          <p:cNvSpPr txBox="1"/>
          <p:nvPr/>
        </p:nvSpPr>
        <p:spPr>
          <a:xfrm>
            <a:off x="7269480" y="1417320"/>
            <a:ext cx="4389120" cy="329184"/>
          </a:xfrm>
          <a:prstGeom prst="rect">
            <a:avLst/>
          </a:prstGeom>
          <a:noFill/>
          <a:ln/>
        </p:spPr>
        <p:txBody>
          <a:bodyPr wrap="square" lIns="0" tIns="0" rIns="0" bIns="0" rtlCol="0" anchor="t"/>
          <a:lstStyle/>
          <a:p>
            <a:pPr indent="0" marL="0">
              <a:buNone/>
            </a:pPr>
            <a:r>
              <a:rPr lang="en-US" sz="1600" b="1" dirty="0">
                <a:solidFill>
                  <a:schemeClr val="tx1"/>
                </a:solidFill>
              </a:rPr>
              <a:t>Contour / colour map</a:t>
            </a:r>
            <a:endParaRPr lang="en-US" sz="1600" dirty="0"/>
          </a:p>
        </p:txBody>
      </p:sp>
      <p:sp>
        <p:nvSpPr>
          <p:cNvPr id="8" name="text-683"/>
          <p:cNvSpPr txBox="1"/>
          <p:nvPr/>
        </p:nvSpPr>
        <p:spPr>
          <a:xfrm>
            <a:off x="7269480" y="1755648"/>
            <a:ext cx="4389120" cy="329184"/>
          </a:xfrm>
          <a:prstGeom prst="rect">
            <a:avLst/>
          </a:prstGeom>
          <a:noFill/>
          <a:ln/>
        </p:spPr>
        <p:txBody>
          <a:bodyPr wrap="square" lIns="0" tIns="0" rIns="0" bIns="0" rtlCol="0" anchor="t"/>
          <a:lstStyle/>
          <a:p>
            <a:pPr indent="0" marL="0">
              <a:buNone/>
            </a:pPr>
            <a:r>
              <a:rPr lang="en-US" sz="1350" dirty="0">
                <a:solidFill>
                  <a:schemeClr val="tx2"/>
                </a:solidFill>
              </a:rPr>
              <a:t>a scalar field: hot spots, pressure regions</a:t>
            </a:r>
            <a:endParaRPr lang="en-US" sz="1350" dirty="0"/>
          </a:p>
        </p:txBody>
      </p:sp>
      <p:sp>
        <p:nvSpPr>
          <p:cNvPr id="9" name="icon-bg-684"/>
          <p:cNvSpPr/>
          <p:nvPr/>
        </p:nvSpPr>
        <p:spPr>
          <a:xfrm>
            <a:off x="6537960" y="2267712"/>
            <a:ext cx="548640" cy="548640"/>
          </a:xfrm>
          <a:prstGeom prst="ellipse">
            <a:avLst/>
          </a:prstGeom>
          <a:solidFill>
            <a:schemeClr val="accent3"/>
          </a:solidFill>
          <a:ln/>
        </p:spPr>
      </p:sp>
      <p:pic>
        <p:nvPicPr>
          <p:cNvPr id="10" name="icon-685" descr="preencoded.png">    </p:cNvPr>
          <p:cNvPicPr>
            <a:picLocks noChangeAspect="1"/>
          </p:cNvPicPr>
          <p:nvPr/>
        </p:nvPicPr>
        <p:blipFill>
          <a:blip r:embed="rId3"/>
          <a:stretch>
            <a:fillRect/>
          </a:stretch>
        </p:blipFill>
        <p:spPr>
          <a:xfrm>
            <a:off x="6664147" y="2393899"/>
            <a:ext cx="296266" cy="296266"/>
          </a:xfrm>
          <a:prstGeom prst="rect">
            <a:avLst/>
          </a:prstGeom>
        </p:spPr>
      </p:pic>
      <p:sp>
        <p:nvSpPr>
          <p:cNvPr id="11" name="text-686"/>
          <p:cNvSpPr txBox="1"/>
          <p:nvPr/>
        </p:nvSpPr>
        <p:spPr>
          <a:xfrm>
            <a:off x="7269480" y="2221992"/>
            <a:ext cx="4389120" cy="329184"/>
          </a:xfrm>
          <a:prstGeom prst="rect">
            <a:avLst/>
          </a:prstGeom>
          <a:noFill/>
          <a:ln/>
        </p:spPr>
        <p:txBody>
          <a:bodyPr wrap="square" lIns="0" tIns="0" rIns="0" bIns="0" rtlCol="0" anchor="t"/>
          <a:lstStyle/>
          <a:p>
            <a:pPr indent="0" marL="0">
              <a:buNone/>
            </a:pPr>
            <a:r>
              <a:rPr lang="en-US" sz="1600" b="1" dirty="0">
                <a:solidFill>
                  <a:schemeClr val="tx1"/>
                </a:solidFill>
              </a:rPr>
              <a:t>Vectors / streamlines</a:t>
            </a:r>
            <a:endParaRPr lang="en-US" sz="1600" dirty="0"/>
          </a:p>
        </p:txBody>
      </p:sp>
      <p:sp>
        <p:nvSpPr>
          <p:cNvPr id="12" name="text-687"/>
          <p:cNvSpPr txBox="1"/>
          <p:nvPr/>
        </p:nvSpPr>
        <p:spPr>
          <a:xfrm>
            <a:off x="7269480" y="2560320"/>
            <a:ext cx="4389120" cy="329184"/>
          </a:xfrm>
          <a:prstGeom prst="rect">
            <a:avLst/>
          </a:prstGeom>
          <a:noFill/>
          <a:ln/>
        </p:spPr>
        <p:txBody>
          <a:bodyPr wrap="square" lIns="0" tIns="0" rIns="0" bIns="0" rtlCol="0" anchor="t"/>
          <a:lstStyle/>
          <a:p>
            <a:pPr indent="0" marL="0">
              <a:buNone/>
            </a:pPr>
            <a:r>
              <a:rPr lang="en-US" sz="1350" dirty="0">
                <a:solidFill>
                  <a:schemeClr val="tx2"/>
                </a:solidFill>
              </a:rPr>
              <a:t>flow patterns, recirculation, heat paths</a:t>
            </a:r>
            <a:endParaRPr lang="en-US" sz="1350" dirty="0"/>
          </a:p>
        </p:txBody>
      </p:sp>
      <p:sp>
        <p:nvSpPr>
          <p:cNvPr id="13" name="icon-bg-688"/>
          <p:cNvSpPr/>
          <p:nvPr/>
        </p:nvSpPr>
        <p:spPr>
          <a:xfrm>
            <a:off x="6537960" y="3072384"/>
            <a:ext cx="548640" cy="548640"/>
          </a:xfrm>
          <a:prstGeom prst="ellipse">
            <a:avLst/>
          </a:prstGeom>
          <a:solidFill>
            <a:schemeClr val="accent3"/>
          </a:solidFill>
          <a:ln/>
        </p:spPr>
      </p:sp>
      <p:pic>
        <p:nvPicPr>
          <p:cNvPr id="14" name="icon-689" descr="preencoded.png">    </p:cNvPr>
          <p:cNvPicPr>
            <a:picLocks noChangeAspect="1"/>
          </p:cNvPicPr>
          <p:nvPr/>
        </p:nvPicPr>
        <p:blipFill>
          <a:blip r:embed="rId4"/>
          <a:stretch>
            <a:fillRect/>
          </a:stretch>
        </p:blipFill>
        <p:spPr>
          <a:xfrm>
            <a:off x="6664147" y="3198571"/>
            <a:ext cx="296266" cy="296266"/>
          </a:xfrm>
          <a:prstGeom prst="rect">
            <a:avLst/>
          </a:prstGeom>
        </p:spPr>
      </p:pic>
      <p:sp>
        <p:nvSpPr>
          <p:cNvPr id="15" name="text-690"/>
          <p:cNvSpPr txBox="1"/>
          <p:nvPr/>
        </p:nvSpPr>
        <p:spPr>
          <a:xfrm>
            <a:off x="7269480" y="3026664"/>
            <a:ext cx="4389120" cy="329184"/>
          </a:xfrm>
          <a:prstGeom prst="rect">
            <a:avLst/>
          </a:prstGeom>
          <a:noFill/>
          <a:ln/>
        </p:spPr>
        <p:txBody>
          <a:bodyPr wrap="square" lIns="0" tIns="0" rIns="0" bIns="0" rtlCol="0" anchor="t"/>
          <a:lstStyle/>
          <a:p>
            <a:pPr indent="0" marL="0">
              <a:buNone/>
            </a:pPr>
            <a:r>
              <a:rPr lang="en-US" sz="1600" b="1" dirty="0">
                <a:solidFill>
                  <a:schemeClr val="tx1"/>
                </a:solidFill>
              </a:rPr>
              <a:t>Line plot (profile)</a:t>
            </a:r>
            <a:endParaRPr lang="en-US" sz="1600" dirty="0"/>
          </a:p>
        </p:txBody>
      </p:sp>
      <p:sp>
        <p:nvSpPr>
          <p:cNvPr id="16" name="text-691"/>
          <p:cNvSpPr txBox="1"/>
          <p:nvPr/>
        </p:nvSpPr>
        <p:spPr>
          <a:xfrm>
            <a:off x="7269480" y="3364992"/>
            <a:ext cx="4389120" cy="329184"/>
          </a:xfrm>
          <a:prstGeom prst="rect">
            <a:avLst/>
          </a:prstGeom>
          <a:noFill/>
          <a:ln/>
        </p:spPr>
        <p:txBody>
          <a:bodyPr wrap="square" lIns="0" tIns="0" rIns="0" bIns="0" rtlCol="0" anchor="t"/>
          <a:lstStyle/>
          <a:p>
            <a:pPr indent="0" marL="0">
              <a:buNone/>
            </a:pPr>
            <a:r>
              <a:rPr lang="en-US" sz="1350" dirty="0">
                <a:solidFill>
                  <a:schemeClr val="tx2"/>
                </a:solidFill>
              </a:rPr>
              <a:t>compare with theory, experiments, other grids</a:t>
            </a:r>
            <a:endParaRPr lang="en-US" sz="1350" dirty="0"/>
          </a:p>
        </p:txBody>
      </p:sp>
      <p:sp>
        <p:nvSpPr>
          <p:cNvPr id="17" name="icon-bg-692"/>
          <p:cNvSpPr/>
          <p:nvPr/>
        </p:nvSpPr>
        <p:spPr>
          <a:xfrm>
            <a:off x="6537960" y="3877056"/>
            <a:ext cx="548640" cy="548640"/>
          </a:xfrm>
          <a:prstGeom prst="ellipse">
            <a:avLst/>
          </a:prstGeom>
          <a:solidFill>
            <a:schemeClr val="accent3"/>
          </a:solidFill>
          <a:ln/>
        </p:spPr>
      </p:sp>
      <p:pic>
        <p:nvPicPr>
          <p:cNvPr id="18" name="icon-693" descr="preencoded.png">    </p:cNvPr>
          <p:cNvPicPr>
            <a:picLocks noChangeAspect="1"/>
          </p:cNvPicPr>
          <p:nvPr/>
        </p:nvPicPr>
        <p:blipFill>
          <a:blip r:embed="rId5"/>
          <a:stretch>
            <a:fillRect/>
          </a:stretch>
        </p:blipFill>
        <p:spPr>
          <a:xfrm>
            <a:off x="6664147" y="4003243"/>
            <a:ext cx="296266" cy="296266"/>
          </a:xfrm>
          <a:prstGeom prst="rect">
            <a:avLst/>
          </a:prstGeom>
        </p:spPr>
      </p:pic>
      <p:sp>
        <p:nvSpPr>
          <p:cNvPr id="19" name="text-694"/>
          <p:cNvSpPr txBox="1"/>
          <p:nvPr/>
        </p:nvSpPr>
        <p:spPr>
          <a:xfrm>
            <a:off x="7269480" y="3831336"/>
            <a:ext cx="4389120" cy="329184"/>
          </a:xfrm>
          <a:prstGeom prst="rect">
            <a:avLst/>
          </a:prstGeom>
          <a:noFill/>
          <a:ln/>
        </p:spPr>
        <p:txBody>
          <a:bodyPr wrap="square" lIns="0" tIns="0" rIns="0" bIns="0" rtlCol="0" anchor="t"/>
          <a:lstStyle/>
          <a:p>
            <a:pPr indent="0" marL="0">
              <a:buNone/>
            </a:pPr>
            <a:r>
              <a:rPr lang="en-US" sz="1600" b="1" dirty="0">
                <a:solidFill>
                  <a:schemeClr val="tx1"/>
                </a:solidFill>
              </a:rPr>
              <a:t>Animation</a:t>
            </a:r>
            <a:endParaRPr lang="en-US" sz="1600" dirty="0"/>
          </a:p>
        </p:txBody>
      </p:sp>
      <p:sp>
        <p:nvSpPr>
          <p:cNvPr id="20" name="text-695"/>
          <p:cNvSpPr txBox="1"/>
          <p:nvPr/>
        </p:nvSpPr>
        <p:spPr>
          <a:xfrm>
            <a:off x="7269480" y="4169664"/>
            <a:ext cx="4389120" cy="329184"/>
          </a:xfrm>
          <a:prstGeom prst="rect">
            <a:avLst/>
          </a:prstGeom>
          <a:noFill/>
          <a:ln/>
        </p:spPr>
        <p:txBody>
          <a:bodyPr wrap="square" lIns="0" tIns="0" rIns="0" bIns="0" rtlCol="0" anchor="t"/>
          <a:lstStyle/>
          <a:p>
            <a:pPr indent="0" marL="0">
              <a:buNone/>
            </a:pPr>
            <a:r>
              <a:rPr lang="en-US" sz="1350" dirty="0">
                <a:solidFill>
                  <a:schemeClr val="tx2"/>
                </a:solidFill>
              </a:rPr>
              <a:t>how an unsteady solution evolves</a:t>
            </a:r>
            <a:endParaRPr lang="en-US" sz="1350" dirty="0"/>
          </a:p>
        </p:txBody>
      </p:sp>
      <p:sp>
        <p:nvSpPr>
          <p:cNvPr id="21" name="icon-bg-696"/>
          <p:cNvSpPr/>
          <p:nvPr/>
        </p:nvSpPr>
        <p:spPr>
          <a:xfrm>
            <a:off x="6537960" y="4681728"/>
            <a:ext cx="548640" cy="548640"/>
          </a:xfrm>
          <a:prstGeom prst="ellipse">
            <a:avLst/>
          </a:prstGeom>
          <a:solidFill>
            <a:schemeClr val="accent3"/>
          </a:solidFill>
          <a:ln/>
        </p:spPr>
      </p:sp>
      <p:pic>
        <p:nvPicPr>
          <p:cNvPr id="22" name="icon-697" descr="preencoded.png">    </p:cNvPr>
          <p:cNvPicPr>
            <a:picLocks noChangeAspect="1"/>
          </p:cNvPicPr>
          <p:nvPr/>
        </p:nvPicPr>
        <p:blipFill>
          <a:blip r:embed="rId6"/>
          <a:stretch>
            <a:fillRect/>
          </a:stretch>
        </p:blipFill>
        <p:spPr>
          <a:xfrm>
            <a:off x="6664147" y="4807915"/>
            <a:ext cx="296266" cy="296266"/>
          </a:xfrm>
          <a:prstGeom prst="rect">
            <a:avLst/>
          </a:prstGeom>
        </p:spPr>
      </p:pic>
      <p:sp>
        <p:nvSpPr>
          <p:cNvPr id="23" name="text-698"/>
          <p:cNvSpPr txBox="1"/>
          <p:nvPr/>
        </p:nvSpPr>
        <p:spPr>
          <a:xfrm>
            <a:off x="7269480" y="4636008"/>
            <a:ext cx="4389120" cy="329184"/>
          </a:xfrm>
          <a:prstGeom prst="rect">
            <a:avLst/>
          </a:prstGeom>
          <a:noFill/>
          <a:ln/>
        </p:spPr>
        <p:txBody>
          <a:bodyPr wrap="square" lIns="0" tIns="0" rIns="0" bIns="0" rtlCol="0" anchor="t"/>
          <a:lstStyle/>
          <a:p>
            <a:pPr indent="0" marL="0">
              <a:buNone/>
            </a:pPr>
            <a:r>
              <a:rPr lang="en-US" sz="1600" b="1" dirty="0">
                <a:solidFill>
                  <a:schemeClr val="tx1"/>
                </a:solidFill>
              </a:rPr>
              <a:t>Convergence plot</a:t>
            </a:r>
            <a:endParaRPr lang="en-US" sz="1600" dirty="0"/>
          </a:p>
        </p:txBody>
      </p:sp>
      <p:sp>
        <p:nvSpPr>
          <p:cNvPr id="24" name="text-699"/>
          <p:cNvSpPr txBox="1"/>
          <p:nvPr/>
        </p:nvSpPr>
        <p:spPr>
          <a:xfrm>
            <a:off x="7269480" y="4974336"/>
            <a:ext cx="4389120" cy="329184"/>
          </a:xfrm>
          <a:prstGeom prst="rect">
            <a:avLst/>
          </a:prstGeom>
          <a:noFill/>
          <a:ln/>
        </p:spPr>
        <p:txBody>
          <a:bodyPr wrap="square" lIns="0" tIns="0" rIns="0" bIns="0" rtlCol="0" anchor="t"/>
          <a:lstStyle/>
          <a:p>
            <a:pPr indent="0" marL="0">
              <a:buNone/>
            </a:pPr>
            <a:r>
              <a:rPr lang="en-US" sz="1350" dirty="0">
                <a:solidFill>
                  <a:schemeClr val="tx2"/>
                </a:solidFill>
              </a:rPr>
              <a:t>show that the solution can be trusted</a:t>
            </a:r>
            <a:endParaRPr lang="en-US" sz="1350" dirty="0"/>
          </a:p>
        </p:txBody>
      </p:sp>
      <p:sp>
        <p:nvSpPr>
          <p:cNvPr id="25" name="text-700"/>
          <p:cNvSpPr txBox="1"/>
          <p:nvPr/>
        </p:nvSpPr>
        <p:spPr>
          <a:xfrm>
            <a:off x="6537960" y="5532120"/>
            <a:ext cx="5102352" cy="594360"/>
          </a:xfrm>
          <a:prstGeom prst="rect">
            <a:avLst/>
          </a:prstGeom>
          <a:noFill/>
          <a:ln/>
        </p:spPr>
        <p:txBody>
          <a:bodyPr wrap="square" lIns="0" tIns="0" rIns="0" bIns="0" rtlCol="0" anchor="t"/>
          <a:lstStyle/>
          <a:p>
            <a:pPr indent="0" marL="0">
              <a:buNone/>
            </a:pPr>
            <a:r>
              <a:rPr lang="en-US" sz="1300" dirty="0">
                <a:solidFill>
                  <a:schemeClr val="accent4"/>
                </a:solidFill>
              </a:rPr>
              <a:t>Tools: </a:t>
            </a:r>
            <a:pPr indent="0" marL="0">
              <a:buNone/>
            </a:pPr>
            <a:r>
              <a:rPr lang="en-US" sz="1300" b="1" dirty="0">
                <a:solidFill>
                  <a:schemeClr val="accent4"/>
                </a:solidFill>
              </a:rPr>
              <a:t>Matplotlib</a:t>
            </a:r>
            <a:pPr indent="0" marL="0">
              <a:buNone/>
            </a:pPr>
            <a:r>
              <a:rPr lang="en-US" sz="1300" dirty="0">
                <a:solidFill>
                  <a:schemeClr val="accent4"/>
                </a:solidFill>
              </a:rPr>
              <a:t> (this course) · ParaView · VisIt · Tecplot · built-in post-processors</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70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PILLAR 7 · POST-PROCESSING</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Never trust a colourful picture blindly</a:t>
            </a:r>
            <a:endParaRPr lang="en-US" sz="3200" dirty="0"/>
          </a:p>
        </p:txBody>
      </p:sp>
      <p:sp>
        <p:nvSpPr>
          <p:cNvPr id="4" name="card-702"/>
          <p:cNvSpPr/>
          <p:nvPr/>
        </p:nvSpPr>
        <p:spPr>
          <a:xfrm>
            <a:off x="548640" y="1417320"/>
            <a:ext cx="6126480" cy="2743200"/>
          </a:xfrm>
          <a:prstGeom prst="roundRect">
            <a:avLst>
              <a:gd name="adj" fmla="val 3333"/>
            </a:avLst>
          </a:prstGeom>
          <a:solidFill>
            <a:schemeClr val="bg1"/>
          </a:solidFill>
          <a:ln w="9525">
            <a:solidFill>
              <a:schemeClr val="accent4">
                <a:alpha val="35000"/>
              </a:schemeClr>
            </a:solidFill>
            <a:prstDash val="solid"/>
          </a:ln>
        </p:spPr>
      </p:sp>
      <p:pic>
        <p:nvPicPr>
          <p:cNvPr id="5" name="img-703" descr="Animation: the rod temperature rising from the hot end over time, FTCS points on the exact solution">    </p:cNvPr>
          <p:cNvPicPr>
            <a:picLocks noChangeAspect="1"/>
          </p:cNvPicPr>
          <p:nvPr/>
        </p:nvPicPr>
        <p:blipFill>
          <a:blip r:embed="rId1"/>
          <a:stretch>
            <a:fillRect/>
          </a:stretch>
        </p:blipFill>
        <p:spPr>
          <a:xfrm>
            <a:off x="594360" y="1459774"/>
            <a:ext cx="6035040" cy="2658291"/>
          </a:xfrm>
          <a:prstGeom prst="rect">
            <a:avLst/>
          </a:prstGeom>
        </p:spPr>
      </p:pic>
      <p:sp>
        <p:nvSpPr>
          <p:cNvPr id="6" name="text-704"/>
          <p:cNvSpPr txBox="1"/>
          <p:nvPr/>
        </p:nvSpPr>
        <p:spPr>
          <a:xfrm>
            <a:off x="548640" y="4297680"/>
            <a:ext cx="6126480" cy="685800"/>
          </a:xfrm>
          <a:prstGeom prst="rect">
            <a:avLst/>
          </a:prstGeom>
          <a:noFill/>
          <a:ln/>
        </p:spPr>
        <p:txBody>
          <a:bodyPr wrap="square" lIns="0" tIns="0" rIns="0" bIns="0" rtlCol="0" anchor="t"/>
          <a:lstStyle/>
          <a:p>
            <a:pPr indent="0" marL="0">
              <a:buNone/>
            </a:pPr>
            <a:r>
              <a:rPr lang="en-US" sz="1450" b="1" dirty="0">
                <a:solidFill>
                  <a:schemeClr val="tx2"/>
                </a:solidFill>
              </a:rPr>
              <a:t>Rod:</a:t>
            </a:r>
            <a:pPr indent="0" marL="0">
              <a:buNone/>
            </a:pPr>
            <a:r>
              <a:rPr lang="en-US" sz="1450" dirty="0">
                <a:solidFill>
                  <a:schemeClr val="tx2"/>
                </a:solidFill>
              </a:rPr>
              <a:t> 21-node FTCS (dots) on top of the exact solution (line). The rod settles to a straight line from 100 °C to 20 °C.</a:t>
            </a:r>
            <a:endParaRPr lang="en-US" sz="1450" dirty="0"/>
          </a:p>
        </p:txBody>
      </p:sp>
      <p:sp>
        <p:nvSpPr>
          <p:cNvPr id="7" name="text-705"/>
          <p:cNvSpPr txBox="1"/>
          <p:nvPr/>
        </p:nvSpPr>
        <p:spPr>
          <a:xfrm>
            <a:off x="548640" y="5166360"/>
            <a:ext cx="1280160" cy="502920"/>
          </a:xfrm>
          <a:prstGeom prst="rect">
            <a:avLst/>
          </a:prstGeom>
          <a:noFill/>
          <a:ln/>
        </p:spPr>
        <p:txBody>
          <a:bodyPr wrap="square" lIns="0" tIns="0" rIns="0" bIns="0" rtlCol="0" anchor="ctr"/>
          <a:lstStyle/>
          <a:p>
            <a:pPr indent="0" marL="0">
              <a:buNone/>
            </a:pPr>
            <a:r>
              <a:rPr lang="en-US" sz="1400" b="1" dirty="0">
                <a:solidFill>
                  <a:schemeClr val="tx1"/>
                </a:solidFill>
              </a:rPr>
              <a:t>Verify with:</a:t>
            </a:r>
            <a:endParaRPr lang="en-US" sz="1400" dirty="0"/>
          </a:p>
        </p:txBody>
      </p:sp>
      <p:sp>
        <p:nvSpPr>
          <p:cNvPr id="8" name="pill-706"/>
          <p:cNvSpPr/>
          <p:nvPr/>
        </p:nvSpPr>
        <p:spPr>
          <a:xfrm>
            <a:off x="1920240" y="5212080"/>
            <a:ext cx="1481328" cy="411480"/>
          </a:xfrm>
          <a:prstGeom prst="roundRect">
            <a:avLst>
              <a:gd name="adj" fmla="val 50000"/>
            </a:avLst>
          </a:prstGeom>
          <a:solidFill>
            <a:schemeClr val="accent3">
              <a:alpha val="18000"/>
            </a:schemeClr>
          </a:solidFill>
          <a:ln/>
        </p:spPr>
        <p:txBody>
          <a:bodyPr wrap="square" lIns="0" tIns="0" rIns="0" bIns="0" rtlCol="0" anchor="ctr"/>
          <a:lstStyle/>
          <a:p>
            <a:pPr algn="ctr" indent="0" marL="0">
              <a:buNone/>
            </a:pPr>
            <a:r>
              <a:rPr lang="en-US" sz="1250" b="1" dirty="0">
                <a:solidFill>
                  <a:schemeClr val="tx1"/>
                </a:solidFill>
              </a:rPr>
              <a:t>exact solutions</a:t>
            </a:r>
            <a:endParaRPr lang="en-US" sz="1250" dirty="0"/>
          </a:p>
        </p:txBody>
      </p:sp>
      <p:sp>
        <p:nvSpPr>
          <p:cNvPr id="9" name="pill-707"/>
          <p:cNvSpPr/>
          <p:nvPr/>
        </p:nvSpPr>
        <p:spPr>
          <a:xfrm>
            <a:off x="3520440" y="5212080"/>
            <a:ext cx="1481328" cy="411480"/>
          </a:xfrm>
          <a:prstGeom prst="roundRect">
            <a:avLst>
              <a:gd name="adj" fmla="val 50000"/>
            </a:avLst>
          </a:prstGeom>
          <a:solidFill>
            <a:schemeClr val="accent3">
              <a:alpha val="18000"/>
            </a:schemeClr>
          </a:solidFill>
          <a:ln/>
        </p:spPr>
        <p:txBody>
          <a:bodyPr wrap="square" lIns="0" tIns="0" rIns="0" bIns="0" rtlCol="0" anchor="ctr"/>
          <a:lstStyle/>
          <a:p>
            <a:pPr algn="ctr" indent="0" marL="0">
              <a:buNone/>
            </a:pPr>
            <a:r>
              <a:rPr lang="en-US" sz="1250" b="1" dirty="0">
                <a:solidFill>
                  <a:schemeClr val="tx1"/>
                </a:solidFill>
              </a:rPr>
              <a:t>grid refinement</a:t>
            </a:r>
            <a:endParaRPr lang="en-US" sz="1250" dirty="0"/>
          </a:p>
        </p:txBody>
      </p:sp>
      <p:sp>
        <p:nvSpPr>
          <p:cNvPr id="10" name="pill-708"/>
          <p:cNvSpPr/>
          <p:nvPr/>
        </p:nvSpPr>
        <p:spPr>
          <a:xfrm>
            <a:off x="5120640" y="5212080"/>
            <a:ext cx="1481328" cy="411480"/>
          </a:xfrm>
          <a:prstGeom prst="roundRect">
            <a:avLst>
              <a:gd name="adj" fmla="val 50000"/>
            </a:avLst>
          </a:prstGeom>
          <a:solidFill>
            <a:schemeClr val="accent3">
              <a:alpha val="18000"/>
            </a:schemeClr>
          </a:solidFill>
          <a:ln/>
        </p:spPr>
        <p:txBody>
          <a:bodyPr wrap="square" lIns="0" tIns="0" rIns="0" bIns="0" rtlCol="0" anchor="ctr"/>
          <a:lstStyle/>
          <a:p>
            <a:pPr algn="ctr" indent="0" marL="0">
              <a:buNone/>
            </a:pPr>
            <a:r>
              <a:rPr lang="en-US" sz="1250" b="1" dirty="0">
                <a:solidFill>
                  <a:schemeClr val="tx1"/>
                </a:solidFill>
              </a:rPr>
              <a:t>benchmarks</a:t>
            </a:r>
            <a:endParaRPr lang="en-US" sz="1250" dirty="0"/>
          </a:p>
        </p:txBody>
      </p:sp>
      <p:sp>
        <p:nvSpPr>
          <p:cNvPr id="11" name="card-709"/>
          <p:cNvSpPr/>
          <p:nvPr/>
        </p:nvSpPr>
        <p:spPr>
          <a:xfrm>
            <a:off x="6995160" y="1417320"/>
            <a:ext cx="4645152" cy="2103120"/>
          </a:xfrm>
          <a:prstGeom prst="roundRect">
            <a:avLst>
              <a:gd name="adj" fmla="val 434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2" name="icon-bg-710"/>
          <p:cNvSpPr/>
          <p:nvPr/>
        </p:nvSpPr>
        <p:spPr>
          <a:xfrm>
            <a:off x="7223760" y="1645920"/>
            <a:ext cx="731520" cy="731520"/>
          </a:xfrm>
          <a:prstGeom prst="ellipse">
            <a:avLst/>
          </a:prstGeom>
          <a:solidFill>
            <a:schemeClr val="accent3"/>
          </a:solidFill>
          <a:ln/>
        </p:spPr>
      </p:sp>
      <p:pic>
        <p:nvPicPr>
          <p:cNvPr id="13" name="icon-711" descr="preencoded.png">    </p:cNvPr>
          <p:cNvPicPr>
            <a:picLocks noChangeAspect="1"/>
          </p:cNvPicPr>
          <p:nvPr/>
        </p:nvPicPr>
        <p:blipFill>
          <a:blip r:embed="rId2"/>
          <a:stretch>
            <a:fillRect/>
          </a:stretch>
        </p:blipFill>
        <p:spPr>
          <a:xfrm>
            <a:off x="7392010" y="1814170"/>
            <a:ext cx="395021" cy="395021"/>
          </a:xfrm>
          <a:prstGeom prst="rect">
            <a:avLst/>
          </a:prstGeom>
        </p:spPr>
      </p:pic>
      <p:sp>
        <p:nvSpPr>
          <p:cNvPr id="14" name="text-712"/>
          <p:cNvSpPr txBox="1"/>
          <p:nvPr/>
        </p:nvSpPr>
        <p:spPr>
          <a:xfrm>
            <a:off x="8138160" y="1645920"/>
            <a:ext cx="3383280" cy="384048"/>
          </a:xfrm>
          <a:prstGeom prst="rect">
            <a:avLst/>
          </a:prstGeom>
          <a:noFill/>
          <a:ln/>
        </p:spPr>
        <p:txBody>
          <a:bodyPr wrap="square" lIns="0" tIns="0" rIns="0" bIns="0" rtlCol="0" anchor="t"/>
          <a:lstStyle/>
          <a:p>
            <a:pPr indent="0" marL="0">
              <a:buNone/>
            </a:pPr>
            <a:r>
              <a:rPr lang="en-US" sz="2100" b="1" dirty="0">
                <a:solidFill>
                  <a:schemeClr val="tx1"/>
                </a:solidFill>
              </a:rPr>
              <a:t>Verification</a:t>
            </a:r>
            <a:endParaRPr lang="en-US" sz="2100" dirty="0"/>
          </a:p>
        </p:txBody>
      </p:sp>
      <p:sp>
        <p:nvSpPr>
          <p:cNvPr id="15" name="text-713"/>
          <p:cNvSpPr txBox="1"/>
          <p:nvPr/>
        </p:nvSpPr>
        <p:spPr>
          <a:xfrm>
            <a:off x="8138160" y="2039112"/>
            <a:ext cx="3383280" cy="365760"/>
          </a:xfrm>
          <a:prstGeom prst="rect">
            <a:avLst/>
          </a:prstGeom>
          <a:noFill/>
          <a:ln/>
        </p:spPr>
        <p:txBody>
          <a:bodyPr wrap="square" lIns="0" tIns="0" rIns="0" bIns="0" rtlCol="0" anchor="t"/>
          <a:lstStyle/>
          <a:p>
            <a:pPr indent="0" marL="0">
              <a:buNone/>
            </a:pPr>
            <a:r>
              <a:rPr lang="en-US" sz="1550" i="1" dirty="0">
                <a:solidFill>
                  <a:schemeClr val="accent3"/>
                </a:solidFill>
              </a:rPr>
              <a:t>Are we solving the equations right?</a:t>
            </a:r>
            <a:endParaRPr lang="en-US" sz="1550" dirty="0"/>
          </a:p>
        </p:txBody>
      </p:sp>
      <p:sp>
        <p:nvSpPr>
          <p:cNvPr id="16" name="text-714"/>
          <p:cNvSpPr txBox="1"/>
          <p:nvPr/>
        </p:nvSpPr>
        <p:spPr>
          <a:xfrm>
            <a:off x="7223760" y="2606040"/>
            <a:ext cx="4206240" cy="777240"/>
          </a:xfrm>
          <a:prstGeom prst="rect">
            <a:avLst/>
          </a:prstGeom>
          <a:noFill/>
          <a:ln/>
        </p:spPr>
        <p:txBody>
          <a:bodyPr wrap="square" lIns="0" tIns="0" rIns="0" bIns="0" rtlCol="0" anchor="t"/>
          <a:lstStyle/>
          <a:p>
            <a:pPr indent="0" marL="0">
              <a:buNone/>
            </a:pPr>
            <a:r>
              <a:rPr lang="en-US" sz="1450" dirty="0">
                <a:solidFill>
                  <a:schemeClr val="tx2"/>
                </a:solidFill>
              </a:rPr>
              <a:t>Compare with exact solutions; refine the grid and check the order of accuracy.</a:t>
            </a:r>
            <a:endParaRPr lang="en-US" sz="1450" dirty="0"/>
          </a:p>
        </p:txBody>
      </p:sp>
      <p:sp>
        <p:nvSpPr>
          <p:cNvPr id="17" name="card-715"/>
          <p:cNvSpPr/>
          <p:nvPr/>
        </p:nvSpPr>
        <p:spPr>
          <a:xfrm>
            <a:off x="6995160" y="3749040"/>
            <a:ext cx="4645152" cy="2103120"/>
          </a:xfrm>
          <a:prstGeom prst="roundRect">
            <a:avLst>
              <a:gd name="adj" fmla="val 4348"/>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8" name="icon-bg-716"/>
          <p:cNvSpPr/>
          <p:nvPr/>
        </p:nvSpPr>
        <p:spPr>
          <a:xfrm>
            <a:off x="7223760" y="3977640"/>
            <a:ext cx="731520" cy="731520"/>
          </a:xfrm>
          <a:prstGeom prst="ellipse">
            <a:avLst/>
          </a:prstGeom>
          <a:solidFill>
            <a:schemeClr val="accent1"/>
          </a:solidFill>
          <a:ln/>
        </p:spPr>
      </p:sp>
      <p:pic>
        <p:nvPicPr>
          <p:cNvPr id="19" name="icon-717" descr="preencoded.png">    </p:cNvPr>
          <p:cNvPicPr>
            <a:picLocks noChangeAspect="1"/>
          </p:cNvPicPr>
          <p:nvPr/>
        </p:nvPicPr>
        <p:blipFill>
          <a:blip r:embed="rId3"/>
          <a:stretch>
            <a:fillRect/>
          </a:stretch>
        </p:blipFill>
        <p:spPr>
          <a:xfrm>
            <a:off x="7392010" y="4145890"/>
            <a:ext cx="395021" cy="395021"/>
          </a:xfrm>
          <a:prstGeom prst="rect">
            <a:avLst/>
          </a:prstGeom>
        </p:spPr>
      </p:pic>
      <p:sp>
        <p:nvSpPr>
          <p:cNvPr id="20" name="text-718"/>
          <p:cNvSpPr txBox="1"/>
          <p:nvPr/>
        </p:nvSpPr>
        <p:spPr>
          <a:xfrm>
            <a:off x="8138160" y="3977640"/>
            <a:ext cx="3383280" cy="384048"/>
          </a:xfrm>
          <a:prstGeom prst="rect">
            <a:avLst/>
          </a:prstGeom>
          <a:noFill/>
          <a:ln/>
        </p:spPr>
        <p:txBody>
          <a:bodyPr wrap="square" lIns="0" tIns="0" rIns="0" bIns="0" rtlCol="0" anchor="t"/>
          <a:lstStyle/>
          <a:p>
            <a:pPr indent="0" marL="0">
              <a:buNone/>
            </a:pPr>
            <a:r>
              <a:rPr lang="en-US" sz="2100" b="1" dirty="0">
                <a:solidFill>
                  <a:schemeClr val="tx1"/>
                </a:solidFill>
              </a:rPr>
              <a:t>Validation</a:t>
            </a:r>
            <a:endParaRPr lang="en-US" sz="2100" dirty="0"/>
          </a:p>
        </p:txBody>
      </p:sp>
      <p:sp>
        <p:nvSpPr>
          <p:cNvPr id="21" name="text-719"/>
          <p:cNvSpPr txBox="1"/>
          <p:nvPr/>
        </p:nvSpPr>
        <p:spPr>
          <a:xfrm>
            <a:off x="8138160" y="4370832"/>
            <a:ext cx="3383280" cy="365760"/>
          </a:xfrm>
          <a:prstGeom prst="rect">
            <a:avLst/>
          </a:prstGeom>
          <a:noFill/>
          <a:ln/>
        </p:spPr>
        <p:txBody>
          <a:bodyPr wrap="square" lIns="0" tIns="0" rIns="0" bIns="0" rtlCol="0" anchor="t"/>
          <a:lstStyle/>
          <a:p>
            <a:pPr indent="0" marL="0">
              <a:buNone/>
            </a:pPr>
            <a:r>
              <a:rPr lang="en-US" sz="1550" i="1" dirty="0">
                <a:solidFill>
                  <a:schemeClr val="accent1"/>
                </a:solidFill>
              </a:rPr>
              <a:t>Are we solving the right equations?</a:t>
            </a:r>
            <a:endParaRPr lang="en-US" sz="1550" dirty="0"/>
          </a:p>
        </p:txBody>
      </p:sp>
      <p:sp>
        <p:nvSpPr>
          <p:cNvPr id="22" name="text-720"/>
          <p:cNvSpPr txBox="1"/>
          <p:nvPr/>
        </p:nvSpPr>
        <p:spPr>
          <a:xfrm>
            <a:off x="7223760" y="4937760"/>
            <a:ext cx="4206240" cy="777240"/>
          </a:xfrm>
          <a:prstGeom prst="rect">
            <a:avLst/>
          </a:prstGeom>
          <a:noFill/>
          <a:ln/>
        </p:spPr>
        <p:txBody>
          <a:bodyPr wrap="square" lIns="0" tIns="0" rIns="0" bIns="0" rtlCol="0" anchor="t"/>
          <a:lstStyle/>
          <a:p>
            <a:pPr indent="0" marL="0">
              <a:buNone/>
            </a:pPr>
            <a:r>
              <a:rPr lang="en-US" sz="1450" dirty="0">
                <a:solidFill>
                  <a:schemeClr val="tx2"/>
                </a:solidFill>
              </a:rPr>
              <a:t>Compare with experiments and measurements.</a:t>
            </a:r>
            <a:endParaRPr lang="en-US" sz="14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1783080"/>
            <a:ext cx="6949440" cy="365760"/>
          </a:xfrm>
          <a:prstGeom prst="rect">
            <a:avLst/>
          </a:prstGeom>
          <a:noFill/>
          <a:ln/>
        </p:spPr>
        <p:txBody>
          <a:bodyPr wrap="square" lIns="0" tIns="0" rIns="0" bIns="0" rtlCol="0" anchor="t"/>
          <a:lstStyle/>
          <a:p>
            <a:pPr algn="l" indent="0" marL="0">
              <a:buNone/>
            </a:pPr>
            <a:r>
              <a:rPr lang="en-US" sz="1500" b="1" dirty="0">
                <a:solidFill>
                  <a:schemeClr val="accent5"/>
                </a:solidFill>
              </a:rPr>
              <a:t>WORKED EXAMPLE  ·  ABOUT 20 MINUTES</a:t>
            </a:r>
            <a:endParaRPr lang="en-US" sz="1500" dirty="0"/>
          </a:p>
        </p:txBody>
      </p:sp>
      <p:sp>
        <p:nvSpPr>
          <p:cNvPr id="3" name="Text 0"/>
          <p:cNvSpPr/>
          <p:nvPr>
            <p:ph idx="101" type="title" hasCustomPrompt="1"/>
          </p:nvPr>
        </p:nvSpPr>
        <p:spPr>
          <a:xfrm>
            <a:off x="640080" y="2240280"/>
            <a:ext cx="6949440" cy="1920240"/>
          </a:xfrm>
          <a:prstGeom prst="rect">
            <a:avLst/>
          </a:prstGeom>
          <a:noFill/>
          <a:ln/>
        </p:spPr>
        <p:txBody>
          <a:bodyPr wrap="square" lIns="0" tIns="0" rIns="0" bIns="0" rtlCol="0" anchor="t"/>
          <a:lstStyle/>
          <a:p>
            <a:pPr algn="l" indent="0" marL="0">
              <a:buNone/>
            </a:pPr>
            <a:r>
              <a:rPr lang="en-US" sz="4000" b="1" dirty="0">
                <a:solidFill>
                  <a:schemeClr val="bg1"/>
                </a:solidFill>
              </a:rPr>
              <a:t>Problem 1: the aluminium pin fin, solved by hand</a:t>
            </a:r>
            <a:endParaRPr lang="en-US" sz="4000" dirty="0"/>
          </a:p>
        </p:txBody>
      </p:sp>
      <p:sp>
        <p:nvSpPr>
          <p:cNvPr id="4" name="Text 0"/>
          <p:cNvSpPr/>
          <p:nvPr>
            <p:ph idx="102" type="body" hasCustomPrompt="1"/>
          </p:nvPr>
        </p:nvSpPr>
        <p:spPr>
          <a:xfrm>
            <a:off x="64008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4 intervals, 4 unknowns and a pocket calculator: every step of the finite difference method</a:t>
            </a:r>
            <a:endParaRPr lang="en-US" sz="1800" dirty="0"/>
          </a:p>
        </p:txBody>
      </p:sp>
      <p:sp>
        <p:nvSpPr>
          <p:cNvPr id="5" name="ring-721"/>
          <p:cNvSpPr/>
          <p:nvPr/>
        </p:nvSpPr>
        <p:spPr>
          <a:xfrm>
            <a:off x="8183880" y="1600200"/>
            <a:ext cx="3383280" cy="3383280"/>
          </a:xfrm>
          <a:prstGeom prst="ellipse">
            <a:avLst/>
          </a:prstGeom>
          <a:ln w="19050">
            <a:solidFill>
              <a:schemeClr val="accent2">
                <a:alpha val="50000"/>
              </a:schemeClr>
            </a:solidFill>
            <a:prstDash val="solid"/>
          </a:ln>
        </p:spPr>
      </p:sp>
      <p:sp>
        <p:nvSpPr>
          <p:cNvPr id="6" name="icon-bg-722"/>
          <p:cNvSpPr/>
          <p:nvPr/>
        </p:nvSpPr>
        <p:spPr>
          <a:xfrm>
            <a:off x="8503920" y="1920240"/>
            <a:ext cx="2743200" cy="2743200"/>
          </a:xfrm>
          <a:prstGeom prst="ellipse">
            <a:avLst/>
          </a:prstGeom>
          <a:solidFill>
            <a:schemeClr val="accent2"/>
          </a:solidFill>
          <a:ln/>
        </p:spPr>
      </p:sp>
      <p:pic>
        <p:nvPicPr>
          <p:cNvPr id="7" name="icon-723" descr="preencoded.png">    </p:cNvPr>
          <p:cNvPicPr>
            <a:picLocks noChangeAspect="1"/>
          </p:cNvPicPr>
          <p:nvPr/>
        </p:nvPicPr>
        <p:blipFill>
          <a:blip r:embed="rId1"/>
          <a:stretch>
            <a:fillRect/>
          </a:stretch>
        </p:blipFill>
        <p:spPr>
          <a:xfrm>
            <a:off x="9272016" y="2688336"/>
            <a:ext cx="1207008" cy="12070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72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THE PHYSICAL PROBLEM</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A pin fin cooled by air</a:t>
            </a:r>
            <a:endParaRPr lang="en-US" sz="3200" dirty="0"/>
          </a:p>
        </p:txBody>
      </p:sp>
      <p:sp>
        <p:nvSpPr>
          <p:cNvPr id="4" name="card-725"/>
          <p:cNvSpPr/>
          <p:nvPr/>
        </p:nvSpPr>
        <p:spPr>
          <a:xfrm>
            <a:off x="548640" y="1371600"/>
            <a:ext cx="6675120" cy="2926080"/>
          </a:xfrm>
          <a:prstGeom prst="roundRect">
            <a:avLst>
              <a:gd name="adj" fmla="val 3125"/>
            </a:avLst>
          </a:prstGeom>
          <a:solidFill>
            <a:schemeClr val="bg1"/>
          </a:solidFill>
          <a:ln w="9525">
            <a:solidFill>
              <a:schemeClr val="accent4">
                <a:alpha val="35000"/>
              </a:schemeClr>
            </a:solidFill>
            <a:prstDash val="solid"/>
          </a:ln>
        </p:spPr>
      </p:sp>
      <p:pic>
        <p:nvPicPr>
          <p:cNvPr id="5" name="img-726" descr="Aluminium pin fin on a wall at 100 °C, cooled by air at 30 °C, insulated tip">    </p:cNvPr>
          <p:cNvPicPr>
            <a:picLocks noChangeAspect="1"/>
          </p:cNvPicPr>
          <p:nvPr/>
        </p:nvPicPr>
        <p:blipFill>
          <a:blip r:embed="rId1"/>
          <a:stretch>
            <a:fillRect/>
          </a:stretch>
        </p:blipFill>
        <p:spPr>
          <a:xfrm>
            <a:off x="594360" y="1401848"/>
            <a:ext cx="6583680" cy="2865584"/>
          </a:xfrm>
          <a:prstGeom prst="rect">
            <a:avLst/>
          </a:prstGeom>
        </p:spPr>
      </p:pic>
      <p:sp>
        <p:nvSpPr>
          <p:cNvPr id="6" name="pill-727"/>
          <p:cNvSpPr/>
          <p:nvPr/>
        </p:nvSpPr>
        <p:spPr>
          <a:xfrm>
            <a:off x="548640" y="4480560"/>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L = 10 cm</a:t>
            </a:r>
            <a:endParaRPr lang="en-US" sz="1400" dirty="0"/>
          </a:p>
        </p:txBody>
      </p:sp>
      <p:sp>
        <p:nvSpPr>
          <p:cNvPr id="7" name="pill-728"/>
          <p:cNvSpPr/>
          <p:nvPr/>
        </p:nvSpPr>
        <p:spPr>
          <a:xfrm>
            <a:off x="2246681" y="4480560"/>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d = 5 mm</a:t>
            </a:r>
            <a:endParaRPr lang="en-US" sz="1400" dirty="0"/>
          </a:p>
        </p:txBody>
      </p:sp>
      <p:sp>
        <p:nvSpPr>
          <p:cNvPr id="8" name="pill-729"/>
          <p:cNvSpPr/>
          <p:nvPr/>
        </p:nvSpPr>
        <p:spPr>
          <a:xfrm>
            <a:off x="3944722" y="4480560"/>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k = 237 W/(m·K)</a:t>
            </a:r>
            <a:endParaRPr lang="en-US" sz="1400" dirty="0"/>
          </a:p>
        </p:txBody>
      </p:sp>
      <p:sp>
        <p:nvSpPr>
          <p:cNvPr id="9" name="pill-730"/>
          <p:cNvSpPr/>
          <p:nvPr/>
        </p:nvSpPr>
        <p:spPr>
          <a:xfrm>
            <a:off x="5642762" y="4480560"/>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h = 25 W/(m²·K)</a:t>
            </a:r>
            <a:endParaRPr lang="en-US" sz="1400" dirty="0"/>
          </a:p>
        </p:txBody>
      </p:sp>
      <p:sp>
        <p:nvSpPr>
          <p:cNvPr id="10" name="pill-731"/>
          <p:cNvSpPr/>
          <p:nvPr/>
        </p:nvSpPr>
        <p:spPr>
          <a:xfrm>
            <a:off x="548640" y="5138928"/>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T</a:t>
            </a:r>
            <a:pPr algn="ctr" indent="0" marL="0">
              <a:buNone/>
            </a:pPr>
            <a:r>
              <a:rPr lang="en-US" sz="1400" b="1" baseline="-40000" dirty="0">
                <a:solidFill>
                  <a:schemeClr val="tx1"/>
                </a:solidFill>
              </a:rPr>
              <a:t>∞</a:t>
            </a:r>
            <a:pPr algn="ctr" indent="0" marL="0">
              <a:buNone/>
            </a:pPr>
            <a:r>
              <a:rPr lang="en-US" sz="1400" b="1" dirty="0">
                <a:solidFill>
                  <a:schemeClr val="tx1"/>
                </a:solidFill>
              </a:rPr>
              <a:t> = 30 °C</a:t>
            </a:r>
            <a:endParaRPr lang="en-US" sz="1400" dirty="0"/>
          </a:p>
        </p:txBody>
      </p:sp>
      <p:sp>
        <p:nvSpPr>
          <p:cNvPr id="11" name="pill-732"/>
          <p:cNvSpPr/>
          <p:nvPr/>
        </p:nvSpPr>
        <p:spPr>
          <a:xfrm>
            <a:off x="2246681" y="5138928"/>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T</a:t>
            </a:r>
            <a:pPr algn="ctr" indent="0" marL="0">
              <a:buNone/>
            </a:pPr>
            <a:r>
              <a:rPr lang="en-US" sz="1400" b="1" baseline="-40000" dirty="0">
                <a:solidFill>
                  <a:schemeClr val="tx1"/>
                </a:solidFill>
              </a:rPr>
              <a:t>b</a:t>
            </a:r>
            <a:pPr algn="ctr" indent="0" marL="0">
              <a:buNone/>
            </a:pPr>
            <a:r>
              <a:rPr lang="en-US" sz="1400" b="1" dirty="0">
                <a:solidFill>
                  <a:schemeClr val="tx1"/>
                </a:solidFill>
              </a:rPr>
              <a:t> = 100 °C</a:t>
            </a:r>
            <a:endParaRPr lang="en-US" sz="1400" dirty="0"/>
          </a:p>
        </p:txBody>
      </p:sp>
      <p:sp>
        <p:nvSpPr>
          <p:cNvPr id="12" name="pill-733"/>
          <p:cNvSpPr/>
          <p:nvPr/>
        </p:nvSpPr>
        <p:spPr>
          <a:xfrm>
            <a:off x="3944722" y="5138928"/>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insulated tip</a:t>
            </a:r>
            <a:endParaRPr lang="en-US" sz="1400" dirty="0"/>
          </a:p>
        </p:txBody>
      </p:sp>
      <p:sp>
        <p:nvSpPr>
          <p:cNvPr id="13" name="pill-734"/>
          <p:cNvSpPr/>
          <p:nvPr/>
        </p:nvSpPr>
        <p:spPr>
          <a:xfrm>
            <a:off x="5642762" y="5138928"/>
            <a:ext cx="1581912" cy="530352"/>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steady state</a:t>
            </a:r>
            <a:endParaRPr lang="en-US" sz="1400" dirty="0"/>
          </a:p>
        </p:txBody>
      </p:sp>
      <p:sp>
        <p:nvSpPr>
          <p:cNvPr id="14" name="card-735"/>
          <p:cNvSpPr/>
          <p:nvPr/>
        </p:nvSpPr>
        <p:spPr>
          <a:xfrm>
            <a:off x="7589520" y="1371600"/>
            <a:ext cx="4050792" cy="2194560"/>
          </a:xfrm>
          <a:prstGeom prst="roundRect">
            <a:avLst>
              <a:gd name="adj" fmla="val 41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text-736"/>
          <p:cNvSpPr txBox="1"/>
          <p:nvPr/>
        </p:nvSpPr>
        <p:spPr>
          <a:xfrm>
            <a:off x="7818120" y="1508760"/>
            <a:ext cx="2743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FIND</a:t>
            </a:r>
            <a:endParaRPr lang="en-US" sz="1200" dirty="0"/>
          </a:p>
        </p:txBody>
      </p:sp>
      <p:pic>
        <p:nvPicPr>
          <p:cNvPr id="16" name="icon-737" descr="preencoded.png">    </p:cNvPr>
          <p:cNvPicPr>
            <a:picLocks noChangeAspect="1"/>
          </p:cNvPicPr>
          <p:nvPr/>
        </p:nvPicPr>
        <p:blipFill>
          <a:blip r:embed="rId2"/>
          <a:stretch>
            <a:fillRect/>
          </a:stretch>
        </p:blipFill>
        <p:spPr>
          <a:xfrm>
            <a:off x="7818120" y="1920240"/>
            <a:ext cx="292608" cy="292608"/>
          </a:xfrm>
          <a:prstGeom prst="rect">
            <a:avLst/>
          </a:prstGeom>
        </p:spPr>
      </p:pic>
      <p:sp>
        <p:nvSpPr>
          <p:cNvPr id="17" name="text-738"/>
          <p:cNvSpPr txBox="1"/>
          <p:nvPr/>
        </p:nvSpPr>
        <p:spPr>
          <a:xfrm>
            <a:off x="8229600" y="1874520"/>
            <a:ext cx="3291840" cy="384048"/>
          </a:xfrm>
          <a:prstGeom prst="rect">
            <a:avLst/>
          </a:prstGeom>
          <a:noFill/>
          <a:ln/>
        </p:spPr>
        <p:txBody>
          <a:bodyPr wrap="square" lIns="0" tIns="0" rIns="0" bIns="0" rtlCol="0" anchor="ctr"/>
          <a:lstStyle/>
          <a:p>
            <a:pPr indent="0" marL="0">
              <a:buNone/>
            </a:pPr>
            <a:r>
              <a:rPr lang="en-US" sz="1600" dirty="0">
                <a:solidFill>
                  <a:schemeClr val="tx1"/>
                </a:solidFill>
              </a:rPr>
              <a:t>the steady temperature T(x)</a:t>
            </a:r>
            <a:endParaRPr lang="en-US" sz="1600" dirty="0"/>
          </a:p>
        </p:txBody>
      </p:sp>
      <p:pic>
        <p:nvPicPr>
          <p:cNvPr id="18" name="icon-739" descr="preencoded.png">    </p:cNvPr>
          <p:cNvPicPr>
            <a:picLocks noChangeAspect="1"/>
          </p:cNvPicPr>
          <p:nvPr/>
        </p:nvPicPr>
        <p:blipFill>
          <a:blip r:embed="rId3"/>
          <a:stretch>
            <a:fillRect/>
          </a:stretch>
        </p:blipFill>
        <p:spPr>
          <a:xfrm>
            <a:off x="7818120" y="2423160"/>
            <a:ext cx="292608" cy="292608"/>
          </a:xfrm>
          <a:prstGeom prst="rect">
            <a:avLst/>
          </a:prstGeom>
        </p:spPr>
      </p:pic>
      <p:sp>
        <p:nvSpPr>
          <p:cNvPr id="19" name="text-740"/>
          <p:cNvSpPr txBox="1"/>
          <p:nvPr/>
        </p:nvSpPr>
        <p:spPr>
          <a:xfrm>
            <a:off x="8229600" y="2377440"/>
            <a:ext cx="3291840" cy="384048"/>
          </a:xfrm>
          <a:prstGeom prst="rect">
            <a:avLst/>
          </a:prstGeom>
          <a:noFill/>
          <a:ln/>
        </p:spPr>
        <p:txBody>
          <a:bodyPr wrap="square" lIns="0" tIns="0" rIns="0" bIns="0" rtlCol="0" anchor="ctr"/>
          <a:lstStyle/>
          <a:p>
            <a:pPr indent="0" marL="0">
              <a:buNone/>
            </a:pPr>
            <a:r>
              <a:rPr lang="en-US" sz="1600" dirty="0">
                <a:solidFill>
                  <a:schemeClr val="tx1"/>
                </a:solidFill>
              </a:rPr>
              <a:t>the tip temperature</a:t>
            </a:r>
            <a:endParaRPr lang="en-US" sz="1600" dirty="0"/>
          </a:p>
        </p:txBody>
      </p:sp>
      <p:pic>
        <p:nvPicPr>
          <p:cNvPr id="20" name="icon-741" descr="preencoded.png">    </p:cNvPr>
          <p:cNvPicPr>
            <a:picLocks noChangeAspect="1"/>
          </p:cNvPicPr>
          <p:nvPr/>
        </p:nvPicPr>
        <p:blipFill>
          <a:blip r:embed="rId4"/>
          <a:stretch>
            <a:fillRect/>
          </a:stretch>
        </p:blipFill>
        <p:spPr>
          <a:xfrm>
            <a:off x="7818120" y="2926080"/>
            <a:ext cx="292608" cy="292608"/>
          </a:xfrm>
          <a:prstGeom prst="rect">
            <a:avLst/>
          </a:prstGeom>
        </p:spPr>
      </p:pic>
      <p:sp>
        <p:nvSpPr>
          <p:cNvPr id="21" name="text-742"/>
          <p:cNvSpPr txBox="1"/>
          <p:nvPr/>
        </p:nvSpPr>
        <p:spPr>
          <a:xfrm>
            <a:off x="8229600" y="2880360"/>
            <a:ext cx="3291840" cy="384048"/>
          </a:xfrm>
          <a:prstGeom prst="rect">
            <a:avLst/>
          </a:prstGeom>
          <a:noFill/>
          <a:ln/>
        </p:spPr>
        <p:txBody>
          <a:bodyPr wrap="square" lIns="0" tIns="0" rIns="0" bIns="0" rtlCol="0" anchor="ctr"/>
          <a:lstStyle/>
          <a:p>
            <a:pPr indent="0" marL="0">
              <a:buNone/>
            </a:pPr>
            <a:r>
              <a:rPr lang="en-US" sz="1600" dirty="0">
                <a:solidFill>
                  <a:schemeClr val="tx1"/>
                </a:solidFill>
              </a:rPr>
              <a:t>the heat lost by the fin</a:t>
            </a:r>
            <a:endParaRPr lang="en-US" sz="1600" dirty="0"/>
          </a:p>
        </p:txBody>
      </p:sp>
      <p:sp>
        <p:nvSpPr>
          <p:cNvPr id="22" name="card-743"/>
          <p:cNvSpPr/>
          <p:nvPr/>
        </p:nvSpPr>
        <p:spPr>
          <a:xfrm>
            <a:off x="7589520" y="3749040"/>
            <a:ext cx="4050792" cy="2011680"/>
          </a:xfrm>
          <a:prstGeom prst="roundRect">
            <a:avLst>
              <a:gd name="adj" fmla="val 4545"/>
            </a:avLst>
          </a:prstGeom>
          <a:solidFill>
            <a:schemeClr val="accent2">
              <a:alpha val="12000"/>
            </a:schemeClr>
          </a:solidFill>
          <a:ln/>
        </p:spPr>
      </p:sp>
      <p:sp>
        <p:nvSpPr>
          <p:cNvPr id="23" name="icon-bg-744"/>
          <p:cNvSpPr/>
          <p:nvPr/>
        </p:nvSpPr>
        <p:spPr>
          <a:xfrm>
            <a:off x="7772400" y="3913632"/>
            <a:ext cx="411480" cy="411480"/>
          </a:xfrm>
          <a:prstGeom prst="ellipse">
            <a:avLst/>
          </a:prstGeom>
          <a:solidFill>
            <a:schemeClr val="accent2"/>
          </a:solidFill>
          <a:ln/>
        </p:spPr>
      </p:sp>
      <p:pic>
        <p:nvPicPr>
          <p:cNvPr id="24" name="icon-745" descr="preencoded.png">    </p:cNvPr>
          <p:cNvPicPr>
            <a:picLocks noChangeAspect="1"/>
          </p:cNvPicPr>
          <p:nvPr/>
        </p:nvPicPr>
        <p:blipFill>
          <a:blip r:embed="rId5"/>
          <a:stretch>
            <a:fillRect/>
          </a:stretch>
        </p:blipFill>
        <p:spPr>
          <a:xfrm>
            <a:off x="7867040" y="4008272"/>
            <a:ext cx="222199" cy="222199"/>
          </a:xfrm>
          <a:prstGeom prst="rect">
            <a:avLst/>
          </a:prstGeom>
        </p:spPr>
      </p:pic>
      <p:sp>
        <p:nvSpPr>
          <p:cNvPr id="25" name="text-746"/>
          <p:cNvSpPr txBox="1"/>
          <p:nvPr/>
        </p:nvSpPr>
        <p:spPr>
          <a:xfrm>
            <a:off x="8321040" y="3931920"/>
            <a:ext cx="2743200" cy="365760"/>
          </a:xfrm>
          <a:prstGeom prst="rect">
            <a:avLst/>
          </a:prstGeom>
          <a:noFill/>
          <a:ln/>
        </p:spPr>
        <p:txBody>
          <a:bodyPr wrap="square" lIns="0" tIns="0" rIns="0" bIns="0" rtlCol="0" anchor="ctr"/>
          <a:lstStyle/>
          <a:p>
            <a:pPr indent="0" marL="0">
              <a:buNone/>
            </a:pPr>
            <a:r>
              <a:rPr lang="en-US" sz="1200" b="1" spc="100" kern="0" dirty="0">
                <a:solidFill>
                  <a:schemeClr val="accent2"/>
                </a:solidFill>
              </a:rPr>
              <a:t>ASK THE CLASS</a:t>
            </a:r>
            <a:endParaRPr lang="en-US" sz="1200" dirty="0"/>
          </a:p>
        </p:txBody>
      </p:sp>
      <p:sp>
        <p:nvSpPr>
          <p:cNvPr id="26" name="text-747"/>
          <p:cNvSpPr txBox="1"/>
          <p:nvPr/>
        </p:nvSpPr>
        <p:spPr>
          <a:xfrm>
            <a:off x="7772400" y="4434840"/>
            <a:ext cx="3703320" cy="118872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Where is the fin hottest? Where is it coldest?</a:t>
            </a:r>
            <a:endParaRPr lang="en-US" sz="1600" dirty="0"/>
          </a:p>
          <a:p>
            <a:pPr indent="0" marL="0">
              <a:spcAft>
                <a:spcPts val="600"/>
              </a:spcAft>
              <a:buNone/>
            </a:pPr>
            <a:r>
              <a:rPr lang="en-US" sz="1600" dirty="0">
                <a:solidFill>
                  <a:schemeClr val="tx1"/>
                </a:solidFill>
              </a:rPr>
              <a:t>Why does the tip not reach 30 °C?</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74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1: PHYSICS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Energy balance → the fin equation</a:t>
            </a:r>
            <a:endParaRPr lang="en-US" sz="3200" dirty="0"/>
          </a:p>
        </p:txBody>
      </p:sp>
      <p:sp>
        <p:nvSpPr>
          <p:cNvPr id="4" name="wall-749"/>
          <p:cNvSpPr/>
          <p:nvPr/>
        </p:nvSpPr>
        <p:spPr>
          <a:xfrm>
            <a:off x="548640" y="2011680"/>
            <a:ext cx="274320" cy="1691640"/>
          </a:xfrm>
          <a:prstGeom prst="rect">
            <a:avLst/>
          </a:prstGeom>
          <a:solidFill>
            <a:schemeClr val="accent2"/>
          </a:solidFill>
          <a:ln/>
        </p:spPr>
      </p:sp>
      <p:sp>
        <p:nvSpPr>
          <p:cNvPr id="5" name="fin-750"/>
          <p:cNvSpPr/>
          <p:nvPr/>
        </p:nvSpPr>
        <p:spPr>
          <a:xfrm>
            <a:off x="822960" y="2423160"/>
            <a:ext cx="4160520" cy="868680"/>
          </a:xfrm>
          <a:prstGeom prst="rect">
            <a:avLst/>
          </a:prstGeom>
          <a:solidFill>
            <a:schemeClr val="accent1">
              <a:alpha val="25000"/>
            </a:schemeClr>
          </a:solidFill>
          <a:ln w="12700">
            <a:solidFill>
              <a:schemeClr val="accent1"/>
            </a:solidFill>
            <a:prstDash val="solid"/>
          </a:ln>
        </p:spPr>
      </p:sp>
      <p:sp>
        <p:nvSpPr>
          <p:cNvPr id="6" name="tip-751"/>
          <p:cNvSpPr/>
          <p:nvPr/>
        </p:nvSpPr>
        <p:spPr>
          <a:xfrm>
            <a:off x="4983480" y="2331720"/>
            <a:ext cx="109728" cy="1051560"/>
          </a:xfrm>
          <a:prstGeom prst="rect">
            <a:avLst/>
          </a:prstGeom>
          <a:solidFill>
            <a:schemeClr val="accent4"/>
          </a:solidFill>
          <a:ln/>
        </p:spPr>
      </p:sp>
      <p:sp>
        <p:nvSpPr>
          <p:cNvPr id="7" name="slice-752"/>
          <p:cNvSpPr/>
          <p:nvPr/>
        </p:nvSpPr>
        <p:spPr>
          <a:xfrm>
            <a:off x="2514600" y="2423160"/>
            <a:ext cx="685800" cy="868680"/>
          </a:xfrm>
          <a:prstGeom prst="rect">
            <a:avLst/>
          </a:prstGeom>
          <a:solidFill>
            <a:schemeClr val="accent2">
              <a:alpha val="35000"/>
            </a:schemeClr>
          </a:solidFill>
          <a:ln w="15875">
            <a:solidFill>
              <a:schemeClr val="accent2"/>
            </a:solidFill>
            <a:prstDash val="dash"/>
          </a:ln>
        </p:spPr>
      </p:sp>
      <p:sp>
        <p:nvSpPr>
          <p:cNvPr id="8" name="arrow-753"/>
          <p:cNvSpPr/>
          <p:nvPr/>
        </p:nvSpPr>
        <p:spPr>
          <a:xfrm>
            <a:off x="1783080" y="2852928"/>
            <a:ext cx="685800" cy="0"/>
          </a:xfrm>
          <a:prstGeom prst="line">
            <a:avLst/>
          </a:prstGeom>
          <a:noFill/>
          <a:ln w="31750">
            <a:solidFill>
              <a:schemeClr val="tx1"/>
            </a:solidFill>
            <a:prstDash val="solid"/>
            <a:tailEnd type="triangle"/>
          </a:ln>
        </p:spPr>
      </p:sp>
      <p:sp>
        <p:nvSpPr>
          <p:cNvPr id="9" name="arrow-754"/>
          <p:cNvSpPr/>
          <p:nvPr/>
        </p:nvSpPr>
        <p:spPr>
          <a:xfrm>
            <a:off x="3218688" y="2852928"/>
            <a:ext cx="685800" cy="0"/>
          </a:xfrm>
          <a:prstGeom prst="line">
            <a:avLst/>
          </a:prstGeom>
          <a:noFill/>
          <a:ln w="31750">
            <a:solidFill>
              <a:schemeClr val="tx1"/>
            </a:solidFill>
            <a:prstDash val="solid"/>
            <a:tailEnd type="triangle"/>
          </a:ln>
        </p:spPr>
      </p:sp>
      <p:sp>
        <p:nvSpPr>
          <p:cNvPr id="10" name="text-755"/>
          <p:cNvSpPr txBox="1"/>
          <p:nvPr/>
        </p:nvSpPr>
        <p:spPr>
          <a:xfrm>
            <a:off x="1783080" y="2450592"/>
            <a:ext cx="685800" cy="320040"/>
          </a:xfrm>
          <a:prstGeom prst="rect">
            <a:avLst/>
          </a:prstGeom>
          <a:noFill/>
          <a:ln/>
        </p:spPr>
        <p:txBody>
          <a:bodyPr wrap="square" lIns="0" tIns="0" rIns="0" bIns="0" rtlCol="0" anchor="t"/>
          <a:lstStyle/>
          <a:p>
            <a:pPr algn="ctr" indent="0" marL="0">
              <a:buNone/>
            </a:pPr>
            <a:r>
              <a:rPr lang="en-US" sz="1500" b="1" dirty="0">
                <a:solidFill>
                  <a:schemeClr val="tx1"/>
                </a:solidFill>
              </a:rPr>
              <a:t>q</a:t>
            </a:r>
            <a:pPr algn="ctr" indent="0" marL="0">
              <a:buNone/>
            </a:pPr>
            <a:r>
              <a:rPr lang="en-US" sz="1500" b="1" baseline="-40000" dirty="0">
                <a:solidFill>
                  <a:schemeClr val="tx1"/>
                </a:solidFill>
              </a:rPr>
              <a:t>x</a:t>
            </a:r>
            <a:endParaRPr lang="en-US" sz="1500" dirty="0"/>
          </a:p>
        </p:txBody>
      </p:sp>
      <p:sp>
        <p:nvSpPr>
          <p:cNvPr id="11" name="text-756"/>
          <p:cNvSpPr txBox="1"/>
          <p:nvPr/>
        </p:nvSpPr>
        <p:spPr>
          <a:xfrm>
            <a:off x="3200400" y="2450592"/>
            <a:ext cx="868680" cy="320040"/>
          </a:xfrm>
          <a:prstGeom prst="rect">
            <a:avLst/>
          </a:prstGeom>
          <a:noFill/>
          <a:ln/>
        </p:spPr>
        <p:txBody>
          <a:bodyPr wrap="square" lIns="0" tIns="0" rIns="0" bIns="0" rtlCol="0" anchor="t"/>
          <a:lstStyle/>
          <a:p>
            <a:pPr algn="ctr" indent="0" marL="0">
              <a:buNone/>
            </a:pPr>
            <a:r>
              <a:rPr lang="en-US" sz="1500" b="1" dirty="0">
                <a:solidFill>
                  <a:schemeClr val="tx1"/>
                </a:solidFill>
              </a:rPr>
              <a:t>q</a:t>
            </a:r>
            <a:pPr algn="ctr" indent="0" marL="0">
              <a:buNone/>
            </a:pPr>
            <a:r>
              <a:rPr lang="en-US" sz="1500" b="1" baseline="-40000" dirty="0">
                <a:solidFill>
                  <a:schemeClr val="tx1"/>
                </a:solidFill>
              </a:rPr>
              <a:t>x+dx</a:t>
            </a:r>
            <a:endParaRPr lang="en-US" sz="1500" dirty="0"/>
          </a:p>
        </p:txBody>
      </p:sp>
      <p:sp>
        <p:nvSpPr>
          <p:cNvPr id="12" name="arrow-757"/>
          <p:cNvSpPr/>
          <p:nvPr/>
        </p:nvSpPr>
        <p:spPr>
          <a:xfrm>
            <a:off x="2857500" y="1783080"/>
            <a:ext cx="0" cy="594360"/>
          </a:xfrm>
          <a:prstGeom prst="line">
            <a:avLst/>
          </a:prstGeom>
          <a:noFill/>
          <a:ln w="31750">
            <a:solidFill>
              <a:schemeClr val="accent2"/>
            </a:solidFill>
            <a:prstDash val="solid"/>
            <a:headEnd type="triangle"/>
          </a:ln>
        </p:spPr>
      </p:sp>
      <p:sp>
        <p:nvSpPr>
          <p:cNvPr id="13" name="arrow-758"/>
          <p:cNvSpPr/>
          <p:nvPr/>
        </p:nvSpPr>
        <p:spPr>
          <a:xfrm>
            <a:off x="2857500" y="3337560"/>
            <a:ext cx="0" cy="548640"/>
          </a:xfrm>
          <a:prstGeom prst="line">
            <a:avLst/>
          </a:prstGeom>
          <a:noFill/>
          <a:ln w="31750">
            <a:solidFill>
              <a:schemeClr val="accent2"/>
            </a:solidFill>
            <a:prstDash val="solid"/>
            <a:tailEnd type="triangle"/>
          </a:ln>
        </p:spPr>
      </p:sp>
      <p:sp>
        <p:nvSpPr>
          <p:cNvPr id="14" name="text-759"/>
          <p:cNvSpPr txBox="1"/>
          <p:nvPr/>
        </p:nvSpPr>
        <p:spPr>
          <a:xfrm>
            <a:off x="3017520" y="1463040"/>
            <a:ext cx="2194560" cy="365760"/>
          </a:xfrm>
          <a:prstGeom prst="rect">
            <a:avLst/>
          </a:prstGeom>
          <a:noFill/>
          <a:ln/>
        </p:spPr>
        <p:txBody>
          <a:bodyPr wrap="square" lIns="0" tIns="0" rIns="0" bIns="0" rtlCol="0" anchor="t"/>
          <a:lstStyle/>
          <a:p>
            <a:pPr indent="0" marL="0">
              <a:buNone/>
            </a:pPr>
            <a:r>
              <a:rPr lang="en-US" sz="1500" b="1" dirty="0">
                <a:solidFill>
                  <a:schemeClr val="accent2"/>
                </a:solidFill>
              </a:rPr>
              <a:t>h (P dx)(T − T</a:t>
            </a:r>
            <a:pPr indent="0" marL="0">
              <a:buNone/>
            </a:pPr>
            <a:r>
              <a:rPr lang="en-US" sz="1500" b="1" baseline="-40000" dirty="0">
                <a:solidFill>
                  <a:schemeClr val="accent2"/>
                </a:solidFill>
              </a:rPr>
              <a:t>∞</a:t>
            </a:r>
            <a:pPr indent="0" marL="0">
              <a:buNone/>
            </a:pPr>
            <a:r>
              <a:rPr lang="en-US" sz="1500" b="1" dirty="0">
                <a:solidFill>
                  <a:schemeClr val="accent2"/>
                </a:solidFill>
              </a:rPr>
              <a:t>)</a:t>
            </a:r>
            <a:endParaRPr lang="en-US" sz="1500" dirty="0"/>
          </a:p>
        </p:txBody>
      </p:sp>
      <p:sp>
        <p:nvSpPr>
          <p:cNvPr id="15" name="text-760"/>
          <p:cNvSpPr txBox="1"/>
          <p:nvPr/>
        </p:nvSpPr>
        <p:spPr>
          <a:xfrm>
            <a:off x="3200400" y="3383280"/>
            <a:ext cx="548640" cy="320040"/>
          </a:xfrm>
          <a:prstGeom prst="rect">
            <a:avLst/>
          </a:prstGeom>
          <a:noFill/>
          <a:ln/>
        </p:spPr>
        <p:txBody>
          <a:bodyPr wrap="square" lIns="0" tIns="0" rIns="0" bIns="0" rtlCol="0" anchor="t"/>
          <a:lstStyle/>
          <a:p>
            <a:pPr indent="0" marL="0">
              <a:buNone/>
            </a:pPr>
            <a:r>
              <a:rPr lang="en-US" sz="1400" b="1" dirty="0">
                <a:solidFill>
                  <a:schemeClr val="accent2"/>
                </a:solidFill>
              </a:rPr>
              <a:t>dx</a:t>
            </a:r>
            <a:endParaRPr lang="en-US" sz="1400" dirty="0"/>
          </a:p>
        </p:txBody>
      </p:sp>
      <p:sp>
        <p:nvSpPr>
          <p:cNvPr id="16" name="text-761"/>
          <p:cNvSpPr txBox="1"/>
          <p:nvPr/>
        </p:nvSpPr>
        <p:spPr>
          <a:xfrm>
            <a:off x="411480" y="3749040"/>
            <a:ext cx="822960" cy="274320"/>
          </a:xfrm>
          <a:prstGeom prst="rect">
            <a:avLst/>
          </a:prstGeom>
          <a:noFill/>
          <a:ln/>
        </p:spPr>
        <p:txBody>
          <a:bodyPr wrap="square" lIns="0" tIns="0" rIns="0" bIns="0" rtlCol="0" anchor="t"/>
          <a:lstStyle/>
          <a:p>
            <a:pPr algn="ctr" indent="0" marL="0">
              <a:buNone/>
            </a:pPr>
            <a:r>
              <a:rPr lang="en-US" sz="1200" dirty="0">
                <a:solidFill>
                  <a:schemeClr val="accent4"/>
                </a:solidFill>
              </a:rPr>
              <a:t>x = 0</a:t>
            </a:r>
            <a:endParaRPr lang="en-US" sz="1200" dirty="0"/>
          </a:p>
        </p:txBody>
      </p:sp>
      <p:sp>
        <p:nvSpPr>
          <p:cNvPr id="17" name="text-762"/>
          <p:cNvSpPr txBox="1"/>
          <p:nvPr/>
        </p:nvSpPr>
        <p:spPr>
          <a:xfrm>
            <a:off x="4617720" y="3749040"/>
            <a:ext cx="822960" cy="274320"/>
          </a:xfrm>
          <a:prstGeom prst="rect">
            <a:avLst/>
          </a:prstGeom>
          <a:noFill/>
          <a:ln/>
        </p:spPr>
        <p:txBody>
          <a:bodyPr wrap="square" lIns="0" tIns="0" rIns="0" bIns="0" rtlCol="0" anchor="t"/>
          <a:lstStyle/>
          <a:p>
            <a:pPr algn="ctr" indent="0" marL="0">
              <a:buNone/>
            </a:pPr>
            <a:r>
              <a:rPr lang="en-US" sz="1200" dirty="0">
                <a:solidFill>
                  <a:schemeClr val="accent4"/>
                </a:solidFill>
              </a:rPr>
              <a:t>x = L</a:t>
            </a:r>
            <a:endParaRPr lang="en-US" sz="1200" dirty="0"/>
          </a:p>
        </p:txBody>
      </p:sp>
      <p:sp>
        <p:nvSpPr>
          <p:cNvPr id="18" name="text-763"/>
          <p:cNvSpPr txBox="1"/>
          <p:nvPr/>
        </p:nvSpPr>
        <p:spPr>
          <a:xfrm>
            <a:off x="548640" y="4160520"/>
            <a:ext cx="4937760" cy="548640"/>
          </a:xfrm>
          <a:prstGeom prst="rect">
            <a:avLst/>
          </a:prstGeom>
          <a:noFill/>
          <a:ln/>
        </p:spPr>
        <p:txBody>
          <a:bodyPr wrap="square" lIns="0" tIns="0" rIns="0" bIns="0" rtlCol="0" anchor="t"/>
          <a:lstStyle/>
          <a:p>
            <a:pPr indent="0" marL="0">
              <a:buNone/>
            </a:pPr>
            <a:r>
              <a:rPr lang="en-US" sz="1500" dirty="0">
                <a:solidFill>
                  <a:schemeClr val="tx1"/>
                </a:solidFill>
              </a:rPr>
              <a:t>Steady state: </a:t>
            </a:r>
            <a:pPr indent="0" marL="0">
              <a:buNone/>
            </a:pPr>
            <a:r>
              <a:rPr lang="en-US" sz="1500" b="1" dirty="0">
                <a:solidFill>
                  <a:schemeClr val="tx1"/>
                </a:solidFill>
              </a:rPr>
              <a:t>heat in = heat out + heat convected to the air</a:t>
            </a:r>
            <a:endParaRPr lang="en-US" sz="1500" dirty="0"/>
          </a:p>
        </p:txBody>
      </p:sp>
      <p:sp>
        <p:nvSpPr>
          <p:cNvPr id="19" name="pill-764"/>
          <p:cNvSpPr/>
          <p:nvPr/>
        </p:nvSpPr>
        <p:spPr>
          <a:xfrm>
            <a:off x="548640" y="4846320"/>
            <a:ext cx="4846320" cy="457200"/>
          </a:xfrm>
          <a:prstGeom prst="roundRect">
            <a:avLst>
              <a:gd name="adj" fmla="val 50000"/>
            </a:avLst>
          </a:prstGeom>
          <a:solidFill>
            <a:schemeClr val="bg2"/>
          </a:solidFill>
          <a:ln/>
        </p:spPr>
        <p:txBody>
          <a:bodyPr wrap="square" lIns="0" tIns="0" rIns="0" bIns="0" rtlCol="0" anchor="ctr"/>
          <a:lstStyle/>
          <a:p>
            <a:pPr algn="ctr" indent="0" marL="0">
              <a:buNone/>
            </a:pPr>
            <a:r>
              <a:rPr lang="en-US" sz="1450" b="1" dirty="0">
                <a:solidFill>
                  <a:schemeClr val="tx1"/>
                </a:solidFill>
              </a:rPr>
              <a:t>θ(0) = 100 − 30 = 70 K   (base)</a:t>
            </a:r>
            <a:endParaRPr lang="en-US" sz="1450" dirty="0"/>
          </a:p>
        </p:txBody>
      </p:sp>
      <p:sp>
        <p:nvSpPr>
          <p:cNvPr id="20" name="pill-765"/>
          <p:cNvSpPr/>
          <p:nvPr/>
        </p:nvSpPr>
        <p:spPr>
          <a:xfrm>
            <a:off x="548640" y="5394960"/>
            <a:ext cx="4846320" cy="457200"/>
          </a:xfrm>
          <a:prstGeom prst="roundRect">
            <a:avLst>
              <a:gd name="adj" fmla="val 50000"/>
            </a:avLst>
          </a:prstGeom>
          <a:solidFill>
            <a:schemeClr val="bg2"/>
          </a:solidFill>
          <a:ln/>
        </p:spPr>
        <p:txBody>
          <a:bodyPr wrap="square" lIns="0" tIns="0" rIns="0" bIns="0" rtlCol="0" anchor="ctr"/>
          <a:lstStyle/>
          <a:p>
            <a:pPr algn="ctr" indent="0" marL="0">
              <a:buNone/>
            </a:pPr>
            <a:r>
              <a:rPr lang="en-US" sz="1450" b="1" dirty="0">
                <a:solidFill>
                  <a:schemeClr val="tx1"/>
                </a:solidFill>
              </a:rPr>
              <a:t>dθ/dx = 0 at x = L   (insulated tip)</a:t>
            </a:r>
            <a:endParaRPr lang="en-US" sz="1450" dirty="0"/>
          </a:p>
        </p:txBody>
      </p:sp>
      <p:sp>
        <p:nvSpPr>
          <p:cNvPr id="21" name="text-766"/>
          <p:cNvSpPr txBox="1"/>
          <p:nvPr/>
        </p:nvSpPr>
        <p:spPr>
          <a:xfrm>
            <a:off x="5760720" y="1371600"/>
            <a:ext cx="58521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ENERGY BALANCE ON THE SLICE</a:t>
            </a:r>
            <a:endParaRPr lang="en-US" sz="1150" dirty="0"/>
          </a:p>
        </p:txBody>
      </p:sp>
      <p:pic>
        <p:nvPicPr>
          <p:cNvPr id="22" name="eq-767" descr="fin_bal">    </p:cNvPr>
          <p:cNvPicPr>
            <a:picLocks noChangeAspect="1"/>
          </p:cNvPicPr>
          <p:nvPr/>
        </p:nvPicPr>
        <p:blipFill>
          <a:blip r:embed="rId1"/>
          <a:stretch>
            <a:fillRect/>
          </a:stretch>
        </p:blipFill>
        <p:spPr>
          <a:xfrm>
            <a:off x="5760720" y="1714500"/>
            <a:ext cx="3764280" cy="411480"/>
          </a:xfrm>
          <a:prstGeom prst="rect">
            <a:avLst/>
          </a:prstGeom>
        </p:spPr>
      </p:pic>
      <p:sp>
        <p:nvSpPr>
          <p:cNvPr id="23" name="text-768"/>
          <p:cNvSpPr txBox="1"/>
          <p:nvPr/>
        </p:nvSpPr>
        <p:spPr>
          <a:xfrm>
            <a:off x="5760720" y="2240280"/>
            <a:ext cx="58521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FOURIER'S LAW</a:t>
            </a:r>
            <a:endParaRPr lang="en-US" sz="1150" dirty="0"/>
          </a:p>
        </p:txBody>
      </p:sp>
      <p:pic>
        <p:nvPicPr>
          <p:cNvPr id="24" name="eq-769" descr="fin_fourier">    </p:cNvPr>
          <p:cNvPicPr>
            <a:picLocks noChangeAspect="1"/>
          </p:cNvPicPr>
          <p:nvPr/>
        </p:nvPicPr>
        <p:blipFill>
          <a:blip r:embed="rId2"/>
          <a:stretch>
            <a:fillRect/>
          </a:stretch>
        </p:blipFill>
        <p:spPr>
          <a:xfrm>
            <a:off x="5760720" y="2570988"/>
            <a:ext cx="1624584" cy="435864"/>
          </a:xfrm>
          <a:prstGeom prst="rect">
            <a:avLst/>
          </a:prstGeom>
        </p:spPr>
      </p:pic>
      <p:sp>
        <p:nvSpPr>
          <p:cNvPr id="25" name="text-770"/>
          <p:cNvSpPr txBox="1"/>
          <p:nvPr/>
        </p:nvSpPr>
        <p:spPr>
          <a:xfrm>
            <a:off x="5760720" y="3154680"/>
            <a:ext cx="5852160" cy="256032"/>
          </a:xfrm>
          <a:prstGeom prst="rect">
            <a:avLst/>
          </a:prstGeom>
          <a:noFill/>
          <a:ln/>
        </p:spPr>
        <p:txBody>
          <a:bodyPr wrap="square" lIns="0" tIns="0" rIns="0" bIns="0" rtlCol="0" anchor="t"/>
          <a:lstStyle/>
          <a:p>
            <a:pPr indent="0" marL="0">
              <a:buNone/>
            </a:pPr>
            <a:r>
              <a:rPr lang="en-US" sz="1150" b="1" spc="100" kern="0" dirty="0">
                <a:solidFill>
                  <a:schemeClr val="accent2"/>
                </a:solidFill>
              </a:rPr>
              <a:t>⇒ THE FIN EQUATION</a:t>
            </a:r>
            <a:endParaRPr lang="en-US" sz="1150" dirty="0"/>
          </a:p>
        </p:txBody>
      </p:sp>
      <p:sp>
        <p:nvSpPr>
          <p:cNvPr id="26" name="card-771"/>
          <p:cNvSpPr/>
          <p:nvPr/>
        </p:nvSpPr>
        <p:spPr>
          <a:xfrm>
            <a:off x="5760720" y="3429000"/>
            <a:ext cx="5879592" cy="868680"/>
          </a:xfrm>
          <a:prstGeom prst="roundRect">
            <a:avLst>
              <a:gd name="adj" fmla="val 10526"/>
            </a:avLst>
          </a:prstGeom>
          <a:solidFill>
            <a:schemeClr val="accent2">
              <a:alpha val="12000"/>
            </a:schemeClr>
          </a:solidFill>
          <a:ln w="12700">
            <a:solidFill>
              <a:schemeClr val="accent2"/>
            </a:solidFill>
            <a:prstDash val="solid"/>
          </a:ln>
        </p:spPr>
      </p:sp>
      <p:pic>
        <p:nvPicPr>
          <p:cNvPr id="27" name="eq-772" descr="fin_eq">    </p:cNvPr>
          <p:cNvPicPr>
            <a:picLocks noChangeAspect="1"/>
          </p:cNvPicPr>
          <p:nvPr/>
        </p:nvPicPr>
        <p:blipFill>
          <a:blip r:embed="rId3"/>
          <a:stretch>
            <a:fillRect/>
          </a:stretch>
        </p:blipFill>
        <p:spPr>
          <a:xfrm>
            <a:off x="5897880" y="3589020"/>
            <a:ext cx="3243072" cy="548640"/>
          </a:xfrm>
          <a:prstGeom prst="rect">
            <a:avLst/>
          </a:prstGeom>
        </p:spPr>
      </p:pic>
      <p:pic>
        <p:nvPicPr>
          <p:cNvPr id="28" name="eq-773" descr="fin_m">    </p:cNvPr>
          <p:cNvPicPr>
            <a:picLocks noChangeAspect="1"/>
          </p:cNvPicPr>
          <p:nvPr/>
        </p:nvPicPr>
        <p:blipFill>
          <a:blip r:embed="rId4"/>
          <a:stretch>
            <a:fillRect/>
          </a:stretch>
        </p:blipFill>
        <p:spPr>
          <a:xfrm>
            <a:off x="9281160" y="3610356"/>
            <a:ext cx="1871472" cy="505968"/>
          </a:xfrm>
          <a:prstGeom prst="rect">
            <a:avLst/>
          </a:prstGeom>
        </p:spPr>
      </p:pic>
      <p:sp>
        <p:nvSpPr>
          <p:cNvPr id="29" name="text-774"/>
          <p:cNvSpPr txBox="1"/>
          <p:nvPr/>
        </p:nvSpPr>
        <p:spPr>
          <a:xfrm>
            <a:off x="5760720" y="4434840"/>
            <a:ext cx="58521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TRICK: EXCESS TEMPERATURE θ</a:t>
            </a:r>
            <a:endParaRPr lang="en-US" sz="1150" dirty="0"/>
          </a:p>
        </p:txBody>
      </p:sp>
      <p:pic>
        <p:nvPicPr>
          <p:cNvPr id="30" name="eq-775" descr="fin_theta">    </p:cNvPr>
          <p:cNvPicPr>
            <a:picLocks noChangeAspect="1"/>
          </p:cNvPicPr>
          <p:nvPr/>
        </p:nvPicPr>
        <p:blipFill>
          <a:blip r:embed="rId5"/>
          <a:stretch>
            <a:fillRect/>
          </a:stretch>
        </p:blipFill>
        <p:spPr>
          <a:xfrm>
            <a:off x="5760720" y="4756404"/>
            <a:ext cx="4017264" cy="408432"/>
          </a:xfrm>
          <a:prstGeom prst="rect">
            <a:avLst/>
          </a:prstGeom>
        </p:spPr>
      </p:pic>
      <p:sp>
        <p:nvSpPr>
          <p:cNvPr id="31" name="note-strip-776"/>
          <p:cNvSpPr/>
          <p:nvPr/>
        </p:nvSpPr>
        <p:spPr>
          <a:xfrm>
            <a:off x="5760720" y="5394960"/>
            <a:ext cx="5879592" cy="566928"/>
          </a:xfrm>
          <a:prstGeom prst="roundRect">
            <a:avLst>
              <a:gd name="adj" fmla="val 16129"/>
            </a:avLst>
          </a:prstGeom>
          <a:solidFill>
            <a:schemeClr val="accent6">
              <a:alpha val="12000"/>
            </a:schemeClr>
          </a:solidFill>
          <a:ln/>
        </p:spPr>
      </p:sp>
      <p:sp>
        <p:nvSpPr>
          <p:cNvPr id="32" name="icon-bg-777"/>
          <p:cNvSpPr/>
          <p:nvPr/>
        </p:nvSpPr>
        <p:spPr>
          <a:xfrm>
            <a:off x="5897880" y="5486400"/>
            <a:ext cx="384048" cy="384048"/>
          </a:xfrm>
          <a:prstGeom prst="ellipse">
            <a:avLst/>
          </a:prstGeom>
          <a:solidFill>
            <a:schemeClr val="accent6"/>
          </a:solidFill>
          <a:ln/>
        </p:spPr>
      </p:sp>
      <p:pic>
        <p:nvPicPr>
          <p:cNvPr id="33" name="icon-778" descr="preencoded.png">    </p:cNvPr>
          <p:cNvPicPr>
            <a:picLocks noChangeAspect="1"/>
          </p:cNvPicPr>
          <p:nvPr/>
        </p:nvPicPr>
        <p:blipFill>
          <a:blip r:embed="rId6"/>
          <a:stretch>
            <a:fillRect/>
          </a:stretch>
        </p:blipFill>
        <p:spPr>
          <a:xfrm>
            <a:off x="5986211" y="5574731"/>
            <a:ext cx="207386" cy="207386"/>
          </a:xfrm>
          <a:prstGeom prst="rect">
            <a:avLst/>
          </a:prstGeom>
        </p:spPr>
      </p:pic>
      <p:sp>
        <p:nvSpPr>
          <p:cNvPr id="34" name="text-779"/>
          <p:cNvSpPr txBox="1"/>
          <p:nvPr/>
        </p:nvSpPr>
        <p:spPr>
          <a:xfrm>
            <a:off x="6446520" y="5394960"/>
            <a:ext cx="5010912" cy="566928"/>
          </a:xfrm>
          <a:prstGeom prst="rect">
            <a:avLst/>
          </a:prstGeom>
          <a:noFill/>
          <a:ln/>
        </p:spPr>
        <p:txBody>
          <a:bodyPr wrap="square" lIns="0" tIns="0" rIns="0" bIns="0" rtlCol="0" anchor="ctr"/>
          <a:lstStyle/>
          <a:p>
            <a:pPr indent="0" marL="0">
              <a:buNone/>
            </a:pPr>
            <a:r>
              <a:rPr lang="en-US" sz="1600" dirty="0">
                <a:solidFill>
                  <a:schemeClr val="tx1"/>
                </a:solidFill>
              </a:rPr>
              <a:t>m² = 4 × 25 / (237 × 0.005) = </a:t>
            </a:r>
            <a:pPr indent="0" marL="0">
              <a:buNone/>
            </a:pPr>
            <a:r>
              <a:rPr lang="en-US" sz="1600" b="1" dirty="0">
                <a:solidFill>
                  <a:schemeClr val="tx1"/>
                </a:solidFill>
              </a:rPr>
              <a:t>84.388 m</a:t>
            </a:r>
            <a:pPr indent="0" marL="0">
              <a:buNone/>
            </a:pPr>
            <a:r>
              <a:rPr lang="en-US" sz="1600" b="1" baseline="30000" dirty="0">
                <a:solidFill>
                  <a:schemeClr val="tx1"/>
                </a:solidFill>
              </a:rPr>
              <a:t>−2</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780"/>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2: GRID</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4 intervals, 5 nodes and a ghost node</a:t>
            </a:r>
            <a:endParaRPr lang="en-US" sz="3200" dirty="0"/>
          </a:p>
        </p:txBody>
      </p:sp>
      <p:sp>
        <p:nvSpPr>
          <p:cNvPr id="4" name="card-781"/>
          <p:cNvSpPr/>
          <p:nvPr/>
        </p:nvSpPr>
        <p:spPr>
          <a:xfrm>
            <a:off x="548640" y="1371600"/>
            <a:ext cx="11094415" cy="2514600"/>
          </a:xfrm>
          <a:prstGeom prst="roundRect">
            <a:avLst>
              <a:gd name="adj" fmla="val 3636"/>
            </a:avLst>
          </a:prstGeom>
          <a:solidFill>
            <a:schemeClr val="bg1"/>
          </a:solidFill>
          <a:ln w="9525">
            <a:solidFill>
              <a:schemeClr val="accent4">
                <a:alpha val="35000"/>
              </a:schemeClr>
            </a:solidFill>
            <a:prstDash val="solid"/>
          </a:ln>
        </p:spPr>
      </p:sp>
      <p:pic>
        <p:nvPicPr>
          <p:cNvPr id="5" name="img-782" descr="Hand grid: nodes 0 to 4 along the fin and a ghost node 5 beyond the tip">    </p:cNvPr>
          <p:cNvPicPr>
            <a:picLocks noChangeAspect="1"/>
          </p:cNvPicPr>
          <p:nvPr/>
        </p:nvPicPr>
        <p:blipFill>
          <a:blip r:embed="rId1"/>
          <a:stretch>
            <a:fillRect/>
          </a:stretch>
        </p:blipFill>
        <p:spPr>
          <a:xfrm>
            <a:off x="1504597" y="1417320"/>
            <a:ext cx="9182501" cy="2423160"/>
          </a:xfrm>
          <a:prstGeom prst="rect">
            <a:avLst/>
          </a:prstGeom>
        </p:spPr>
      </p:pic>
      <p:sp>
        <p:nvSpPr>
          <p:cNvPr id="6" name="text-783"/>
          <p:cNvSpPr txBox="1"/>
          <p:nvPr/>
        </p:nvSpPr>
        <p:spPr>
          <a:xfrm>
            <a:off x="548640" y="3977640"/>
            <a:ext cx="11094415" cy="365760"/>
          </a:xfrm>
          <a:prstGeom prst="rect">
            <a:avLst/>
          </a:prstGeom>
          <a:noFill/>
          <a:ln/>
        </p:spPr>
        <p:txBody>
          <a:bodyPr wrap="square" lIns="0" tIns="0" rIns="0" bIns="0" rtlCol="0" anchor="t"/>
          <a:lstStyle/>
          <a:p>
            <a:pPr indent="0" marL="0">
              <a:buNone/>
            </a:pPr>
            <a:r>
              <a:rPr lang="en-US" sz="1500" dirty="0">
                <a:solidFill>
                  <a:schemeClr val="tx2"/>
                </a:solidFill>
              </a:rPr>
              <a:t>Node 5 is a </a:t>
            </a:r>
            <a:pPr indent="0" marL="0">
              <a:buNone/>
            </a:pPr>
            <a:r>
              <a:rPr lang="en-US" sz="1500" b="1" dirty="0">
                <a:solidFill>
                  <a:schemeClr val="tx2"/>
                </a:solidFill>
              </a:rPr>
              <a:t>ghost node</a:t>
            </a:r>
            <a:pPr indent="0" marL="0">
              <a:buNone/>
            </a:pPr>
            <a:r>
              <a:rPr lang="en-US" sz="1500" dirty="0">
                <a:solidFill>
                  <a:schemeClr val="tx2"/>
                </a:solidFill>
              </a:rPr>
              <a:t> beyond the tip: a helper we use to apply the insulated-tip condition.</a:t>
            </a:r>
            <a:endParaRPr lang="en-US" sz="1500" dirty="0"/>
          </a:p>
        </p:txBody>
      </p:sp>
      <p:sp>
        <p:nvSpPr>
          <p:cNvPr id="7" name="card-784"/>
          <p:cNvSpPr/>
          <p:nvPr/>
        </p:nvSpPr>
        <p:spPr>
          <a:xfrm>
            <a:off x="548640" y="4526280"/>
            <a:ext cx="2651760"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8" name="text-785"/>
          <p:cNvSpPr txBox="1"/>
          <p:nvPr/>
        </p:nvSpPr>
        <p:spPr>
          <a:xfrm>
            <a:off x="777240" y="4636008"/>
            <a:ext cx="2194560" cy="729234"/>
          </a:xfrm>
          <a:prstGeom prst="rect">
            <a:avLst/>
          </a:prstGeom>
          <a:noFill/>
          <a:ln/>
        </p:spPr>
        <p:txBody>
          <a:bodyPr wrap="square" lIns="0" tIns="0" rIns="0" bIns="0" rtlCol="0" anchor="b"/>
          <a:lstStyle/>
          <a:p>
            <a:pPr indent="0" marL="0">
              <a:buNone/>
            </a:pPr>
            <a:r>
              <a:rPr lang="en-US" sz="2800" b="1" dirty="0">
                <a:solidFill>
                  <a:schemeClr val="tx1"/>
                </a:solidFill>
              </a:rPr>
              <a:t>N = 4</a:t>
            </a:r>
            <a:endParaRPr lang="en-US" sz="2800" dirty="0"/>
          </a:p>
        </p:txBody>
      </p:sp>
      <p:sp>
        <p:nvSpPr>
          <p:cNvPr id="9" name="text-786"/>
          <p:cNvSpPr txBox="1"/>
          <p:nvPr/>
        </p:nvSpPr>
        <p:spPr>
          <a:xfrm>
            <a:off x="777240" y="5365242"/>
            <a:ext cx="2194560" cy="420624"/>
          </a:xfrm>
          <a:prstGeom prst="rect">
            <a:avLst/>
          </a:prstGeom>
          <a:noFill/>
          <a:ln/>
        </p:spPr>
        <p:txBody>
          <a:bodyPr wrap="square" lIns="0" tIns="0" rIns="0" bIns="0" rtlCol="0" anchor="t"/>
          <a:lstStyle/>
          <a:p>
            <a:pPr indent="0" marL="0">
              <a:buNone/>
            </a:pPr>
            <a:r>
              <a:rPr lang="en-US" sz="1300" dirty="0">
                <a:solidFill>
                  <a:schemeClr val="tx2"/>
                </a:solidFill>
              </a:rPr>
              <a:t>intervals</a:t>
            </a:r>
            <a:endParaRPr lang="en-US" sz="1300" dirty="0"/>
          </a:p>
        </p:txBody>
      </p:sp>
      <p:sp>
        <p:nvSpPr>
          <p:cNvPr id="10" name="card-787"/>
          <p:cNvSpPr/>
          <p:nvPr/>
        </p:nvSpPr>
        <p:spPr>
          <a:xfrm>
            <a:off x="3355848" y="4526280"/>
            <a:ext cx="2651760"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1" name="text-788"/>
          <p:cNvSpPr txBox="1"/>
          <p:nvPr/>
        </p:nvSpPr>
        <p:spPr>
          <a:xfrm>
            <a:off x="3584448" y="4636008"/>
            <a:ext cx="2194560" cy="729234"/>
          </a:xfrm>
          <a:prstGeom prst="rect">
            <a:avLst/>
          </a:prstGeom>
          <a:noFill/>
          <a:ln/>
        </p:spPr>
        <p:txBody>
          <a:bodyPr wrap="square" lIns="0" tIns="0" rIns="0" bIns="0" rtlCol="0" anchor="b"/>
          <a:lstStyle/>
          <a:p>
            <a:pPr indent="0" marL="0">
              <a:buNone/>
            </a:pPr>
            <a:r>
              <a:rPr lang="en-US" sz="2800" b="1" dirty="0">
                <a:solidFill>
                  <a:schemeClr val="tx1"/>
                </a:solidFill>
              </a:rPr>
              <a:t>Δx = 0.025 m</a:t>
            </a:r>
            <a:endParaRPr lang="en-US" sz="2800" dirty="0"/>
          </a:p>
        </p:txBody>
      </p:sp>
      <p:sp>
        <p:nvSpPr>
          <p:cNvPr id="12" name="text-789"/>
          <p:cNvSpPr txBox="1"/>
          <p:nvPr/>
        </p:nvSpPr>
        <p:spPr>
          <a:xfrm>
            <a:off x="3584448" y="5365242"/>
            <a:ext cx="2194560" cy="420624"/>
          </a:xfrm>
          <a:prstGeom prst="rect">
            <a:avLst/>
          </a:prstGeom>
          <a:noFill/>
          <a:ln/>
        </p:spPr>
        <p:txBody>
          <a:bodyPr wrap="square" lIns="0" tIns="0" rIns="0" bIns="0" rtlCol="0" anchor="t"/>
          <a:lstStyle/>
          <a:p>
            <a:pPr indent="0" marL="0">
              <a:buNone/>
            </a:pPr>
            <a:r>
              <a:rPr lang="en-US" sz="1300" dirty="0">
                <a:solidFill>
                  <a:schemeClr val="tx2"/>
                </a:solidFill>
              </a:rPr>
              <a:t>= L / N</a:t>
            </a:r>
            <a:endParaRPr lang="en-US" sz="1300" dirty="0"/>
          </a:p>
        </p:txBody>
      </p:sp>
      <p:sp>
        <p:nvSpPr>
          <p:cNvPr id="13" name="card-790"/>
          <p:cNvSpPr/>
          <p:nvPr/>
        </p:nvSpPr>
        <p:spPr>
          <a:xfrm>
            <a:off x="6163056" y="4526280"/>
            <a:ext cx="2651760"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4" name="text-791"/>
          <p:cNvSpPr txBox="1"/>
          <p:nvPr/>
        </p:nvSpPr>
        <p:spPr>
          <a:xfrm>
            <a:off x="6391656" y="4636008"/>
            <a:ext cx="2194560" cy="729234"/>
          </a:xfrm>
          <a:prstGeom prst="rect">
            <a:avLst/>
          </a:prstGeom>
          <a:noFill/>
          <a:ln/>
        </p:spPr>
        <p:txBody>
          <a:bodyPr wrap="square" lIns="0" tIns="0" rIns="0" bIns="0" rtlCol="0" anchor="b"/>
          <a:lstStyle/>
          <a:p>
            <a:pPr indent="0" marL="0">
              <a:buNone/>
            </a:pPr>
            <a:r>
              <a:rPr lang="en-US" sz="2800" b="1" dirty="0">
                <a:solidFill>
                  <a:schemeClr val="tx1"/>
                </a:solidFill>
              </a:rPr>
              <a:t>θ</a:t>
            </a:r>
            <a:pPr indent="0" marL="0">
              <a:buNone/>
            </a:pPr>
            <a:r>
              <a:rPr lang="en-US" sz="2800" b="1" baseline="-40000" dirty="0">
                <a:solidFill>
                  <a:schemeClr val="tx1"/>
                </a:solidFill>
              </a:rPr>
              <a:t>0</a:t>
            </a:r>
            <a:pPr indent="0" marL="0">
              <a:buNone/>
            </a:pPr>
            <a:r>
              <a:rPr lang="en-US" sz="2800" b="1" dirty="0">
                <a:solidFill>
                  <a:schemeClr val="tx1"/>
                </a:solidFill>
              </a:rPr>
              <a:t> = 70 K</a:t>
            </a:r>
            <a:endParaRPr lang="en-US" sz="2800" dirty="0"/>
          </a:p>
        </p:txBody>
      </p:sp>
      <p:sp>
        <p:nvSpPr>
          <p:cNvPr id="15" name="text-792"/>
          <p:cNvSpPr txBox="1"/>
          <p:nvPr/>
        </p:nvSpPr>
        <p:spPr>
          <a:xfrm>
            <a:off x="6391656" y="5365242"/>
            <a:ext cx="2194560" cy="420624"/>
          </a:xfrm>
          <a:prstGeom prst="rect">
            <a:avLst/>
          </a:prstGeom>
          <a:noFill/>
          <a:ln/>
        </p:spPr>
        <p:txBody>
          <a:bodyPr wrap="square" lIns="0" tIns="0" rIns="0" bIns="0" rtlCol="0" anchor="t"/>
          <a:lstStyle/>
          <a:p>
            <a:pPr indent="0" marL="0">
              <a:buNone/>
            </a:pPr>
            <a:r>
              <a:rPr lang="en-US" sz="1300" dirty="0">
                <a:solidFill>
                  <a:schemeClr val="tx2"/>
                </a:solidFill>
              </a:rPr>
              <a:t>base node: known</a:t>
            </a:r>
            <a:endParaRPr lang="en-US" sz="1300" dirty="0"/>
          </a:p>
        </p:txBody>
      </p:sp>
      <p:sp>
        <p:nvSpPr>
          <p:cNvPr id="16" name="card-793"/>
          <p:cNvSpPr/>
          <p:nvPr/>
        </p:nvSpPr>
        <p:spPr>
          <a:xfrm>
            <a:off x="8970264" y="4526280"/>
            <a:ext cx="2651760" cy="1325880"/>
          </a:xfrm>
          <a:prstGeom prst="roundRect">
            <a:avLst>
              <a:gd name="adj" fmla="val 68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7" name="text-794"/>
          <p:cNvSpPr txBox="1"/>
          <p:nvPr/>
        </p:nvSpPr>
        <p:spPr>
          <a:xfrm>
            <a:off x="9198864" y="4636008"/>
            <a:ext cx="2194560" cy="729234"/>
          </a:xfrm>
          <a:prstGeom prst="rect">
            <a:avLst/>
          </a:prstGeom>
          <a:noFill/>
          <a:ln/>
        </p:spPr>
        <p:txBody>
          <a:bodyPr wrap="square" lIns="0" tIns="0" rIns="0" bIns="0" rtlCol="0" anchor="b"/>
          <a:lstStyle/>
          <a:p>
            <a:pPr indent="0" marL="0">
              <a:buNone/>
            </a:pPr>
            <a:r>
              <a:rPr lang="en-US" sz="2800" b="1" dirty="0">
                <a:solidFill>
                  <a:schemeClr val="accent2"/>
                </a:solidFill>
              </a:rPr>
              <a:t>θ</a:t>
            </a:r>
            <a:pPr indent="0" marL="0">
              <a:buNone/>
            </a:pPr>
            <a:r>
              <a:rPr lang="en-US" sz="2800" b="1" baseline="-40000" dirty="0">
                <a:solidFill>
                  <a:schemeClr val="accent2"/>
                </a:solidFill>
              </a:rPr>
              <a:t>1</a:t>
            </a:r>
            <a:pPr indent="0" marL="0">
              <a:buNone/>
            </a:pPr>
            <a:r>
              <a:rPr lang="en-US" sz="2800" b="1" dirty="0">
                <a:solidFill>
                  <a:schemeClr val="accent2"/>
                </a:solidFill>
              </a:rPr>
              <a:t> … θ</a:t>
            </a:r>
            <a:pPr indent="0" marL="0">
              <a:buNone/>
            </a:pPr>
            <a:r>
              <a:rPr lang="en-US" sz="2800" b="1" baseline="-40000" dirty="0">
                <a:solidFill>
                  <a:schemeClr val="accent2"/>
                </a:solidFill>
              </a:rPr>
              <a:t>4</a:t>
            </a:r>
            <a:endParaRPr lang="en-US" sz="2800" dirty="0"/>
          </a:p>
        </p:txBody>
      </p:sp>
      <p:sp>
        <p:nvSpPr>
          <p:cNvPr id="18" name="text-795"/>
          <p:cNvSpPr txBox="1"/>
          <p:nvPr/>
        </p:nvSpPr>
        <p:spPr>
          <a:xfrm>
            <a:off x="9198864" y="5365242"/>
            <a:ext cx="2194560" cy="420624"/>
          </a:xfrm>
          <a:prstGeom prst="rect">
            <a:avLst/>
          </a:prstGeom>
          <a:noFill/>
          <a:ln/>
        </p:spPr>
        <p:txBody>
          <a:bodyPr wrap="square" lIns="0" tIns="0" rIns="0" bIns="0" rtlCol="0" anchor="t"/>
          <a:lstStyle/>
          <a:p>
            <a:pPr indent="0" marL="0">
              <a:buNone/>
            </a:pPr>
            <a:r>
              <a:rPr lang="en-US" sz="1300" dirty="0">
                <a:solidFill>
                  <a:schemeClr val="tx2"/>
                </a:solidFill>
              </a:rPr>
              <a:t>the 4 unknowns</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79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3: DISCRETIZATION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Central difference → one equation per node</a:t>
            </a:r>
            <a:endParaRPr lang="en-US" sz="3200" dirty="0"/>
          </a:p>
        </p:txBody>
      </p:sp>
      <p:sp>
        <p:nvSpPr>
          <p:cNvPr id="4" name="text-797"/>
          <p:cNvSpPr txBox="1"/>
          <p:nvPr/>
        </p:nvSpPr>
        <p:spPr>
          <a:xfrm>
            <a:off x="548640" y="1417320"/>
            <a:ext cx="5943600" cy="274320"/>
          </a:xfrm>
          <a:prstGeom prst="rect">
            <a:avLst/>
          </a:prstGeom>
          <a:noFill/>
          <a:ln/>
        </p:spPr>
        <p:txBody>
          <a:bodyPr wrap="square" lIns="0" tIns="0" rIns="0" bIns="0" rtlCol="0" anchor="t"/>
          <a:lstStyle/>
          <a:p>
            <a:pPr indent="0" marL="0">
              <a:buNone/>
            </a:pPr>
            <a:r>
              <a:rPr lang="en-US" sz="1250" b="1" spc="100" kern="0" dirty="0">
                <a:solidFill>
                  <a:schemeClr val="accent1"/>
                </a:solidFill>
              </a:rPr>
              <a:t>INTERIOR NODES  i = 1, 2, 3</a:t>
            </a:r>
            <a:endParaRPr lang="en-US" sz="1250" dirty="0"/>
          </a:p>
        </p:txBody>
      </p:sp>
      <p:pic>
        <p:nvPicPr>
          <p:cNvPr id="5" name="eq-798" descr="fin_cd">    </p:cNvPr>
          <p:cNvPicPr>
            <a:picLocks noChangeAspect="1"/>
          </p:cNvPicPr>
          <p:nvPr/>
        </p:nvPicPr>
        <p:blipFill>
          <a:blip r:embed="rId1"/>
          <a:stretch>
            <a:fillRect/>
          </a:stretch>
        </p:blipFill>
        <p:spPr>
          <a:xfrm>
            <a:off x="548640" y="1871472"/>
            <a:ext cx="3563112" cy="554736"/>
          </a:xfrm>
          <a:prstGeom prst="rect">
            <a:avLst/>
          </a:prstGeom>
        </p:spPr>
      </p:pic>
      <p:sp>
        <p:nvSpPr>
          <p:cNvPr id="6" name="arrow-799"/>
          <p:cNvSpPr/>
          <p:nvPr/>
        </p:nvSpPr>
        <p:spPr>
          <a:xfrm>
            <a:off x="1005840" y="2651760"/>
            <a:ext cx="0" cy="320040"/>
          </a:xfrm>
          <a:prstGeom prst="line">
            <a:avLst/>
          </a:prstGeom>
          <a:noFill/>
          <a:ln w="25400">
            <a:solidFill>
              <a:schemeClr val="accent4"/>
            </a:solidFill>
            <a:prstDash val="solid"/>
            <a:tailEnd type="triangle"/>
          </a:ln>
        </p:spPr>
      </p:sp>
      <p:sp>
        <p:nvSpPr>
          <p:cNvPr id="7" name="card-800"/>
          <p:cNvSpPr/>
          <p:nvPr/>
        </p:nvSpPr>
        <p:spPr>
          <a:xfrm>
            <a:off x="548640" y="3063240"/>
            <a:ext cx="5943600" cy="1371600"/>
          </a:xfrm>
          <a:prstGeom prst="roundRect">
            <a:avLst>
              <a:gd name="adj" fmla="val 6667"/>
            </a:avLst>
          </a:prstGeom>
          <a:solidFill>
            <a:schemeClr val="accent1">
              <a:alpha val="12000"/>
            </a:schemeClr>
          </a:solidFill>
          <a:ln w="15875">
            <a:solidFill>
              <a:schemeClr val="accent1"/>
            </a:solidFill>
            <a:prstDash val="solid"/>
          </a:ln>
        </p:spPr>
      </p:sp>
      <p:pic>
        <p:nvPicPr>
          <p:cNvPr id="8" name="eq-801" descr="fin_node">    </p:cNvPr>
          <p:cNvPicPr>
            <a:picLocks noChangeAspect="1"/>
          </p:cNvPicPr>
          <p:nvPr/>
        </p:nvPicPr>
        <p:blipFill>
          <a:blip r:embed="rId2"/>
          <a:stretch>
            <a:fillRect/>
          </a:stretch>
        </p:blipFill>
        <p:spPr>
          <a:xfrm>
            <a:off x="777240" y="3200400"/>
            <a:ext cx="3489960" cy="502920"/>
          </a:xfrm>
          <a:prstGeom prst="rect">
            <a:avLst/>
          </a:prstGeom>
        </p:spPr>
      </p:pic>
      <p:pic>
        <p:nvPicPr>
          <p:cNvPr id="9" name="eq-802" descr="fin_B">    </p:cNvPr>
          <p:cNvPicPr>
            <a:picLocks noChangeAspect="1"/>
          </p:cNvPicPr>
          <p:nvPr/>
        </p:nvPicPr>
        <p:blipFill>
          <a:blip r:embed="rId3"/>
          <a:stretch>
            <a:fillRect/>
          </a:stretch>
        </p:blipFill>
        <p:spPr>
          <a:xfrm>
            <a:off x="777240" y="3849624"/>
            <a:ext cx="2188464" cy="438912"/>
          </a:xfrm>
          <a:prstGeom prst="rect">
            <a:avLst/>
          </a:prstGeom>
        </p:spPr>
      </p:pic>
      <p:sp>
        <p:nvSpPr>
          <p:cNvPr id="10" name="text-803"/>
          <p:cNvSpPr txBox="1"/>
          <p:nvPr/>
        </p:nvSpPr>
        <p:spPr>
          <a:xfrm>
            <a:off x="3246120" y="3794760"/>
            <a:ext cx="3200400" cy="548640"/>
          </a:xfrm>
          <a:prstGeom prst="rect">
            <a:avLst/>
          </a:prstGeom>
          <a:noFill/>
          <a:ln/>
        </p:spPr>
        <p:txBody>
          <a:bodyPr wrap="square" lIns="0" tIns="0" rIns="0" bIns="0" rtlCol="0" anchor="ctr"/>
          <a:lstStyle/>
          <a:p>
            <a:pPr indent="0" marL="0">
              <a:buNone/>
            </a:pPr>
            <a:r>
              <a:rPr lang="en-US" sz="1500" dirty="0">
                <a:solidFill>
                  <a:schemeClr val="tx1"/>
                </a:solidFill>
              </a:rPr>
              <a:t>= 2 + 84.388 × 0.025² = </a:t>
            </a:r>
            <a:pPr indent="0" marL="0">
              <a:buNone/>
            </a:pPr>
            <a:r>
              <a:rPr lang="en-US" sz="1500" b="1" dirty="0">
                <a:solidFill>
                  <a:schemeClr val="tx1"/>
                </a:solidFill>
              </a:rPr>
              <a:t>2.052743</a:t>
            </a:r>
            <a:endParaRPr lang="en-US" sz="1500" dirty="0"/>
          </a:p>
        </p:txBody>
      </p:sp>
      <p:sp>
        <p:nvSpPr>
          <p:cNvPr id="11" name="card-804"/>
          <p:cNvSpPr/>
          <p:nvPr/>
        </p:nvSpPr>
        <p:spPr>
          <a:xfrm>
            <a:off x="6766560" y="1371600"/>
            <a:ext cx="4873752" cy="3063240"/>
          </a:xfrm>
          <a:prstGeom prst="roundRect">
            <a:avLst>
              <a:gd name="adj" fmla="val 2985"/>
            </a:avLst>
          </a:prstGeom>
          <a:solidFill>
            <a:schemeClr val="accent2">
              <a:alpha val="12000"/>
            </a:schemeClr>
          </a:solidFill>
          <a:ln w="15875">
            <a:solidFill>
              <a:schemeClr val="accent2"/>
            </a:solidFill>
            <a:prstDash val="solid"/>
          </a:ln>
        </p:spPr>
      </p:sp>
      <p:sp>
        <p:nvSpPr>
          <p:cNvPr id="12" name="text-805"/>
          <p:cNvSpPr txBox="1"/>
          <p:nvPr/>
        </p:nvSpPr>
        <p:spPr>
          <a:xfrm>
            <a:off x="6995160" y="1508760"/>
            <a:ext cx="4480560" cy="274320"/>
          </a:xfrm>
          <a:prstGeom prst="rect">
            <a:avLst/>
          </a:prstGeom>
          <a:noFill/>
          <a:ln/>
        </p:spPr>
        <p:txBody>
          <a:bodyPr wrap="square" lIns="0" tIns="0" rIns="0" bIns="0" rtlCol="0" anchor="t"/>
          <a:lstStyle/>
          <a:p>
            <a:pPr indent="0" marL="0">
              <a:buNone/>
            </a:pPr>
            <a:r>
              <a:rPr lang="en-US" sz="1250" b="1" spc="100" kern="0" dirty="0">
                <a:solidFill>
                  <a:schemeClr val="accent2"/>
                </a:solidFill>
              </a:rPr>
              <a:t>TIP NODE  i = 4 (INSULATED)</a:t>
            </a:r>
            <a:endParaRPr lang="en-US" sz="1250" dirty="0"/>
          </a:p>
        </p:txBody>
      </p:sp>
      <p:sp>
        <p:nvSpPr>
          <p:cNvPr id="13" name="text-806"/>
          <p:cNvSpPr txBox="1"/>
          <p:nvPr/>
        </p:nvSpPr>
        <p:spPr>
          <a:xfrm>
            <a:off x="6995160" y="1828800"/>
            <a:ext cx="4480560" cy="320040"/>
          </a:xfrm>
          <a:prstGeom prst="rect">
            <a:avLst/>
          </a:prstGeom>
          <a:noFill/>
          <a:ln/>
        </p:spPr>
        <p:txBody>
          <a:bodyPr wrap="square" lIns="0" tIns="0" rIns="0" bIns="0" rtlCol="0" anchor="t"/>
          <a:lstStyle/>
          <a:p>
            <a:pPr indent="0" marL="0">
              <a:buNone/>
            </a:pPr>
            <a:r>
              <a:rPr lang="en-US" sz="1500" dirty="0">
                <a:solidFill>
                  <a:schemeClr val="tx1"/>
                </a:solidFill>
              </a:rPr>
              <a:t>The tip equation needs θ</a:t>
            </a:r>
            <a:pPr indent="0" marL="0">
              <a:buNone/>
            </a:pPr>
            <a:r>
              <a:rPr lang="en-US" sz="1500" baseline="-40000" dirty="0">
                <a:solidFill>
                  <a:schemeClr val="tx1"/>
                </a:solidFill>
              </a:rPr>
              <a:t>5</a:t>
            </a:r>
            <a:pPr indent="0" marL="0">
              <a:buNone/>
            </a:pPr>
            <a:r>
              <a:rPr lang="en-US" sz="1500" dirty="0">
                <a:solidFill>
                  <a:schemeClr val="tx1"/>
                </a:solidFill>
              </a:rPr>
              <a:t>: use the ghost node.</a:t>
            </a:r>
            <a:endParaRPr lang="en-US" sz="1500" dirty="0"/>
          </a:p>
        </p:txBody>
      </p:sp>
      <p:pic>
        <p:nvPicPr>
          <p:cNvPr id="14" name="eq-807" descr="fin_ghost">    </p:cNvPr>
          <p:cNvPicPr>
            <a:picLocks noChangeAspect="1"/>
          </p:cNvPicPr>
          <p:nvPr/>
        </p:nvPicPr>
        <p:blipFill>
          <a:blip r:embed="rId4"/>
          <a:stretch>
            <a:fillRect/>
          </a:stretch>
        </p:blipFill>
        <p:spPr>
          <a:xfrm>
            <a:off x="6995160" y="2385060"/>
            <a:ext cx="2670048" cy="441960"/>
          </a:xfrm>
          <a:prstGeom prst="rect">
            <a:avLst/>
          </a:prstGeom>
        </p:spPr>
      </p:pic>
      <p:sp>
        <p:nvSpPr>
          <p:cNvPr id="15" name="arrow-808"/>
          <p:cNvSpPr/>
          <p:nvPr/>
        </p:nvSpPr>
        <p:spPr>
          <a:xfrm>
            <a:off x="7452360" y="3017520"/>
            <a:ext cx="0" cy="274320"/>
          </a:xfrm>
          <a:prstGeom prst="line">
            <a:avLst/>
          </a:prstGeom>
          <a:noFill/>
          <a:ln w="25400">
            <a:solidFill>
              <a:schemeClr val="accent4"/>
            </a:solidFill>
            <a:prstDash val="solid"/>
            <a:tailEnd type="triangle"/>
          </a:ln>
        </p:spPr>
      </p:sp>
      <p:pic>
        <p:nvPicPr>
          <p:cNvPr id="16" name="eq-809" descr="fin_tip">    </p:cNvPr>
          <p:cNvPicPr>
            <a:picLocks noChangeAspect="1"/>
          </p:cNvPicPr>
          <p:nvPr/>
        </p:nvPicPr>
        <p:blipFill>
          <a:blip r:embed="rId5"/>
          <a:stretch>
            <a:fillRect/>
          </a:stretch>
        </p:blipFill>
        <p:spPr>
          <a:xfrm>
            <a:off x="6995160" y="3369564"/>
            <a:ext cx="1962912" cy="438912"/>
          </a:xfrm>
          <a:prstGeom prst="rect">
            <a:avLst/>
          </a:prstGeom>
        </p:spPr>
      </p:pic>
      <p:sp>
        <p:nvSpPr>
          <p:cNvPr id="17" name="text-810"/>
          <p:cNvSpPr txBox="1"/>
          <p:nvPr/>
        </p:nvSpPr>
        <p:spPr>
          <a:xfrm>
            <a:off x="6995160" y="3886200"/>
            <a:ext cx="4480560" cy="457200"/>
          </a:xfrm>
          <a:prstGeom prst="rect">
            <a:avLst/>
          </a:prstGeom>
          <a:noFill/>
          <a:ln/>
        </p:spPr>
        <p:txBody>
          <a:bodyPr wrap="square" lIns="0" tIns="0" rIns="0" bIns="0" rtlCol="0" anchor="t"/>
          <a:lstStyle/>
          <a:p>
            <a:pPr indent="0" marL="0">
              <a:buNone/>
            </a:pPr>
            <a:r>
              <a:rPr lang="en-US" sz="1400" dirty="0">
                <a:solidFill>
                  <a:schemeClr val="tx2"/>
                </a:solidFill>
              </a:rPr>
              <a:t>θ</a:t>
            </a:r>
            <a:pPr indent="0" marL="0">
              <a:buNone/>
            </a:pPr>
            <a:r>
              <a:rPr lang="en-US" sz="1400" baseline="-40000" dirty="0">
                <a:solidFill>
                  <a:schemeClr val="tx2"/>
                </a:solidFill>
              </a:rPr>
              <a:t>5</a:t>
            </a:r>
            <a:pPr indent="0" marL="0">
              <a:buNone/>
            </a:pPr>
            <a:r>
              <a:rPr lang="en-US" sz="1400" dirty="0">
                <a:solidFill>
                  <a:schemeClr val="tx2"/>
                </a:solidFill>
              </a:rPr>
              <a:t> replaces θ</a:t>
            </a:r>
            <a:pPr indent="0" marL="0">
              <a:buNone/>
            </a:pPr>
            <a:r>
              <a:rPr lang="en-US" sz="1400" baseline="-40000" dirty="0">
                <a:solidFill>
                  <a:schemeClr val="tx2"/>
                </a:solidFill>
              </a:rPr>
              <a:t>3</a:t>
            </a:r>
            <a:pPr indent="0" marL="0">
              <a:buNone/>
            </a:pPr>
            <a:r>
              <a:rPr lang="en-US" sz="1400" dirty="0">
                <a:solidFill>
                  <a:schemeClr val="tx2"/>
                </a:solidFill>
              </a:rPr>
              <a:t>, so θ</a:t>
            </a:r>
            <a:pPr indent="0" marL="0">
              <a:buNone/>
            </a:pPr>
            <a:r>
              <a:rPr lang="en-US" sz="1400" baseline="-40000" dirty="0">
                <a:solidFill>
                  <a:schemeClr val="tx2"/>
                </a:solidFill>
              </a:rPr>
              <a:t>3</a:t>
            </a:r>
            <a:pPr indent="0" marL="0">
              <a:buNone/>
            </a:pPr>
            <a:r>
              <a:rPr lang="en-US" sz="1400" dirty="0">
                <a:solidFill>
                  <a:schemeClr val="tx2"/>
                </a:solidFill>
              </a:rPr>
              <a:t> appears </a:t>
            </a:r>
            <a:pPr indent="0" marL="0">
              <a:buNone/>
            </a:pPr>
            <a:r>
              <a:rPr lang="en-US" sz="1400" b="1" dirty="0">
                <a:solidFill>
                  <a:schemeClr val="tx2"/>
                </a:solidFill>
              </a:rPr>
              <a:t>twice</a:t>
            </a:r>
            <a:pPr indent="0" marL="0">
              <a:buNone/>
            </a:pPr>
            <a:r>
              <a:rPr lang="en-US" sz="1400" dirty="0">
                <a:solidFill>
                  <a:schemeClr val="tx2"/>
                </a:solidFill>
              </a:rPr>
              <a:t>: the factor 2.</a:t>
            </a:r>
            <a:endParaRPr lang="en-US" sz="1400" dirty="0"/>
          </a:p>
        </p:txBody>
      </p:sp>
      <p:sp>
        <p:nvSpPr>
          <p:cNvPr id="18" name="note-strip-811"/>
          <p:cNvSpPr/>
          <p:nvPr/>
        </p:nvSpPr>
        <p:spPr>
          <a:xfrm>
            <a:off x="548640" y="4663440"/>
            <a:ext cx="11094415" cy="777240"/>
          </a:xfrm>
          <a:prstGeom prst="roundRect">
            <a:avLst>
              <a:gd name="adj" fmla="val 11765"/>
            </a:avLst>
          </a:prstGeom>
          <a:solidFill>
            <a:schemeClr val="accent6">
              <a:alpha val="12000"/>
            </a:schemeClr>
          </a:solidFill>
          <a:ln/>
        </p:spPr>
      </p:sp>
      <p:sp>
        <p:nvSpPr>
          <p:cNvPr id="19" name="icon-bg-812"/>
          <p:cNvSpPr/>
          <p:nvPr/>
        </p:nvSpPr>
        <p:spPr>
          <a:xfrm>
            <a:off x="685800" y="4860036"/>
            <a:ext cx="384048" cy="384048"/>
          </a:xfrm>
          <a:prstGeom prst="ellipse">
            <a:avLst/>
          </a:prstGeom>
          <a:solidFill>
            <a:schemeClr val="accent6"/>
          </a:solidFill>
          <a:ln/>
        </p:spPr>
      </p:sp>
      <p:pic>
        <p:nvPicPr>
          <p:cNvPr id="20" name="icon-813" descr="preencoded.png">    </p:cNvPr>
          <p:cNvPicPr>
            <a:picLocks noChangeAspect="1"/>
          </p:cNvPicPr>
          <p:nvPr/>
        </p:nvPicPr>
        <p:blipFill>
          <a:blip r:embed="rId6"/>
          <a:stretch>
            <a:fillRect/>
          </a:stretch>
        </p:blipFill>
        <p:spPr>
          <a:xfrm>
            <a:off x="774131" y="4948367"/>
            <a:ext cx="207386" cy="207386"/>
          </a:xfrm>
          <a:prstGeom prst="rect">
            <a:avLst/>
          </a:prstGeom>
        </p:spPr>
      </p:pic>
      <p:sp>
        <p:nvSpPr>
          <p:cNvPr id="21" name="text-814"/>
          <p:cNvSpPr txBox="1"/>
          <p:nvPr/>
        </p:nvSpPr>
        <p:spPr>
          <a:xfrm>
            <a:off x="1234440" y="4663440"/>
            <a:ext cx="10225735" cy="777240"/>
          </a:xfrm>
          <a:prstGeom prst="rect">
            <a:avLst/>
          </a:prstGeom>
          <a:noFill/>
          <a:ln/>
        </p:spPr>
        <p:txBody>
          <a:bodyPr wrap="square" lIns="0" tIns="0" rIns="0" bIns="0" rtlCol="0" anchor="ctr"/>
          <a:lstStyle/>
          <a:p>
            <a:pPr indent="0" marL="0">
              <a:buNone/>
            </a:pPr>
            <a:r>
              <a:rPr lang="en-US" sz="1600" b="1" dirty="0">
                <a:solidFill>
                  <a:schemeClr val="tx1"/>
                </a:solidFill>
              </a:rPr>
              <a:t>Calculator tip:</a:t>
            </a:r>
            <a:pPr indent="0" marL="0">
              <a:buNone/>
            </a:pPr>
            <a:r>
              <a:rPr lang="en-US" sz="1600" dirty="0">
                <a:solidFill>
                  <a:schemeClr val="tx1"/>
                </a:solidFill>
              </a:rPr>
              <a:t> keep at least 4 decimals. Rounding B = 2.052743 to 2.05 already shifts the tip temperature by almost 1 °C.</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81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3: DISCRETIZATION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Four equations, one tridiagonal system</a:t>
            </a:r>
            <a:endParaRPr lang="en-US" sz="3200" dirty="0"/>
          </a:p>
        </p:txBody>
      </p:sp>
      <p:sp>
        <p:nvSpPr>
          <p:cNvPr id="4" name="card-816"/>
          <p:cNvSpPr/>
          <p:nvPr/>
        </p:nvSpPr>
        <p:spPr>
          <a:xfrm>
            <a:off x="923544" y="1874520"/>
            <a:ext cx="850392" cy="475488"/>
          </a:xfrm>
          <a:prstGeom prst="roundRect">
            <a:avLst>
              <a:gd name="adj" fmla="val 11538"/>
            </a:avLst>
          </a:prstGeom>
          <a:solidFill>
            <a:schemeClr val="accent1">
              <a:alpha val="28000"/>
            </a:schemeClr>
          </a:solidFill>
          <a:ln/>
        </p:spPr>
      </p:sp>
      <p:sp>
        <p:nvSpPr>
          <p:cNvPr id="5" name="text-817"/>
          <p:cNvSpPr txBox="1"/>
          <p:nvPr/>
        </p:nvSpPr>
        <p:spPr>
          <a:xfrm>
            <a:off x="868680" y="1828800"/>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6" name="card-818"/>
          <p:cNvSpPr/>
          <p:nvPr/>
        </p:nvSpPr>
        <p:spPr>
          <a:xfrm>
            <a:off x="1883664" y="1874520"/>
            <a:ext cx="850392" cy="475488"/>
          </a:xfrm>
          <a:prstGeom prst="roundRect">
            <a:avLst>
              <a:gd name="adj" fmla="val 11538"/>
            </a:avLst>
          </a:prstGeom>
          <a:solidFill>
            <a:schemeClr val="accent1">
              <a:alpha val="14000"/>
            </a:schemeClr>
          </a:solidFill>
          <a:ln/>
        </p:spPr>
      </p:sp>
      <p:sp>
        <p:nvSpPr>
          <p:cNvPr id="7" name="text-819"/>
          <p:cNvSpPr txBox="1"/>
          <p:nvPr/>
        </p:nvSpPr>
        <p:spPr>
          <a:xfrm>
            <a:off x="1828800" y="1828800"/>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8" name="text-820"/>
          <p:cNvSpPr txBox="1"/>
          <p:nvPr/>
        </p:nvSpPr>
        <p:spPr>
          <a:xfrm>
            <a:off x="2788920" y="1828800"/>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9" name="text-821"/>
          <p:cNvSpPr txBox="1"/>
          <p:nvPr/>
        </p:nvSpPr>
        <p:spPr>
          <a:xfrm>
            <a:off x="3749040" y="1828800"/>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10" name="card-822"/>
          <p:cNvSpPr/>
          <p:nvPr/>
        </p:nvSpPr>
        <p:spPr>
          <a:xfrm>
            <a:off x="923544" y="2441448"/>
            <a:ext cx="850392" cy="475488"/>
          </a:xfrm>
          <a:prstGeom prst="roundRect">
            <a:avLst>
              <a:gd name="adj" fmla="val 11538"/>
            </a:avLst>
          </a:prstGeom>
          <a:solidFill>
            <a:schemeClr val="accent1">
              <a:alpha val="14000"/>
            </a:schemeClr>
          </a:solidFill>
          <a:ln/>
        </p:spPr>
      </p:sp>
      <p:sp>
        <p:nvSpPr>
          <p:cNvPr id="11" name="text-823"/>
          <p:cNvSpPr txBox="1"/>
          <p:nvPr/>
        </p:nvSpPr>
        <p:spPr>
          <a:xfrm>
            <a:off x="868680" y="2395728"/>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12" name="card-824"/>
          <p:cNvSpPr/>
          <p:nvPr/>
        </p:nvSpPr>
        <p:spPr>
          <a:xfrm>
            <a:off x="1883664" y="2441448"/>
            <a:ext cx="850392" cy="475488"/>
          </a:xfrm>
          <a:prstGeom prst="roundRect">
            <a:avLst>
              <a:gd name="adj" fmla="val 11538"/>
            </a:avLst>
          </a:prstGeom>
          <a:solidFill>
            <a:schemeClr val="accent1">
              <a:alpha val="28000"/>
            </a:schemeClr>
          </a:solidFill>
          <a:ln/>
        </p:spPr>
      </p:sp>
      <p:sp>
        <p:nvSpPr>
          <p:cNvPr id="13" name="text-825"/>
          <p:cNvSpPr txBox="1"/>
          <p:nvPr/>
        </p:nvSpPr>
        <p:spPr>
          <a:xfrm>
            <a:off x="1828800" y="2395728"/>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14" name="card-826"/>
          <p:cNvSpPr/>
          <p:nvPr/>
        </p:nvSpPr>
        <p:spPr>
          <a:xfrm>
            <a:off x="2843784" y="2441448"/>
            <a:ext cx="850392" cy="475488"/>
          </a:xfrm>
          <a:prstGeom prst="roundRect">
            <a:avLst>
              <a:gd name="adj" fmla="val 11538"/>
            </a:avLst>
          </a:prstGeom>
          <a:solidFill>
            <a:schemeClr val="accent1">
              <a:alpha val="14000"/>
            </a:schemeClr>
          </a:solidFill>
          <a:ln/>
        </p:spPr>
      </p:sp>
      <p:sp>
        <p:nvSpPr>
          <p:cNvPr id="15" name="text-827"/>
          <p:cNvSpPr txBox="1"/>
          <p:nvPr/>
        </p:nvSpPr>
        <p:spPr>
          <a:xfrm>
            <a:off x="2788920" y="2395728"/>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16" name="text-828"/>
          <p:cNvSpPr txBox="1"/>
          <p:nvPr/>
        </p:nvSpPr>
        <p:spPr>
          <a:xfrm>
            <a:off x="3749040" y="2395728"/>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17" name="text-829"/>
          <p:cNvSpPr txBox="1"/>
          <p:nvPr/>
        </p:nvSpPr>
        <p:spPr>
          <a:xfrm>
            <a:off x="868680" y="2962656"/>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18" name="card-830"/>
          <p:cNvSpPr/>
          <p:nvPr/>
        </p:nvSpPr>
        <p:spPr>
          <a:xfrm>
            <a:off x="1883664" y="3008376"/>
            <a:ext cx="850392" cy="475488"/>
          </a:xfrm>
          <a:prstGeom prst="roundRect">
            <a:avLst>
              <a:gd name="adj" fmla="val 11538"/>
            </a:avLst>
          </a:prstGeom>
          <a:solidFill>
            <a:schemeClr val="accent1">
              <a:alpha val="14000"/>
            </a:schemeClr>
          </a:solidFill>
          <a:ln/>
        </p:spPr>
      </p:sp>
      <p:sp>
        <p:nvSpPr>
          <p:cNvPr id="19" name="text-831"/>
          <p:cNvSpPr txBox="1"/>
          <p:nvPr/>
        </p:nvSpPr>
        <p:spPr>
          <a:xfrm>
            <a:off x="1828800" y="2962656"/>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20" name="card-832"/>
          <p:cNvSpPr/>
          <p:nvPr/>
        </p:nvSpPr>
        <p:spPr>
          <a:xfrm>
            <a:off x="2843784" y="3008376"/>
            <a:ext cx="850392" cy="475488"/>
          </a:xfrm>
          <a:prstGeom prst="roundRect">
            <a:avLst>
              <a:gd name="adj" fmla="val 11538"/>
            </a:avLst>
          </a:prstGeom>
          <a:solidFill>
            <a:schemeClr val="accent1">
              <a:alpha val="28000"/>
            </a:schemeClr>
          </a:solidFill>
          <a:ln/>
        </p:spPr>
      </p:sp>
      <p:sp>
        <p:nvSpPr>
          <p:cNvPr id="21" name="text-833"/>
          <p:cNvSpPr txBox="1"/>
          <p:nvPr/>
        </p:nvSpPr>
        <p:spPr>
          <a:xfrm>
            <a:off x="2788920" y="2962656"/>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22" name="card-834"/>
          <p:cNvSpPr/>
          <p:nvPr/>
        </p:nvSpPr>
        <p:spPr>
          <a:xfrm>
            <a:off x="3803904" y="3008376"/>
            <a:ext cx="850392" cy="475488"/>
          </a:xfrm>
          <a:prstGeom prst="roundRect">
            <a:avLst>
              <a:gd name="adj" fmla="val 11538"/>
            </a:avLst>
          </a:prstGeom>
          <a:solidFill>
            <a:schemeClr val="accent1">
              <a:alpha val="14000"/>
            </a:schemeClr>
          </a:solidFill>
          <a:ln/>
        </p:spPr>
      </p:sp>
      <p:sp>
        <p:nvSpPr>
          <p:cNvPr id="23" name="text-835"/>
          <p:cNvSpPr txBox="1"/>
          <p:nvPr/>
        </p:nvSpPr>
        <p:spPr>
          <a:xfrm>
            <a:off x="3749040" y="2962656"/>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24" name="text-836"/>
          <p:cNvSpPr txBox="1"/>
          <p:nvPr/>
        </p:nvSpPr>
        <p:spPr>
          <a:xfrm>
            <a:off x="868680" y="3529584"/>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25" name="text-837"/>
          <p:cNvSpPr txBox="1"/>
          <p:nvPr/>
        </p:nvSpPr>
        <p:spPr>
          <a:xfrm>
            <a:off x="1828800" y="3529584"/>
            <a:ext cx="960120" cy="566928"/>
          </a:xfrm>
          <a:prstGeom prst="rect">
            <a:avLst/>
          </a:prstGeom>
          <a:noFill/>
          <a:ln/>
        </p:spPr>
        <p:txBody>
          <a:bodyPr wrap="square" lIns="0" tIns="0" rIns="0" bIns="0" rtlCol="0" anchor="ctr"/>
          <a:lstStyle/>
          <a:p>
            <a:pPr algn="ctr" indent="0" marL="0">
              <a:buNone/>
            </a:pPr>
            <a:r>
              <a:rPr lang="en-US" sz="1800" dirty="0">
                <a:solidFill>
                  <a:schemeClr val="accent4"/>
                </a:solidFill>
              </a:rPr>
              <a:t>0</a:t>
            </a:r>
            <a:endParaRPr lang="en-US" sz="1800" dirty="0"/>
          </a:p>
        </p:txBody>
      </p:sp>
      <p:sp>
        <p:nvSpPr>
          <p:cNvPr id="26" name="card-838"/>
          <p:cNvSpPr/>
          <p:nvPr/>
        </p:nvSpPr>
        <p:spPr>
          <a:xfrm>
            <a:off x="2843784" y="3575304"/>
            <a:ext cx="850392" cy="475488"/>
          </a:xfrm>
          <a:prstGeom prst="roundRect">
            <a:avLst>
              <a:gd name="adj" fmla="val 11538"/>
            </a:avLst>
          </a:prstGeom>
          <a:solidFill>
            <a:schemeClr val="accent2">
              <a:alpha val="30000"/>
            </a:schemeClr>
          </a:solidFill>
          <a:ln/>
        </p:spPr>
      </p:sp>
      <p:sp>
        <p:nvSpPr>
          <p:cNvPr id="27" name="text-839"/>
          <p:cNvSpPr txBox="1"/>
          <p:nvPr/>
        </p:nvSpPr>
        <p:spPr>
          <a:xfrm>
            <a:off x="2788920" y="3529584"/>
            <a:ext cx="960120" cy="566928"/>
          </a:xfrm>
          <a:prstGeom prst="rect">
            <a:avLst/>
          </a:prstGeom>
          <a:noFill/>
          <a:ln/>
        </p:spPr>
        <p:txBody>
          <a:bodyPr wrap="square" lIns="0" tIns="0" rIns="0" bIns="0" rtlCol="0" anchor="ctr"/>
          <a:lstStyle/>
          <a:p>
            <a:pPr algn="ctr" indent="0" marL="0">
              <a:buNone/>
            </a:pPr>
            <a:r>
              <a:rPr lang="en-US" sz="2000" b="1" dirty="0">
                <a:solidFill>
                  <a:schemeClr val="accent2"/>
                </a:solidFill>
              </a:rPr>
              <a:t>−2</a:t>
            </a:r>
            <a:endParaRPr lang="en-US" sz="2000" dirty="0"/>
          </a:p>
        </p:txBody>
      </p:sp>
      <p:sp>
        <p:nvSpPr>
          <p:cNvPr id="28" name="card-840"/>
          <p:cNvSpPr/>
          <p:nvPr/>
        </p:nvSpPr>
        <p:spPr>
          <a:xfrm>
            <a:off x="3803904" y="3575304"/>
            <a:ext cx="850392" cy="475488"/>
          </a:xfrm>
          <a:prstGeom prst="roundRect">
            <a:avLst>
              <a:gd name="adj" fmla="val 11538"/>
            </a:avLst>
          </a:prstGeom>
          <a:solidFill>
            <a:schemeClr val="accent1">
              <a:alpha val="28000"/>
            </a:schemeClr>
          </a:solidFill>
          <a:ln/>
        </p:spPr>
      </p:sp>
      <p:sp>
        <p:nvSpPr>
          <p:cNvPr id="29" name="text-841"/>
          <p:cNvSpPr txBox="1"/>
          <p:nvPr/>
        </p:nvSpPr>
        <p:spPr>
          <a:xfrm>
            <a:off x="3749040" y="3529584"/>
            <a:ext cx="960120" cy="566928"/>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30" name="line-842"/>
          <p:cNvSpPr/>
          <p:nvPr/>
        </p:nvSpPr>
        <p:spPr>
          <a:xfrm>
            <a:off x="822960" y="1828800"/>
            <a:ext cx="0" cy="2267712"/>
          </a:xfrm>
          <a:prstGeom prst="line">
            <a:avLst/>
          </a:prstGeom>
          <a:noFill/>
          <a:ln w="22225">
            <a:solidFill>
              <a:schemeClr val="tx1"/>
            </a:solidFill>
            <a:prstDash val="solid"/>
          </a:ln>
        </p:spPr>
      </p:sp>
      <p:sp>
        <p:nvSpPr>
          <p:cNvPr id="31" name="line-843"/>
          <p:cNvSpPr/>
          <p:nvPr/>
        </p:nvSpPr>
        <p:spPr>
          <a:xfrm>
            <a:off x="822960" y="1828800"/>
            <a:ext cx="91440" cy="0"/>
          </a:xfrm>
          <a:prstGeom prst="line">
            <a:avLst/>
          </a:prstGeom>
          <a:noFill/>
          <a:ln w="22225">
            <a:solidFill>
              <a:schemeClr val="tx1"/>
            </a:solidFill>
            <a:prstDash val="solid"/>
          </a:ln>
        </p:spPr>
      </p:sp>
      <p:sp>
        <p:nvSpPr>
          <p:cNvPr id="32" name="line-844"/>
          <p:cNvSpPr/>
          <p:nvPr/>
        </p:nvSpPr>
        <p:spPr>
          <a:xfrm>
            <a:off x="822960" y="4096512"/>
            <a:ext cx="91440" cy="0"/>
          </a:xfrm>
          <a:prstGeom prst="line">
            <a:avLst/>
          </a:prstGeom>
          <a:noFill/>
          <a:ln w="22225">
            <a:solidFill>
              <a:schemeClr val="tx1"/>
            </a:solidFill>
            <a:prstDash val="solid"/>
          </a:ln>
        </p:spPr>
      </p:sp>
      <p:sp>
        <p:nvSpPr>
          <p:cNvPr id="33" name="line-845"/>
          <p:cNvSpPr/>
          <p:nvPr/>
        </p:nvSpPr>
        <p:spPr>
          <a:xfrm>
            <a:off x="4754880" y="1828800"/>
            <a:ext cx="0" cy="2267712"/>
          </a:xfrm>
          <a:prstGeom prst="line">
            <a:avLst/>
          </a:prstGeom>
          <a:noFill/>
          <a:ln w="22225">
            <a:solidFill>
              <a:schemeClr val="tx1"/>
            </a:solidFill>
            <a:prstDash val="solid"/>
          </a:ln>
        </p:spPr>
      </p:sp>
      <p:sp>
        <p:nvSpPr>
          <p:cNvPr id="34" name="line-846"/>
          <p:cNvSpPr/>
          <p:nvPr/>
        </p:nvSpPr>
        <p:spPr>
          <a:xfrm>
            <a:off x="4663440" y="1828800"/>
            <a:ext cx="91440" cy="0"/>
          </a:xfrm>
          <a:prstGeom prst="line">
            <a:avLst/>
          </a:prstGeom>
          <a:noFill/>
          <a:ln w="22225">
            <a:solidFill>
              <a:schemeClr val="tx1"/>
            </a:solidFill>
            <a:prstDash val="solid"/>
          </a:ln>
        </p:spPr>
      </p:sp>
      <p:sp>
        <p:nvSpPr>
          <p:cNvPr id="35" name="line-847"/>
          <p:cNvSpPr/>
          <p:nvPr/>
        </p:nvSpPr>
        <p:spPr>
          <a:xfrm>
            <a:off x="4663440" y="4096512"/>
            <a:ext cx="91440" cy="0"/>
          </a:xfrm>
          <a:prstGeom prst="line">
            <a:avLst/>
          </a:prstGeom>
          <a:noFill/>
          <a:ln w="22225">
            <a:solidFill>
              <a:schemeClr val="tx1"/>
            </a:solidFill>
            <a:prstDash val="solid"/>
          </a:ln>
        </p:spPr>
      </p:sp>
      <p:sp>
        <p:nvSpPr>
          <p:cNvPr id="36" name="text-848"/>
          <p:cNvSpPr txBox="1"/>
          <p:nvPr/>
        </p:nvSpPr>
        <p:spPr>
          <a:xfrm>
            <a:off x="5074920" y="1828800"/>
            <a:ext cx="731520" cy="566928"/>
          </a:xfrm>
          <a:prstGeom prst="rect">
            <a:avLst/>
          </a:prstGeom>
          <a:noFill/>
          <a:ln/>
        </p:spPr>
        <p:txBody>
          <a:bodyPr wrap="square" lIns="0" tIns="0" rIns="0" bIns="0" rtlCol="0" anchor="ctr"/>
          <a:lstStyle/>
          <a:p>
            <a:pPr algn="ctr" indent="0" marL="0">
              <a:buNone/>
            </a:pPr>
            <a:r>
              <a:rPr lang="en-US" sz="2000" dirty="0">
                <a:solidFill>
                  <a:schemeClr val="tx1"/>
                </a:solidFill>
              </a:rPr>
              <a:t>θ</a:t>
            </a:r>
            <a:pPr algn="ctr" indent="0" marL="0">
              <a:buNone/>
            </a:pPr>
            <a:r>
              <a:rPr lang="en-US" sz="2000" baseline="-40000" dirty="0">
                <a:solidFill>
                  <a:schemeClr val="tx1"/>
                </a:solidFill>
              </a:rPr>
              <a:t>1</a:t>
            </a:r>
            <a:endParaRPr lang="en-US" sz="2000" dirty="0"/>
          </a:p>
        </p:txBody>
      </p:sp>
      <p:sp>
        <p:nvSpPr>
          <p:cNvPr id="37" name="text-849"/>
          <p:cNvSpPr txBox="1"/>
          <p:nvPr/>
        </p:nvSpPr>
        <p:spPr>
          <a:xfrm>
            <a:off x="5074920" y="2395728"/>
            <a:ext cx="731520" cy="566928"/>
          </a:xfrm>
          <a:prstGeom prst="rect">
            <a:avLst/>
          </a:prstGeom>
          <a:noFill/>
          <a:ln/>
        </p:spPr>
        <p:txBody>
          <a:bodyPr wrap="square" lIns="0" tIns="0" rIns="0" bIns="0" rtlCol="0" anchor="ctr"/>
          <a:lstStyle/>
          <a:p>
            <a:pPr algn="ctr" indent="0" marL="0">
              <a:buNone/>
            </a:pPr>
            <a:r>
              <a:rPr lang="en-US" sz="2000" dirty="0">
                <a:solidFill>
                  <a:schemeClr val="tx1"/>
                </a:solidFill>
              </a:rPr>
              <a:t>θ</a:t>
            </a:r>
            <a:pPr algn="ctr" indent="0" marL="0">
              <a:buNone/>
            </a:pPr>
            <a:r>
              <a:rPr lang="en-US" sz="2000" baseline="-40000" dirty="0">
                <a:solidFill>
                  <a:schemeClr val="tx1"/>
                </a:solidFill>
              </a:rPr>
              <a:t>2</a:t>
            </a:r>
            <a:endParaRPr lang="en-US" sz="2000" dirty="0"/>
          </a:p>
        </p:txBody>
      </p:sp>
      <p:sp>
        <p:nvSpPr>
          <p:cNvPr id="38" name="text-850"/>
          <p:cNvSpPr txBox="1"/>
          <p:nvPr/>
        </p:nvSpPr>
        <p:spPr>
          <a:xfrm>
            <a:off x="5074920" y="2962656"/>
            <a:ext cx="731520" cy="566928"/>
          </a:xfrm>
          <a:prstGeom prst="rect">
            <a:avLst/>
          </a:prstGeom>
          <a:noFill/>
          <a:ln/>
        </p:spPr>
        <p:txBody>
          <a:bodyPr wrap="square" lIns="0" tIns="0" rIns="0" bIns="0" rtlCol="0" anchor="ctr"/>
          <a:lstStyle/>
          <a:p>
            <a:pPr algn="ctr" indent="0" marL="0">
              <a:buNone/>
            </a:pPr>
            <a:r>
              <a:rPr lang="en-US" sz="2000" dirty="0">
                <a:solidFill>
                  <a:schemeClr val="tx1"/>
                </a:solidFill>
              </a:rPr>
              <a:t>θ</a:t>
            </a:r>
            <a:pPr algn="ctr" indent="0" marL="0">
              <a:buNone/>
            </a:pPr>
            <a:r>
              <a:rPr lang="en-US" sz="2000" baseline="-40000" dirty="0">
                <a:solidFill>
                  <a:schemeClr val="tx1"/>
                </a:solidFill>
              </a:rPr>
              <a:t>3</a:t>
            </a:r>
            <a:endParaRPr lang="en-US" sz="2000" dirty="0"/>
          </a:p>
        </p:txBody>
      </p:sp>
      <p:sp>
        <p:nvSpPr>
          <p:cNvPr id="39" name="text-851"/>
          <p:cNvSpPr txBox="1"/>
          <p:nvPr/>
        </p:nvSpPr>
        <p:spPr>
          <a:xfrm>
            <a:off x="5074920" y="3529584"/>
            <a:ext cx="731520" cy="566928"/>
          </a:xfrm>
          <a:prstGeom prst="rect">
            <a:avLst/>
          </a:prstGeom>
          <a:noFill/>
          <a:ln/>
        </p:spPr>
        <p:txBody>
          <a:bodyPr wrap="square" lIns="0" tIns="0" rIns="0" bIns="0" rtlCol="0" anchor="ctr"/>
          <a:lstStyle/>
          <a:p>
            <a:pPr algn="ctr" indent="0" marL="0">
              <a:buNone/>
            </a:pPr>
            <a:r>
              <a:rPr lang="en-US" sz="2000" dirty="0">
                <a:solidFill>
                  <a:schemeClr val="tx1"/>
                </a:solidFill>
              </a:rPr>
              <a:t>θ</a:t>
            </a:r>
            <a:pPr algn="ctr" indent="0" marL="0">
              <a:buNone/>
            </a:pPr>
            <a:r>
              <a:rPr lang="en-US" sz="2000" baseline="-40000" dirty="0">
                <a:solidFill>
                  <a:schemeClr val="tx1"/>
                </a:solidFill>
              </a:rPr>
              <a:t>4</a:t>
            </a:r>
            <a:endParaRPr lang="en-US" sz="2000" dirty="0"/>
          </a:p>
        </p:txBody>
      </p:sp>
      <p:sp>
        <p:nvSpPr>
          <p:cNvPr id="40" name="line-852"/>
          <p:cNvSpPr/>
          <p:nvPr/>
        </p:nvSpPr>
        <p:spPr>
          <a:xfrm>
            <a:off x="5056632" y="1828800"/>
            <a:ext cx="0" cy="2267712"/>
          </a:xfrm>
          <a:prstGeom prst="line">
            <a:avLst/>
          </a:prstGeom>
          <a:noFill/>
          <a:ln w="22225">
            <a:solidFill>
              <a:schemeClr val="tx1"/>
            </a:solidFill>
            <a:prstDash val="solid"/>
          </a:ln>
        </p:spPr>
      </p:sp>
      <p:sp>
        <p:nvSpPr>
          <p:cNvPr id="41" name="line-853"/>
          <p:cNvSpPr/>
          <p:nvPr/>
        </p:nvSpPr>
        <p:spPr>
          <a:xfrm>
            <a:off x="5056632" y="1828800"/>
            <a:ext cx="91440" cy="0"/>
          </a:xfrm>
          <a:prstGeom prst="line">
            <a:avLst/>
          </a:prstGeom>
          <a:noFill/>
          <a:ln w="22225">
            <a:solidFill>
              <a:schemeClr val="tx1"/>
            </a:solidFill>
            <a:prstDash val="solid"/>
          </a:ln>
        </p:spPr>
      </p:sp>
      <p:sp>
        <p:nvSpPr>
          <p:cNvPr id="42" name="line-854"/>
          <p:cNvSpPr/>
          <p:nvPr/>
        </p:nvSpPr>
        <p:spPr>
          <a:xfrm>
            <a:off x="5056632" y="4096512"/>
            <a:ext cx="91440" cy="0"/>
          </a:xfrm>
          <a:prstGeom prst="line">
            <a:avLst/>
          </a:prstGeom>
          <a:noFill/>
          <a:ln w="22225">
            <a:solidFill>
              <a:schemeClr val="tx1"/>
            </a:solidFill>
            <a:prstDash val="solid"/>
          </a:ln>
        </p:spPr>
      </p:sp>
      <p:sp>
        <p:nvSpPr>
          <p:cNvPr id="43" name="line-855"/>
          <p:cNvSpPr/>
          <p:nvPr/>
        </p:nvSpPr>
        <p:spPr>
          <a:xfrm>
            <a:off x="5824728" y="1828800"/>
            <a:ext cx="0" cy="2267712"/>
          </a:xfrm>
          <a:prstGeom prst="line">
            <a:avLst/>
          </a:prstGeom>
          <a:noFill/>
          <a:ln w="22225">
            <a:solidFill>
              <a:schemeClr val="tx1"/>
            </a:solidFill>
            <a:prstDash val="solid"/>
          </a:ln>
        </p:spPr>
      </p:sp>
      <p:sp>
        <p:nvSpPr>
          <p:cNvPr id="44" name="line-856"/>
          <p:cNvSpPr/>
          <p:nvPr/>
        </p:nvSpPr>
        <p:spPr>
          <a:xfrm>
            <a:off x="5733288" y="1828800"/>
            <a:ext cx="91440" cy="0"/>
          </a:xfrm>
          <a:prstGeom prst="line">
            <a:avLst/>
          </a:prstGeom>
          <a:noFill/>
          <a:ln w="22225">
            <a:solidFill>
              <a:schemeClr val="tx1"/>
            </a:solidFill>
            <a:prstDash val="solid"/>
          </a:ln>
        </p:spPr>
      </p:sp>
      <p:sp>
        <p:nvSpPr>
          <p:cNvPr id="45" name="line-857"/>
          <p:cNvSpPr/>
          <p:nvPr/>
        </p:nvSpPr>
        <p:spPr>
          <a:xfrm>
            <a:off x="5733288" y="4096512"/>
            <a:ext cx="91440" cy="0"/>
          </a:xfrm>
          <a:prstGeom prst="line">
            <a:avLst/>
          </a:prstGeom>
          <a:noFill/>
          <a:ln w="22225">
            <a:solidFill>
              <a:schemeClr val="tx1"/>
            </a:solidFill>
            <a:prstDash val="solid"/>
          </a:ln>
        </p:spPr>
      </p:sp>
      <p:sp>
        <p:nvSpPr>
          <p:cNvPr id="46" name="text-858"/>
          <p:cNvSpPr txBox="1"/>
          <p:nvPr/>
        </p:nvSpPr>
        <p:spPr>
          <a:xfrm>
            <a:off x="5989320" y="2679192"/>
            <a:ext cx="457200" cy="566928"/>
          </a:xfrm>
          <a:prstGeom prst="rect">
            <a:avLst/>
          </a:prstGeom>
          <a:noFill/>
          <a:ln/>
        </p:spPr>
        <p:txBody>
          <a:bodyPr wrap="square" lIns="0" tIns="0" rIns="0" bIns="0" rtlCol="0" anchor="ctr"/>
          <a:lstStyle/>
          <a:p>
            <a:pPr algn="ctr" indent="0" marL="0">
              <a:buNone/>
            </a:pPr>
            <a:r>
              <a:rPr lang="en-US" sz="2800" dirty="0">
                <a:solidFill>
                  <a:schemeClr val="tx1"/>
                </a:solidFill>
              </a:rPr>
              <a:t>=</a:t>
            </a:r>
            <a:endParaRPr lang="en-US" sz="2800" dirty="0"/>
          </a:p>
        </p:txBody>
      </p:sp>
      <p:sp>
        <p:nvSpPr>
          <p:cNvPr id="47" name="text-859"/>
          <p:cNvSpPr txBox="1"/>
          <p:nvPr/>
        </p:nvSpPr>
        <p:spPr>
          <a:xfrm>
            <a:off x="6583680" y="1828800"/>
            <a:ext cx="731520" cy="566928"/>
          </a:xfrm>
          <a:prstGeom prst="rect">
            <a:avLst/>
          </a:prstGeom>
          <a:noFill/>
          <a:ln/>
        </p:spPr>
        <p:txBody>
          <a:bodyPr wrap="square" lIns="0" tIns="0" rIns="0" bIns="0" rtlCol="0" anchor="ctr"/>
          <a:lstStyle/>
          <a:p>
            <a:pPr algn="ctr" indent="0" marL="0">
              <a:buNone/>
            </a:pPr>
            <a:r>
              <a:rPr lang="en-US" sz="2000" b="1" dirty="0">
                <a:solidFill>
                  <a:schemeClr val="accent3"/>
                </a:solidFill>
              </a:rPr>
              <a:t>70</a:t>
            </a:r>
            <a:endParaRPr lang="en-US" sz="2000" dirty="0"/>
          </a:p>
        </p:txBody>
      </p:sp>
      <p:sp>
        <p:nvSpPr>
          <p:cNvPr id="48" name="text-860"/>
          <p:cNvSpPr txBox="1"/>
          <p:nvPr/>
        </p:nvSpPr>
        <p:spPr>
          <a:xfrm>
            <a:off x="6583680" y="2395728"/>
            <a:ext cx="731520" cy="566928"/>
          </a:xfrm>
          <a:prstGeom prst="rect">
            <a:avLst/>
          </a:prstGeom>
          <a:noFill/>
          <a:ln/>
        </p:spPr>
        <p:txBody>
          <a:bodyPr wrap="square" lIns="0" tIns="0" rIns="0" bIns="0" rtlCol="0" anchor="ctr"/>
          <a:lstStyle/>
          <a:p>
            <a:pPr algn="ctr" indent="0" marL="0">
              <a:buNone/>
            </a:pPr>
            <a:r>
              <a:rPr lang="en-US" sz="2000" dirty="0">
                <a:solidFill>
                  <a:schemeClr val="accent4"/>
                </a:solidFill>
              </a:rPr>
              <a:t>0</a:t>
            </a:r>
            <a:endParaRPr lang="en-US" sz="2000" dirty="0"/>
          </a:p>
        </p:txBody>
      </p:sp>
      <p:sp>
        <p:nvSpPr>
          <p:cNvPr id="49" name="text-861"/>
          <p:cNvSpPr txBox="1"/>
          <p:nvPr/>
        </p:nvSpPr>
        <p:spPr>
          <a:xfrm>
            <a:off x="6583680" y="2962656"/>
            <a:ext cx="731520" cy="566928"/>
          </a:xfrm>
          <a:prstGeom prst="rect">
            <a:avLst/>
          </a:prstGeom>
          <a:noFill/>
          <a:ln/>
        </p:spPr>
        <p:txBody>
          <a:bodyPr wrap="square" lIns="0" tIns="0" rIns="0" bIns="0" rtlCol="0" anchor="ctr"/>
          <a:lstStyle/>
          <a:p>
            <a:pPr algn="ctr" indent="0" marL="0">
              <a:buNone/>
            </a:pPr>
            <a:r>
              <a:rPr lang="en-US" sz="2000" dirty="0">
                <a:solidFill>
                  <a:schemeClr val="accent4"/>
                </a:solidFill>
              </a:rPr>
              <a:t>0</a:t>
            </a:r>
            <a:endParaRPr lang="en-US" sz="2000" dirty="0"/>
          </a:p>
        </p:txBody>
      </p:sp>
      <p:sp>
        <p:nvSpPr>
          <p:cNvPr id="50" name="text-862"/>
          <p:cNvSpPr txBox="1"/>
          <p:nvPr/>
        </p:nvSpPr>
        <p:spPr>
          <a:xfrm>
            <a:off x="6583680" y="3529584"/>
            <a:ext cx="731520" cy="566928"/>
          </a:xfrm>
          <a:prstGeom prst="rect">
            <a:avLst/>
          </a:prstGeom>
          <a:noFill/>
          <a:ln/>
        </p:spPr>
        <p:txBody>
          <a:bodyPr wrap="square" lIns="0" tIns="0" rIns="0" bIns="0" rtlCol="0" anchor="ctr"/>
          <a:lstStyle/>
          <a:p>
            <a:pPr algn="ctr" indent="0" marL="0">
              <a:buNone/>
            </a:pPr>
            <a:r>
              <a:rPr lang="en-US" sz="2000" dirty="0">
                <a:solidFill>
                  <a:schemeClr val="accent4"/>
                </a:solidFill>
              </a:rPr>
              <a:t>0</a:t>
            </a:r>
            <a:endParaRPr lang="en-US" sz="2000" dirty="0"/>
          </a:p>
        </p:txBody>
      </p:sp>
      <p:sp>
        <p:nvSpPr>
          <p:cNvPr id="51" name="line-863"/>
          <p:cNvSpPr/>
          <p:nvPr/>
        </p:nvSpPr>
        <p:spPr>
          <a:xfrm>
            <a:off x="6565392" y="1828800"/>
            <a:ext cx="0" cy="2267712"/>
          </a:xfrm>
          <a:prstGeom prst="line">
            <a:avLst/>
          </a:prstGeom>
          <a:noFill/>
          <a:ln w="22225">
            <a:solidFill>
              <a:schemeClr val="tx1"/>
            </a:solidFill>
            <a:prstDash val="solid"/>
          </a:ln>
        </p:spPr>
      </p:sp>
      <p:sp>
        <p:nvSpPr>
          <p:cNvPr id="52" name="line-864"/>
          <p:cNvSpPr/>
          <p:nvPr/>
        </p:nvSpPr>
        <p:spPr>
          <a:xfrm>
            <a:off x="6565392" y="1828800"/>
            <a:ext cx="91440" cy="0"/>
          </a:xfrm>
          <a:prstGeom prst="line">
            <a:avLst/>
          </a:prstGeom>
          <a:noFill/>
          <a:ln w="22225">
            <a:solidFill>
              <a:schemeClr val="tx1"/>
            </a:solidFill>
            <a:prstDash val="solid"/>
          </a:ln>
        </p:spPr>
      </p:sp>
      <p:sp>
        <p:nvSpPr>
          <p:cNvPr id="53" name="line-865"/>
          <p:cNvSpPr/>
          <p:nvPr/>
        </p:nvSpPr>
        <p:spPr>
          <a:xfrm>
            <a:off x="6565392" y="4096512"/>
            <a:ext cx="91440" cy="0"/>
          </a:xfrm>
          <a:prstGeom prst="line">
            <a:avLst/>
          </a:prstGeom>
          <a:noFill/>
          <a:ln w="22225">
            <a:solidFill>
              <a:schemeClr val="tx1"/>
            </a:solidFill>
            <a:prstDash val="solid"/>
          </a:ln>
        </p:spPr>
      </p:sp>
      <p:sp>
        <p:nvSpPr>
          <p:cNvPr id="54" name="line-866"/>
          <p:cNvSpPr/>
          <p:nvPr/>
        </p:nvSpPr>
        <p:spPr>
          <a:xfrm>
            <a:off x="7333488" y="1828800"/>
            <a:ext cx="0" cy="2267712"/>
          </a:xfrm>
          <a:prstGeom prst="line">
            <a:avLst/>
          </a:prstGeom>
          <a:noFill/>
          <a:ln w="22225">
            <a:solidFill>
              <a:schemeClr val="tx1"/>
            </a:solidFill>
            <a:prstDash val="solid"/>
          </a:ln>
        </p:spPr>
      </p:sp>
      <p:sp>
        <p:nvSpPr>
          <p:cNvPr id="55" name="line-867"/>
          <p:cNvSpPr/>
          <p:nvPr/>
        </p:nvSpPr>
        <p:spPr>
          <a:xfrm>
            <a:off x="7242048" y="1828800"/>
            <a:ext cx="91440" cy="0"/>
          </a:xfrm>
          <a:prstGeom prst="line">
            <a:avLst/>
          </a:prstGeom>
          <a:noFill/>
          <a:ln w="22225">
            <a:solidFill>
              <a:schemeClr val="tx1"/>
            </a:solidFill>
            <a:prstDash val="solid"/>
          </a:ln>
        </p:spPr>
      </p:sp>
      <p:sp>
        <p:nvSpPr>
          <p:cNvPr id="56" name="line-868"/>
          <p:cNvSpPr/>
          <p:nvPr/>
        </p:nvSpPr>
        <p:spPr>
          <a:xfrm>
            <a:off x="7242048" y="4096512"/>
            <a:ext cx="91440" cy="0"/>
          </a:xfrm>
          <a:prstGeom prst="line">
            <a:avLst/>
          </a:prstGeom>
          <a:noFill/>
          <a:ln w="22225">
            <a:solidFill>
              <a:schemeClr val="tx1"/>
            </a:solidFill>
            <a:prstDash val="solid"/>
          </a:ln>
        </p:spPr>
      </p:sp>
      <p:sp>
        <p:nvSpPr>
          <p:cNvPr id="57" name="text-869"/>
          <p:cNvSpPr txBox="1"/>
          <p:nvPr/>
        </p:nvSpPr>
        <p:spPr>
          <a:xfrm>
            <a:off x="868680" y="4297680"/>
            <a:ext cx="3840480" cy="365760"/>
          </a:xfrm>
          <a:prstGeom prst="rect">
            <a:avLst/>
          </a:prstGeom>
          <a:noFill/>
          <a:ln/>
        </p:spPr>
        <p:txBody>
          <a:bodyPr wrap="square" lIns="0" tIns="0" rIns="0" bIns="0" rtlCol="0" anchor="t"/>
          <a:lstStyle/>
          <a:p>
            <a:pPr indent="0" marL="0">
              <a:buNone/>
            </a:pPr>
            <a:r>
              <a:rPr lang="en-US" sz="1600" dirty="0">
                <a:solidFill>
                  <a:schemeClr val="tx2"/>
                </a:solidFill>
              </a:rPr>
              <a:t>with  B = 2.052743</a:t>
            </a:r>
            <a:endParaRPr lang="en-US" sz="1600" dirty="0"/>
          </a:p>
        </p:txBody>
      </p:sp>
      <p:sp>
        <p:nvSpPr>
          <p:cNvPr id="58" name="card-870"/>
          <p:cNvSpPr/>
          <p:nvPr/>
        </p:nvSpPr>
        <p:spPr>
          <a:xfrm>
            <a:off x="7909560" y="1463040"/>
            <a:ext cx="3730752" cy="1143000"/>
          </a:xfrm>
          <a:prstGeom prst="roundRect">
            <a:avLst>
              <a:gd name="adj" fmla="val 800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9" name="icon-bg-871"/>
          <p:cNvSpPr/>
          <p:nvPr/>
        </p:nvSpPr>
        <p:spPr>
          <a:xfrm>
            <a:off x="8065008" y="1645920"/>
            <a:ext cx="457200" cy="457200"/>
          </a:xfrm>
          <a:prstGeom prst="ellipse">
            <a:avLst/>
          </a:prstGeom>
          <a:solidFill>
            <a:schemeClr val="accent1"/>
          </a:solidFill>
          <a:ln/>
        </p:spPr>
      </p:sp>
      <p:pic>
        <p:nvPicPr>
          <p:cNvPr id="60" name="icon-872" descr="preencoded.png">    </p:cNvPr>
          <p:cNvPicPr>
            <a:picLocks noChangeAspect="1"/>
          </p:cNvPicPr>
          <p:nvPr/>
        </p:nvPicPr>
        <p:blipFill>
          <a:blip r:embed="rId1"/>
          <a:stretch>
            <a:fillRect/>
          </a:stretch>
        </p:blipFill>
        <p:spPr>
          <a:xfrm>
            <a:off x="8170164" y="1751076"/>
            <a:ext cx="246888" cy="246888"/>
          </a:xfrm>
          <a:prstGeom prst="rect">
            <a:avLst/>
          </a:prstGeom>
        </p:spPr>
      </p:pic>
      <p:sp>
        <p:nvSpPr>
          <p:cNvPr id="61" name="text-873"/>
          <p:cNvSpPr txBox="1"/>
          <p:nvPr/>
        </p:nvSpPr>
        <p:spPr>
          <a:xfrm>
            <a:off x="8641080" y="1554480"/>
            <a:ext cx="2880360" cy="960120"/>
          </a:xfrm>
          <a:prstGeom prst="rect">
            <a:avLst/>
          </a:prstGeom>
          <a:noFill/>
          <a:ln/>
        </p:spPr>
        <p:txBody>
          <a:bodyPr wrap="square" lIns="0" tIns="0" rIns="0" bIns="0" rtlCol="0" anchor="ctr"/>
          <a:lstStyle/>
          <a:p>
            <a:pPr indent="0" marL="0">
              <a:buNone/>
            </a:pPr>
            <a:r>
              <a:rPr lang="en-US" sz="1400" dirty="0">
                <a:solidFill>
                  <a:schemeClr val="tx1"/>
                </a:solidFill>
              </a:rPr>
              <a:t>Each equation links a node only to its </a:t>
            </a:r>
            <a:pPr indent="0" marL="0">
              <a:buNone/>
            </a:pPr>
            <a:r>
              <a:rPr lang="en-US" sz="1400" b="1" dirty="0">
                <a:solidFill>
                  <a:schemeClr val="tx1"/>
                </a:solidFill>
              </a:rPr>
              <a:t>neighbours</a:t>
            </a:r>
            <a:pPr indent="0" marL="0">
              <a:buNone/>
            </a:pPr>
            <a:r>
              <a:rPr lang="en-US" sz="1400" dirty="0">
                <a:solidFill>
                  <a:schemeClr val="tx1"/>
                </a:solidFill>
              </a:rPr>
              <a:t>: only 3 diagonals are non-zero, a </a:t>
            </a:r>
            <a:pPr indent="0" marL="0">
              <a:buNone/>
            </a:pPr>
            <a:r>
              <a:rPr lang="en-US" sz="1400" b="1" dirty="0">
                <a:solidFill>
                  <a:schemeClr val="tx1"/>
                </a:solidFill>
              </a:rPr>
              <a:t>tridiagonal</a:t>
            </a:r>
            <a:pPr indent="0" marL="0">
              <a:buNone/>
            </a:pPr>
            <a:r>
              <a:rPr lang="en-US" sz="1400" dirty="0">
                <a:solidFill>
                  <a:schemeClr val="tx1"/>
                </a:solidFill>
              </a:rPr>
              <a:t> system.</a:t>
            </a:r>
            <a:endParaRPr lang="en-US" sz="1400" dirty="0"/>
          </a:p>
        </p:txBody>
      </p:sp>
      <p:sp>
        <p:nvSpPr>
          <p:cNvPr id="62" name="card-874"/>
          <p:cNvSpPr/>
          <p:nvPr/>
        </p:nvSpPr>
        <p:spPr>
          <a:xfrm>
            <a:off x="7909560" y="2743200"/>
            <a:ext cx="3730752" cy="1143000"/>
          </a:xfrm>
          <a:prstGeom prst="roundRect">
            <a:avLst>
              <a:gd name="adj" fmla="val 800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3" name="icon-bg-875"/>
          <p:cNvSpPr/>
          <p:nvPr/>
        </p:nvSpPr>
        <p:spPr>
          <a:xfrm>
            <a:off x="8065008" y="2926080"/>
            <a:ext cx="457200" cy="457200"/>
          </a:xfrm>
          <a:prstGeom prst="ellipse">
            <a:avLst/>
          </a:prstGeom>
          <a:solidFill>
            <a:schemeClr val="accent2"/>
          </a:solidFill>
          <a:ln/>
        </p:spPr>
      </p:sp>
      <p:pic>
        <p:nvPicPr>
          <p:cNvPr id="64" name="icon-876" descr="preencoded.png">    </p:cNvPr>
          <p:cNvPicPr>
            <a:picLocks noChangeAspect="1"/>
          </p:cNvPicPr>
          <p:nvPr/>
        </p:nvPicPr>
        <p:blipFill>
          <a:blip r:embed="rId2"/>
          <a:stretch>
            <a:fillRect/>
          </a:stretch>
        </p:blipFill>
        <p:spPr>
          <a:xfrm>
            <a:off x="8170164" y="3031236"/>
            <a:ext cx="246888" cy="246888"/>
          </a:xfrm>
          <a:prstGeom prst="rect">
            <a:avLst/>
          </a:prstGeom>
        </p:spPr>
      </p:pic>
      <p:sp>
        <p:nvSpPr>
          <p:cNvPr id="65" name="text-877"/>
          <p:cNvSpPr txBox="1"/>
          <p:nvPr/>
        </p:nvSpPr>
        <p:spPr>
          <a:xfrm>
            <a:off x="8641080" y="2834640"/>
            <a:ext cx="2880360" cy="960120"/>
          </a:xfrm>
          <a:prstGeom prst="rect">
            <a:avLst/>
          </a:prstGeom>
          <a:noFill/>
          <a:ln/>
        </p:spPr>
        <p:txBody>
          <a:bodyPr wrap="square" lIns="0" tIns="0" rIns="0" bIns="0" rtlCol="0" anchor="ctr"/>
          <a:lstStyle/>
          <a:p>
            <a:pPr indent="0" marL="0">
              <a:buNone/>
            </a:pPr>
            <a:r>
              <a:rPr lang="en-US" sz="1400" dirty="0">
                <a:solidFill>
                  <a:schemeClr val="tx1"/>
                </a:solidFill>
              </a:rPr>
              <a:t>The </a:t>
            </a:r>
            <a:pPr indent="0" marL="0">
              <a:buNone/>
            </a:pPr>
            <a:r>
              <a:rPr lang="en-US" sz="1400" b="1" dirty="0">
                <a:solidFill>
                  <a:schemeClr val="tx1"/>
                </a:solidFill>
              </a:rPr>
              <a:t>−2</a:t>
            </a:r>
            <a:pPr indent="0" marL="0">
              <a:buNone/>
            </a:pPr>
            <a:r>
              <a:rPr lang="en-US" sz="1400" dirty="0">
                <a:solidFill>
                  <a:schemeClr val="tx1"/>
                </a:solidFill>
              </a:rPr>
              <a:t> comes from the ghost node θ</a:t>
            </a:r>
            <a:pPr indent="0" marL="0">
              <a:buNone/>
            </a:pPr>
            <a:r>
              <a:rPr lang="en-US" sz="1400" baseline="-40000" dirty="0">
                <a:solidFill>
                  <a:schemeClr val="tx1"/>
                </a:solidFill>
              </a:rPr>
              <a:t>5</a:t>
            </a:r>
            <a:pPr indent="0" marL="0">
              <a:buNone/>
            </a:pPr>
            <a:r>
              <a:rPr lang="en-US" sz="1400" dirty="0">
                <a:solidFill>
                  <a:schemeClr val="tx1"/>
                </a:solidFill>
              </a:rPr>
              <a:t> = θ</a:t>
            </a:r>
            <a:pPr indent="0" marL="0">
              <a:buNone/>
            </a:pPr>
            <a:r>
              <a:rPr lang="en-US" sz="1400" baseline="-40000" dirty="0">
                <a:solidFill>
                  <a:schemeClr val="tx1"/>
                </a:solidFill>
              </a:rPr>
              <a:t>3</a:t>
            </a:r>
            <a:pPr indent="0" marL="0">
              <a:buNone/>
            </a:pPr>
            <a:r>
              <a:rPr lang="en-US" sz="1400" dirty="0">
                <a:solidFill>
                  <a:schemeClr val="tx1"/>
                </a:solidFill>
              </a:rPr>
              <a:t>.</a:t>
            </a:r>
            <a:endParaRPr lang="en-US" sz="1400" dirty="0"/>
          </a:p>
        </p:txBody>
      </p:sp>
      <p:sp>
        <p:nvSpPr>
          <p:cNvPr id="66" name="card-878"/>
          <p:cNvSpPr/>
          <p:nvPr/>
        </p:nvSpPr>
        <p:spPr>
          <a:xfrm>
            <a:off x="7909560" y="4023360"/>
            <a:ext cx="3730752" cy="1143000"/>
          </a:xfrm>
          <a:prstGeom prst="roundRect">
            <a:avLst>
              <a:gd name="adj" fmla="val 800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67" name="icon-bg-879"/>
          <p:cNvSpPr/>
          <p:nvPr/>
        </p:nvSpPr>
        <p:spPr>
          <a:xfrm>
            <a:off x="8065008" y="4206240"/>
            <a:ext cx="457200" cy="457200"/>
          </a:xfrm>
          <a:prstGeom prst="ellipse">
            <a:avLst/>
          </a:prstGeom>
          <a:solidFill>
            <a:schemeClr val="accent3"/>
          </a:solidFill>
          <a:ln/>
        </p:spPr>
      </p:sp>
      <p:pic>
        <p:nvPicPr>
          <p:cNvPr id="68" name="icon-880" descr="preencoded.png">    </p:cNvPr>
          <p:cNvPicPr>
            <a:picLocks noChangeAspect="1"/>
          </p:cNvPicPr>
          <p:nvPr/>
        </p:nvPicPr>
        <p:blipFill>
          <a:blip r:embed="rId3"/>
          <a:stretch>
            <a:fillRect/>
          </a:stretch>
        </p:blipFill>
        <p:spPr>
          <a:xfrm>
            <a:off x="8170164" y="4311396"/>
            <a:ext cx="246888" cy="246888"/>
          </a:xfrm>
          <a:prstGeom prst="rect">
            <a:avLst/>
          </a:prstGeom>
        </p:spPr>
      </p:pic>
      <p:sp>
        <p:nvSpPr>
          <p:cNvPr id="69" name="text-881"/>
          <p:cNvSpPr txBox="1"/>
          <p:nvPr/>
        </p:nvSpPr>
        <p:spPr>
          <a:xfrm>
            <a:off x="8641080" y="4114800"/>
            <a:ext cx="2880360" cy="960120"/>
          </a:xfrm>
          <a:prstGeom prst="rect">
            <a:avLst/>
          </a:prstGeom>
          <a:noFill/>
          <a:ln/>
        </p:spPr>
        <p:txBody>
          <a:bodyPr wrap="square" lIns="0" tIns="0" rIns="0" bIns="0" rtlCol="0" anchor="ctr"/>
          <a:lstStyle/>
          <a:p>
            <a:pPr indent="0" marL="0">
              <a:buNone/>
            </a:pPr>
            <a:r>
              <a:rPr lang="en-US" sz="1400" dirty="0">
                <a:solidFill>
                  <a:schemeClr val="tx1"/>
                </a:solidFill>
              </a:rPr>
              <a:t>The known base value θ</a:t>
            </a:r>
            <a:pPr indent="0" marL="0">
              <a:buNone/>
            </a:pPr>
            <a:r>
              <a:rPr lang="en-US" sz="1400" baseline="-40000" dirty="0">
                <a:solidFill>
                  <a:schemeClr val="tx1"/>
                </a:solidFill>
              </a:rPr>
              <a:t>0</a:t>
            </a:r>
            <a:pPr indent="0" marL="0">
              <a:buNone/>
            </a:pPr>
            <a:r>
              <a:rPr lang="en-US" sz="1400" dirty="0">
                <a:solidFill>
                  <a:schemeClr val="tx1"/>
                </a:solidFill>
              </a:rPr>
              <a:t> = 70 moves to the </a:t>
            </a:r>
            <a:pPr indent="0" marL="0">
              <a:buNone/>
            </a:pPr>
            <a:r>
              <a:rPr lang="en-US" sz="1400" b="1" dirty="0">
                <a:solidFill>
                  <a:schemeClr val="tx1"/>
                </a:solidFill>
              </a:rPr>
              <a:t>right-hand side</a:t>
            </a:r>
            <a:pPr indent="0" marL="0">
              <a:buNone/>
            </a:pPr>
            <a:r>
              <a:rPr lang="en-US" sz="1400" dirty="0">
                <a:solidFill>
                  <a:schemeClr val="tx1"/>
                </a:solidFill>
              </a:rPr>
              <a:t>.</a:t>
            </a:r>
            <a:endParaRPr lang="en-US" sz="1400" dirty="0"/>
          </a:p>
        </p:txBody>
      </p:sp>
      <p:sp>
        <p:nvSpPr>
          <p:cNvPr id="70" name="note-strip-882"/>
          <p:cNvSpPr/>
          <p:nvPr/>
        </p:nvSpPr>
        <p:spPr>
          <a:xfrm>
            <a:off x="548640" y="5440680"/>
            <a:ext cx="11094415" cy="640080"/>
          </a:xfrm>
          <a:prstGeom prst="roundRect">
            <a:avLst>
              <a:gd name="adj" fmla="val 14286"/>
            </a:avLst>
          </a:prstGeom>
          <a:solidFill>
            <a:schemeClr val="accent2">
              <a:alpha val="12000"/>
            </a:schemeClr>
          </a:solidFill>
          <a:ln/>
        </p:spPr>
      </p:sp>
      <p:sp>
        <p:nvSpPr>
          <p:cNvPr id="71" name="icon-bg-883"/>
          <p:cNvSpPr/>
          <p:nvPr/>
        </p:nvSpPr>
        <p:spPr>
          <a:xfrm>
            <a:off x="685800" y="5568696"/>
            <a:ext cx="384048" cy="384048"/>
          </a:xfrm>
          <a:prstGeom prst="ellipse">
            <a:avLst/>
          </a:prstGeom>
          <a:solidFill>
            <a:schemeClr val="accent2"/>
          </a:solidFill>
          <a:ln/>
        </p:spPr>
      </p:sp>
      <p:pic>
        <p:nvPicPr>
          <p:cNvPr id="72" name="icon-884" descr="preencoded.png">    </p:cNvPr>
          <p:cNvPicPr>
            <a:picLocks noChangeAspect="1"/>
          </p:cNvPicPr>
          <p:nvPr/>
        </p:nvPicPr>
        <p:blipFill>
          <a:blip r:embed="rId4"/>
          <a:stretch>
            <a:fillRect/>
          </a:stretch>
        </p:blipFill>
        <p:spPr>
          <a:xfrm>
            <a:off x="774131" y="5657027"/>
            <a:ext cx="207386" cy="207386"/>
          </a:xfrm>
          <a:prstGeom prst="rect">
            <a:avLst/>
          </a:prstGeom>
        </p:spPr>
      </p:pic>
      <p:sp>
        <p:nvSpPr>
          <p:cNvPr id="73" name="text-885"/>
          <p:cNvSpPr txBox="1"/>
          <p:nvPr/>
        </p:nvSpPr>
        <p:spPr>
          <a:xfrm>
            <a:off x="1234440" y="5440680"/>
            <a:ext cx="10225735" cy="640080"/>
          </a:xfrm>
          <a:prstGeom prst="rect">
            <a:avLst/>
          </a:prstGeom>
          <a:noFill/>
          <a:ln/>
        </p:spPr>
        <p:txBody>
          <a:bodyPr wrap="square" lIns="0" tIns="0" rIns="0" bIns="0" rtlCol="0" anchor="ctr"/>
          <a:lstStyle/>
          <a:p>
            <a:pPr indent="0" marL="0">
              <a:buNone/>
            </a:pPr>
            <a:r>
              <a:rPr lang="en-US" sz="1600" b="1" dirty="0">
                <a:solidFill>
                  <a:schemeClr val="tx1"/>
                </a:solidFill>
              </a:rPr>
              <a:t>Ask the class:</a:t>
            </a:r>
            <a:pPr indent="0" marL="0">
              <a:buNone/>
            </a:pPr>
            <a:r>
              <a:rPr lang="en-US" sz="1600" dirty="0">
                <a:solidFill>
                  <a:schemeClr val="tx1"/>
                </a:solidFill>
              </a:rPr>
              <a:t> why does each equation contain only neighbouring nodes?</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88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4: SOLVE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Elimination by hand: the Thomas algorithm</a:t>
            </a:r>
            <a:endParaRPr lang="en-US" sz="3200" dirty="0"/>
          </a:p>
        </p:txBody>
      </p:sp>
      <p:sp>
        <p:nvSpPr>
          <p:cNvPr id="4" name="card-887"/>
          <p:cNvSpPr/>
          <p:nvPr/>
        </p:nvSpPr>
        <p:spPr>
          <a:xfrm>
            <a:off x="548640" y="1371600"/>
            <a:ext cx="11094415" cy="731520"/>
          </a:xfrm>
          <a:prstGeom prst="roundRect">
            <a:avLst>
              <a:gd name="adj" fmla="val 12500"/>
            </a:avLst>
          </a:prstGeom>
          <a:solidFill>
            <a:schemeClr val="accent1">
              <a:alpha val="12000"/>
            </a:schemeClr>
          </a:solidFill>
          <a:ln/>
        </p:spPr>
      </p:sp>
      <p:sp>
        <p:nvSpPr>
          <p:cNvPr id="5" name="text-888"/>
          <p:cNvSpPr txBox="1"/>
          <p:nvPr/>
        </p:nvSpPr>
        <p:spPr>
          <a:xfrm>
            <a:off x="777240" y="1371600"/>
            <a:ext cx="731520" cy="731520"/>
          </a:xfrm>
          <a:prstGeom prst="rect">
            <a:avLst/>
          </a:prstGeom>
          <a:noFill/>
          <a:ln/>
        </p:spPr>
        <p:txBody>
          <a:bodyPr wrap="square" lIns="0" tIns="0" rIns="0" bIns="0" rtlCol="0" anchor="ctr"/>
          <a:lstStyle/>
          <a:p>
            <a:pPr indent="0" marL="0">
              <a:buNone/>
            </a:pPr>
            <a:r>
              <a:rPr lang="en-US" sz="1300" b="1" spc="100" kern="0" dirty="0">
                <a:solidFill>
                  <a:schemeClr val="accent1"/>
                </a:solidFill>
              </a:rPr>
              <a:t>IDEA</a:t>
            </a:r>
            <a:endParaRPr lang="en-US" sz="1300" dirty="0"/>
          </a:p>
        </p:txBody>
      </p:sp>
      <p:pic>
        <p:nvPicPr>
          <p:cNvPr id="6" name="eq-889" descr="thomas_idea">    </p:cNvPr>
          <p:cNvPicPr>
            <a:picLocks noChangeAspect="1"/>
          </p:cNvPicPr>
          <p:nvPr/>
        </p:nvPicPr>
        <p:blipFill>
          <a:blip r:embed="rId1"/>
          <a:stretch>
            <a:fillRect/>
          </a:stretch>
        </p:blipFill>
        <p:spPr>
          <a:xfrm>
            <a:off x="1463040" y="1501140"/>
            <a:ext cx="2471928" cy="472440"/>
          </a:xfrm>
          <a:prstGeom prst="rect">
            <a:avLst/>
          </a:prstGeom>
        </p:spPr>
      </p:pic>
      <p:sp>
        <p:nvSpPr>
          <p:cNvPr id="7" name="text-890"/>
          <p:cNvSpPr txBox="1"/>
          <p:nvPr/>
        </p:nvSpPr>
        <p:spPr>
          <a:xfrm>
            <a:off x="4251960" y="1371600"/>
            <a:ext cx="7223760" cy="731520"/>
          </a:xfrm>
          <a:prstGeom prst="rect">
            <a:avLst/>
          </a:prstGeom>
          <a:noFill/>
          <a:ln/>
        </p:spPr>
        <p:txBody>
          <a:bodyPr wrap="square" lIns="0" tIns="0" rIns="0" bIns="0" rtlCol="0" anchor="ctr"/>
          <a:lstStyle/>
          <a:p>
            <a:pPr indent="0" marL="0">
              <a:buNone/>
            </a:pPr>
            <a:r>
              <a:rPr lang="en-US" sz="1600" dirty="0">
                <a:solidFill>
                  <a:schemeClr val="tx1"/>
                </a:solidFill>
              </a:rPr>
              <a:t>write every unknown in terms of the next one: sweep base → tip, then come back tip → base</a:t>
            </a:r>
            <a:endParaRPr lang="en-US" sz="1600" dirty="0"/>
          </a:p>
        </p:txBody>
      </p:sp>
      <p:sp>
        <p:nvSpPr>
          <p:cNvPr id="8" name="text-891"/>
          <p:cNvSpPr txBox="1"/>
          <p:nvPr/>
        </p:nvSpPr>
        <p:spPr>
          <a:xfrm>
            <a:off x="548640" y="2331720"/>
            <a:ext cx="3749040" cy="320040"/>
          </a:xfrm>
          <a:prstGeom prst="rect">
            <a:avLst/>
          </a:prstGeom>
          <a:noFill/>
          <a:ln/>
        </p:spPr>
        <p:txBody>
          <a:bodyPr wrap="square" lIns="0" tIns="0" rIns="0" bIns="0" rtlCol="0" anchor="t"/>
          <a:lstStyle/>
          <a:p>
            <a:pPr indent="0" marL="0">
              <a:buNone/>
            </a:pPr>
            <a:r>
              <a:rPr lang="en-US" sz="1600" b="1" dirty="0">
                <a:solidFill>
                  <a:schemeClr val="tx1"/>
                </a:solidFill>
              </a:rPr>
              <a:t>① Forward sweep: base → tip</a:t>
            </a:r>
            <a:endParaRPr lang="en-US" sz="1600" dirty="0"/>
          </a:p>
        </p:txBody>
      </p:sp>
      <p:graphicFrame>
        <p:nvGraphicFramePr>
          <p:cNvPr id="33" name="table-892"/>
          <p:cNvGraphicFramePr>
            <a:graphicFrameLocks noGrp="1"/>
          </p:cNvGraphicFramePr>
          <p:nvPr>
            <p:extLst>
              <p:ext uri="{D42A27DB-BD31-4B8C-83A1-F6EECF244321}">
                <p14:modId xmlns:p14="http://schemas.microsoft.com/office/powerpoint/2010/main" val="1579011935"/>
              </p:ext>
            </p:extLst>
          </p:nvPr>
        </p:nvGraphicFramePr>
        <p:xfrm>
          <a:off x="548640" y="2743200"/>
          <a:ext cx="3749040" cy="914400"/>
        </p:xfrm>
        <a:graphic>
          <a:graphicData uri="http://schemas.openxmlformats.org/drawingml/2006/table">
            <a:tbl>
              <a:tblPr/>
              <a:tblGrid>
                <a:gridCol w="731520"/>
                <a:gridCol w="1508760"/>
                <a:gridCol w="1508760"/>
              </a:tblGrid>
              <a:tr h="384048">
                <a:tc>
                  <a:txBody>
                    <a:bodyPr/>
                    <a:lstStyle/>
                    <a:p>
                      <a:pPr algn="ctr" indent="0" marL="0">
                        <a:buNone/>
                      </a:pPr>
                      <a:r>
                        <a:rPr lang="en-US" sz="1400" b="1" dirty="0">
                          <a:solidFill>
                            <a:schemeClr val="bg1"/>
                          </a:solidFill>
                        </a:rPr>
                        <a:t>i</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P</a:t>
                      </a:r>
                      <a:pPr algn="ctr" indent="0" marL="0">
                        <a:buNone/>
                      </a:pPr>
                      <a:r>
                        <a:rPr lang="en-US" sz="1400" b="1" baseline="-40000" dirty="0">
                          <a:solidFill>
                            <a:schemeClr val="bg1"/>
                          </a:solidFill>
                        </a:rPr>
                        <a:t>i</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Q</a:t>
                      </a:r>
                      <a:pPr algn="ctr" indent="0" marL="0">
                        <a:buNone/>
                      </a:pPr>
                      <a:r>
                        <a:rPr lang="en-US" sz="1400" b="1" baseline="-40000" dirty="0">
                          <a:solidFill>
                            <a:schemeClr val="bg1"/>
                          </a:solidFill>
                        </a:rPr>
                        <a:t>i</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384048">
                <a:tc>
                  <a:txBody>
                    <a:bodyPr/>
                    <a:lstStyle/>
                    <a:p>
                      <a:pPr algn="ctr" indent="0" marL="0">
                        <a:buNone/>
                      </a:pPr>
                      <a:r>
                        <a:rPr lang="en-US" sz="1400" dirty="0">
                          <a:solidFill>
                            <a:schemeClr val="tx1"/>
                          </a:solidFill>
                        </a:rPr>
                        <a:t>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0.487153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34.1007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rPr>
                        <a:t>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0.638737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21.7814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ctr" indent="0" marL="0">
                        <a:buNone/>
                      </a:pPr>
                      <a:r>
                        <a:rPr lang="en-US" sz="1400" dirty="0">
                          <a:solidFill>
                            <a:schemeClr val="tx1"/>
                          </a:solidFill>
                        </a:rPr>
                        <a:t>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0.707211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15.4040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bl>
          </a:graphicData>
        </a:graphic>
      </p:graphicFrame>
      <p:sp>
        <p:nvSpPr>
          <p:cNvPr id="10" name="card-893"/>
          <p:cNvSpPr/>
          <p:nvPr/>
        </p:nvSpPr>
        <p:spPr>
          <a:xfrm>
            <a:off x="4526280" y="2743200"/>
            <a:ext cx="3154680" cy="1554480"/>
          </a:xfrm>
          <a:prstGeom prst="roundRect">
            <a:avLst>
              <a:gd name="adj" fmla="val 5882"/>
            </a:avLst>
          </a:prstGeom>
          <a:solidFill>
            <a:schemeClr val="accent2">
              <a:alpha val="12000"/>
            </a:schemeClr>
          </a:solidFill>
          <a:ln w="15875">
            <a:solidFill>
              <a:schemeClr val="accent2"/>
            </a:solidFill>
            <a:prstDash val="solid"/>
          </a:ln>
        </p:spPr>
      </p:sp>
      <p:sp>
        <p:nvSpPr>
          <p:cNvPr id="11" name="text-894"/>
          <p:cNvSpPr txBox="1"/>
          <p:nvPr/>
        </p:nvSpPr>
        <p:spPr>
          <a:xfrm>
            <a:off x="4663440" y="2834640"/>
            <a:ext cx="29260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TIP: PUT θ</a:t>
            </a:r>
            <a:pPr indent="0" marL="0">
              <a:buNone/>
            </a:pPr>
            <a:r>
              <a:rPr lang="en-US" sz="1200" b="1" baseline="-40000" spc="100" kern="0" dirty="0">
                <a:solidFill>
                  <a:schemeClr val="accent2"/>
                </a:solidFill>
              </a:rPr>
              <a:t>3</a:t>
            </a:r>
            <a:pPr indent="0" marL="0">
              <a:buNone/>
            </a:pPr>
            <a:r>
              <a:rPr lang="en-US" sz="1200" b="1" spc="100" kern="0" dirty="0">
                <a:solidFill>
                  <a:schemeClr val="accent2"/>
                </a:solidFill>
              </a:rPr>
              <a:t> INTO EQ. (4)</a:t>
            </a:r>
            <a:endParaRPr lang="en-US" sz="1200" dirty="0"/>
          </a:p>
        </p:txBody>
      </p:sp>
      <p:pic>
        <p:nvPicPr>
          <p:cNvPr id="12" name="eq-895" descr="thomas_tip">    </p:cNvPr>
          <p:cNvPicPr>
            <a:picLocks noChangeAspect="1"/>
          </p:cNvPicPr>
          <p:nvPr/>
        </p:nvPicPr>
        <p:blipFill>
          <a:blip r:embed="rId2"/>
          <a:stretch>
            <a:fillRect/>
          </a:stretch>
        </p:blipFill>
        <p:spPr>
          <a:xfrm>
            <a:off x="4663440" y="3489993"/>
            <a:ext cx="2880360" cy="380935"/>
          </a:xfrm>
          <a:prstGeom prst="rect">
            <a:avLst/>
          </a:prstGeom>
        </p:spPr>
      </p:pic>
      <p:sp>
        <p:nvSpPr>
          <p:cNvPr id="13" name="text-896"/>
          <p:cNvSpPr txBox="1"/>
          <p:nvPr/>
        </p:nvSpPr>
        <p:spPr>
          <a:xfrm>
            <a:off x="7909560" y="2331720"/>
            <a:ext cx="3749040" cy="320040"/>
          </a:xfrm>
          <a:prstGeom prst="rect">
            <a:avLst/>
          </a:prstGeom>
          <a:noFill/>
          <a:ln/>
        </p:spPr>
        <p:txBody>
          <a:bodyPr wrap="square" lIns="0" tIns="0" rIns="0" bIns="0" rtlCol="0" anchor="t"/>
          <a:lstStyle/>
          <a:p>
            <a:pPr indent="0" marL="0">
              <a:buNone/>
            </a:pPr>
            <a:r>
              <a:rPr lang="en-US" sz="1600" b="1" dirty="0">
                <a:solidFill>
                  <a:schemeClr val="tx1"/>
                </a:solidFill>
              </a:rPr>
              <a:t>② Back substitution: tip → base</a:t>
            </a:r>
            <a:endParaRPr lang="en-US" sz="1600" dirty="0"/>
          </a:p>
        </p:txBody>
      </p:sp>
      <p:graphicFrame>
        <p:nvGraphicFramePr>
          <p:cNvPr id="65" name="table-897"/>
          <p:cNvGraphicFramePr>
            <a:graphicFrameLocks noGrp="1"/>
          </p:cNvGraphicFramePr>
          <p:nvPr>
            <p:extLst>
              <p:ext uri="{D42A27DB-BD31-4B8C-83A1-F6EECF244321}">
                <p14:modId xmlns:p14="http://schemas.microsoft.com/office/powerpoint/2010/main" val="1579011935"/>
              </p:ext>
            </p:extLst>
          </p:nvPr>
        </p:nvGraphicFramePr>
        <p:xfrm>
          <a:off x="7909560" y="2743200"/>
          <a:ext cx="3730752" cy="914400"/>
        </p:xfrm>
        <a:graphic>
          <a:graphicData uri="http://schemas.openxmlformats.org/drawingml/2006/table">
            <a:tbl>
              <a:tblPr/>
              <a:tblGrid>
                <a:gridCol w="914400"/>
                <a:gridCol w="1408176"/>
                <a:gridCol w="1408176"/>
              </a:tblGrid>
              <a:tr h="384048">
                <a:tc>
                  <a:txBody>
                    <a:bodyPr/>
                    <a:lstStyle/>
                    <a:p>
                      <a:pPr algn="ctr" indent="0" marL="0">
                        <a:buNone/>
                      </a:pPr>
                      <a:r>
                        <a:rPr lang="en-US" sz="1400" b="1" dirty="0">
                          <a:solidFill>
                            <a:schemeClr val="bg1"/>
                          </a:solidFill>
                        </a:rPr>
                        <a:t>node</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θ</a:t>
                      </a:r>
                      <a:pPr algn="ctr" indent="0" marL="0">
                        <a:buNone/>
                      </a:pPr>
                      <a:r>
                        <a:rPr lang="en-US" sz="1400" b="1" baseline="-40000" dirty="0">
                          <a:solidFill>
                            <a:schemeClr val="bg1"/>
                          </a:solidFill>
                        </a:rPr>
                        <a:t>i</a:t>
                      </a:r>
                      <a:pPr algn="ctr" indent="0" marL="0">
                        <a:buNone/>
                      </a:pPr>
                      <a:r>
                        <a:rPr lang="en-US" sz="1400" b="1" dirty="0">
                          <a:solidFill>
                            <a:schemeClr val="bg1"/>
                          </a:solidFill>
                        </a:rPr>
                        <a:t> [K]</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a:t>
                      </a:r>
                      <a:pPr algn="ctr" indent="0" marL="0">
                        <a:buNone/>
                      </a:pPr>
                      <a:r>
                        <a:rPr lang="en-US" sz="1400" b="1" baseline="-40000" dirty="0">
                          <a:solidFill>
                            <a:schemeClr val="bg1"/>
                          </a:solidFill>
                        </a:rPr>
                        <a:t>i</a:t>
                      </a:r>
                      <a:pPr algn="ctr" indent="0" marL="0">
                        <a:buNone/>
                      </a:pPr>
                      <a:r>
                        <a:rPr lang="en-US" sz="1400" b="1" dirty="0">
                          <a:solidFill>
                            <a:schemeClr val="bg1"/>
                          </a:solidFill>
                        </a:rPr>
                        <a:t>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384048">
                <a:tc>
                  <a:txBody>
                    <a:bodyPr/>
                    <a:lstStyle/>
                    <a:p>
                      <a:pPr algn="ctr" indent="0" marL="0">
                        <a:buNone/>
                      </a:pPr>
                      <a:r>
                        <a:rPr lang="en-US" sz="1400" dirty="0">
                          <a:solidFill>
                            <a:schemeClr val="tx1"/>
                          </a:solidFill>
                        </a:rPr>
                        <a:t>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48.264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78.26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rPr>
                        <a:t>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49.537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79.54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ctr" indent="0" marL="0">
                        <a:buNone/>
                      </a:pPr>
                      <a:r>
                        <a:rPr lang="en-US" sz="1400" dirty="0">
                          <a:solidFill>
                            <a:schemeClr val="tx1"/>
                          </a:solidFill>
                        </a:rPr>
                        <a:t>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53.422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83.42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rPr>
                        <a:t>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60.126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90.13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bl>
          </a:graphicData>
        </a:graphic>
      </p:graphicFrame>
      <p:sp>
        <p:nvSpPr>
          <p:cNvPr id="15" name="note-strip-898"/>
          <p:cNvSpPr/>
          <p:nvPr/>
        </p:nvSpPr>
        <p:spPr>
          <a:xfrm>
            <a:off x="548640" y="4983480"/>
            <a:ext cx="11094415" cy="731520"/>
          </a:xfrm>
          <a:prstGeom prst="roundRect">
            <a:avLst>
              <a:gd name="adj" fmla="val 12500"/>
            </a:avLst>
          </a:prstGeom>
          <a:solidFill>
            <a:schemeClr val="accent3">
              <a:alpha val="12000"/>
            </a:schemeClr>
          </a:solidFill>
          <a:ln/>
        </p:spPr>
      </p:sp>
      <p:sp>
        <p:nvSpPr>
          <p:cNvPr id="16" name="icon-bg-899"/>
          <p:cNvSpPr/>
          <p:nvPr/>
        </p:nvSpPr>
        <p:spPr>
          <a:xfrm>
            <a:off x="685800" y="5157216"/>
            <a:ext cx="384048" cy="384048"/>
          </a:xfrm>
          <a:prstGeom prst="ellipse">
            <a:avLst/>
          </a:prstGeom>
          <a:solidFill>
            <a:schemeClr val="accent3"/>
          </a:solidFill>
          <a:ln/>
        </p:spPr>
      </p:sp>
      <p:pic>
        <p:nvPicPr>
          <p:cNvPr id="17" name="icon-900" descr="preencoded.png">    </p:cNvPr>
          <p:cNvPicPr>
            <a:picLocks noChangeAspect="1"/>
          </p:cNvPicPr>
          <p:nvPr/>
        </p:nvPicPr>
        <p:blipFill>
          <a:blip r:embed="rId3"/>
          <a:stretch>
            <a:fillRect/>
          </a:stretch>
        </p:blipFill>
        <p:spPr>
          <a:xfrm>
            <a:off x="774131" y="5245547"/>
            <a:ext cx="207386" cy="207386"/>
          </a:xfrm>
          <a:prstGeom prst="rect">
            <a:avLst/>
          </a:prstGeom>
        </p:spPr>
      </p:pic>
      <p:sp>
        <p:nvSpPr>
          <p:cNvPr id="18" name="text-901"/>
          <p:cNvSpPr txBox="1"/>
          <p:nvPr/>
        </p:nvSpPr>
        <p:spPr>
          <a:xfrm>
            <a:off x="1234440" y="4983480"/>
            <a:ext cx="10225735" cy="731520"/>
          </a:xfrm>
          <a:prstGeom prst="rect">
            <a:avLst/>
          </a:prstGeom>
          <a:noFill/>
          <a:ln/>
        </p:spPr>
        <p:txBody>
          <a:bodyPr wrap="square" lIns="0" tIns="0" rIns="0" bIns="0" rtlCol="0" anchor="ctr"/>
          <a:lstStyle/>
          <a:p>
            <a:pPr indent="0" marL="0">
              <a:buNone/>
            </a:pPr>
            <a:r>
              <a:rPr lang="en-US" sz="1700" b="1" dirty="0">
                <a:solidFill>
                  <a:schemeClr val="tx1"/>
                </a:solidFill>
              </a:rPr>
              <a:t>Check one equation</a:t>
            </a:r>
            <a:pPr indent="0" marL="0">
              <a:buNone/>
            </a:pPr>
            <a:r>
              <a:rPr lang="en-US" sz="1700" dirty="0">
                <a:solidFill>
                  <a:schemeClr val="tx1"/>
                </a:solidFill>
              </a:rPr>
              <a:t>, e.g. (2):  −60.126 + 2.052743 × 53.422 − 49.537 ≈ 0</a:t>
            </a:r>
            <a:endParaRPr lang="en-US" sz="17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902"/>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5: RESULTS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By hand, within 0.07 °C of the exact answer</a:t>
            </a:r>
            <a:endParaRPr lang="en-US" sz="3200" dirty="0"/>
          </a:p>
        </p:txBody>
      </p:sp>
      <p:graphicFrame>
        <p:nvGraphicFramePr>
          <p:cNvPr id="34" name="table-903"/>
          <p:cNvGraphicFramePr>
            <a:graphicFrameLocks noGrp="1"/>
          </p:cNvGraphicFramePr>
          <p:nvPr>
            <p:extLst>
              <p:ext uri="{D42A27DB-BD31-4B8C-83A1-F6EECF244321}">
                <p14:modId xmlns:p14="http://schemas.microsoft.com/office/powerpoint/2010/main" val="1579011935"/>
              </p:ext>
            </p:extLst>
          </p:nvPr>
        </p:nvGraphicFramePr>
        <p:xfrm>
          <a:off x="548640" y="1417320"/>
          <a:ext cx="5760720" cy="914400"/>
        </p:xfrm>
        <a:graphic>
          <a:graphicData uri="http://schemas.openxmlformats.org/drawingml/2006/table">
            <a:tbl>
              <a:tblPr/>
              <a:tblGrid>
                <a:gridCol w="822960"/>
                <a:gridCol w="1005840"/>
                <a:gridCol w="1325880"/>
                <a:gridCol w="1325880"/>
                <a:gridCol w="1280160"/>
              </a:tblGrid>
              <a:tr h="384048">
                <a:tc>
                  <a:txBody>
                    <a:bodyPr/>
                    <a:lstStyle/>
                    <a:p>
                      <a:pPr algn="ctr" indent="0" marL="0">
                        <a:buNone/>
                      </a:pPr>
                      <a:r>
                        <a:rPr lang="en-US" sz="1400" b="1" dirty="0">
                          <a:solidFill>
                            <a:schemeClr val="bg1"/>
                          </a:solidFill>
                        </a:rPr>
                        <a:t>node</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x [cm]</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by hand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exact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error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384048">
                <a:tc>
                  <a:txBody>
                    <a:bodyPr/>
                    <a:lstStyle/>
                    <a:p>
                      <a:pPr algn="ctr" indent="0" marL="0">
                        <a:buNone/>
                      </a:pPr>
                      <a:r>
                        <a:rPr lang="en-US" sz="1400" dirty="0">
                          <a:solidFill>
                            <a:schemeClr val="tx1"/>
                          </a:solidFill>
                        </a:rPr>
                        <a:t>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100.00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100.00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rPr>
                        <a:t>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2.5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90.13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90.09</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+0.03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ctr" indent="0" marL="0">
                        <a:buNone/>
                      </a:pPr>
                      <a:r>
                        <a:rPr lang="en-US" sz="1400" dirty="0">
                          <a:solidFill>
                            <a:schemeClr val="tx1"/>
                          </a:solidFill>
                        </a:rPr>
                        <a:t>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5.0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83.42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83.37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+0.05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ctr" indent="0" marL="0">
                        <a:buNone/>
                      </a:pPr>
                      <a:r>
                        <a:rPr lang="en-US" sz="1400" dirty="0">
                          <a:solidFill>
                            <a:schemeClr val="tx1"/>
                          </a:solidFill>
                        </a:rPr>
                        <a:t>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7.5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79.54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79.47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+0.07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ctr" indent="0" marL="0">
                        <a:buNone/>
                      </a:pPr>
                      <a:r>
                        <a:rPr lang="en-US" sz="1400" dirty="0">
                          <a:solidFill>
                            <a:schemeClr val="tx1"/>
                          </a:solidFill>
                        </a:rPr>
                        <a:t>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10.0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78.26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78.19</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+0.07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bl>
          </a:graphicData>
        </a:graphic>
      </p:graphicFrame>
      <p:sp>
        <p:nvSpPr>
          <p:cNvPr id="5" name="text-904"/>
          <p:cNvSpPr txBox="1"/>
          <p:nvPr/>
        </p:nvSpPr>
        <p:spPr>
          <a:xfrm>
            <a:off x="548640" y="3886200"/>
            <a:ext cx="274320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EXACT SOLUTION</a:t>
            </a:r>
            <a:endParaRPr lang="en-US" sz="1150" dirty="0"/>
          </a:p>
        </p:txBody>
      </p:sp>
      <p:pic>
        <p:nvPicPr>
          <p:cNvPr id="6" name="eq-905" descr="fin_exact">    </p:cNvPr>
          <p:cNvPicPr>
            <a:picLocks noChangeAspect="1"/>
          </p:cNvPicPr>
          <p:nvPr/>
        </p:nvPicPr>
        <p:blipFill>
          <a:blip r:embed="rId1"/>
          <a:stretch>
            <a:fillRect/>
          </a:stretch>
        </p:blipFill>
        <p:spPr>
          <a:xfrm>
            <a:off x="548640" y="4256532"/>
            <a:ext cx="2063496" cy="493776"/>
          </a:xfrm>
          <a:prstGeom prst="rect">
            <a:avLst/>
          </a:prstGeom>
        </p:spPr>
      </p:pic>
      <p:sp>
        <p:nvSpPr>
          <p:cNvPr id="7" name="text-906"/>
          <p:cNvSpPr txBox="1"/>
          <p:nvPr/>
        </p:nvSpPr>
        <p:spPr>
          <a:xfrm>
            <a:off x="3977640" y="4160520"/>
            <a:ext cx="2377440" cy="685800"/>
          </a:xfrm>
          <a:prstGeom prst="rect">
            <a:avLst/>
          </a:prstGeom>
          <a:noFill/>
          <a:ln/>
        </p:spPr>
        <p:txBody>
          <a:bodyPr wrap="square" lIns="0" tIns="0" rIns="0" bIns="0" rtlCol="0" anchor="ctr"/>
          <a:lstStyle/>
          <a:p>
            <a:pPr indent="0" marL="0">
              <a:buNone/>
            </a:pPr>
            <a:r>
              <a:rPr lang="en-US" sz="1350" dirty="0">
                <a:solidFill>
                  <a:schemeClr val="tx2"/>
                </a:solidFill>
              </a:rPr>
              <a:t>m = 9.1863 m</a:t>
            </a:r>
            <a:pPr indent="0" marL="0">
              <a:buNone/>
            </a:pPr>
            <a:r>
              <a:rPr lang="en-US" sz="1350" baseline="30000" dirty="0">
                <a:solidFill>
                  <a:schemeClr val="tx2"/>
                </a:solidFill>
              </a:rPr>
              <a:t>−1</a:t>
            </a:r>
            <a:pPr indent="0" marL="0">
              <a:buNone/>
            </a:pPr>
            <a:r>
              <a:rPr lang="en-US" sz="1350" dirty="0">
                <a:solidFill>
                  <a:schemeClr val="tx2"/>
                </a:solidFill>
              </a:rPr>
              <a:t>,  mL = 0.9186</a:t>
            </a:r>
            <a:endParaRPr lang="en-US" sz="1350" dirty="0"/>
          </a:p>
        </p:txBody>
      </p:sp>
      <p:sp>
        <p:nvSpPr>
          <p:cNvPr id="8" name="card-907"/>
          <p:cNvSpPr/>
          <p:nvPr/>
        </p:nvSpPr>
        <p:spPr>
          <a:xfrm>
            <a:off x="6583680" y="1371600"/>
            <a:ext cx="5056632" cy="2743200"/>
          </a:xfrm>
          <a:prstGeom prst="roundRect">
            <a:avLst>
              <a:gd name="adj" fmla="val 3333"/>
            </a:avLst>
          </a:prstGeom>
          <a:solidFill>
            <a:schemeClr val="bg1"/>
          </a:solidFill>
          <a:ln w="9525">
            <a:solidFill>
              <a:schemeClr val="accent4">
                <a:alpha val="35000"/>
              </a:schemeClr>
            </a:solidFill>
            <a:prstDash val="solid"/>
          </a:ln>
        </p:spPr>
      </p:sp>
      <p:pic>
        <p:nvPicPr>
          <p:cNvPr id="9" name="img-908" descr="Hand solution points on the exact temperature curve">    </p:cNvPr>
          <p:cNvPicPr>
            <a:picLocks noChangeAspect="1"/>
          </p:cNvPicPr>
          <p:nvPr/>
        </p:nvPicPr>
        <p:blipFill>
          <a:blip r:embed="rId2"/>
          <a:stretch>
            <a:fillRect/>
          </a:stretch>
        </p:blipFill>
        <p:spPr>
          <a:xfrm>
            <a:off x="6629400" y="1501902"/>
            <a:ext cx="4965192" cy="2482596"/>
          </a:xfrm>
          <a:prstGeom prst="rect">
            <a:avLst/>
          </a:prstGeom>
        </p:spPr>
      </p:pic>
      <p:sp>
        <p:nvSpPr>
          <p:cNvPr id="10" name="card-909"/>
          <p:cNvSpPr/>
          <p:nvPr/>
        </p:nvSpPr>
        <p:spPr>
          <a:xfrm>
            <a:off x="548640" y="4983480"/>
            <a:ext cx="3566160" cy="1188720"/>
          </a:xfrm>
          <a:prstGeom prst="roundRect">
            <a:avLst>
              <a:gd name="adj" fmla="val 7692"/>
            </a:avLst>
          </a:prstGeom>
          <a:solidFill>
            <a:schemeClr val="bg2"/>
          </a:solidFill>
          <a:ln/>
        </p:spPr>
      </p:sp>
      <p:sp>
        <p:nvSpPr>
          <p:cNvPr id="11" name="text-910"/>
          <p:cNvSpPr txBox="1"/>
          <p:nvPr/>
        </p:nvSpPr>
        <p:spPr>
          <a:xfrm>
            <a:off x="777240" y="5093208"/>
            <a:ext cx="3108960" cy="653796"/>
          </a:xfrm>
          <a:prstGeom prst="rect">
            <a:avLst/>
          </a:prstGeom>
          <a:noFill/>
          <a:ln/>
        </p:spPr>
        <p:txBody>
          <a:bodyPr wrap="square" lIns="0" tIns="0" rIns="0" bIns="0" rtlCol="0" anchor="b"/>
          <a:lstStyle/>
          <a:p>
            <a:pPr indent="0" marL="0">
              <a:buNone/>
            </a:pPr>
            <a:r>
              <a:rPr lang="en-US" sz="3000" b="1" dirty="0">
                <a:solidFill>
                  <a:schemeClr val="accent2"/>
                </a:solidFill>
              </a:rPr>
              <a:t>0.07 °C</a:t>
            </a:r>
            <a:endParaRPr lang="en-US" sz="3000" dirty="0"/>
          </a:p>
        </p:txBody>
      </p:sp>
      <p:sp>
        <p:nvSpPr>
          <p:cNvPr id="12" name="text-911"/>
          <p:cNvSpPr txBox="1"/>
          <p:nvPr/>
        </p:nvSpPr>
        <p:spPr>
          <a:xfrm>
            <a:off x="777240" y="5747004"/>
            <a:ext cx="3108960" cy="365760"/>
          </a:xfrm>
          <a:prstGeom prst="rect">
            <a:avLst/>
          </a:prstGeom>
          <a:noFill/>
          <a:ln/>
        </p:spPr>
        <p:txBody>
          <a:bodyPr wrap="square" lIns="0" tIns="0" rIns="0" bIns="0" rtlCol="0" anchor="t"/>
          <a:lstStyle/>
          <a:p>
            <a:pPr indent="0" marL="0">
              <a:buNone/>
            </a:pPr>
            <a:r>
              <a:rPr lang="en-US" sz="1300" dirty="0">
                <a:solidFill>
                  <a:schemeClr val="tx2"/>
                </a:solidFill>
              </a:rPr>
              <a:t>largest error, with only 4 unknowns</a:t>
            </a:r>
            <a:endParaRPr lang="en-US" sz="1300" dirty="0"/>
          </a:p>
        </p:txBody>
      </p:sp>
      <p:sp>
        <p:nvSpPr>
          <p:cNvPr id="13" name="card-912"/>
          <p:cNvSpPr/>
          <p:nvPr/>
        </p:nvSpPr>
        <p:spPr>
          <a:xfrm>
            <a:off x="4315968" y="4983480"/>
            <a:ext cx="3566160" cy="1188720"/>
          </a:xfrm>
          <a:prstGeom prst="roundRect">
            <a:avLst>
              <a:gd name="adj" fmla="val 7692"/>
            </a:avLst>
          </a:prstGeom>
          <a:solidFill>
            <a:schemeClr val="bg2"/>
          </a:solidFill>
          <a:ln/>
        </p:spPr>
      </p:sp>
      <p:sp>
        <p:nvSpPr>
          <p:cNvPr id="14" name="text-913"/>
          <p:cNvSpPr txBox="1"/>
          <p:nvPr/>
        </p:nvSpPr>
        <p:spPr>
          <a:xfrm>
            <a:off x="4544568" y="5093208"/>
            <a:ext cx="3108960" cy="653796"/>
          </a:xfrm>
          <a:prstGeom prst="rect">
            <a:avLst/>
          </a:prstGeom>
          <a:noFill/>
          <a:ln/>
        </p:spPr>
        <p:txBody>
          <a:bodyPr wrap="square" lIns="0" tIns="0" rIns="0" bIns="0" rtlCol="0" anchor="b"/>
          <a:lstStyle/>
          <a:p>
            <a:pPr indent="0" marL="0">
              <a:buNone/>
            </a:pPr>
            <a:r>
              <a:rPr lang="en-US" sz="3000" b="1" dirty="0">
                <a:solidFill>
                  <a:schemeClr val="tx1"/>
                </a:solidFill>
              </a:rPr>
              <a:t>2.18 W</a:t>
            </a:r>
            <a:endParaRPr lang="en-US" sz="3000" dirty="0"/>
          </a:p>
        </p:txBody>
      </p:sp>
      <p:sp>
        <p:nvSpPr>
          <p:cNvPr id="15" name="text-914"/>
          <p:cNvSpPr txBox="1"/>
          <p:nvPr/>
        </p:nvSpPr>
        <p:spPr>
          <a:xfrm>
            <a:off x="4544568" y="5747004"/>
            <a:ext cx="3108960" cy="365760"/>
          </a:xfrm>
          <a:prstGeom prst="rect">
            <a:avLst/>
          </a:prstGeom>
          <a:noFill/>
          <a:ln/>
        </p:spPr>
        <p:txBody>
          <a:bodyPr wrap="square" lIns="0" tIns="0" rIns="0" bIns="0" rtlCol="0" anchor="t"/>
          <a:lstStyle/>
          <a:p>
            <a:pPr indent="0" marL="0">
              <a:buNone/>
            </a:pPr>
            <a:r>
              <a:rPr lang="en-US" sz="1300" dirty="0">
                <a:solidFill>
                  <a:schemeClr val="tx2"/>
                </a:solidFill>
              </a:rPr>
              <a:t>heat lost by the fin (exact 2.17 W)</a:t>
            </a:r>
            <a:endParaRPr lang="en-US" sz="1300" dirty="0"/>
          </a:p>
        </p:txBody>
      </p:sp>
      <p:sp>
        <p:nvSpPr>
          <p:cNvPr id="16" name="card-915"/>
          <p:cNvSpPr/>
          <p:nvPr/>
        </p:nvSpPr>
        <p:spPr>
          <a:xfrm>
            <a:off x="8083296" y="4983480"/>
            <a:ext cx="3566160" cy="1188720"/>
          </a:xfrm>
          <a:prstGeom prst="roundRect">
            <a:avLst>
              <a:gd name="adj" fmla="val 7692"/>
            </a:avLst>
          </a:prstGeom>
          <a:solidFill>
            <a:schemeClr val="bg2"/>
          </a:solidFill>
          <a:ln/>
        </p:spPr>
      </p:sp>
      <p:sp>
        <p:nvSpPr>
          <p:cNvPr id="17" name="text-916"/>
          <p:cNvSpPr txBox="1"/>
          <p:nvPr/>
        </p:nvSpPr>
        <p:spPr>
          <a:xfrm>
            <a:off x="8311896" y="5093208"/>
            <a:ext cx="3108960" cy="653796"/>
          </a:xfrm>
          <a:prstGeom prst="rect">
            <a:avLst/>
          </a:prstGeom>
          <a:noFill/>
          <a:ln/>
        </p:spPr>
        <p:txBody>
          <a:bodyPr wrap="square" lIns="0" tIns="0" rIns="0" bIns="0" rtlCol="0" anchor="b"/>
          <a:lstStyle/>
          <a:p>
            <a:pPr indent="0" marL="0">
              <a:buNone/>
            </a:pPr>
            <a:r>
              <a:rPr lang="en-US" sz="3000" b="1" dirty="0">
                <a:solidFill>
                  <a:schemeClr val="tx1"/>
                </a:solidFill>
              </a:rPr>
              <a:t>≈ 0.5 %</a:t>
            </a:r>
            <a:endParaRPr lang="en-US" sz="3000" dirty="0"/>
          </a:p>
        </p:txBody>
      </p:sp>
      <p:sp>
        <p:nvSpPr>
          <p:cNvPr id="18" name="text-917"/>
          <p:cNvSpPr txBox="1"/>
          <p:nvPr/>
        </p:nvSpPr>
        <p:spPr>
          <a:xfrm>
            <a:off x="8311896" y="5747004"/>
            <a:ext cx="3108960" cy="365760"/>
          </a:xfrm>
          <a:prstGeom prst="rect">
            <a:avLst/>
          </a:prstGeom>
          <a:noFill/>
          <a:ln/>
        </p:spPr>
        <p:txBody>
          <a:bodyPr wrap="square" lIns="0" tIns="0" rIns="0" bIns="0" rtlCol="0" anchor="t"/>
          <a:lstStyle/>
          <a:p>
            <a:pPr indent="0" marL="0">
              <a:buNone/>
            </a:pPr>
            <a:r>
              <a:rPr lang="en-US" sz="1300" dirty="0">
                <a:solidFill>
                  <a:schemeClr val="tx2"/>
                </a:solidFill>
              </a:rPr>
              <a:t>error of the heat loss</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91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VERIFICATION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Second-order accuracy, seen by hand</a:t>
            </a:r>
            <a:endParaRPr lang="en-US" sz="3200" dirty="0"/>
          </a:p>
        </p:txBody>
      </p:sp>
      <p:sp>
        <p:nvSpPr>
          <p:cNvPr id="4" name="card-919"/>
          <p:cNvSpPr/>
          <p:nvPr/>
        </p:nvSpPr>
        <p:spPr>
          <a:xfrm>
            <a:off x="548640" y="1463040"/>
            <a:ext cx="2286000"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text-920"/>
          <p:cNvSpPr txBox="1"/>
          <p:nvPr/>
        </p:nvSpPr>
        <p:spPr>
          <a:xfrm>
            <a:off x="777240" y="1572768"/>
            <a:ext cx="1828800" cy="779526"/>
          </a:xfrm>
          <a:prstGeom prst="rect">
            <a:avLst/>
          </a:prstGeom>
          <a:noFill/>
          <a:ln/>
        </p:spPr>
        <p:txBody>
          <a:bodyPr wrap="square" lIns="0" tIns="0" rIns="0" bIns="0" rtlCol="0" anchor="b"/>
          <a:lstStyle/>
          <a:p>
            <a:pPr indent="0" marL="0">
              <a:buNone/>
            </a:pPr>
            <a:r>
              <a:rPr lang="en-US" sz="3000" b="1" dirty="0">
                <a:solidFill>
                  <a:schemeClr val="tx1"/>
                </a:solidFill>
              </a:rPr>
              <a:t>0.28 °C</a:t>
            </a:r>
            <a:endParaRPr lang="en-US" sz="3000" dirty="0"/>
          </a:p>
        </p:txBody>
      </p:sp>
      <p:sp>
        <p:nvSpPr>
          <p:cNvPr id="6" name="text-921"/>
          <p:cNvSpPr txBox="1"/>
          <p:nvPr/>
        </p:nvSpPr>
        <p:spPr>
          <a:xfrm>
            <a:off x="777240" y="2352294"/>
            <a:ext cx="1828800" cy="457200"/>
          </a:xfrm>
          <a:prstGeom prst="rect">
            <a:avLst/>
          </a:prstGeom>
          <a:noFill/>
          <a:ln/>
        </p:spPr>
        <p:txBody>
          <a:bodyPr wrap="square" lIns="0" tIns="0" rIns="0" bIns="0" rtlCol="0" anchor="t"/>
          <a:lstStyle/>
          <a:p>
            <a:pPr indent="0" marL="0">
              <a:buNone/>
            </a:pPr>
            <a:r>
              <a:rPr lang="en-US" sz="1300" dirty="0">
                <a:solidFill>
                  <a:schemeClr val="tx2"/>
                </a:solidFill>
              </a:rPr>
              <a:t>tip error, 2 intervals</a:t>
            </a:r>
            <a:endParaRPr lang="en-US" sz="1300" dirty="0"/>
          </a:p>
        </p:txBody>
      </p:sp>
      <p:sp>
        <p:nvSpPr>
          <p:cNvPr id="7" name="arrow-922"/>
          <p:cNvSpPr/>
          <p:nvPr/>
        </p:nvSpPr>
        <p:spPr>
          <a:xfrm>
            <a:off x="2926080" y="2194560"/>
            <a:ext cx="868680" cy="0"/>
          </a:xfrm>
          <a:prstGeom prst="line">
            <a:avLst/>
          </a:prstGeom>
          <a:noFill/>
          <a:ln w="38100">
            <a:solidFill>
              <a:schemeClr val="accent2"/>
            </a:solidFill>
            <a:prstDash val="solid"/>
            <a:tailEnd type="triangle"/>
          </a:ln>
        </p:spPr>
      </p:sp>
      <p:sp>
        <p:nvSpPr>
          <p:cNvPr id="8" name="text-923"/>
          <p:cNvSpPr txBox="1"/>
          <p:nvPr/>
        </p:nvSpPr>
        <p:spPr>
          <a:xfrm>
            <a:off x="2788920" y="1783080"/>
            <a:ext cx="1143000" cy="320040"/>
          </a:xfrm>
          <a:prstGeom prst="rect">
            <a:avLst/>
          </a:prstGeom>
          <a:noFill/>
          <a:ln/>
        </p:spPr>
        <p:txBody>
          <a:bodyPr wrap="square" lIns="0" tIns="0" rIns="0" bIns="0" rtlCol="0" anchor="t"/>
          <a:lstStyle/>
          <a:p>
            <a:pPr algn="ctr" indent="0" marL="0">
              <a:buNone/>
            </a:pPr>
            <a:r>
              <a:rPr lang="en-US" sz="1300" b="1" dirty="0">
                <a:solidFill>
                  <a:schemeClr val="accent2"/>
                </a:solidFill>
              </a:rPr>
              <a:t>halve Δx</a:t>
            </a:r>
            <a:endParaRPr lang="en-US" sz="1300" dirty="0"/>
          </a:p>
        </p:txBody>
      </p:sp>
      <p:sp>
        <p:nvSpPr>
          <p:cNvPr id="9" name="card-924"/>
          <p:cNvSpPr/>
          <p:nvPr/>
        </p:nvSpPr>
        <p:spPr>
          <a:xfrm>
            <a:off x="3931920" y="1463040"/>
            <a:ext cx="2286000"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text-925"/>
          <p:cNvSpPr txBox="1"/>
          <p:nvPr/>
        </p:nvSpPr>
        <p:spPr>
          <a:xfrm>
            <a:off x="4160520" y="1572768"/>
            <a:ext cx="1828800" cy="779526"/>
          </a:xfrm>
          <a:prstGeom prst="rect">
            <a:avLst/>
          </a:prstGeom>
          <a:noFill/>
          <a:ln/>
        </p:spPr>
        <p:txBody>
          <a:bodyPr wrap="square" lIns="0" tIns="0" rIns="0" bIns="0" rtlCol="0" anchor="b"/>
          <a:lstStyle/>
          <a:p>
            <a:pPr indent="0" marL="0">
              <a:buNone/>
            </a:pPr>
            <a:r>
              <a:rPr lang="en-US" sz="3000" b="1" dirty="0">
                <a:solidFill>
                  <a:schemeClr val="accent2"/>
                </a:solidFill>
              </a:rPr>
              <a:t>0.07 °C</a:t>
            </a:r>
            <a:endParaRPr lang="en-US" sz="3000" dirty="0"/>
          </a:p>
        </p:txBody>
      </p:sp>
      <p:sp>
        <p:nvSpPr>
          <p:cNvPr id="11" name="text-926"/>
          <p:cNvSpPr txBox="1"/>
          <p:nvPr/>
        </p:nvSpPr>
        <p:spPr>
          <a:xfrm>
            <a:off x="4160520" y="2352294"/>
            <a:ext cx="1828800" cy="457200"/>
          </a:xfrm>
          <a:prstGeom prst="rect">
            <a:avLst/>
          </a:prstGeom>
          <a:noFill/>
          <a:ln/>
        </p:spPr>
        <p:txBody>
          <a:bodyPr wrap="square" lIns="0" tIns="0" rIns="0" bIns="0" rtlCol="0" anchor="t"/>
          <a:lstStyle/>
          <a:p>
            <a:pPr indent="0" marL="0">
              <a:buNone/>
            </a:pPr>
            <a:r>
              <a:rPr lang="en-US" sz="1300" dirty="0">
                <a:solidFill>
                  <a:schemeClr val="tx2"/>
                </a:solidFill>
              </a:rPr>
              <a:t>tip error, 4 intervals</a:t>
            </a:r>
            <a:endParaRPr lang="en-US" sz="1300" dirty="0"/>
          </a:p>
        </p:txBody>
      </p:sp>
      <p:sp>
        <p:nvSpPr>
          <p:cNvPr id="12" name="card-927"/>
          <p:cNvSpPr/>
          <p:nvPr/>
        </p:nvSpPr>
        <p:spPr>
          <a:xfrm>
            <a:off x="548640" y="3154680"/>
            <a:ext cx="5669280" cy="1463040"/>
          </a:xfrm>
          <a:prstGeom prst="roundRect">
            <a:avLst>
              <a:gd name="adj" fmla="val 6250"/>
            </a:avLst>
          </a:prstGeom>
          <a:solidFill>
            <a:schemeClr val="tx1"/>
          </a:solidFill>
          <a:ln/>
          <a:effectLst>
            <a:outerShdw sx="100000" sy="100000" kx="0" ky="0" algn="bl" rotWithShape="0" blurRad="88900" dist="19050" dir="5400000">
              <a:srgbClr val="0B2E47">
                <a:alpha val="12000"/>
              </a:srgbClr>
            </a:outerShdw>
          </a:effectLst>
        </p:spPr>
      </p:sp>
      <p:sp>
        <p:nvSpPr>
          <p:cNvPr id="13" name="text-928"/>
          <p:cNvSpPr txBox="1"/>
          <p:nvPr/>
        </p:nvSpPr>
        <p:spPr>
          <a:xfrm>
            <a:off x="731520" y="3154680"/>
            <a:ext cx="1463040" cy="1463040"/>
          </a:xfrm>
          <a:prstGeom prst="rect">
            <a:avLst/>
          </a:prstGeom>
          <a:noFill/>
          <a:ln/>
        </p:spPr>
        <p:txBody>
          <a:bodyPr wrap="square" lIns="0" tIns="0" rIns="0" bIns="0" rtlCol="0" anchor="ctr"/>
          <a:lstStyle/>
          <a:p>
            <a:pPr algn="ctr" indent="0" marL="0">
              <a:buNone/>
            </a:pPr>
            <a:r>
              <a:rPr lang="en-US" sz="5400" b="1" dirty="0">
                <a:solidFill>
                  <a:schemeClr val="accent2"/>
                </a:solidFill>
              </a:rPr>
              <a:t>÷4</a:t>
            </a:r>
            <a:endParaRPr lang="en-US" sz="5400" dirty="0"/>
          </a:p>
        </p:txBody>
      </p:sp>
      <p:sp>
        <p:nvSpPr>
          <p:cNvPr id="14" name="text-929"/>
          <p:cNvSpPr txBox="1"/>
          <p:nvPr/>
        </p:nvSpPr>
        <p:spPr>
          <a:xfrm>
            <a:off x="2331720" y="3154680"/>
            <a:ext cx="3703320" cy="1463040"/>
          </a:xfrm>
          <a:prstGeom prst="rect">
            <a:avLst/>
          </a:prstGeom>
          <a:noFill/>
          <a:ln/>
        </p:spPr>
        <p:txBody>
          <a:bodyPr wrap="square" lIns="0" tIns="0" rIns="0" bIns="0" rtlCol="0" anchor="ctr"/>
          <a:lstStyle/>
          <a:p>
            <a:pPr indent="0" marL="0">
              <a:buNone/>
            </a:pPr>
            <a:r>
              <a:rPr lang="en-US" sz="1600" dirty="0">
                <a:solidFill>
                  <a:schemeClr val="bg1"/>
                </a:solidFill>
              </a:rPr>
              <a:t>Halving Δx divides the error by 4: </a:t>
            </a:r>
            <a:pPr indent="0" marL="0">
              <a:buNone/>
            </a:pPr>
            <a:r>
              <a:rPr lang="en-US" sz="1600" b="1" dirty="0">
                <a:solidFill>
                  <a:schemeClr val="bg1"/>
                </a:solidFill>
              </a:rPr>
              <a:t>second-order accuracy</a:t>
            </a:r>
            <a:pPr indent="0" marL="0">
              <a:buNone/>
            </a:pPr>
            <a:r>
              <a:rPr lang="en-US" sz="1600" dirty="0">
                <a:solidFill>
                  <a:schemeClr val="bg1"/>
                </a:solidFill>
              </a:rPr>
              <a:t>, exactly as the Taylor series predicted.</a:t>
            </a:r>
            <a:endParaRPr lang="en-US" sz="1600" dirty="0"/>
          </a:p>
        </p:txBody>
      </p:sp>
      <p:sp>
        <p:nvSpPr>
          <p:cNvPr id="15" name="text-930"/>
          <p:cNvSpPr txBox="1"/>
          <p:nvPr/>
        </p:nvSpPr>
        <p:spPr>
          <a:xfrm>
            <a:off x="548640" y="4846320"/>
            <a:ext cx="5669280" cy="594360"/>
          </a:xfrm>
          <a:prstGeom prst="rect">
            <a:avLst/>
          </a:prstGeom>
          <a:noFill/>
          <a:ln/>
        </p:spPr>
        <p:txBody>
          <a:bodyPr wrap="square" lIns="0" tIns="0" rIns="0" bIns="0" rtlCol="0" anchor="t"/>
          <a:lstStyle/>
          <a:p>
            <a:pPr indent="0" marL="0">
              <a:buNone/>
            </a:pPr>
            <a:r>
              <a:rPr lang="en-US" sz="1300" dirty="0">
                <a:solidFill>
                  <a:schemeClr val="tx2"/>
                </a:solidFill>
              </a:rPr>
              <a:t>2 intervals: B = 2.210970 → T</a:t>
            </a:r>
            <a:pPr indent="0" marL="0">
              <a:buNone/>
            </a:pPr>
            <a:r>
              <a:rPr lang="en-US" sz="1300" baseline="-40000" dirty="0">
                <a:solidFill>
                  <a:schemeClr val="tx2"/>
                </a:solidFill>
              </a:rPr>
              <a:t>1</a:t>
            </a:r>
            <a:pPr indent="0" marL="0">
              <a:buNone/>
            </a:pPr>
            <a:r>
              <a:rPr lang="en-US" sz="1300" dirty="0">
                <a:solidFill>
                  <a:schemeClr val="tx2"/>
                </a:solidFill>
              </a:rPr>
              <a:t> = 83.58 °C, T</a:t>
            </a:r>
            <a:pPr indent="0" marL="0">
              <a:buNone/>
            </a:pPr>
            <a:r>
              <a:rPr lang="en-US" sz="1300" baseline="-40000" dirty="0">
                <a:solidFill>
                  <a:schemeClr val="tx2"/>
                </a:solidFill>
              </a:rPr>
              <a:t>tip</a:t>
            </a:r>
            <a:pPr indent="0" marL="0">
              <a:buNone/>
            </a:pPr>
            <a:r>
              <a:rPr lang="en-US" sz="1300" dirty="0">
                <a:solidFill>
                  <a:schemeClr val="tx2"/>
                </a:solidFill>
              </a:rPr>
              <a:t> = 78.47 °C (exact 83.37 and 78.19 °C)</a:t>
            </a:r>
            <a:endParaRPr lang="en-US" sz="1300" dirty="0"/>
          </a:p>
        </p:txBody>
      </p:sp>
      <p:sp>
        <p:nvSpPr>
          <p:cNvPr id="16" name="card-931"/>
          <p:cNvSpPr/>
          <p:nvPr/>
        </p:nvSpPr>
        <p:spPr>
          <a:xfrm>
            <a:off x="6537960" y="1371600"/>
            <a:ext cx="5102352" cy="3429000"/>
          </a:xfrm>
          <a:prstGeom prst="roundRect">
            <a:avLst>
              <a:gd name="adj" fmla="val 2667"/>
            </a:avLst>
          </a:prstGeom>
          <a:solidFill>
            <a:schemeClr val="bg1"/>
          </a:solidFill>
          <a:ln w="9525">
            <a:solidFill>
              <a:schemeClr val="accent4">
                <a:alpha val="35000"/>
              </a:schemeClr>
            </a:solidFill>
            <a:prstDash val="solid"/>
          </a:ln>
        </p:spPr>
      </p:sp>
      <p:pic>
        <p:nvPicPr>
          <p:cNvPr id="17" name="img-932" descr="Largest error against grid spacing on log axes, slope 2">    </p:cNvPr>
          <p:cNvPicPr>
            <a:picLocks noChangeAspect="1"/>
          </p:cNvPicPr>
          <p:nvPr/>
        </p:nvPicPr>
        <p:blipFill>
          <a:blip r:embed="rId1"/>
          <a:stretch>
            <a:fillRect/>
          </a:stretch>
        </p:blipFill>
        <p:spPr>
          <a:xfrm>
            <a:off x="6583680" y="1510727"/>
            <a:ext cx="5010912" cy="3150746"/>
          </a:xfrm>
          <a:prstGeom prst="rect">
            <a:avLst/>
          </a:prstGeom>
        </p:spPr>
      </p:pic>
      <p:sp>
        <p:nvSpPr>
          <p:cNvPr id="18" name="text-933"/>
          <p:cNvSpPr txBox="1"/>
          <p:nvPr/>
        </p:nvSpPr>
        <p:spPr>
          <a:xfrm>
            <a:off x="6537960" y="4937760"/>
            <a:ext cx="5102352" cy="594360"/>
          </a:xfrm>
          <a:prstGeom prst="rect">
            <a:avLst/>
          </a:prstGeom>
          <a:noFill/>
          <a:ln/>
        </p:spPr>
        <p:txBody>
          <a:bodyPr wrap="square" lIns="0" tIns="0" rIns="0" bIns="0" rtlCol="0" anchor="t"/>
          <a:lstStyle/>
          <a:p>
            <a:pPr indent="0" marL="0">
              <a:buNone/>
            </a:pPr>
            <a:r>
              <a:rPr lang="en-US" sz="1350" dirty="0">
                <a:solidFill>
                  <a:schemeClr val="tx2"/>
                </a:solidFill>
              </a:rPr>
              <a:t>The notebook keeps halving Δx: the error falls 4× every time (slope 2 on log axes).</a:t>
            </a:r>
            <a:endParaRPr lang="en-US" sz="13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93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STEP 4B: ITERATE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Why we need computers: Gauss–Seidel</a:t>
            </a:r>
            <a:endParaRPr lang="en-US" sz="3200" dirty="0"/>
          </a:p>
        </p:txBody>
      </p:sp>
      <p:sp>
        <p:nvSpPr>
          <p:cNvPr id="4" name="card-935"/>
          <p:cNvSpPr/>
          <p:nvPr/>
        </p:nvSpPr>
        <p:spPr>
          <a:xfrm>
            <a:off x="548640" y="1371600"/>
            <a:ext cx="5669280" cy="1645920"/>
          </a:xfrm>
          <a:prstGeom prst="roundRect">
            <a:avLst>
              <a:gd name="adj" fmla="val 5556"/>
            </a:avLst>
          </a:prstGeom>
          <a:solidFill>
            <a:schemeClr val="bg2"/>
          </a:solidFill>
          <a:ln/>
        </p:spPr>
      </p:sp>
      <p:sp>
        <p:nvSpPr>
          <p:cNvPr id="5" name="text-936"/>
          <p:cNvSpPr txBox="1"/>
          <p:nvPr/>
        </p:nvSpPr>
        <p:spPr>
          <a:xfrm>
            <a:off x="731520" y="1444752"/>
            <a:ext cx="53949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SOLVE EACH EQUATION FOR ITS OWN NODE, SWEEP BASE → TIP</a:t>
            </a:r>
            <a:endParaRPr lang="en-US" sz="1100" dirty="0"/>
          </a:p>
        </p:txBody>
      </p:sp>
      <p:pic>
        <p:nvPicPr>
          <p:cNvPr id="6" name="eq-937" descr="gs1">    </p:cNvPr>
          <p:cNvPicPr>
            <a:picLocks noChangeAspect="1"/>
          </p:cNvPicPr>
          <p:nvPr/>
        </p:nvPicPr>
        <p:blipFill>
          <a:blip r:embed="rId1"/>
          <a:stretch>
            <a:fillRect/>
          </a:stretch>
        </p:blipFill>
        <p:spPr>
          <a:xfrm>
            <a:off x="731520" y="1818132"/>
            <a:ext cx="1344168" cy="432816"/>
          </a:xfrm>
          <a:prstGeom prst="rect">
            <a:avLst/>
          </a:prstGeom>
        </p:spPr>
      </p:pic>
      <p:pic>
        <p:nvPicPr>
          <p:cNvPr id="7" name="eq-938" descr="gs2">    </p:cNvPr>
          <p:cNvPicPr>
            <a:picLocks noChangeAspect="1"/>
          </p:cNvPicPr>
          <p:nvPr/>
        </p:nvPicPr>
        <p:blipFill>
          <a:blip r:embed="rId2"/>
          <a:stretch>
            <a:fillRect/>
          </a:stretch>
        </p:blipFill>
        <p:spPr>
          <a:xfrm>
            <a:off x="3429000" y="1818132"/>
            <a:ext cx="1319784" cy="432816"/>
          </a:xfrm>
          <a:prstGeom prst="rect">
            <a:avLst/>
          </a:prstGeom>
        </p:spPr>
      </p:pic>
      <p:pic>
        <p:nvPicPr>
          <p:cNvPr id="8" name="eq-939" descr="gs3">    </p:cNvPr>
          <p:cNvPicPr>
            <a:picLocks noChangeAspect="1"/>
          </p:cNvPicPr>
          <p:nvPr/>
        </p:nvPicPr>
        <p:blipFill>
          <a:blip r:embed="rId3"/>
          <a:stretch>
            <a:fillRect/>
          </a:stretch>
        </p:blipFill>
        <p:spPr>
          <a:xfrm>
            <a:off x="731520" y="2439924"/>
            <a:ext cx="1319784" cy="432816"/>
          </a:xfrm>
          <a:prstGeom prst="rect">
            <a:avLst/>
          </a:prstGeom>
        </p:spPr>
      </p:pic>
      <p:pic>
        <p:nvPicPr>
          <p:cNvPr id="9" name="eq-940" descr="gs4">    </p:cNvPr>
          <p:cNvPicPr>
            <a:picLocks noChangeAspect="1"/>
          </p:cNvPicPr>
          <p:nvPr/>
        </p:nvPicPr>
        <p:blipFill>
          <a:blip r:embed="rId4"/>
          <a:stretch>
            <a:fillRect/>
          </a:stretch>
        </p:blipFill>
        <p:spPr>
          <a:xfrm>
            <a:off x="3429000" y="2439924"/>
            <a:ext cx="1048512" cy="432816"/>
          </a:xfrm>
          <a:prstGeom prst="rect">
            <a:avLst/>
          </a:prstGeom>
        </p:spPr>
      </p:pic>
      <p:graphicFrame>
        <p:nvGraphicFramePr>
          <p:cNvPr id="36" name="table-941"/>
          <p:cNvGraphicFramePr>
            <a:graphicFrameLocks noGrp="1"/>
          </p:cNvGraphicFramePr>
          <p:nvPr>
            <p:extLst>
              <p:ext uri="{D42A27DB-BD31-4B8C-83A1-F6EECF244321}">
                <p14:modId xmlns:p14="http://schemas.microsoft.com/office/powerpoint/2010/main" val="1579011935"/>
              </p:ext>
            </p:extLst>
          </p:nvPr>
        </p:nvGraphicFramePr>
        <p:xfrm>
          <a:off x="548640" y="3154680"/>
          <a:ext cx="5669280" cy="914400"/>
        </p:xfrm>
        <a:graphic>
          <a:graphicData uri="http://schemas.openxmlformats.org/drawingml/2006/table">
            <a:tbl>
              <a:tblPr/>
              <a:tblGrid>
                <a:gridCol w="914400"/>
                <a:gridCol w="1188720"/>
                <a:gridCol w="1188720"/>
                <a:gridCol w="1188720"/>
                <a:gridCol w="1188720"/>
              </a:tblGrid>
              <a:tr h="329184">
                <a:tc>
                  <a:txBody>
                    <a:bodyPr/>
                    <a:lstStyle/>
                    <a:p>
                      <a:pPr algn="ctr" indent="0" marL="0">
                        <a:buNone/>
                      </a:pPr>
                      <a:r>
                        <a:rPr lang="en-US" sz="1300" b="1" dirty="0">
                          <a:solidFill>
                            <a:schemeClr val="bg1"/>
                          </a:solidFill>
                        </a:rPr>
                        <a:t>sweep</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T</a:t>
                      </a:r>
                      <a:pPr algn="ctr" indent="0" marL="0">
                        <a:buNone/>
                      </a:pPr>
                      <a:r>
                        <a:rPr lang="en-US" sz="1300" b="1" baseline="-40000" dirty="0">
                          <a:solidFill>
                            <a:schemeClr val="bg1"/>
                          </a:solidFill>
                        </a:rPr>
                        <a:t>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T</a:t>
                      </a:r>
                      <a:pPr algn="ctr" indent="0" marL="0">
                        <a:buNone/>
                      </a:pPr>
                      <a:r>
                        <a:rPr lang="en-US" sz="1300" b="1" baseline="-40000" dirty="0">
                          <a:solidFill>
                            <a:schemeClr val="bg1"/>
                          </a:solidFill>
                        </a:rPr>
                        <a:t>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T</a:t>
                      </a:r>
                      <a:pPr algn="ctr" indent="0" marL="0">
                        <a:buNone/>
                      </a:pPr>
                      <a:r>
                        <a:rPr lang="en-US" sz="1300" b="1" baseline="-40000" dirty="0">
                          <a:solidFill>
                            <a:schemeClr val="bg1"/>
                          </a:solidFill>
                        </a:rPr>
                        <a:t>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T</a:t>
                      </a:r>
                      <a:pPr algn="ctr" indent="0" marL="0">
                        <a:buNone/>
                      </a:pPr>
                      <a:r>
                        <a:rPr lang="en-US" sz="1300" b="1" baseline="-40000" dirty="0">
                          <a:solidFill>
                            <a:schemeClr val="bg1"/>
                          </a:solidFill>
                        </a:rPr>
                        <a:t>4</a:t>
                      </a:r>
                      <a:pPr algn="ctr" indent="0" marL="0">
                        <a:buNone/>
                      </a:pPr>
                      <a:r>
                        <a:rPr lang="en-US" sz="1300" b="1" dirty="0">
                          <a:solidFill>
                            <a:schemeClr val="bg1"/>
                          </a:solidFill>
                        </a:rPr>
                        <a:t> [°C]</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329184">
                <a:tc>
                  <a:txBody>
                    <a:bodyPr/>
                    <a:lstStyle/>
                    <a:p>
                      <a:pPr algn="ctr" indent="0" marL="0">
                        <a:buNone/>
                      </a:pPr>
                      <a:r>
                        <a:rPr lang="en-US" sz="1300" dirty="0">
                          <a:solidFill>
                            <a:schemeClr val="tx1"/>
                          </a:solidFill>
                        </a:rPr>
                        <a:t>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30.00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30.00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30.00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30.00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29184">
                <a:tc>
                  <a:txBody>
                    <a:bodyPr/>
                    <a:lstStyle/>
                    <a:p>
                      <a:pPr algn="ctr" indent="0" marL="0">
                        <a:buNone/>
                      </a:pPr>
                      <a:r>
                        <a:rPr lang="en-US" sz="1300" dirty="0">
                          <a:solidFill>
                            <a:schemeClr val="tx1"/>
                          </a:solidFill>
                        </a:rPr>
                        <a:t>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64.10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46.61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38.09</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37.88</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29184">
                <a:tc>
                  <a:txBody>
                    <a:bodyPr/>
                    <a:lstStyle/>
                    <a:p>
                      <a:pPr algn="ctr" indent="0" marL="0">
                        <a:buNone/>
                      </a:pPr>
                      <a:r>
                        <a:rPr lang="en-US" sz="1300" dirty="0">
                          <a:solidFill>
                            <a:schemeClr val="tx1"/>
                          </a:solidFill>
                        </a:rPr>
                        <a:t>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72.19</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54.50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45.77</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45.37</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29184">
                <a:tc>
                  <a:txBody>
                    <a:bodyPr/>
                    <a:lstStyle/>
                    <a:p>
                      <a:pPr algn="ctr" indent="0" marL="0">
                        <a:buNone/>
                      </a:pPr>
                      <a:r>
                        <a:rPr lang="en-US" sz="1300" dirty="0">
                          <a:solidFill>
                            <a:schemeClr val="tx1"/>
                          </a:solidFill>
                        </a:rPr>
                        <a:t>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76.03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60.11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52.16</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51.59</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29184">
                <a:tc>
                  <a:txBody>
                    <a:bodyPr/>
                    <a:lstStyle/>
                    <a:p>
                      <a:pPr algn="ctr" indent="0" marL="0">
                        <a:buNone/>
                      </a:pPr>
                      <a:r>
                        <a:rPr lang="en-US" sz="1300" dirty="0">
                          <a:solidFill>
                            <a:schemeClr val="tx1"/>
                          </a:solidFill>
                        </a:rPr>
                        <a:t>10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86.92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78.08</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73.26</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72.15</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29184">
                <a:tc>
                  <a:txBody>
                    <a:bodyPr/>
                    <a:lstStyle/>
                    <a:p>
                      <a:pPr algn="ctr" indent="0" marL="0">
                        <a:buNone/>
                      </a:pPr>
                      <a:r>
                        <a:rPr lang="en-US" sz="1300" dirty="0">
                          <a:solidFill>
                            <a:schemeClr val="tx1"/>
                          </a:solidFill>
                        </a:rPr>
                        <a:t>20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89.73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82.77</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78.77</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77.52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29184">
                <a:tc>
                  <a:txBody>
                    <a:bodyPr/>
                    <a:lstStyle/>
                    <a:p>
                      <a:pPr algn="ctr" indent="0" marL="0">
                        <a:buNone/>
                      </a:pPr>
                      <a:r>
                        <a:rPr lang="en-US" sz="1300" dirty="0">
                          <a:solidFill>
                            <a:schemeClr val="tx1"/>
                          </a:solidFill>
                        </a:rPr>
                        <a:t>40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90.12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83.41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79.53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78.25</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60</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90.13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83.42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79.54</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78.26</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bl>
          </a:graphicData>
        </a:graphic>
      </p:graphicFrame>
      <p:sp>
        <p:nvSpPr>
          <p:cNvPr id="11" name="card-942"/>
          <p:cNvSpPr/>
          <p:nvPr/>
        </p:nvSpPr>
        <p:spPr>
          <a:xfrm>
            <a:off x="6537960" y="1371600"/>
            <a:ext cx="5102352" cy="2560320"/>
          </a:xfrm>
          <a:prstGeom prst="roundRect">
            <a:avLst>
              <a:gd name="adj" fmla="val 3571"/>
            </a:avLst>
          </a:prstGeom>
          <a:solidFill>
            <a:schemeClr val="bg1"/>
          </a:solidFill>
          <a:ln w="9525">
            <a:solidFill>
              <a:schemeClr val="accent4">
                <a:alpha val="35000"/>
              </a:schemeClr>
            </a:solidFill>
            <a:prstDash val="solid"/>
          </a:ln>
        </p:spPr>
      </p:sp>
      <p:pic>
        <p:nvPicPr>
          <p:cNvPr id="12" name="img-943" descr="Temperature after each Gauss-Seidel sweep and the convergence history">    </p:cNvPr>
          <p:cNvPicPr>
            <a:picLocks noChangeAspect="1"/>
          </p:cNvPicPr>
          <p:nvPr/>
        </p:nvPicPr>
        <p:blipFill>
          <a:blip r:embed="rId5"/>
          <a:stretch>
            <a:fillRect/>
          </a:stretch>
        </p:blipFill>
        <p:spPr>
          <a:xfrm>
            <a:off x="6583680" y="1461224"/>
            <a:ext cx="5010912" cy="2381072"/>
          </a:xfrm>
          <a:prstGeom prst="rect">
            <a:avLst/>
          </a:prstGeom>
        </p:spPr>
      </p:pic>
      <p:sp>
        <p:nvSpPr>
          <p:cNvPr id="13" name="card-944"/>
          <p:cNvSpPr/>
          <p:nvPr/>
        </p:nvSpPr>
        <p:spPr>
          <a:xfrm>
            <a:off x="6537960" y="4114800"/>
            <a:ext cx="5102352" cy="1965960"/>
          </a:xfrm>
          <a:prstGeom prst="roundRect">
            <a:avLst>
              <a:gd name="adj" fmla="val 4651"/>
            </a:avLst>
          </a:prstGeom>
          <a:solidFill>
            <a:schemeClr val="tx1"/>
          </a:solidFill>
          <a:ln/>
          <a:effectLst>
            <a:outerShdw sx="100000" sy="100000" kx="0" ky="0" algn="bl" rotWithShape="0" blurRad="88900" dist="19050" dir="5400000">
              <a:srgbClr val="0B2E47">
                <a:alpha val="12000"/>
              </a:srgbClr>
            </a:outerShdw>
          </a:effectLst>
        </p:spPr>
      </p:sp>
      <p:sp>
        <p:nvSpPr>
          <p:cNvPr id="14" name="text-945"/>
          <p:cNvSpPr txBox="1"/>
          <p:nvPr/>
        </p:nvSpPr>
        <p:spPr>
          <a:xfrm>
            <a:off x="6675120" y="4114800"/>
            <a:ext cx="1828800" cy="1965960"/>
          </a:xfrm>
          <a:prstGeom prst="rect">
            <a:avLst/>
          </a:prstGeom>
          <a:noFill/>
          <a:ln/>
        </p:spPr>
        <p:txBody>
          <a:bodyPr wrap="square" lIns="0" tIns="0" rIns="0" bIns="0" rtlCol="0" anchor="ctr"/>
          <a:lstStyle/>
          <a:p>
            <a:pPr algn="ctr" indent="0" marL="0">
              <a:buNone/>
            </a:pPr>
            <a:r>
              <a:rPr lang="en-US" sz="5000" b="1" dirty="0">
                <a:solidFill>
                  <a:schemeClr val="accent2"/>
                </a:solidFill>
              </a:rPr>
              <a:t>≈ 60</a:t>
            </a:r>
            <a:endParaRPr lang="en-US" sz="5000" dirty="0"/>
          </a:p>
        </p:txBody>
      </p:sp>
      <p:sp>
        <p:nvSpPr>
          <p:cNvPr id="15" name="text-946"/>
          <p:cNvSpPr txBox="1"/>
          <p:nvPr/>
        </p:nvSpPr>
        <p:spPr>
          <a:xfrm>
            <a:off x="8549640" y="4114800"/>
            <a:ext cx="2926080" cy="1965960"/>
          </a:xfrm>
          <a:prstGeom prst="rect">
            <a:avLst/>
          </a:prstGeom>
          <a:noFill/>
          <a:ln/>
        </p:spPr>
        <p:txBody>
          <a:bodyPr wrap="square" lIns="0" tIns="0" rIns="0" bIns="0" rtlCol="0" anchor="ctr"/>
          <a:lstStyle/>
          <a:p>
            <a:pPr indent="0" marL="0">
              <a:buNone/>
            </a:pPr>
            <a:r>
              <a:rPr lang="en-US" sz="1550" dirty="0">
                <a:solidFill>
                  <a:schemeClr val="bg1"/>
                </a:solidFill>
              </a:rPr>
              <a:t>sweeps to match the elimination result. An easy rule, painful by hand, and perfect for a computer: milliseconds.</a:t>
            </a:r>
            <a:endParaRPr lang="en-US" sz="15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947"/>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WRAP-UP</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Common mistakes, and from board to notebook</a:t>
            </a:r>
            <a:endParaRPr lang="en-US" sz="3200" dirty="0"/>
          </a:p>
        </p:txBody>
      </p:sp>
      <p:sp>
        <p:nvSpPr>
          <p:cNvPr id="4" name="text-948"/>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700" b="1" dirty="0">
                <a:solidFill>
                  <a:schemeClr val="tx1"/>
                </a:solidFill>
              </a:rPr>
              <a:t>Common mistakes</a:t>
            </a:r>
            <a:endParaRPr lang="en-US" sz="1700" dirty="0"/>
          </a:p>
        </p:txBody>
      </p:sp>
      <p:sp>
        <p:nvSpPr>
          <p:cNvPr id="5" name="card-949"/>
          <p:cNvSpPr/>
          <p:nvPr/>
        </p:nvSpPr>
        <p:spPr>
          <a:xfrm>
            <a:off x="548640" y="1828800"/>
            <a:ext cx="5486400" cy="640080"/>
          </a:xfrm>
          <a:prstGeom prst="roundRect">
            <a:avLst>
              <a:gd name="adj" fmla="val 14286"/>
            </a:avLst>
          </a:prstGeom>
          <a:solidFill>
            <a:schemeClr val="accent2">
              <a:alpha val="10000"/>
            </a:schemeClr>
          </a:solidFill>
          <a:ln/>
        </p:spPr>
      </p:sp>
      <p:sp>
        <p:nvSpPr>
          <p:cNvPr id="6" name="icon-bg-950"/>
          <p:cNvSpPr/>
          <p:nvPr/>
        </p:nvSpPr>
        <p:spPr>
          <a:xfrm>
            <a:off x="658368" y="1938528"/>
            <a:ext cx="420624" cy="420624"/>
          </a:xfrm>
          <a:prstGeom prst="ellipse">
            <a:avLst/>
          </a:prstGeom>
          <a:solidFill>
            <a:schemeClr val="accent2"/>
          </a:solidFill>
          <a:ln/>
        </p:spPr>
      </p:sp>
      <p:pic>
        <p:nvPicPr>
          <p:cNvPr id="7" name="icon-951" descr="preencoded.png">    </p:cNvPr>
          <p:cNvPicPr>
            <a:picLocks noChangeAspect="1"/>
          </p:cNvPicPr>
          <p:nvPr/>
        </p:nvPicPr>
        <p:blipFill>
          <a:blip r:embed="rId1"/>
          <a:stretch>
            <a:fillRect/>
          </a:stretch>
        </p:blipFill>
        <p:spPr>
          <a:xfrm>
            <a:off x="763524" y="2043684"/>
            <a:ext cx="210312" cy="210312"/>
          </a:xfrm>
          <a:prstGeom prst="rect">
            <a:avLst/>
          </a:prstGeom>
        </p:spPr>
      </p:pic>
      <p:sp>
        <p:nvSpPr>
          <p:cNvPr id="8" name="text-952"/>
          <p:cNvSpPr txBox="1"/>
          <p:nvPr/>
        </p:nvSpPr>
        <p:spPr>
          <a:xfrm>
            <a:off x="1234440" y="1828800"/>
            <a:ext cx="4709160" cy="640080"/>
          </a:xfrm>
          <a:prstGeom prst="rect">
            <a:avLst/>
          </a:prstGeom>
          <a:noFill/>
          <a:ln/>
        </p:spPr>
        <p:txBody>
          <a:bodyPr wrap="square" lIns="0" tIns="0" rIns="0" bIns="0" rtlCol="0" anchor="ctr"/>
          <a:lstStyle/>
          <a:p>
            <a:pPr indent="0" marL="0">
              <a:buNone/>
            </a:pPr>
            <a:r>
              <a:rPr lang="en-US" sz="1550" dirty="0">
                <a:solidFill>
                  <a:schemeClr val="tx1"/>
                </a:solidFill>
              </a:rPr>
              <a:t>Forgetting the </a:t>
            </a:r>
            <a:pPr indent="0" marL="0">
              <a:buNone/>
            </a:pPr>
            <a:r>
              <a:rPr lang="en-US" sz="1550" b="1" dirty="0">
                <a:solidFill>
                  <a:schemeClr val="tx1"/>
                </a:solidFill>
              </a:rPr>
              <a:t>factor 2</a:t>
            </a:r>
            <a:pPr indent="0" marL="0">
              <a:buNone/>
            </a:pPr>
            <a:r>
              <a:rPr lang="en-US" sz="1550" dirty="0">
                <a:solidFill>
                  <a:schemeClr val="tx1"/>
                </a:solidFill>
              </a:rPr>
              <a:t> in the tip equation</a:t>
            </a:r>
            <a:endParaRPr lang="en-US" sz="1550" dirty="0"/>
          </a:p>
        </p:txBody>
      </p:sp>
      <p:sp>
        <p:nvSpPr>
          <p:cNvPr id="9" name="card-953"/>
          <p:cNvSpPr/>
          <p:nvPr/>
        </p:nvSpPr>
        <p:spPr>
          <a:xfrm>
            <a:off x="548640" y="2606040"/>
            <a:ext cx="5486400" cy="640080"/>
          </a:xfrm>
          <a:prstGeom prst="roundRect">
            <a:avLst>
              <a:gd name="adj" fmla="val 14286"/>
            </a:avLst>
          </a:prstGeom>
          <a:solidFill>
            <a:schemeClr val="accent2">
              <a:alpha val="10000"/>
            </a:schemeClr>
          </a:solidFill>
          <a:ln/>
        </p:spPr>
      </p:sp>
      <p:sp>
        <p:nvSpPr>
          <p:cNvPr id="10" name="icon-bg-954"/>
          <p:cNvSpPr/>
          <p:nvPr/>
        </p:nvSpPr>
        <p:spPr>
          <a:xfrm>
            <a:off x="658368" y="2715768"/>
            <a:ext cx="420624" cy="420624"/>
          </a:xfrm>
          <a:prstGeom prst="ellipse">
            <a:avLst/>
          </a:prstGeom>
          <a:solidFill>
            <a:schemeClr val="accent2"/>
          </a:solidFill>
          <a:ln/>
        </p:spPr>
      </p:sp>
      <p:pic>
        <p:nvPicPr>
          <p:cNvPr id="11" name="icon-955" descr="preencoded.png">    </p:cNvPr>
          <p:cNvPicPr>
            <a:picLocks noChangeAspect="1"/>
          </p:cNvPicPr>
          <p:nvPr/>
        </p:nvPicPr>
        <p:blipFill>
          <a:blip r:embed="rId2"/>
          <a:stretch>
            <a:fillRect/>
          </a:stretch>
        </p:blipFill>
        <p:spPr>
          <a:xfrm>
            <a:off x="763524" y="2820924"/>
            <a:ext cx="210312" cy="210312"/>
          </a:xfrm>
          <a:prstGeom prst="rect">
            <a:avLst/>
          </a:prstGeom>
        </p:spPr>
      </p:pic>
      <p:sp>
        <p:nvSpPr>
          <p:cNvPr id="12" name="text-956"/>
          <p:cNvSpPr txBox="1"/>
          <p:nvPr/>
        </p:nvSpPr>
        <p:spPr>
          <a:xfrm>
            <a:off x="1234440" y="2606040"/>
            <a:ext cx="4709160" cy="640080"/>
          </a:xfrm>
          <a:prstGeom prst="rect">
            <a:avLst/>
          </a:prstGeom>
          <a:noFill/>
          <a:ln/>
        </p:spPr>
        <p:txBody>
          <a:bodyPr wrap="square" lIns="0" tIns="0" rIns="0" bIns="0" rtlCol="0" anchor="ctr"/>
          <a:lstStyle/>
          <a:p>
            <a:pPr indent="0" marL="0">
              <a:buNone/>
            </a:pPr>
            <a:r>
              <a:rPr lang="en-US" sz="1550" dirty="0">
                <a:solidFill>
                  <a:schemeClr val="tx1"/>
                </a:solidFill>
              </a:rPr>
              <a:t>Using Δx in </a:t>
            </a:r>
            <a:pPr indent="0" marL="0">
              <a:buNone/>
            </a:pPr>
            <a:r>
              <a:rPr lang="en-US" sz="1550" b="1" dirty="0">
                <a:solidFill>
                  <a:schemeClr val="tx1"/>
                </a:solidFill>
              </a:rPr>
              <a:t>centimetres</a:t>
            </a:r>
            <a:pPr indent="0" marL="0">
              <a:buNone/>
            </a:pPr>
            <a:r>
              <a:rPr lang="en-US" sz="1550" dirty="0">
                <a:solidFill>
                  <a:schemeClr val="tx1"/>
                </a:solidFill>
              </a:rPr>
              <a:t> in m²Δx²</a:t>
            </a:r>
            <a:endParaRPr lang="en-US" sz="1550" dirty="0"/>
          </a:p>
        </p:txBody>
      </p:sp>
      <p:sp>
        <p:nvSpPr>
          <p:cNvPr id="13" name="card-957"/>
          <p:cNvSpPr/>
          <p:nvPr/>
        </p:nvSpPr>
        <p:spPr>
          <a:xfrm>
            <a:off x="548640" y="3383280"/>
            <a:ext cx="5486400" cy="640080"/>
          </a:xfrm>
          <a:prstGeom prst="roundRect">
            <a:avLst>
              <a:gd name="adj" fmla="val 14286"/>
            </a:avLst>
          </a:prstGeom>
          <a:solidFill>
            <a:schemeClr val="accent2">
              <a:alpha val="10000"/>
            </a:schemeClr>
          </a:solidFill>
          <a:ln/>
        </p:spPr>
      </p:sp>
      <p:sp>
        <p:nvSpPr>
          <p:cNvPr id="14" name="icon-bg-958"/>
          <p:cNvSpPr/>
          <p:nvPr/>
        </p:nvSpPr>
        <p:spPr>
          <a:xfrm>
            <a:off x="658368" y="3493008"/>
            <a:ext cx="420624" cy="420624"/>
          </a:xfrm>
          <a:prstGeom prst="ellipse">
            <a:avLst/>
          </a:prstGeom>
          <a:solidFill>
            <a:schemeClr val="accent2"/>
          </a:solidFill>
          <a:ln/>
        </p:spPr>
      </p:sp>
      <p:pic>
        <p:nvPicPr>
          <p:cNvPr id="15" name="icon-959" descr="preencoded.png">    </p:cNvPr>
          <p:cNvPicPr>
            <a:picLocks noChangeAspect="1"/>
          </p:cNvPicPr>
          <p:nvPr/>
        </p:nvPicPr>
        <p:blipFill>
          <a:blip r:embed="rId3"/>
          <a:stretch>
            <a:fillRect/>
          </a:stretch>
        </p:blipFill>
        <p:spPr>
          <a:xfrm>
            <a:off x="763524" y="3598164"/>
            <a:ext cx="210312" cy="210312"/>
          </a:xfrm>
          <a:prstGeom prst="rect">
            <a:avLst/>
          </a:prstGeom>
        </p:spPr>
      </p:pic>
      <p:sp>
        <p:nvSpPr>
          <p:cNvPr id="16" name="text-960"/>
          <p:cNvSpPr txBox="1"/>
          <p:nvPr/>
        </p:nvSpPr>
        <p:spPr>
          <a:xfrm>
            <a:off x="1234440" y="3383280"/>
            <a:ext cx="4709160" cy="640080"/>
          </a:xfrm>
          <a:prstGeom prst="rect">
            <a:avLst/>
          </a:prstGeom>
          <a:noFill/>
          <a:ln/>
        </p:spPr>
        <p:txBody>
          <a:bodyPr wrap="square" lIns="0" tIns="0" rIns="0" bIns="0" rtlCol="0" anchor="ctr"/>
          <a:lstStyle/>
          <a:p>
            <a:pPr indent="0" marL="0">
              <a:buNone/>
            </a:pPr>
            <a:r>
              <a:rPr lang="en-US" sz="1550" dirty="0">
                <a:solidFill>
                  <a:schemeClr val="tx1"/>
                </a:solidFill>
              </a:rPr>
              <a:t>Forgetting T</a:t>
            </a:r>
            <a:pPr indent="0" marL="0">
              <a:buNone/>
            </a:pPr>
            <a:r>
              <a:rPr lang="en-US" sz="1550" baseline="-40000" dirty="0">
                <a:solidFill>
                  <a:schemeClr val="tx1"/>
                </a:solidFill>
              </a:rPr>
              <a:t>∞</a:t>
            </a:r>
            <a:pPr indent="0" marL="0">
              <a:buNone/>
            </a:pPr>
            <a:r>
              <a:rPr lang="en-US" sz="1550" dirty="0">
                <a:solidFill>
                  <a:schemeClr val="tx1"/>
                </a:solidFill>
              </a:rPr>
              <a:t>: work with </a:t>
            </a:r>
            <a:pPr indent="0" marL="0">
              <a:buNone/>
            </a:pPr>
            <a:r>
              <a:rPr lang="en-US" sz="1550" b="1" dirty="0">
                <a:solidFill>
                  <a:schemeClr val="tx1"/>
                </a:solidFill>
              </a:rPr>
              <a:t>θ = T − T</a:t>
            </a:r>
            <a:pPr indent="0" marL="0">
              <a:buNone/>
            </a:pPr>
            <a:r>
              <a:rPr lang="en-US" sz="1550" b="1" baseline="-40000" dirty="0">
                <a:solidFill>
                  <a:schemeClr val="tx1"/>
                </a:solidFill>
              </a:rPr>
              <a:t>∞</a:t>
            </a:r>
            <a:endParaRPr lang="en-US" sz="1550" dirty="0"/>
          </a:p>
        </p:txBody>
      </p:sp>
      <p:sp>
        <p:nvSpPr>
          <p:cNvPr id="17" name="card-961"/>
          <p:cNvSpPr/>
          <p:nvPr/>
        </p:nvSpPr>
        <p:spPr>
          <a:xfrm>
            <a:off x="548640" y="4160520"/>
            <a:ext cx="5486400" cy="640080"/>
          </a:xfrm>
          <a:prstGeom prst="roundRect">
            <a:avLst>
              <a:gd name="adj" fmla="val 14286"/>
            </a:avLst>
          </a:prstGeom>
          <a:solidFill>
            <a:schemeClr val="accent2">
              <a:alpha val="10000"/>
            </a:schemeClr>
          </a:solidFill>
          <a:ln/>
        </p:spPr>
      </p:sp>
      <p:sp>
        <p:nvSpPr>
          <p:cNvPr id="18" name="icon-bg-962"/>
          <p:cNvSpPr/>
          <p:nvPr/>
        </p:nvSpPr>
        <p:spPr>
          <a:xfrm>
            <a:off x="658368" y="4270248"/>
            <a:ext cx="420624" cy="420624"/>
          </a:xfrm>
          <a:prstGeom prst="ellipse">
            <a:avLst/>
          </a:prstGeom>
          <a:solidFill>
            <a:schemeClr val="accent2"/>
          </a:solidFill>
          <a:ln/>
        </p:spPr>
      </p:sp>
      <p:pic>
        <p:nvPicPr>
          <p:cNvPr id="19" name="icon-963" descr="preencoded.png">    </p:cNvPr>
          <p:cNvPicPr>
            <a:picLocks noChangeAspect="1"/>
          </p:cNvPicPr>
          <p:nvPr/>
        </p:nvPicPr>
        <p:blipFill>
          <a:blip r:embed="rId4"/>
          <a:stretch>
            <a:fillRect/>
          </a:stretch>
        </p:blipFill>
        <p:spPr>
          <a:xfrm>
            <a:off x="763524" y="4375404"/>
            <a:ext cx="210312" cy="210312"/>
          </a:xfrm>
          <a:prstGeom prst="rect">
            <a:avLst/>
          </a:prstGeom>
        </p:spPr>
      </p:pic>
      <p:sp>
        <p:nvSpPr>
          <p:cNvPr id="20" name="text-964"/>
          <p:cNvSpPr txBox="1"/>
          <p:nvPr/>
        </p:nvSpPr>
        <p:spPr>
          <a:xfrm>
            <a:off x="1234440" y="4160520"/>
            <a:ext cx="4709160" cy="640080"/>
          </a:xfrm>
          <a:prstGeom prst="rect">
            <a:avLst/>
          </a:prstGeom>
          <a:noFill/>
          <a:ln/>
        </p:spPr>
        <p:txBody>
          <a:bodyPr wrap="square" lIns="0" tIns="0" rIns="0" bIns="0" rtlCol="0" anchor="ctr"/>
          <a:lstStyle/>
          <a:p>
            <a:pPr indent="0" marL="0">
              <a:buNone/>
            </a:pPr>
            <a:r>
              <a:rPr lang="en-US" sz="1550" dirty="0">
                <a:solidFill>
                  <a:schemeClr val="tx1"/>
                </a:solidFill>
              </a:rPr>
              <a:t>Rounding </a:t>
            </a:r>
            <a:pPr indent="0" marL="0">
              <a:buNone/>
            </a:pPr>
            <a:r>
              <a:rPr lang="en-US" sz="1550" b="1" dirty="0">
                <a:solidFill>
                  <a:schemeClr val="tx1"/>
                </a:solidFill>
              </a:rPr>
              <a:t>B</a:t>
            </a:r>
            <a:pPr indent="0" marL="0">
              <a:buNone/>
            </a:pPr>
            <a:r>
              <a:rPr lang="en-US" sz="1550" dirty="0">
                <a:solidFill>
                  <a:schemeClr val="tx1"/>
                </a:solidFill>
              </a:rPr>
              <a:t> too early</a:t>
            </a:r>
            <a:endParaRPr lang="en-US" sz="1550" dirty="0"/>
          </a:p>
        </p:txBody>
      </p:sp>
      <p:sp>
        <p:nvSpPr>
          <p:cNvPr id="21" name="card-965"/>
          <p:cNvSpPr/>
          <p:nvPr/>
        </p:nvSpPr>
        <p:spPr>
          <a:xfrm>
            <a:off x="548640" y="4937760"/>
            <a:ext cx="5486400" cy="640080"/>
          </a:xfrm>
          <a:prstGeom prst="roundRect">
            <a:avLst>
              <a:gd name="adj" fmla="val 14286"/>
            </a:avLst>
          </a:prstGeom>
          <a:solidFill>
            <a:schemeClr val="accent2">
              <a:alpha val="10000"/>
            </a:schemeClr>
          </a:solidFill>
          <a:ln/>
        </p:spPr>
      </p:sp>
      <p:sp>
        <p:nvSpPr>
          <p:cNvPr id="22" name="icon-bg-966"/>
          <p:cNvSpPr/>
          <p:nvPr/>
        </p:nvSpPr>
        <p:spPr>
          <a:xfrm>
            <a:off x="658368" y="5047488"/>
            <a:ext cx="420624" cy="420624"/>
          </a:xfrm>
          <a:prstGeom prst="ellipse">
            <a:avLst/>
          </a:prstGeom>
          <a:solidFill>
            <a:schemeClr val="accent2"/>
          </a:solidFill>
          <a:ln/>
        </p:spPr>
      </p:sp>
      <p:pic>
        <p:nvPicPr>
          <p:cNvPr id="23" name="icon-967" descr="preencoded.png">    </p:cNvPr>
          <p:cNvPicPr>
            <a:picLocks noChangeAspect="1"/>
          </p:cNvPicPr>
          <p:nvPr/>
        </p:nvPicPr>
        <p:blipFill>
          <a:blip r:embed="rId5"/>
          <a:stretch>
            <a:fillRect/>
          </a:stretch>
        </p:blipFill>
        <p:spPr>
          <a:xfrm>
            <a:off x="763524" y="5152644"/>
            <a:ext cx="210312" cy="210312"/>
          </a:xfrm>
          <a:prstGeom prst="rect">
            <a:avLst/>
          </a:prstGeom>
        </p:spPr>
      </p:pic>
      <p:sp>
        <p:nvSpPr>
          <p:cNvPr id="24" name="text-968"/>
          <p:cNvSpPr txBox="1"/>
          <p:nvPr/>
        </p:nvSpPr>
        <p:spPr>
          <a:xfrm>
            <a:off x="1234440" y="4937760"/>
            <a:ext cx="4709160" cy="640080"/>
          </a:xfrm>
          <a:prstGeom prst="rect">
            <a:avLst/>
          </a:prstGeom>
          <a:noFill/>
          <a:ln/>
        </p:spPr>
        <p:txBody>
          <a:bodyPr wrap="square" lIns="0" tIns="0" rIns="0" bIns="0" rtlCol="0" anchor="ctr"/>
          <a:lstStyle/>
          <a:p>
            <a:pPr indent="0" marL="0">
              <a:buNone/>
            </a:pPr>
            <a:r>
              <a:rPr lang="en-US" sz="1550" dirty="0">
                <a:solidFill>
                  <a:schemeClr val="tx1"/>
                </a:solidFill>
              </a:rPr>
              <a:t>Writing an equation for the </a:t>
            </a:r>
            <a:pPr indent="0" marL="0">
              <a:buNone/>
            </a:pPr>
            <a:r>
              <a:rPr lang="en-US" sz="1550" b="1" dirty="0">
                <a:solidFill>
                  <a:schemeClr val="tx1"/>
                </a:solidFill>
              </a:rPr>
              <a:t>base node</a:t>
            </a:r>
            <a:pPr indent="0" marL="0">
              <a:buNone/>
            </a:pPr>
            <a:r>
              <a:rPr lang="en-US" sz="1550" dirty="0">
                <a:solidFill>
                  <a:schemeClr val="tx1"/>
                </a:solidFill>
              </a:rPr>
              <a:t> (it is known!)</a:t>
            </a:r>
            <a:endParaRPr lang="en-US" sz="1550" dirty="0"/>
          </a:p>
        </p:txBody>
      </p:sp>
      <p:sp>
        <p:nvSpPr>
          <p:cNvPr id="25" name="card-969"/>
          <p:cNvSpPr/>
          <p:nvPr/>
        </p:nvSpPr>
        <p:spPr>
          <a:xfrm>
            <a:off x="6400800" y="1371600"/>
            <a:ext cx="5239512"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6" name="icon-bg-970"/>
          <p:cNvSpPr/>
          <p:nvPr/>
        </p:nvSpPr>
        <p:spPr>
          <a:xfrm>
            <a:off x="6583680" y="1536192"/>
            <a:ext cx="502920" cy="502920"/>
          </a:xfrm>
          <a:prstGeom prst="ellipse">
            <a:avLst/>
          </a:prstGeom>
          <a:solidFill>
            <a:schemeClr val="accent1"/>
          </a:solidFill>
          <a:ln/>
        </p:spPr>
      </p:sp>
      <p:pic>
        <p:nvPicPr>
          <p:cNvPr id="27" name="icon-971" descr="preencoded.png">    </p:cNvPr>
          <p:cNvPicPr>
            <a:picLocks noChangeAspect="1"/>
          </p:cNvPicPr>
          <p:nvPr/>
        </p:nvPicPr>
        <p:blipFill>
          <a:blip r:embed="rId6"/>
          <a:stretch>
            <a:fillRect/>
          </a:stretch>
        </p:blipFill>
        <p:spPr>
          <a:xfrm>
            <a:off x="6699352" y="1651864"/>
            <a:ext cx="271577" cy="271577"/>
          </a:xfrm>
          <a:prstGeom prst="rect">
            <a:avLst/>
          </a:prstGeom>
        </p:spPr>
      </p:pic>
      <p:sp>
        <p:nvSpPr>
          <p:cNvPr id="28" name="text-972"/>
          <p:cNvSpPr txBox="1"/>
          <p:nvPr/>
        </p:nvSpPr>
        <p:spPr>
          <a:xfrm>
            <a:off x="7223760" y="1536192"/>
            <a:ext cx="4297680" cy="292608"/>
          </a:xfrm>
          <a:prstGeom prst="rect">
            <a:avLst/>
          </a:prstGeom>
          <a:noFill/>
          <a:ln/>
        </p:spPr>
        <p:txBody>
          <a:bodyPr wrap="square" lIns="0" tIns="0" rIns="0" bIns="0" rtlCol="0" anchor="t"/>
          <a:lstStyle/>
          <a:p>
            <a:pPr indent="0" marL="0">
              <a:buNone/>
            </a:pPr>
            <a:r>
              <a:rPr lang="en-US" sz="1700" b="1" dirty="0">
                <a:solidFill>
                  <a:schemeClr val="tx1"/>
                </a:solidFill>
              </a:rPr>
              <a:t>From board to notebook</a:t>
            </a:r>
            <a:endParaRPr lang="en-US" sz="1700" dirty="0"/>
          </a:p>
        </p:txBody>
      </p:sp>
      <p:sp>
        <p:nvSpPr>
          <p:cNvPr id="29" name="text-973"/>
          <p:cNvSpPr txBox="1"/>
          <p:nvPr/>
        </p:nvSpPr>
        <p:spPr>
          <a:xfrm>
            <a:off x="7223760" y="1828800"/>
            <a:ext cx="4297680" cy="2286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03_fdm_solver.ipynb</a:t>
            </a:r>
            <a:endParaRPr lang="en-US" sz="1200" dirty="0"/>
          </a:p>
        </p:txBody>
      </p:sp>
      <p:sp>
        <p:nvSpPr>
          <p:cNvPr id="30" name="pill-974"/>
          <p:cNvSpPr/>
          <p:nvPr/>
        </p:nvSpPr>
        <p:spPr>
          <a:xfrm>
            <a:off x="6629400" y="2240280"/>
            <a:ext cx="105156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Board 4</a:t>
            </a:r>
            <a:endParaRPr lang="en-US" sz="1250" dirty="0"/>
          </a:p>
        </p:txBody>
      </p:sp>
      <p:sp>
        <p:nvSpPr>
          <p:cNvPr id="31" name="arrow-975"/>
          <p:cNvSpPr/>
          <p:nvPr/>
        </p:nvSpPr>
        <p:spPr>
          <a:xfrm>
            <a:off x="7772400" y="2414016"/>
            <a:ext cx="320040" cy="0"/>
          </a:xfrm>
          <a:prstGeom prst="line">
            <a:avLst/>
          </a:prstGeom>
          <a:noFill/>
          <a:ln w="19050">
            <a:solidFill>
              <a:schemeClr val="accent4"/>
            </a:solidFill>
            <a:prstDash val="solid"/>
            <a:tailEnd type="triangle"/>
          </a:ln>
        </p:spPr>
      </p:sp>
      <p:sp>
        <p:nvSpPr>
          <p:cNvPr id="32" name="text-976"/>
          <p:cNvSpPr txBox="1"/>
          <p:nvPr/>
        </p:nvSpPr>
        <p:spPr>
          <a:xfrm>
            <a:off x="8229600" y="2240280"/>
            <a:ext cx="2743200" cy="3474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build_system</a:t>
            </a:r>
            <a:endParaRPr lang="en-US" sz="1400" dirty="0"/>
          </a:p>
        </p:txBody>
      </p:sp>
      <p:sp>
        <p:nvSpPr>
          <p:cNvPr id="33" name="pill-977"/>
          <p:cNvSpPr/>
          <p:nvPr/>
        </p:nvSpPr>
        <p:spPr>
          <a:xfrm>
            <a:off x="6629400" y="2697480"/>
            <a:ext cx="105156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Board 5</a:t>
            </a:r>
            <a:endParaRPr lang="en-US" sz="1250" dirty="0"/>
          </a:p>
        </p:txBody>
      </p:sp>
      <p:sp>
        <p:nvSpPr>
          <p:cNvPr id="34" name="arrow-978"/>
          <p:cNvSpPr/>
          <p:nvPr/>
        </p:nvSpPr>
        <p:spPr>
          <a:xfrm>
            <a:off x="7772400" y="2871216"/>
            <a:ext cx="320040" cy="0"/>
          </a:xfrm>
          <a:prstGeom prst="line">
            <a:avLst/>
          </a:prstGeom>
          <a:noFill/>
          <a:ln w="19050">
            <a:solidFill>
              <a:schemeClr val="accent4"/>
            </a:solidFill>
            <a:prstDash val="solid"/>
            <a:tailEnd type="triangle"/>
          </a:ln>
        </p:spPr>
      </p:sp>
      <p:sp>
        <p:nvSpPr>
          <p:cNvPr id="35" name="text-979"/>
          <p:cNvSpPr txBox="1"/>
          <p:nvPr/>
        </p:nvSpPr>
        <p:spPr>
          <a:xfrm>
            <a:off x="8229600" y="2697480"/>
            <a:ext cx="2743200" cy="3474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thomas</a:t>
            </a:r>
            <a:endParaRPr lang="en-US" sz="1400" dirty="0"/>
          </a:p>
        </p:txBody>
      </p:sp>
      <p:sp>
        <p:nvSpPr>
          <p:cNvPr id="36" name="pill-980"/>
          <p:cNvSpPr/>
          <p:nvPr/>
        </p:nvSpPr>
        <p:spPr>
          <a:xfrm>
            <a:off x="6629400" y="3154680"/>
            <a:ext cx="105156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Board 7</a:t>
            </a:r>
            <a:endParaRPr lang="en-US" sz="1250" dirty="0"/>
          </a:p>
        </p:txBody>
      </p:sp>
      <p:sp>
        <p:nvSpPr>
          <p:cNvPr id="37" name="arrow-981"/>
          <p:cNvSpPr/>
          <p:nvPr/>
        </p:nvSpPr>
        <p:spPr>
          <a:xfrm>
            <a:off x="7772400" y="3328416"/>
            <a:ext cx="320040" cy="0"/>
          </a:xfrm>
          <a:prstGeom prst="line">
            <a:avLst/>
          </a:prstGeom>
          <a:noFill/>
          <a:ln w="19050">
            <a:solidFill>
              <a:schemeClr val="accent4"/>
            </a:solidFill>
            <a:prstDash val="solid"/>
            <a:tailEnd type="triangle"/>
          </a:ln>
        </p:spPr>
      </p:sp>
      <p:sp>
        <p:nvSpPr>
          <p:cNvPr id="38" name="text-982"/>
          <p:cNvSpPr txBox="1"/>
          <p:nvPr/>
        </p:nvSpPr>
        <p:spPr>
          <a:xfrm>
            <a:off x="8229600" y="3154680"/>
            <a:ext cx="2743200" cy="347472"/>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gauss_seidel</a:t>
            </a:r>
            <a:endParaRPr lang="en-US" sz="1400" dirty="0"/>
          </a:p>
        </p:txBody>
      </p:sp>
      <p:sp>
        <p:nvSpPr>
          <p:cNvPr id="39" name="text-983"/>
          <p:cNvSpPr txBox="1"/>
          <p:nvPr/>
        </p:nvSpPr>
        <p:spPr>
          <a:xfrm>
            <a:off x="6629400" y="3703320"/>
            <a:ext cx="4572000" cy="320040"/>
          </a:xfrm>
          <a:prstGeom prst="rect">
            <a:avLst/>
          </a:prstGeom>
          <a:noFill/>
          <a:ln/>
        </p:spPr>
        <p:txBody>
          <a:bodyPr wrap="square" lIns="0" tIns="0" rIns="0" bIns="0" rtlCol="0" anchor="t"/>
          <a:lstStyle/>
          <a:p>
            <a:pPr indent="0" marL="0">
              <a:buNone/>
            </a:pPr>
            <a:r>
              <a:rPr lang="en-US" sz="1500" dirty="0">
                <a:solidFill>
                  <a:schemeClr val="tx1"/>
                </a:solidFill>
              </a:rPr>
              <a:t>Set </a:t>
            </a:r>
            <a:pPr indent="0" marL="0">
              <a:buNone/>
            </a:pPr>
            <a:r>
              <a:rPr lang="en-US" sz="1500" b="1" dirty="0">
                <a:solidFill>
                  <a:schemeClr val="tx1"/>
                </a:solidFill>
              </a:rPr>
              <a:t>N = 10</a:t>
            </a:r>
            <a:pPr indent="0" marL="0">
              <a:buNone/>
            </a:pPr>
            <a:r>
              <a:rPr lang="en-US" sz="1500" dirty="0">
                <a:solidFill>
                  <a:schemeClr val="tx1"/>
                </a:solidFill>
              </a:rPr>
              <a:t> (11 nodes):</a:t>
            </a:r>
            <a:endParaRPr lang="en-US" sz="1500" dirty="0"/>
          </a:p>
        </p:txBody>
      </p:sp>
      <p:pic>
        <p:nvPicPr>
          <p:cNvPr id="40" name="img-984" descr="FDM temperatures with 11 nodes on top of the exact solution">    </p:cNvPr>
          <p:cNvPicPr>
            <a:picLocks noChangeAspect="1"/>
          </p:cNvPicPr>
          <p:nvPr/>
        </p:nvPicPr>
        <p:blipFill>
          <a:blip r:embed="rId7"/>
          <a:stretch>
            <a:fillRect/>
          </a:stretch>
        </p:blipFill>
        <p:spPr>
          <a:xfrm>
            <a:off x="6583680" y="4267300"/>
            <a:ext cx="2743200" cy="1386639"/>
          </a:xfrm>
          <a:prstGeom prst="rect">
            <a:avLst/>
          </a:prstGeom>
        </p:spPr>
      </p:pic>
      <p:sp>
        <p:nvSpPr>
          <p:cNvPr id="41" name="text-985"/>
          <p:cNvSpPr txBox="1"/>
          <p:nvPr/>
        </p:nvSpPr>
        <p:spPr>
          <a:xfrm>
            <a:off x="9464040" y="4114800"/>
            <a:ext cx="2103120" cy="1737360"/>
          </a:xfrm>
          <a:prstGeom prst="rect">
            <a:avLst/>
          </a:prstGeom>
          <a:noFill/>
          <a:ln/>
        </p:spPr>
        <p:txBody>
          <a:bodyPr wrap="square" lIns="0" tIns="0" rIns="0" bIns="0" rtlCol="0" anchor="t"/>
          <a:lstStyle/>
          <a:p>
            <a:pPr indent="0" marL="0">
              <a:buNone/>
            </a:pPr>
            <a:r>
              <a:rPr lang="en-US" sz="2000" b="1" dirty="0">
                <a:solidFill>
                  <a:schemeClr val="tx1"/>
                </a:solidFill>
              </a:rPr>
              <a:t>78.205 °C</a:t>
            </a:r>
            <a:endParaRPr lang="en-US" sz="1600" dirty="0"/>
          </a:p>
          <a:p>
            <a:pPr indent="0" marL="0">
              <a:buNone/>
            </a:pPr>
            <a:r>
              <a:rPr lang="en-US" sz="1200" dirty="0">
                <a:solidFill>
                  <a:schemeClr val="tx2"/>
                </a:solidFill>
              </a:rPr>
              <a:t>tip (exact 78.194)</a:t>
            </a:r>
            <a:endParaRPr lang="en-US" sz="1600" dirty="0"/>
          </a:p>
          <a:p>
            <a:pPr indent="0" marL="0">
              <a:buNone/>
            </a:pPr>
            <a:r>
              <a:rPr lang="en-US" sz="600" dirty="0">
                <a:solidFill>
                  <a:schemeClr val="tx2"/>
                </a:solidFill>
              </a:rPr>
              <a:t> </a:t>
            </a:r>
            <a:endParaRPr lang="en-US" sz="1600" dirty="0"/>
          </a:p>
          <a:p>
            <a:pPr indent="0" marL="0">
              <a:buNone/>
            </a:pPr>
            <a:r>
              <a:rPr lang="en-US" sz="2000" b="1" dirty="0">
                <a:solidFill>
                  <a:schemeClr val="tx1"/>
                </a:solidFill>
              </a:rPr>
              <a:t>2.1721 W</a:t>
            </a:r>
            <a:endParaRPr lang="en-US" sz="1600" dirty="0"/>
          </a:p>
          <a:p>
            <a:pPr indent="0" marL="0">
              <a:buNone/>
            </a:pPr>
            <a:r>
              <a:rPr lang="en-US" sz="1200" dirty="0">
                <a:solidFill>
                  <a:schemeClr val="tx2"/>
                </a:solidFill>
              </a:rPr>
              <a:t>heat loss (exact 2.1702)</a:t>
            </a:r>
            <a:endParaRPr lang="en-US" sz="16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98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PART 1 · RECAP</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What we have learned</a:t>
            </a:r>
            <a:endParaRPr lang="en-US" sz="3200" dirty="0"/>
          </a:p>
        </p:txBody>
      </p:sp>
      <p:sp>
        <p:nvSpPr>
          <p:cNvPr id="4" name="line-987"/>
          <p:cNvSpPr/>
          <p:nvPr/>
        </p:nvSpPr>
        <p:spPr>
          <a:xfrm>
            <a:off x="1600200" y="1783080"/>
            <a:ext cx="868680" cy="0"/>
          </a:xfrm>
          <a:prstGeom prst="line">
            <a:avLst/>
          </a:prstGeom>
          <a:noFill/>
          <a:ln w="12700">
            <a:solidFill>
              <a:schemeClr val="accent4"/>
            </a:solidFill>
            <a:prstDash val="dash"/>
          </a:ln>
        </p:spPr>
      </p:sp>
      <p:sp>
        <p:nvSpPr>
          <p:cNvPr id="5" name="icon-bg-988"/>
          <p:cNvSpPr/>
          <p:nvPr/>
        </p:nvSpPr>
        <p:spPr>
          <a:xfrm>
            <a:off x="868680" y="1417320"/>
            <a:ext cx="731520" cy="731520"/>
          </a:xfrm>
          <a:prstGeom prst="ellipse">
            <a:avLst/>
          </a:prstGeom>
          <a:solidFill>
            <a:schemeClr val="accent1"/>
          </a:solidFill>
          <a:ln/>
        </p:spPr>
      </p:sp>
      <p:pic>
        <p:nvPicPr>
          <p:cNvPr id="6" name="icon-989" descr="preencoded.png">    </p:cNvPr>
          <p:cNvPicPr>
            <a:picLocks noChangeAspect="1"/>
          </p:cNvPicPr>
          <p:nvPr/>
        </p:nvPicPr>
        <p:blipFill>
          <a:blip r:embed="rId1"/>
          <a:stretch>
            <a:fillRect/>
          </a:stretch>
        </p:blipFill>
        <p:spPr>
          <a:xfrm>
            <a:off x="1036930" y="1585570"/>
            <a:ext cx="395021" cy="395021"/>
          </a:xfrm>
          <a:prstGeom prst="rect">
            <a:avLst/>
          </a:prstGeom>
        </p:spPr>
      </p:pic>
      <p:sp>
        <p:nvSpPr>
          <p:cNvPr id="7" name="text-990"/>
          <p:cNvSpPr txBox="1"/>
          <p:nvPr/>
        </p:nvSpPr>
        <p:spPr>
          <a:xfrm>
            <a:off x="5029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1 · Geometry</a:t>
            </a:r>
            <a:endParaRPr lang="en-US" sz="1250" dirty="0"/>
          </a:p>
        </p:txBody>
      </p:sp>
      <p:sp>
        <p:nvSpPr>
          <p:cNvPr id="8" name="line-991"/>
          <p:cNvSpPr/>
          <p:nvPr/>
        </p:nvSpPr>
        <p:spPr>
          <a:xfrm>
            <a:off x="3200400" y="1783080"/>
            <a:ext cx="868680" cy="0"/>
          </a:xfrm>
          <a:prstGeom prst="line">
            <a:avLst/>
          </a:prstGeom>
          <a:noFill/>
          <a:ln w="12700">
            <a:solidFill>
              <a:schemeClr val="accent4"/>
            </a:solidFill>
            <a:prstDash val="dash"/>
          </a:ln>
        </p:spPr>
      </p:sp>
      <p:sp>
        <p:nvSpPr>
          <p:cNvPr id="9" name="icon-bg-992"/>
          <p:cNvSpPr/>
          <p:nvPr/>
        </p:nvSpPr>
        <p:spPr>
          <a:xfrm>
            <a:off x="2468880" y="1417320"/>
            <a:ext cx="731520" cy="731520"/>
          </a:xfrm>
          <a:prstGeom prst="ellipse">
            <a:avLst/>
          </a:prstGeom>
          <a:solidFill>
            <a:schemeClr val="accent1"/>
          </a:solidFill>
          <a:ln/>
        </p:spPr>
      </p:sp>
      <p:pic>
        <p:nvPicPr>
          <p:cNvPr id="10" name="icon-993" descr="preencoded.png">    </p:cNvPr>
          <p:cNvPicPr>
            <a:picLocks noChangeAspect="1"/>
          </p:cNvPicPr>
          <p:nvPr/>
        </p:nvPicPr>
        <p:blipFill>
          <a:blip r:embed="rId2"/>
          <a:stretch>
            <a:fillRect/>
          </a:stretch>
        </p:blipFill>
        <p:spPr>
          <a:xfrm>
            <a:off x="2637130" y="1585570"/>
            <a:ext cx="395021" cy="395021"/>
          </a:xfrm>
          <a:prstGeom prst="rect">
            <a:avLst/>
          </a:prstGeom>
        </p:spPr>
      </p:pic>
      <p:sp>
        <p:nvSpPr>
          <p:cNvPr id="11" name="text-994"/>
          <p:cNvSpPr txBox="1"/>
          <p:nvPr/>
        </p:nvSpPr>
        <p:spPr>
          <a:xfrm>
            <a:off x="21031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2 · Grid</a:t>
            </a:r>
            <a:endParaRPr lang="en-US" sz="1250" dirty="0"/>
          </a:p>
        </p:txBody>
      </p:sp>
      <p:sp>
        <p:nvSpPr>
          <p:cNvPr id="12" name="line-995"/>
          <p:cNvSpPr/>
          <p:nvPr/>
        </p:nvSpPr>
        <p:spPr>
          <a:xfrm>
            <a:off x="4800600" y="1783080"/>
            <a:ext cx="868680" cy="0"/>
          </a:xfrm>
          <a:prstGeom prst="line">
            <a:avLst/>
          </a:prstGeom>
          <a:noFill/>
          <a:ln w="12700">
            <a:solidFill>
              <a:schemeClr val="accent4"/>
            </a:solidFill>
            <a:prstDash val="dash"/>
          </a:ln>
        </p:spPr>
      </p:sp>
      <p:sp>
        <p:nvSpPr>
          <p:cNvPr id="13" name="icon-bg-996"/>
          <p:cNvSpPr/>
          <p:nvPr/>
        </p:nvSpPr>
        <p:spPr>
          <a:xfrm>
            <a:off x="4069080" y="1417320"/>
            <a:ext cx="731520" cy="731520"/>
          </a:xfrm>
          <a:prstGeom prst="ellipse">
            <a:avLst/>
          </a:prstGeom>
          <a:solidFill>
            <a:schemeClr val="accent1"/>
          </a:solidFill>
          <a:ln/>
        </p:spPr>
      </p:sp>
      <p:pic>
        <p:nvPicPr>
          <p:cNvPr id="14" name="icon-997" descr="preencoded.png">    </p:cNvPr>
          <p:cNvPicPr>
            <a:picLocks noChangeAspect="1"/>
          </p:cNvPicPr>
          <p:nvPr/>
        </p:nvPicPr>
        <p:blipFill>
          <a:blip r:embed="rId3"/>
          <a:stretch>
            <a:fillRect/>
          </a:stretch>
        </p:blipFill>
        <p:spPr>
          <a:xfrm>
            <a:off x="4237330" y="1585570"/>
            <a:ext cx="395021" cy="395021"/>
          </a:xfrm>
          <a:prstGeom prst="rect">
            <a:avLst/>
          </a:prstGeom>
        </p:spPr>
      </p:pic>
      <p:sp>
        <p:nvSpPr>
          <p:cNvPr id="15" name="text-998"/>
          <p:cNvSpPr txBox="1"/>
          <p:nvPr/>
        </p:nvSpPr>
        <p:spPr>
          <a:xfrm>
            <a:off x="37033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3 · Physics</a:t>
            </a:r>
            <a:endParaRPr lang="en-US" sz="1250" dirty="0"/>
          </a:p>
        </p:txBody>
      </p:sp>
      <p:sp>
        <p:nvSpPr>
          <p:cNvPr id="16" name="line-999"/>
          <p:cNvSpPr/>
          <p:nvPr/>
        </p:nvSpPr>
        <p:spPr>
          <a:xfrm>
            <a:off x="6400800" y="1783080"/>
            <a:ext cx="868680" cy="0"/>
          </a:xfrm>
          <a:prstGeom prst="line">
            <a:avLst/>
          </a:prstGeom>
          <a:noFill/>
          <a:ln w="12700">
            <a:solidFill>
              <a:schemeClr val="accent4"/>
            </a:solidFill>
            <a:prstDash val="dash"/>
          </a:ln>
        </p:spPr>
      </p:sp>
      <p:sp>
        <p:nvSpPr>
          <p:cNvPr id="17" name="icon-bg-1000"/>
          <p:cNvSpPr/>
          <p:nvPr/>
        </p:nvSpPr>
        <p:spPr>
          <a:xfrm>
            <a:off x="5669280" y="1417320"/>
            <a:ext cx="731520" cy="731520"/>
          </a:xfrm>
          <a:prstGeom prst="ellipse">
            <a:avLst/>
          </a:prstGeom>
          <a:solidFill>
            <a:schemeClr val="accent2"/>
          </a:solidFill>
          <a:ln/>
        </p:spPr>
      </p:sp>
      <p:pic>
        <p:nvPicPr>
          <p:cNvPr id="18" name="icon-1001" descr="preencoded.png">    </p:cNvPr>
          <p:cNvPicPr>
            <a:picLocks noChangeAspect="1"/>
          </p:cNvPicPr>
          <p:nvPr/>
        </p:nvPicPr>
        <p:blipFill>
          <a:blip r:embed="rId4"/>
          <a:stretch>
            <a:fillRect/>
          </a:stretch>
        </p:blipFill>
        <p:spPr>
          <a:xfrm>
            <a:off x="5837530" y="1585570"/>
            <a:ext cx="395021" cy="395021"/>
          </a:xfrm>
          <a:prstGeom prst="rect">
            <a:avLst/>
          </a:prstGeom>
        </p:spPr>
      </p:pic>
      <p:sp>
        <p:nvSpPr>
          <p:cNvPr id="19" name="text-1002"/>
          <p:cNvSpPr txBox="1"/>
          <p:nvPr/>
        </p:nvSpPr>
        <p:spPr>
          <a:xfrm>
            <a:off x="53035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4 · Scheme</a:t>
            </a:r>
            <a:endParaRPr lang="en-US" sz="1250" dirty="0"/>
          </a:p>
        </p:txBody>
      </p:sp>
      <p:sp>
        <p:nvSpPr>
          <p:cNvPr id="20" name="line-1003"/>
          <p:cNvSpPr/>
          <p:nvPr/>
        </p:nvSpPr>
        <p:spPr>
          <a:xfrm>
            <a:off x="8001000" y="1783080"/>
            <a:ext cx="868680" cy="0"/>
          </a:xfrm>
          <a:prstGeom prst="line">
            <a:avLst/>
          </a:prstGeom>
          <a:noFill/>
          <a:ln w="12700">
            <a:solidFill>
              <a:schemeClr val="accent4"/>
            </a:solidFill>
            <a:prstDash val="dash"/>
          </a:ln>
        </p:spPr>
      </p:sp>
      <p:sp>
        <p:nvSpPr>
          <p:cNvPr id="21" name="icon-bg-1004"/>
          <p:cNvSpPr/>
          <p:nvPr/>
        </p:nvSpPr>
        <p:spPr>
          <a:xfrm>
            <a:off x="7269480" y="1417320"/>
            <a:ext cx="731520" cy="731520"/>
          </a:xfrm>
          <a:prstGeom prst="ellipse">
            <a:avLst/>
          </a:prstGeom>
          <a:solidFill>
            <a:schemeClr val="accent2"/>
          </a:solidFill>
          <a:ln/>
        </p:spPr>
      </p:sp>
      <p:pic>
        <p:nvPicPr>
          <p:cNvPr id="22" name="icon-1005" descr="preencoded.png">    </p:cNvPr>
          <p:cNvPicPr>
            <a:picLocks noChangeAspect="1"/>
          </p:cNvPicPr>
          <p:nvPr/>
        </p:nvPicPr>
        <p:blipFill>
          <a:blip r:embed="rId5"/>
          <a:stretch>
            <a:fillRect/>
          </a:stretch>
        </p:blipFill>
        <p:spPr>
          <a:xfrm>
            <a:off x="7437730" y="1585570"/>
            <a:ext cx="395021" cy="395021"/>
          </a:xfrm>
          <a:prstGeom prst="rect">
            <a:avLst/>
          </a:prstGeom>
        </p:spPr>
      </p:pic>
      <p:sp>
        <p:nvSpPr>
          <p:cNvPr id="23" name="text-1006"/>
          <p:cNvSpPr txBox="1"/>
          <p:nvPr/>
        </p:nvSpPr>
        <p:spPr>
          <a:xfrm>
            <a:off x="69037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5 · Setup</a:t>
            </a:r>
            <a:endParaRPr lang="en-US" sz="1250" dirty="0"/>
          </a:p>
        </p:txBody>
      </p:sp>
      <p:sp>
        <p:nvSpPr>
          <p:cNvPr id="24" name="line-1007"/>
          <p:cNvSpPr/>
          <p:nvPr/>
        </p:nvSpPr>
        <p:spPr>
          <a:xfrm>
            <a:off x="9601200" y="1783080"/>
            <a:ext cx="868680" cy="0"/>
          </a:xfrm>
          <a:prstGeom prst="line">
            <a:avLst/>
          </a:prstGeom>
          <a:noFill/>
          <a:ln w="12700">
            <a:solidFill>
              <a:schemeClr val="accent4"/>
            </a:solidFill>
            <a:prstDash val="dash"/>
          </a:ln>
        </p:spPr>
      </p:sp>
      <p:sp>
        <p:nvSpPr>
          <p:cNvPr id="25" name="icon-bg-1008"/>
          <p:cNvSpPr/>
          <p:nvPr/>
        </p:nvSpPr>
        <p:spPr>
          <a:xfrm>
            <a:off x="8869680" y="1417320"/>
            <a:ext cx="731520" cy="731520"/>
          </a:xfrm>
          <a:prstGeom prst="ellipse">
            <a:avLst/>
          </a:prstGeom>
          <a:solidFill>
            <a:schemeClr val="accent2"/>
          </a:solidFill>
          <a:ln/>
        </p:spPr>
      </p:sp>
      <p:pic>
        <p:nvPicPr>
          <p:cNvPr id="26" name="icon-1009" descr="preencoded.png">    </p:cNvPr>
          <p:cNvPicPr>
            <a:picLocks noChangeAspect="1"/>
          </p:cNvPicPr>
          <p:nvPr/>
        </p:nvPicPr>
        <p:blipFill>
          <a:blip r:embed="rId6"/>
          <a:stretch>
            <a:fillRect/>
          </a:stretch>
        </p:blipFill>
        <p:spPr>
          <a:xfrm>
            <a:off x="9037930" y="1585570"/>
            <a:ext cx="395021" cy="395021"/>
          </a:xfrm>
          <a:prstGeom prst="rect">
            <a:avLst/>
          </a:prstGeom>
        </p:spPr>
      </p:pic>
      <p:sp>
        <p:nvSpPr>
          <p:cNvPr id="27" name="text-1010"/>
          <p:cNvSpPr txBox="1"/>
          <p:nvPr/>
        </p:nvSpPr>
        <p:spPr>
          <a:xfrm>
            <a:off x="85039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6 · Compute</a:t>
            </a:r>
            <a:endParaRPr lang="en-US" sz="1250" dirty="0"/>
          </a:p>
        </p:txBody>
      </p:sp>
      <p:sp>
        <p:nvSpPr>
          <p:cNvPr id="28" name="icon-bg-1011"/>
          <p:cNvSpPr/>
          <p:nvPr/>
        </p:nvSpPr>
        <p:spPr>
          <a:xfrm>
            <a:off x="10469880" y="1417320"/>
            <a:ext cx="731520" cy="731520"/>
          </a:xfrm>
          <a:prstGeom prst="ellipse">
            <a:avLst/>
          </a:prstGeom>
          <a:solidFill>
            <a:schemeClr val="accent3"/>
          </a:solidFill>
          <a:ln/>
        </p:spPr>
      </p:sp>
      <p:pic>
        <p:nvPicPr>
          <p:cNvPr id="29" name="icon-1012" descr="preencoded.png">    </p:cNvPr>
          <p:cNvPicPr>
            <a:picLocks noChangeAspect="1"/>
          </p:cNvPicPr>
          <p:nvPr/>
        </p:nvPicPr>
        <p:blipFill>
          <a:blip r:embed="rId7"/>
          <a:stretch>
            <a:fillRect/>
          </a:stretch>
        </p:blipFill>
        <p:spPr>
          <a:xfrm>
            <a:off x="10638130" y="1585570"/>
            <a:ext cx="395021" cy="395021"/>
          </a:xfrm>
          <a:prstGeom prst="rect">
            <a:avLst/>
          </a:prstGeom>
        </p:spPr>
      </p:pic>
      <p:sp>
        <p:nvSpPr>
          <p:cNvPr id="30" name="text-1013"/>
          <p:cNvSpPr txBox="1"/>
          <p:nvPr/>
        </p:nvSpPr>
        <p:spPr>
          <a:xfrm>
            <a:off x="10104120" y="2240280"/>
            <a:ext cx="1463040" cy="274320"/>
          </a:xfrm>
          <a:prstGeom prst="rect">
            <a:avLst/>
          </a:prstGeom>
          <a:noFill/>
          <a:ln/>
        </p:spPr>
        <p:txBody>
          <a:bodyPr wrap="square" lIns="0" tIns="0" rIns="0" bIns="0" rtlCol="0" anchor="t"/>
          <a:lstStyle/>
          <a:p>
            <a:pPr algn="ctr" indent="0" marL="0">
              <a:buNone/>
            </a:pPr>
            <a:r>
              <a:rPr lang="en-US" sz="1250" b="1" dirty="0">
                <a:solidFill>
                  <a:schemeClr val="tx1"/>
                </a:solidFill>
              </a:rPr>
              <a:t>7 · Visualize</a:t>
            </a:r>
            <a:endParaRPr lang="en-US" sz="1250" dirty="0"/>
          </a:p>
        </p:txBody>
      </p:sp>
      <p:sp>
        <p:nvSpPr>
          <p:cNvPr id="31" name="card-1014"/>
          <p:cNvSpPr/>
          <p:nvPr/>
        </p:nvSpPr>
        <p:spPr>
          <a:xfrm>
            <a:off x="548640" y="2880360"/>
            <a:ext cx="3520440" cy="2331720"/>
          </a:xfrm>
          <a:prstGeom prst="roundRect">
            <a:avLst>
              <a:gd name="adj" fmla="val 392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2" name="icon-bg-1015"/>
          <p:cNvSpPr/>
          <p:nvPr/>
        </p:nvSpPr>
        <p:spPr>
          <a:xfrm>
            <a:off x="777240" y="3063240"/>
            <a:ext cx="685800" cy="685800"/>
          </a:xfrm>
          <a:prstGeom prst="ellipse">
            <a:avLst/>
          </a:prstGeom>
          <a:solidFill>
            <a:schemeClr val="accent1"/>
          </a:solidFill>
          <a:ln/>
        </p:spPr>
      </p:sp>
      <p:pic>
        <p:nvPicPr>
          <p:cNvPr id="33" name="icon-1016" descr="preencoded.png">    </p:cNvPr>
          <p:cNvPicPr>
            <a:picLocks noChangeAspect="1"/>
          </p:cNvPicPr>
          <p:nvPr/>
        </p:nvPicPr>
        <p:blipFill>
          <a:blip r:embed="rId8"/>
          <a:stretch>
            <a:fillRect/>
          </a:stretch>
        </p:blipFill>
        <p:spPr>
          <a:xfrm>
            <a:off x="934974" y="3220974"/>
            <a:ext cx="370332" cy="370332"/>
          </a:xfrm>
          <a:prstGeom prst="rect">
            <a:avLst/>
          </a:prstGeom>
        </p:spPr>
      </p:pic>
      <p:sp>
        <p:nvSpPr>
          <p:cNvPr id="34" name="text-1017"/>
          <p:cNvSpPr txBox="1"/>
          <p:nvPr/>
        </p:nvSpPr>
        <p:spPr>
          <a:xfrm>
            <a:off x="1600200" y="3063240"/>
            <a:ext cx="2331720" cy="685800"/>
          </a:xfrm>
          <a:prstGeom prst="rect">
            <a:avLst/>
          </a:prstGeom>
          <a:noFill/>
          <a:ln/>
        </p:spPr>
        <p:txBody>
          <a:bodyPr wrap="square" lIns="0" tIns="0" rIns="0" bIns="0" rtlCol="0" anchor="ctr"/>
          <a:lstStyle/>
          <a:p>
            <a:pPr indent="0" marL="0">
              <a:buNone/>
            </a:pPr>
            <a:r>
              <a:rPr lang="en-US" sz="1650" b="1" dirty="0">
                <a:solidFill>
                  <a:schemeClr val="tx1"/>
                </a:solidFill>
              </a:rPr>
              <a:t>CFD = PDEs solved on a grid</a:t>
            </a:r>
            <a:endParaRPr lang="en-US" sz="1650" dirty="0"/>
          </a:p>
        </p:txBody>
      </p:sp>
      <p:sp>
        <p:nvSpPr>
          <p:cNvPr id="35" name="text-1018"/>
          <p:cNvSpPr txBox="1"/>
          <p:nvPr/>
        </p:nvSpPr>
        <p:spPr>
          <a:xfrm>
            <a:off x="777240" y="3931920"/>
            <a:ext cx="3108960" cy="1188720"/>
          </a:xfrm>
          <a:prstGeom prst="rect">
            <a:avLst/>
          </a:prstGeom>
          <a:noFill/>
          <a:ln/>
        </p:spPr>
        <p:txBody>
          <a:bodyPr wrap="square" lIns="0" tIns="0" rIns="0" bIns="0" rtlCol="0" anchor="t"/>
          <a:lstStyle/>
          <a:p>
            <a:pPr indent="0" marL="0">
              <a:buNone/>
            </a:pPr>
            <a:r>
              <a:rPr lang="en-US" sz="1400" dirty="0">
                <a:solidFill>
                  <a:schemeClr val="tx2"/>
                </a:solidFill>
              </a:rPr>
              <a:t>Geometry, physics and a math model, solved approximately with numerical methods, at a finite set of points.</a:t>
            </a:r>
            <a:endParaRPr lang="en-US" sz="1400" dirty="0"/>
          </a:p>
        </p:txBody>
      </p:sp>
      <p:sp>
        <p:nvSpPr>
          <p:cNvPr id="36" name="card-1019"/>
          <p:cNvSpPr/>
          <p:nvPr/>
        </p:nvSpPr>
        <p:spPr>
          <a:xfrm>
            <a:off x="4334256" y="2880360"/>
            <a:ext cx="3520440" cy="2331720"/>
          </a:xfrm>
          <a:prstGeom prst="roundRect">
            <a:avLst>
              <a:gd name="adj" fmla="val 392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7" name="icon-bg-1020"/>
          <p:cNvSpPr/>
          <p:nvPr/>
        </p:nvSpPr>
        <p:spPr>
          <a:xfrm>
            <a:off x="4562856" y="3063240"/>
            <a:ext cx="685800" cy="685800"/>
          </a:xfrm>
          <a:prstGeom prst="ellipse">
            <a:avLst/>
          </a:prstGeom>
          <a:solidFill>
            <a:schemeClr val="accent2"/>
          </a:solidFill>
          <a:ln/>
        </p:spPr>
      </p:sp>
      <p:pic>
        <p:nvPicPr>
          <p:cNvPr id="38" name="icon-1021" descr="preencoded.png">    </p:cNvPr>
          <p:cNvPicPr>
            <a:picLocks noChangeAspect="1"/>
          </p:cNvPicPr>
          <p:nvPr/>
        </p:nvPicPr>
        <p:blipFill>
          <a:blip r:embed="rId9"/>
          <a:stretch>
            <a:fillRect/>
          </a:stretch>
        </p:blipFill>
        <p:spPr>
          <a:xfrm>
            <a:off x="4720590" y="3220974"/>
            <a:ext cx="370332" cy="370332"/>
          </a:xfrm>
          <a:prstGeom prst="rect">
            <a:avLst/>
          </a:prstGeom>
        </p:spPr>
      </p:pic>
      <p:sp>
        <p:nvSpPr>
          <p:cNvPr id="39" name="text-1022"/>
          <p:cNvSpPr txBox="1"/>
          <p:nvPr/>
        </p:nvSpPr>
        <p:spPr>
          <a:xfrm>
            <a:off x="5385816" y="3063240"/>
            <a:ext cx="2331720" cy="685800"/>
          </a:xfrm>
          <a:prstGeom prst="rect">
            <a:avLst/>
          </a:prstGeom>
          <a:noFill/>
          <a:ln/>
        </p:spPr>
        <p:txBody>
          <a:bodyPr wrap="square" lIns="0" tIns="0" rIns="0" bIns="0" rtlCol="0" anchor="ctr"/>
          <a:lstStyle/>
          <a:p>
            <a:pPr indent="0" marL="0">
              <a:buNone/>
            </a:pPr>
            <a:r>
              <a:rPr lang="en-US" sz="1650" b="1" dirty="0">
                <a:solidFill>
                  <a:schemeClr val="tx1"/>
                </a:solidFill>
              </a:rPr>
              <a:t>FDM: derivatives → differences</a:t>
            </a:r>
            <a:endParaRPr lang="en-US" sz="1650" dirty="0"/>
          </a:p>
        </p:txBody>
      </p:sp>
      <p:sp>
        <p:nvSpPr>
          <p:cNvPr id="40" name="text-1023"/>
          <p:cNvSpPr txBox="1"/>
          <p:nvPr/>
        </p:nvSpPr>
        <p:spPr>
          <a:xfrm>
            <a:off x="4562856" y="3931920"/>
            <a:ext cx="3108960" cy="1188720"/>
          </a:xfrm>
          <a:prstGeom prst="rect">
            <a:avLst/>
          </a:prstGeom>
          <a:noFill/>
          <a:ln/>
        </p:spPr>
        <p:txBody>
          <a:bodyPr wrap="square" lIns="0" tIns="0" rIns="0" bIns="0" rtlCol="0" anchor="t"/>
          <a:lstStyle/>
          <a:p>
            <a:pPr indent="0" marL="0">
              <a:buNone/>
            </a:pPr>
            <a:r>
              <a:rPr lang="en-US" sz="1400" dirty="0">
                <a:solidFill>
                  <a:schemeClr val="tx2"/>
                </a:solidFill>
              </a:rPr>
              <a:t>The Taylor series gives the formulas and their order: halve Δx and a 2nd-order error falls by 4.</a:t>
            </a:r>
            <a:endParaRPr lang="en-US" sz="1400" dirty="0"/>
          </a:p>
        </p:txBody>
      </p:sp>
      <p:sp>
        <p:nvSpPr>
          <p:cNvPr id="41" name="card-1024"/>
          <p:cNvSpPr/>
          <p:nvPr/>
        </p:nvSpPr>
        <p:spPr>
          <a:xfrm>
            <a:off x="8119872" y="2880360"/>
            <a:ext cx="3520440" cy="2331720"/>
          </a:xfrm>
          <a:prstGeom prst="roundRect">
            <a:avLst>
              <a:gd name="adj" fmla="val 392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42" name="icon-bg-1025"/>
          <p:cNvSpPr/>
          <p:nvPr/>
        </p:nvSpPr>
        <p:spPr>
          <a:xfrm>
            <a:off x="8348472" y="3063240"/>
            <a:ext cx="685800" cy="685800"/>
          </a:xfrm>
          <a:prstGeom prst="ellipse">
            <a:avLst/>
          </a:prstGeom>
          <a:solidFill>
            <a:schemeClr val="accent3"/>
          </a:solidFill>
          <a:ln/>
        </p:spPr>
      </p:sp>
      <p:pic>
        <p:nvPicPr>
          <p:cNvPr id="43" name="icon-1026" descr="preencoded.png">    </p:cNvPr>
          <p:cNvPicPr>
            <a:picLocks noChangeAspect="1"/>
          </p:cNvPicPr>
          <p:nvPr/>
        </p:nvPicPr>
        <p:blipFill>
          <a:blip r:embed="rId10"/>
          <a:stretch>
            <a:fillRect/>
          </a:stretch>
        </p:blipFill>
        <p:spPr>
          <a:xfrm>
            <a:off x="8506206" y="3220974"/>
            <a:ext cx="370332" cy="370332"/>
          </a:xfrm>
          <a:prstGeom prst="rect">
            <a:avLst/>
          </a:prstGeom>
        </p:spPr>
      </p:pic>
      <p:sp>
        <p:nvSpPr>
          <p:cNvPr id="44" name="text-1027"/>
          <p:cNvSpPr txBox="1"/>
          <p:nvPr/>
        </p:nvSpPr>
        <p:spPr>
          <a:xfrm>
            <a:off x="9171432" y="3063240"/>
            <a:ext cx="2331720" cy="685800"/>
          </a:xfrm>
          <a:prstGeom prst="rect">
            <a:avLst/>
          </a:prstGeom>
          <a:noFill/>
          <a:ln/>
        </p:spPr>
        <p:txBody>
          <a:bodyPr wrap="square" lIns="0" tIns="0" rIns="0" bIns="0" rtlCol="0" anchor="ctr"/>
          <a:lstStyle/>
          <a:p>
            <a:pPr indent="0" marL="0">
              <a:buNone/>
            </a:pPr>
            <a:r>
              <a:rPr lang="en-US" sz="1650" b="1" dirty="0">
                <a:solidFill>
                  <a:schemeClr val="tx1"/>
                </a:solidFill>
              </a:rPr>
              <a:t>Trust needs checks</a:t>
            </a:r>
            <a:endParaRPr lang="en-US" sz="1650" dirty="0"/>
          </a:p>
        </p:txBody>
      </p:sp>
      <p:sp>
        <p:nvSpPr>
          <p:cNvPr id="45" name="text-1028"/>
          <p:cNvSpPr txBox="1"/>
          <p:nvPr/>
        </p:nvSpPr>
        <p:spPr>
          <a:xfrm>
            <a:off x="8348472" y="3931920"/>
            <a:ext cx="3108960" cy="1188720"/>
          </a:xfrm>
          <a:prstGeom prst="rect">
            <a:avLst/>
          </a:prstGeom>
          <a:noFill/>
          <a:ln/>
        </p:spPr>
        <p:txBody>
          <a:bodyPr wrap="square" lIns="0" tIns="0" rIns="0" bIns="0" rtlCol="0" anchor="t"/>
          <a:lstStyle/>
          <a:p>
            <a:pPr indent="0" marL="0">
              <a:buNone/>
            </a:pPr>
            <a:r>
              <a:rPr lang="en-US" sz="1400" dirty="0">
                <a:solidFill>
                  <a:schemeClr val="tx2"/>
                </a:solidFill>
              </a:rPr>
              <a:t>Stability limits, grid refinement, exact solutions and benchmarks, before any colourful plot.</a:t>
            </a:r>
            <a:endParaRPr lang="en-US" sz="1400" dirty="0"/>
          </a:p>
        </p:txBody>
      </p:sp>
      <p:sp>
        <p:nvSpPr>
          <p:cNvPr id="46" name="pill-1029"/>
          <p:cNvSpPr/>
          <p:nvPr/>
        </p:nvSpPr>
        <p:spPr>
          <a:xfrm>
            <a:off x="548640" y="5486400"/>
            <a:ext cx="6035040"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700" b="1" dirty="0">
                <a:solidFill>
                  <a:schemeClr val="bg1"/>
                </a:solidFill>
              </a:rPr>
              <a:t>Next: the same fin in COMSOL, with finite elements  →</a:t>
            </a:r>
            <a:endParaRPr lang="en-US" sz="17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0080" y="1783080"/>
            <a:ext cx="6949440" cy="365760"/>
          </a:xfrm>
          <a:prstGeom prst="rect">
            <a:avLst/>
          </a:prstGeom>
          <a:noFill/>
          <a:ln/>
        </p:spPr>
        <p:txBody>
          <a:bodyPr wrap="square" lIns="0" tIns="0" rIns="0" bIns="0" rtlCol="0" anchor="t"/>
          <a:lstStyle/>
          <a:p>
            <a:pPr algn="l" indent="0" marL="0">
              <a:buNone/>
            </a:pPr>
            <a:r>
              <a:rPr lang="en-US" sz="1500" b="1" dirty="0">
                <a:solidFill>
                  <a:schemeClr val="accent5"/>
                </a:solidFill>
              </a:rPr>
              <a:t>PART 2  ·  2:00 – 3:00 PM</a:t>
            </a:r>
            <a:endParaRPr lang="en-US" sz="1500" dirty="0"/>
          </a:p>
        </p:txBody>
      </p:sp>
      <p:sp>
        <p:nvSpPr>
          <p:cNvPr id="3" name="Text 0"/>
          <p:cNvSpPr/>
          <p:nvPr>
            <p:ph idx="101" type="title" hasCustomPrompt="1"/>
          </p:nvPr>
        </p:nvSpPr>
        <p:spPr>
          <a:xfrm>
            <a:off x="640080" y="2240280"/>
            <a:ext cx="6949440" cy="1920240"/>
          </a:xfrm>
          <a:prstGeom prst="rect">
            <a:avLst/>
          </a:prstGeom>
          <a:noFill/>
          <a:ln/>
        </p:spPr>
        <p:txBody>
          <a:bodyPr wrap="square" lIns="0" tIns="0" rIns="0" bIns="0" rtlCol="0" anchor="t"/>
          <a:lstStyle/>
          <a:p>
            <a:pPr algn="l" indent="0" marL="0">
              <a:buNone/>
            </a:pPr>
            <a:r>
              <a:rPr lang="en-US" sz="4000" b="1" dirty="0">
                <a:solidFill>
                  <a:schemeClr val="bg1"/>
                </a:solidFill>
              </a:rPr>
              <a:t>Hands-on COMSOL Multiphysics</a:t>
            </a:r>
            <a:endParaRPr lang="en-US" sz="4000" dirty="0"/>
          </a:p>
        </p:txBody>
      </p:sp>
      <p:sp>
        <p:nvSpPr>
          <p:cNvPr id="4" name="Text 0"/>
          <p:cNvSpPr/>
          <p:nvPr>
            <p:ph idx="102" type="body" hasCustomPrompt="1"/>
          </p:nvPr>
        </p:nvSpPr>
        <p:spPr>
          <a:xfrm>
            <a:off x="640080" y="4343400"/>
            <a:ext cx="6949440" cy="822960"/>
          </a:xfrm>
          <a:prstGeom prst="rect">
            <a:avLst/>
          </a:prstGeom>
          <a:noFill/>
          <a:ln/>
        </p:spPr>
        <p:txBody>
          <a:bodyPr wrap="square" lIns="0" tIns="0" rIns="0" bIns="0" rtlCol="0" anchor="t"/>
          <a:lstStyle/>
          <a:p>
            <a:pPr algn="l" indent="0" marL="0">
              <a:buNone/>
            </a:pPr>
            <a:r>
              <a:rPr lang="en-US" sz="1800" dirty="0">
                <a:solidFill>
                  <a:schemeClr val="bg2"/>
                </a:solidFill>
              </a:rPr>
              <a:t>Build, solve and verify the repo's problems step by step, starting with Problem 1</a:t>
            </a:r>
            <a:endParaRPr lang="en-US" sz="1800" dirty="0"/>
          </a:p>
        </p:txBody>
      </p:sp>
      <p:sp>
        <p:nvSpPr>
          <p:cNvPr id="5" name="ring-1030"/>
          <p:cNvSpPr/>
          <p:nvPr/>
        </p:nvSpPr>
        <p:spPr>
          <a:xfrm>
            <a:off x="8183880" y="1600200"/>
            <a:ext cx="3383280" cy="3383280"/>
          </a:xfrm>
          <a:prstGeom prst="ellipse">
            <a:avLst/>
          </a:prstGeom>
          <a:ln w="19050">
            <a:solidFill>
              <a:schemeClr val="accent2">
                <a:alpha val="50000"/>
              </a:schemeClr>
            </a:solidFill>
            <a:prstDash val="solid"/>
          </a:ln>
        </p:spPr>
      </p:sp>
      <p:sp>
        <p:nvSpPr>
          <p:cNvPr id="6" name="icon-bg-1031"/>
          <p:cNvSpPr/>
          <p:nvPr/>
        </p:nvSpPr>
        <p:spPr>
          <a:xfrm>
            <a:off x="8503920" y="1920240"/>
            <a:ext cx="2743200" cy="2743200"/>
          </a:xfrm>
          <a:prstGeom prst="ellipse">
            <a:avLst/>
          </a:prstGeom>
          <a:solidFill>
            <a:schemeClr val="accent2"/>
          </a:solidFill>
          <a:ln/>
        </p:spPr>
      </p:sp>
      <p:pic>
        <p:nvPicPr>
          <p:cNvPr id="7" name="icon-1032" descr="preencoded.png">    </p:cNvPr>
          <p:cNvPicPr>
            <a:picLocks noChangeAspect="1"/>
          </p:cNvPicPr>
          <p:nvPr/>
        </p:nvPicPr>
        <p:blipFill>
          <a:blip r:embed="rId1"/>
          <a:stretch>
            <a:fillRect/>
          </a:stretch>
        </p:blipFill>
        <p:spPr>
          <a:xfrm>
            <a:off x="9217152" y="2633472"/>
            <a:ext cx="1316736" cy="131673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1033"/>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COMSOL BASICS</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The 7 pillars inside COMSOL</a:t>
            </a:r>
            <a:endParaRPr lang="en-US" sz="3200" dirty="0"/>
          </a:p>
        </p:txBody>
      </p:sp>
      <p:sp>
        <p:nvSpPr>
          <p:cNvPr id="4" name="card-1034"/>
          <p:cNvSpPr/>
          <p:nvPr/>
        </p:nvSpPr>
        <p:spPr>
          <a:xfrm>
            <a:off x="548640" y="1371600"/>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5" name="icon-bg-1035"/>
          <p:cNvSpPr/>
          <p:nvPr/>
        </p:nvSpPr>
        <p:spPr>
          <a:xfrm>
            <a:off x="658368" y="1444752"/>
            <a:ext cx="374904" cy="374904"/>
          </a:xfrm>
          <a:prstGeom prst="ellipse">
            <a:avLst/>
          </a:prstGeom>
          <a:solidFill>
            <a:schemeClr val="tx1"/>
          </a:solidFill>
          <a:ln/>
        </p:spPr>
      </p:sp>
      <p:pic>
        <p:nvPicPr>
          <p:cNvPr id="6" name="icon-1036" descr="preencoded.png">    </p:cNvPr>
          <p:cNvPicPr>
            <a:picLocks noChangeAspect="1"/>
          </p:cNvPicPr>
          <p:nvPr/>
        </p:nvPicPr>
        <p:blipFill>
          <a:blip r:embed="rId1"/>
          <a:stretch>
            <a:fillRect/>
          </a:stretch>
        </p:blipFill>
        <p:spPr>
          <a:xfrm>
            <a:off x="744596" y="1530980"/>
            <a:ext cx="202448" cy="202448"/>
          </a:xfrm>
          <a:prstGeom prst="rect">
            <a:avLst/>
          </a:prstGeom>
        </p:spPr>
      </p:pic>
      <p:sp>
        <p:nvSpPr>
          <p:cNvPr id="7" name="text-1037"/>
          <p:cNvSpPr txBox="1"/>
          <p:nvPr/>
        </p:nvSpPr>
        <p:spPr>
          <a:xfrm>
            <a:off x="1188720" y="1371600"/>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Model Wizard</a:t>
            </a:r>
            <a:endParaRPr lang="en-US" sz="1550" dirty="0"/>
          </a:p>
        </p:txBody>
      </p:sp>
      <p:sp>
        <p:nvSpPr>
          <p:cNvPr id="8" name="text-1038"/>
          <p:cNvSpPr txBox="1"/>
          <p:nvPr/>
        </p:nvSpPr>
        <p:spPr>
          <a:xfrm>
            <a:off x="4023360" y="1371600"/>
            <a:ext cx="3931920" cy="521208"/>
          </a:xfrm>
          <a:prstGeom prst="rect">
            <a:avLst/>
          </a:prstGeom>
          <a:noFill/>
          <a:ln/>
        </p:spPr>
        <p:txBody>
          <a:bodyPr wrap="square" lIns="0" tIns="0" rIns="0" bIns="0" rtlCol="0" anchor="ctr"/>
          <a:lstStyle/>
          <a:p>
            <a:pPr indent="0" marL="0">
              <a:buNone/>
            </a:pPr>
            <a:r>
              <a:rPr lang="en-US" sz="1400" dirty="0">
                <a:solidFill>
                  <a:schemeClr val="tx2"/>
                </a:solidFill>
              </a:rPr>
              <a:t>space dimension · physics · study type</a:t>
            </a:r>
            <a:endParaRPr lang="en-US" sz="1400" dirty="0"/>
          </a:p>
        </p:txBody>
      </p:sp>
      <p:sp>
        <p:nvSpPr>
          <p:cNvPr id="9" name="pill-1039"/>
          <p:cNvSpPr/>
          <p:nvPr/>
        </p:nvSpPr>
        <p:spPr>
          <a:xfrm>
            <a:off x="8001000" y="1472184"/>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 · Geometry</a:t>
            </a:r>
            <a:endParaRPr lang="en-US" sz="1100" dirty="0"/>
          </a:p>
        </p:txBody>
      </p:sp>
      <p:sp>
        <p:nvSpPr>
          <p:cNvPr id="10" name="pill-1040"/>
          <p:cNvSpPr/>
          <p:nvPr/>
        </p:nvSpPr>
        <p:spPr>
          <a:xfrm>
            <a:off x="9171432" y="1472184"/>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3 · Physics</a:t>
            </a:r>
            <a:endParaRPr lang="en-US" sz="1100" dirty="0"/>
          </a:p>
        </p:txBody>
      </p:sp>
      <p:sp>
        <p:nvSpPr>
          <p:cNvPr id="11" name="pill-1041"/>
          <p:cNvSpPr/>
          <p:nvPr/>
        </p:nvSpPr>
        <p:spPr>
          <a:xfrm>
            <a:off x="10341864" y="1472184"/>
            <a:ext cx="1097280" cy="32004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5 · Setup</a:t>
            </a:r>
            <a:endParaRPr lang="en-US" sz="1100" dirty="0"/>
          </a:p>
        </p:txBody>
      </p:sp>
      <p:sp>
        <p:nvSpPr>
          <p:cNvPr id="12" name="card-1042"/>
          <p:cNvSpPr/>
          <p:nvPr/>
        </p:nvSpPr>
        <p:spPr>
          <a:xfrm>
            <a:off x="548640" y="1975104"/>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13" name="icon-bg-1043"/>
          <p:cNvSpPr/>
          <p:nvPr/>
        </p:nvSpPr>
        <p:spPr>
          <a:xfrm>
            <a:off x="658368" y="2048256"/>
            <a:ext cx="374904" cy="374904"/>
          </a:xfrm>
          <a:prstGeom prst="ellipse">
            <a:avLst/>
          </a:prstGeom>
          <a:solidFill>
            <a:schemeClr val="tx1"/>
          </a:solidFill>
          <a:ln/>
        </p:spPr>
      </p:sp>
      <p:pic>
        <p:nvPicPr>
          <p:cNvPr id="14" name="icon-1044" descr="preencoded.png">    </p:cNvPr>
          <p:cNvPicPr>
            <a:picLocks noChangeAspect="1"/>
          </p:cNvPicPr>
          <p:nvPr/>
        </p:nvPicPr>
        <p:blipFill>
          <a:blip r:embed="rId2"/>
          <a:stretch>
            <a:fillRect/>
          </a:stretch>
        </p:blipFill>
        <p:spPr>
          <a:xfrm>
            <a:off x="744596" y="2134484"/>
            <a:ext cx="202448" cy="202448"/>
          </a:xfrm>
          <a:prstGeom prst="rect">
            <a:avLst/>
          </a:prstGeom>
        </p:spPr>
      </p:pic>
      <p:sp>
        <p:nvSpPr>
          <p:cNvPr id="15" name="text-1045"/>
          <p:cNvSpPr txBox="1"/>
          <p:nvPr/>
        </p:nvSpPr>
        <p:spPr>
          <a:xfrm>
            <a:off x="1188720" y="1975104"/>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Global Definitions</a:t>
            </a:r>
            <a:endParaRPr lang="en-US" sz="1550" dirty="0"/>
          </a:p>
        </p:txBody>
      </p:sp>
      <p:sp>
        <p:nvSpPr>
          <p:cNvPr id="16" name="text-1046"/>
          <p:cNvSpPr txBox="1"/>
          <p:nvPr/>
        </p:nvSpPr>
        <p:spPr>
          <a:xfrm>
            <a:off x="4023360" y="1975104"/>
            <a:ext cx="3931920" cy="521208"/>
          </a:xfrm>
          <a:prstGeom prst="rect">
            <a:avLst/>
          </a:prstGeom>
          <a:noFill/>
          <a:ln/>
        </p:spPr>
        <p:txBody>
          <a:bodyPr wrap="square" lIns="0" tIns="0" rIns="0" bIns="0" rtlCol="0" anchor="ctr"/>
          <a:lstStyle/>
          <a:p>
            <a:pPr indent="0" marL="0">
              <a:buNone/>
            </a:pPr>
            <a:r>
              <a:rPr lang="en-US" sz="1400" dirty="0">
                <a:solidFill>
                  <a:schemeClr val="tx2"/>
                </a:solidFill>
              </a:rPr>
              <a:t>parameters: all problem data in one place</a:t>
            </a:r>
            <a:endParaRPr lang="en-US" sz="1400" dirty="0"/>
          </a:p>
        </p:txBody>
      </p:sp>
      <p:sp>
        <p:nvSpPr>
          <p:cNvPr id="17" name="pill-1047"/>
          <p:cNvSpPr/>
          <p:nvPr/>
        </p:nvSpPr>
        <p:spPr>
          <a:xfrm>
            <a:off x="8001000" y="2075688"/>
            <a:ext cx="1783080" cy="32004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problem data</a:t>
            </a:r>
            <a:endParaRPr lang="en-US" sz="1100" dirty="0"/>
          </a:p>
        </p:txBody>
      </p:sp>
      <p:sp>
        <p:nvSpPr>
          <p:cNvPr id="18" name="card-1048"/>
          <p:cNvSpPr/>
          <p:nvPr/>
        </p:nvSpPr>
        <p:spPr>
          <a:xfrm>
            <a:off x="548640" y="2578608"/>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19" name="icon-bg-1049"/>
          <p:cNvSpPr/>
          <p:nvPr/>
        </p:nvSpPr>
        <p:spPr>
          <a:xfrm>
            <a:off x="658368" y="2651760"/>
            <a:ext cx="374904" cy="374904"/>
          </a:xfrm>
          <a:prstGeom prst="ellipse">
            <a:avLst/>
          </a:prstGeom>
          <a:solidFill>
            <a:schemeClr val="tx1"/>
          </a:solidFill>
          <a:ln/>
        </p:spPr>
      </p:sp>
      <p:pic>
        <p:nvPicPr>
          <p:cNvPr id="20" name="icon-1050" descr="preencoded.png">    </p:cNvPr>
          <p:cNvPicPr>
            <a:picLocks noChangeAspect="1"/>
          </p:cNvPicPr>
          <p:nvPr/>
        </p:nvPicPr>
        <p:blipFill>
          <a:blip r:embed="rId3"/>
          <a:stretch>
            <a:fillRect/>
          </a:stretch>
        </p:blipFill>
        <p:spPr>
          <a:xfrm>
            <a:off x="744596" y="2737988"/>
            <a:ext cx="202448" cy="202448"/>
          </a:xfrm>
          <a:prstGeom prst="rect">
            <a:avLst/>
          </a:prstGeom>
        </p:spPr>
      </p:pic>
      <p:sp>
        <p:nvSpPr>
          <p:cNvPr id="21" name="text-1051"/>
          <p:cNvSpPr txBox="1"/>
          <p:nvPr/>
        </p:nvSpPr>
        <p:spPr>
          <a:xfrm>
            <a:off x="1188720" y="2578608"/>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Geometry</a:t>
            </a:r>
            <a:endParaRPr lang="en-US" sz="1550" dirty="0"/>
          </a:p>
        </p:txBody>
      </p:sp>
      <p:sp>
        <p:nvSpPr>
          <p:cNvPr id="22" name="text-1052"/>
          <p:cNvSpPr txBox="1"/>
          <p:nvPr/>
        </p:nvSpPr>
        <p:spPr>
          <a:xfrm>
            <a:off x="4023360" y="2578608"/>
            <a:ext cx="3931920" cy="521208"/>
          </a:xfrm>
          <a:prstGeom prst="rect">
            <a:avLst/>
          </a:prstGeom>
          <a:noFill/>
          <a:ln/>
        </p:spPr>
        <p:txBody>
          <a:bodyPr wrap="square" lIns="0" tIns="0" rIns="0" bIns="0" rtlCol="0" anchor="ctr"/>
          <a:lstStyle/>
          <a:p>
            <a:pPr indent="0" marL="0">
              <a:buNone/>
            </a:pPr>
            <a:r>
              <a:rPr lang="en-US" sz="1400" dirty="0">
                <a:solidFill>
                  <a:schemeClr val="tx2"/>
                </a:solidFill>
              </a:rPr>
              <a:t>interval, square …: the domain</a:t>
            </a:r>
            <a:endParaRPr lang="en-US" sz="1400" dirty="0"/>
          </a:p>
        </p:txBody>
      </p:sp>
      <p:sp>
        <p:nvSpPr>
          <p:cNvPr id="23" name="pill-1053"/>
          <p:cNvSpPr/>
          <p:nvPr/>
        </p:nvSpPr>
        <p:spPr>
          <a:xfrm>
            <a:off x="8001000" y="2679192"/>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 · Geometry</a:t>
            </a:r>
            <a:endParaRPr lang="en-US" sz="1100" dirty="0"/>
          </a:p>
        </p:txBody>
      </p:sp>
      <p:sp>
        <p:nvSpPr>
          <p:cNvPr id="24" name="card-1054"/>
          <p:cNvSpPr/>
          <p:nvPr/>
        </p:nvSpPr>
        <p:spPr>
          <a:xfrm>
            <a:off x="548640" y="3182112"/>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25" name="icon-bg-1055"/>
          <p:cNvSpPr/>
          <p:nvPr/>
        </p:nvSpPr>
        <p:spPr>
          <a:xfrm>
            <a:off x="658368" y="3255264"/>
            <a:ext cx="374904" cy="374904"/>
          </a:xfrm>
          <a:prstGeom prst="ellipse">
            <a:avLst/>
          </a:prstGeom>
          <a:solidFill>
            <a:schemeClr val="tx1"/>
          </a:solidFill>
          <a:ln/>
        </p:spPr>
      </p:sp>
      <p:pic>
        <p:nvPicPr>
          <p:cNvPr id="26" name="icon-1056" descr="preencoded.png">    </p:cNvPr>
          <p:cNvPicPr>
            <a:picLocks noChangeAspect="1"/>
          </p:cNvPicPr>
          <p:nvPr/>
        </p:nvPicPr>
        <p:blipFill>
          <a:blip r:embed="rId4"/>
          <a:stretch>
            <a:fillRect/>
          </a:stretch>
        </p:blipFill>
        <p:spPr>
          <a:xfrm>
            <a:off x="744596" y="3341492"/>
            <a:ext cx="202448" cy="202448"/>
          </a:xfrm>
          <a:prstGeom prst="rect">
            <a:avLst/>
          </a:prstGeom>
        </p:spPr>
      </p:pic>
      <p:sp>
        <p:nvSpPr>
          <p:cNvPr id="27" name="text-1057"/>
          <p:cNvSpPr txBox="1"/>
          <p:nvPr/>
        </p:nvSpPr>
        <p:spPr>
          <a:xfrm>
            <a:off x="1188720" y="3182112"/>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Materials</a:t>
            </a:r>
            <a:endParaRPr lang="en-US" sz="1550" dirty="0"/>
          </a:p>
        </p:txBody>
      </p:sp>
      <p:sp>
        <p:nvSpPr>
          <p:cNvPr id="28" name="text-1058"/>
          <p:cNvSpPr txBox="1"/>
          <p:nvPr/>
        </p:nvSpPr>
        <p:spPr>
          <a:xfrm>
            <a:off x="4023360" y="3182112"/>
            <a:ext cx="3931920" cy="521208"/>
          </a:xfrm>
          <a:prstGeom prst="rect">
            <a:avLst/>
          </a:prstGeom>
          <a:noFill/>
          <a:ln/>
        </p:spPr>
        <p:txBody>
          <a:bodyPr wrap="square" lIns="0" tIns="0" rIns="0" bIns="0" rtlCol="0" anchor="ctr"/>
          <a:lstStyle/>
          <a:p>
            <a:pPr indent="0" marL="0">
              <a:buNone/>
            </a:pPr>
            <a:r>
              <a:rPr lang="en-US" sz="1400" dirty="0">
                <a:solidFill>
                  <a:schemeClr val="tx2"/>
                </a:solidFill>
              </a:rPr>
              <a:t>k, ρ, c</a:t>
            </a:r>
            <a:pPr indent="0" marL="0">
              <a:buNone/>
            </a:pPr>
            <a:r>
              <a:rPr lang="en-US" sz="1400" baseline="-40000" dirty="0">
                <a:solidFill>
                  <a:schemeClr val="tx2"/>
                </a:solidFill>
              </a:rPr>
              <a:t>p</a:t>
            </a:r>
            <a:endParaRPr lang="en-US" sz="1400" dirty="0"/>
          </a:p>
        </p:txBody>
      </p:sp>
      <p:sp>
        <p:nvSpPr>
          <p:cNvPr id="29" name="pill-1059"/>
          <p:cNvSpPr/>
          <p:nvPr/>
        </p:nvSpPr>
        <p:spPr>
          <a:xfrm>
            <a:off x="8001000" y="3282696"/>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3 · Physics</a:t>
            </a:r>
            <a:endParaRPr lang="en-US" sz="1100" dirty="0"/>
          </a:p>
        </p:txBody>
      </p:sp>
      <p:sp>
        <p:nvSpPr>
          <p:cNvPr id="30" name="card-1060"/>
          <p:cNvSpPr/>
          <p:nvPr/>
        </p:nvSpPr>
        <p:spPr>
          <a:xfrm>
            <a:off x="548640" y="3785616"/>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31" name="icon-bg-1061"/>
          <p:cNvSpPr/>
          <p:nvPr/>
        </p:nvSpPr>
        <p:spPr>
          <a:xfrm>
            <a:off x="658368" y="3858768"/>
            <a:ext cx="374904" cy="374904"/>
          </a:xfrm>
          <a:prstGeom prst="ellipse">
            <a:avLst/>
          </a:prstGeom>
          <a:solidFill>
            <a:schemeClr val="tx1"/>
          </a:solidFill>
          <a:ln/>
        </p:spPr>
      </p:sp>
      <p:pic>
        <p:nvPicPr>
          <p:cNvPr id="32" name="icon-1062" descr="preencoded.png">    </p:cNvPr>
          <p:cNvPicPr>
            <a:picLocks noChangeAspect="1"/>
          </p:cNvPicPr>
          <p:nvPr/>
        </p:nvPicPr>
        <p:blipFill>
          <a:blip r:embed="rId5"/>
          <a:stretch>
            <a:fillRect/>
          </a:stretch>
        </p:blipFill>
        <p:spPr>
          <a:xfrm>
            <a:off x="744596" y="3944996"/>
            <a:ext cx="202448" cy="202448"/>
          </a:xfrm>
          <a:prstGeom prst="rect">
            <a:avLst/>
          </a:prstGeom>
        </p:spPr>
      </p:pic>
      <p:sp>
        <p:nvSpPr>
          <p:cNvPr id="33" name="text-1063"/>
          <p:cNvSpPr txBox="1"/>
          <p:nvPr/>
        </p:nvSpPr>
        <p:spPr>
          <a:xfrm>
            <a:off x="1188720" y="3785616"/>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Physics nodes</a:t>
            </a:r>
            <a:endParaRPr lang="en-US" sz="1550" dirty="0"/>
          </a:p>
        </p:txBody>
      </p:sp>
      <p:sp>
        <p:nvSpPr>
          <p:cNvPr id="34" name="text-1064"/>
          <p:cNvSpPr txBox="1"/>
          <p:nvPr/>
        </p:nvSpPr>
        <p:spPr>
          <a:xfrm>
            <a:off x="4023360" y="3785616"/>
            <a:ext cx="3931920" cy="521208"/>
          </a:xfrm>
          <a:prstGeom prst="rect">
            <a:avLst/>
          </a:prstGeom>
          <a:noFill/>
          <a:ln/>
        </p:spPr>
        <p:txBody>
          <a:bodyPr wrap="square" lIns="0" tIns="0" rIns="0" bIns="0" rtlCol="0" anchor="ctr"/>
          <a:lstStyle/>
          <a:p>
            <a:pPr indent="0" marL="0">
              <a:buNone/>
            </a:pPr>
            <a:r>
              <a:rPr lang="en-US" sz="1400" dirty="0">
                <a:solidFill>
                  <a:schemeClr val="tx2"/>
                </a:solidFill>
              </a:rPr>
              <a:t>the equation + boundary conditions</a:t>
            </a:r>
            <a:endParaRPr lang="en-US" sz="1400" dirty="0"/>
          </a:p>
        </p:txBody>
      </p:sp>
      <p:sp>
        <p:nvSpPr>
          <p:cNvPr id="35" name="pill-1065"/>
          <p:cNvSpPr/>
          <p:nvPr/>
        </p:nvSpPr>
        <p:spPr>
          <a:xfrm>
            <a:off x="8001000" y="3886200"/>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3 · Physics</a:t>
            </a:r>
            <a:endParaRPr lang="en-US" sz="1100" dirty="0"/>
          </a:p>
        </p:txBody>
      </p:sp>
      <p:sp>
        <p:nvSpPr>
          <p:cNvPr id="36" name="pill-1066"/>
          <p:cNvSpPr/>
          <p:nvPr/>
        </p:nvSpPr>
        <p:spPr>
          <a:xfrm>
            <a:off x="9171432" y="3886200"/>
            <a:ext cx="1783080" cy="32004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4 · Scheme (FEM, auto)</a:t>
            </a:r>
            <a:endParaRPr lang="en-US" sz="1100" dirty="0"/>
          </a:p>
        </p:txBody>
      </p:sp>
      <p:sp>
        <p:nvSpPr>
          <p:cNvPr id="37" name="card-1067"/>
          <p:cNvSpPr/>
          <p:nvPr/>
        </p:nvSpPr>
        <p:spPr>
          <a:xfrm>
            <a:off x="548640" y="4389120"/>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38" name="icon-bg-1068"/>
          <p:cNvSpPr/>
          <p:nvPr/>
        </p:nvSpPr>
        <p:spPr>
          <a:xfrm>
            <a:off x="658368" y="4462272"/>
            <a:ext cx="374904" cy="374904"/>
          </a:xfrm>
          <a:prstGeom prst="ellipse">
            <a:avLst/>
          </a:prstGeom>
          <a:solidFill>
            <a:schemeClr val="tx1"/>
          </a:solidFill>
          <a:ln/>
        </p:spPr>
      </p:sp>
      <p:pic>
        <p:nvPicPr>
          <p:cNvPr id="39" name="icon-1069" descr="preencoded.png">    </p:cNvPr>
          <p:cNvPicPr>
            <a:picLocks noChangeAspect="1"/>
          </p:cNvPicPr>
          <p:nvPr/>
        </p:nvPicPr>
        <p:blipFill>
          <a:blip r:embed="rId6"/>
          <a:stretch>
            <a:fillRect/>
          </a:stretch>
        </p:blipFill>
        <p:spPr>
          <a:xfrm>
            <a:off x="744596" y="4548500"/>
            <a:ext cx="202448" cy="202448"/>
          </a:xfrm>
          <a:prstGeom prst="rect">
            <a:avLst/>
          </a:prstGeom>
        </p:spPr>
      </p:pic>
      <p:sp>
        <p:nvSpPr>
          <p:cNvPr id="40" name="text-1070"/>
          <p:cNvSpPr txBox="1"/>
          <p:nvPr/>
        </p:nvSpPr>
        <p:spPr>
          <a:xfrm>
            <a:off x="1188720" y="4389120"/>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Mesh</a:t>
            </a:r>
            <a:endParaRPr lang="en-US" sz="1550" dirty="0"/>
          </a:p>
        </p:txBody>
      </p:sp>
      <p:sp>
        <p:nvSpPr>
          <p:cNvPr id="41" name="text-1071"/>
          <p:cNvSpPr txBox="1"/>
          <p:nvPr/>
        </p:nvSpPr>
        <p:spPr>
          <a:xfrm>
            <a:off x="4023360" y="4389120"/>
            <a:ext cx="3931920" cy="521208"/>
          </a:xfrm>
          <a:prstGeom prst="rect">
            <a:avLst/>
          </a:prstGeom>
          <a:noFill/>
          <a:ln/>
        </p:spPr>
        <p:txBody>
          <a:bodyPr wrap="square" lIns="0" tIns="0" rIns="0" bIns="0" rtlCol="0" anchor="ctr"/>
          <a:lstStyle/>
          <a:p>
            <a:pPr indent="0" marL="0">
              <a:buNone/>
            </a:pPr>
            <a:r>
              <a:rPr lang="en-US" sz="1400" dirty="0">
                <a:solidFill>
                  <a:schemeClr val="tx2"/>
                </a:solidFill>
              </a:rPr>
              <a:t>the elements: our grid</a:t>
            </a:r>
            <a:endParaRPr lang="en-US" sz="1400" dirty="0"/>
          </a:p>
        </p:txBody>
      </p:sp>
      <p:sp>
        <p:nvSpPr>
          <p:cNvPr id="42" name="pill-1072"/>
          <p:cNvSpPr/>
          <p:nvPr/>
        </p:nvSpPr>
        <p:spPr>
          <a:xfrm>
            <a:off x="8001000" y="4489704"/>
            <a:ext cx="1097280" cy="32004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2 · Grid</a:t>
            </a:r>
            <a:endParaRPr lang="en-US" sz="1100" dirty="0"/>
          </a:p>
        </p:txBody>
      </p:sp>
      <p:sp>
        <p:nvSpPr>
          <p:cNvPr id="43" name="card-1073"/>
          <p:cNvSpPr/>
          <p:nvPr/>
        </p:nvSpPr>
        <p:spPr>
          <a:xfrm>
            <a:off x="548640" y="4992624"/>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44" name="icon-bg-1074"/>
          <p:cNvSpPr/>
          <p:nvPr/>
        </p:nvSpPr>
        <p:spPr>
          <a:xfrm>
            <a:off x="658368" y="5065776"/>
            <a:ext cx="374904" cy="374904"/>
          </a:xfrm>
          <a:prstGeom prst="ellipse">
            <a:avLst/>
          </a:prstGeom>
          <a:solidFill>
            <a:schemeClr val="tx1"/>
          </a:solidFill>
          <a:ln/>
        </p:spPr>
      </p:sp>
      <p:pic>
        <p:nvPicPr>
          <p:cNvPr id="45" name="icon-1075" descr="preencoded.png">    </p:cNvPr>
          <p:cNvPicPr>
            <a:picLocks noChangeAspect="1"/>
          </p:cNvPicPr>
          <p:nvPr/>
        </p:nvPicPr>
        <p:blipFill>
          <a:blip r:embed="rId7"/>
          <a:stretch>
            <a:fillRect/>
          </a:stretch>
        </p:blipFill>
        <p:spPr>
          <a:xfrm>
            <a:off x="744596" y="5152004"/>
            <a:ext cx="202448" cy="202448"/>
          </a:xfrm>
          <a:prstGeom prst="rect">
            <a:avLst/>
          </a:prstGeom>
        </p:spPr>
      </p:pic>
      <p:sp>
        <p:nvSpPr>
          <p:cNvPr id="46" name="text-1076"/>
          <p:cNvSpPr txBox="1"/>
          <p:nvPr/>
        </p:nvSpPr>
        <p:spPr>
          <a:xfrm>
            <a:off x="1188720" y="4992624"/>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Study › Compute</a:t>
            </a:r>
            <a:endParaRPr lang="en-US" sz="1550" dirty="0"/>
          </a:p>
        </p:txBody>
      </p:sp>
      <p:sp>
        <p:nvSpPr>
          <p:cNvPr id="47" name="text-1077"/>
          <p:cNvSpPr txBox="1"/>
          <p:nvPr/>
        </p:nvSpPr>
        <p:spPr>
          <a:xfrm>
            <a:off x="4023360" y="4992624"/>
            <a:ext cx="3931920" cy="521208"/>
          </a:xfrm>
          <a:prstGeom prst="rect">
            <a:avLst/>
          </a:prstGeom>
          <a:noFill/>
          <a:ln/>
        </p:spPr>
        <p:txBody>
          <a:bodyPr wrap="square" lIns="0" tIns="0" rIns="0" bIns="0" rtlCol="0" anchor="ctr"/>
          <a:lstStyle/>
          <a:p>
            <a:pPr indent="0" marL="0">
              <a:buNone/>
            </a:pPr>
            <a:r>
              <a:rPr lang="en-US" sz="1400" dirty="0">
                <a:solidFill>
                  <a:schemeClr val="tx2"/>
                </a:solidFill>
              </a:rPr>
              <a:t>stationary or time-dependent solver</a:t>
            </a:r>
            <a:endParaRPr lang="en-US" sz="1400" dirty="0"/>
          </a:p>
        </p:txBody>
      </p:sp>
      <p:sp>
        <p:nvSpPr>
          <p:cNvPr id="48" name="pill-1078"/>
          <p:cNvSpPr/>
          <p:nvPr/>
        </p:nvSpPr>
        <p:spPr>
          <a:xfrm>
            <a:off x="8001000" y="5093208"/>
            <a:ext cx="1097280" cy="32004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5 · Setup</a:t>
            </a:r>
            <a:endParaRPr lang="en-US" sz="1100" dirty="0"/>
          </a:p>
        </p:txBody>
      </p:sp>
      <p:sp>
        <p:nvSpPr>
          <p:cNvPr id="49" name="pill-1079"/>
          <p:cNvSpPr/>
          <p:nvPr/>
        </p:nvSpPr>
        <p:spPr>
          <a:xfrm>
            <a:off x="9171432" y="5093208"/>
            <a:ext cx="1097280" cy="32004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6 · Compute</a:t>
            </a:r>
            <a:endParaRPr lang="en-US" sz="1100" dirty="0"/>
          </a:p>
        </p:txBody>
      </p:sp>
      <p:sp>
        <p:nvSpPr>
          <p:cNvPr id="50" name="card-1080"/>
          <p:cNvSpPr/>
          <p:nvPr/>
        </p:nvSpPr>
        <p:spPr>
          <a:xfrm>
            <a:off x="548640" y="5596128"/>
            <a:ext cx="11094415" cy="521208"/>
          </a:xfrm>
          <a:prstGeom prst="roundRect">
            <a:avLst>
              <a:gd name="adj" fmla="val 10526"/>
            </a:avLst>
          </a:prstGeom>
          <a:solidFill>
            <a:schemeClr val="bg1"/>
          </a:solidFill>
          <a:ln w="9525">
            <a:solidFill>
              <a:schemeClr val="accent4">
                <a:alpha val="35000"/>
              </a:schemeClr>
            </a:solidFill>
            <a:prstDash val="solid"/>
          </a:ln>
        </p:spPr>
      </p:sp>
      <p:sp>
        <p:nvSpPr>
          <p:cNvPr id="51" name="icon-bg-1081"/>
          <p:cNvSpPr/>
          <p:nvPr/>
        </p:nvSpPr>
        <p:spPr>
          <a:xfrm>
            <a:off x="658368" y="5669280"/>
            <a:ext cx="374904" cy="374904"/>
          </a:xfrm>
          <a:prstGeom prst="ellipse">
            <a:avLst/>
          </a:prstGeom>
          <a:solidFill>
            <a:schemeClr val="tx1"/>
          </a:solidFill>
          <a:ln/>
        </p:spPr>
      </p:sp>
      <p:pic>
        <p:nvPicPr>
          <p:cNvPr id="52" name="icon-1082" descr="preencoded.png">    </p:cNvPr>
          <p:cNvPicPr>
            <a:picLocks noChangeAspect="1"/>
          </p:cNvPicPr>
          <p:nvPr/>
        </p:nvPicPr>
        <p:blipFill>
          <a:blip r:embed="rId8"/>
          <a:stretch>
            <a:fillRect/>
          </a:stretch>
        </p:blipFill>
        <p:spPr>
          <a:xfrm>
            <a:off x="744596" y="5755508"/>
            <a:ext cx="202448" cy="202448"/>
          </a:xfrm>
          <a:prstGeom prst="rect">
            <a:avLst/>
          </a:prstGeom>
        </p:spPr>
      </p:pic>
      <p:sp>
        <p:nvSpPr>
          <p:cNvPr id="53" name="text-1083"/>
          <p:cNvSpPr txBox="1"/>
          <p:nvPr/>
        </p:nvSpPr>
        <p:spPr>
          <a:xfrm>
            <a:off x="1188720" y="5596128"/>
            <a:ext cx="2743200" cy="521208"/>
          </a:xfrm>
          <a:prstGeom prst="rect">
            <a:avLst/>
          </a:prstGeom>
          <a:noFill/>
          <a:ln/>
        </p:spPr>
        <p:txBody>
          <a:bodyPr wrap="square" lIns="0" tIns="0" rIns="0" bIns="0" rtlCol="0" anchor="ctr"/>
          <a:lstStyle/>
          <a:p>
            <a:pPr indent="0" marL="0">
              <a:buNone/>
            </a:pPr>
            <a:r>
              <a:rPr lang="en-US" sz="1550" b="1" dirty="0">
                <a:solidFill>
                  <a:schemeClr val="tx1"/>
                </a:solidFill>
              </a:rPr>
              <a:t>Results</a:t>
            </a:r>
            <a:endParaRPr lang="en-US" sz="1550" dirty="0"/>
          </a:p>
        </p:txBody>
      </p:sp>
      <p:sp>
        <p:nvSpPr>
          <p:cNvPr id="54" name="text-1084"/>
          <p:cNvSpPr txBox="1"/>
          <p:nvPr/>
        </p:nvSpPr>
        <p:spPr>
          <a:xfrm>
            <a:off x="4023360" y="5596128"/>
            <a:ext cx="3931920" cy="521208"/>
          </a:xfrm>
          <a:prstGeom prst="rect">
            <a:avLst/>
          </a:prstGeom>
          <a:noFill/>
          <a:ln/>
        </p:spPr>
        <p:txBody>
          <a:bodyPr wrap="square" lIns="0" tIns="0" rIns="0" bIns="0" rtlCol="0" anchor="ctr"/>
          <a:lstStyle/>
          <a:p>
            <a:pPr indent="0" marL="0">
              <a:buNone/>
            </a:pPr>
            <a:r>
              <a:rPr lang="en-US" sz="1400" dirty="0">
                <a:solidFill>
                  <a:schemeClr val="tx2"/>
                </a:solidFill>
              </a:rPr>
              <a:t>plots, point evaluations, integrals</a:t>
            </a:r>
            <a:endParaRPr lang="en-US" sz="1400" dirty="0"/>
          </a:p>
        </p:txBody>
      </p:sp>
      <p:sp>
        <p:nvSpPr>
          <p:cNvPr id="55" name="pill-1085"/>
          <p:cNvSpPr/>
          <p:nvPr/>
        </p:nvSpPr>
        <p:spPr>
          <a:xfrm>
            <a:off x="8001000" y="5696712"/>
            <a:ext cx="1097280" cy="32004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7 · Visualize</a:t>
            </a:r>
            <a:endParaRPr lang="en-US" sz="11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108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HANDS-ON PLAN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From Problem 1, as far as time allows</a:t>
            </a:r>
            <a:endParaRPr lang="en-US" sz="3200" dirty="0"/>
          </a:p>
        </p:txBody>
      </p:sp>
      <p:sp>
        <p:nvSpPr>
          <p:cNvPr id="4" name="card-1087"/>
          <p:cNvSpPr/>
          <p:nvPr/>
        </p:nvSpPr>
        <p:spPr>
          <a:xfrm>
            <a:off x="548640" y="1371600"/>
            <a:ext cx="3520440" cy="37490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088" descr="p1_schematic.png">    </p:cNvPr>
          <p:cNvPicPr>
            <a:picLocks noChangeAspect="1"/>
          </p:cNvPicPr>
          <p:nvPr/>
        </p:nvPicPr>
        <p:blipFill>
          <a:blip r:embed="rId1"/>
          <a:stretch>
            <a:fillRect/>
          </a:stretch>
        </p:blipFill>
        <p:spPr>
          <a:xfrm>
            <a:off x="685800" y="1510974"/>
            <a:ext cx="3246120" cy="1412892"/>
          </a:xfrm>
          <a:prstGeom prst="rect">
            <a:avLst/>
          </a:prstGeom>
        </p:spPr>
      </p:pic>
      <p:sp>
        <p:nvSpPr>
          <p:cNvPr id="6" name="text-1089"/>
          <p:cNvSpPr txBox="1"/>
          <p:nvPr/>
        </p:nvSpPr>
        <p:spPr>
          <a:xfrm>
            <a:off x="731520" y="3063240"/>
            <a:ext cx="3154680" cy="365760"/>
          </a:xfrm>
          <a:prstGeom prst="rect">
            <a:avLst/>
          </a:prstGeom>
          <a:noFill/>
          <a:ln/>
        </p:spPr>
        <p:txBody>
          <a:bodyPr wrap="square" lIns="0" tIns="0" rIns="0" bIns="0" rtlCol="0" anchor="t"/>
          <a:lstStyle/>
          <a:p>
            <a:pPr indent="0" marL="0">
              <a:buNone/>
            </a:pPr>
            <a:r>
              <a:rPr lang="en-US" sz="1700" b="1" dirty="0">
                <a:solidFill>
                  <a:schemeClr val="tx1"/>
                </a:solidFill>
              </a:rPr>
              <a:t>Problem 1 · Pin fin</a:t>
            </a:r>
            <a:endParaRPr lang="en-US" sz="1700" dirty="0"/>
          </a:p>
        </p:txBody>
      </p:sp>
      <p:sp>
        <p:nvSpPr>
          <p:cNvPr id="7" name="text-1090"/>
          <p:cNvSpPr txBox="1"/>
          <p:nvPr/>
        </p:nvSpPr>
        <p:spPr>
          <a:xfrm>
            <a:off x="731520" y="3429000"/>
            <a:ext cx="3154680" cy="457200"/>
          </a:xfrm>
          <a:prstGeom prst="rect">
            <a:avLst/>
          </a:prstGeom>
          <a:noFill/>
          <a:ln/>
        </p:spPr>
        <p:txBody>
          <a:bodyPr wrap="square" lIns="0" tIns="0" rIns="0" bIns="0" rtlCol="0" anchor="t"/>
          <a:lstStyle/>
          <a:p>
            <a:pPr indent="0" marL="0">
              <a:buNone/>
            </a:pPr>
            <a:r>
              <a:rPr lang="en-US" sz="1250" b="1" dirty="0">
                <a:solidFill>
                  <a:schemeClr val="accent1"/>
                </a:solidFill>
              </a:rPr>
              <a:t>1D · steady · Heat Transfer in Solids</a:t>
            </a:r>
            <a:endParaRPr lang="en-US" sz="1250" dirty="0"/>
          </a:p>
        </p:txBody>
      </p:sp>
      <p:sp>
        <p:nvSpPr>
          <p:cNvPr id="8" name="text-1091"/>
          <p:cNvSpPr txBox="1"/>
          <p:nvPr/>
        </p:nvSpPr>
        <p:spPr>
          <a:xfrm>
            <a:off x="731520" y="3931920"/>
            <a:ext cx="3154680" cy="594360"/>
          </a:xfrm>
          <a:prstGeom prst="rect">
            <a:avLst/>
          </a:prstGeom>
          <a:noFill/>
          <a:ln/>
        </p:spPr>
        <p:txBody>
          <a:bodyPr wrap="square" lIns="0" tIns="0" rIns="0" bIns="0" rtlCol="0" anchor="t"/>
          <a:lstStyle/>
          <a:p>
            <a:pPr indent="0" marL="0">
              <a:buNone/>
            </a:pPr>
            <a:r>
              <a:rPr lang="en-US" sz="1350" dirty="0">
                <a:solidFill>
                  <a:schemeClr val="tx2"/>
                </a:solidFill>
              </a:rPr>
              <a:t>New: 1D model, heat source, point evaluation</a:t>
            </a:r>
            <a:endParaRPr lang="en-US" sz="1350" dirty="0"/>
          </a:p>
        </p:txBody>
      </p:sp>
      <p:sp>
        <p:nvSpPr>
          <p:cNvPr id="9" name="pill-1092"/>
          <p:cNvSpPr/>
          <p:nvPr/>
        </p:nvSpPr>
        <p:spPr>
          <a:xfrm>
            <a:off x="731520" y="4617720"/>
            <a:ext cx="10058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~25 min</a:t>
            </a:r>
            <a:endParaRPr lang="en-US" sz="1200" dirty="0"/>
          </a:p>
        </p:txBody>
      </p:sp>
      <p:sp>
        <p:nvSpPr>
          <p:cNvPr id="10" name="card-1093"/>
          <p:cNvSpPr/>
          <p:nvPr/>
        </p:nvSpPr>
        <p:spPr>
          <a:xfrm>
            <a:off x="4334256" y="1371600"/>
            <a:ext cx="3520440" cy="37490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1" name="img-1094" descr="p2_schematic.png">    </p:cNvPr>
          <p:cNvPicPr>
            <a:picLocks noChangeAspect="1"/>
          </p:cNvPicPr>
          <p:nvPr/>
        </p:nvPicPr>
        <p:blipFill>
          <a:blip r:embed="rId2"/>
          <a:stretch>
            <a:fillRect/>
          </a:stretch>
        </p:blipFill>
        <p:spPr>
          <a:xfrm>
            <a:off x="4572875" y="1463040"/>
            <a:ext cx="3043201" cy="1508760"/>
          </a:xfrm>
          <a:prstGeom prst="rect">
            <a:avLst/>
          </a:prstGeom>
        </p:spPr>
      </p:pic>
      <p:sp>
        <p:nvSpPr>
          <p:cNvPr id="12" name="text-1095"/>
          <p:cNvSpPr txBox="1"/>
          <p:nvPr/>
        </p:nvSpPr>
        <p:spPr>
          <a:xfrm>
            <a:off x="4517136" y="3063240"/>
            <a:ext cx="3154680" cy="365760"/>
          </a:xfrm>
          <a:prstGeom prst="rect">
            <a:avLst/>
          </a:prstGeom>
          <a:noFill/>
          <a:ln/>
        </p:spPr>
        <p:txBody>
          <a:bodyPr wrap="square" lIns="0" tIns="0" rIns="0" bIns="0" rtlCol="0" anchor="t"/>
          <a:lstStyle/>
          <a:p>
            <a:pPr indent="0" marL="0">
              <a:buNone/>
            </a:pPr>
            <a:r>
              <a:rPr lang="en-US" sz="1700" b="1" dirty="0">
                <a:solidFill>
                  <a:schemeClr val="tx1"/>
                </a:solidFill>
              </a:rPr>
              <a:t>Problem 2 · Diffusion</a:t>
            </a:r>
            <a:endParaRPr lang="en-US" sz="1700" dirty="0"/>
          </a:p>
        </p:txBody>
      </p:sp>
      <p:sp>
        <p:nvSpPr>
          <p:cNvPr id="13" name="text-1096"/>
          <p:cNvSpPr txBox="1"/>
          <p:nvPr/>
        </p:nvSpPr>
        <p:spPr>
          <a:xfrm>
            <a:off x="4517136" y="3429000"/>
            <a:ext cx="3154680" cy="457200"/>
          </a:xfrm>
          <a:prstGeom prst="rect">
            <a:avLst/>
          </a:prstGeom>
          <a:noFill/>
          <a:ln/>
        </p:spPr>
        <p:txBody>
          <a:bodyPr wrap="square" lIns="0" tIns="0" rIns="0" bIns="0" rtlCol="0" anchor="t"/>
          <a:lstStyle/>
          <a:p>
            <a:pPr indent="0" marL="0">
              <a:buNone/>
            </a:pPr>
            <a:r>
              <a:rPr lang="en-US" sz="1250" b="1" dirty="0">
                <a:solidFill>
                  <a:schemeClr val="accent1"/>
                </a:solidFill>
              </a:rPr>
              <a:t>1D · time-dependent · Transport of Diluted Species</a:t>
            </a:r>
            <a:endParaRPr lang="en-US" sz="1250" dirty="0"/>
          </a:p>
        </p:txBody>
      </p:sp>
      <p:sp>
        <p:nvSpPr>
          <p:cNvPr id="14" name="text-1097"/>
          <p:cNvSpPr txBox="1"/>
          <p:nvPr/>
        </p:nvSpPr>
        <p:spPr>
          <a:xfrm>
            <a:off x="4517136" y="3931920"/>
            <a:ext cx="3154680" cy="594360"/>
          </a:xfrm>
          <a:prstGeom prst="rect">
            <a:avLst/>
          </a:prstGeom>
          <a:noFill/>
          <a:ln/>
        </p:spPr>
        <p:txBody>
          <a:bodyPr wrap="square" lIns="0" tIns="0" rIns="0" bIns="0" rtlCol="0" anchor="t"/>
          <a:lstStyle/>
          <a:p>
            <a:pPr indent="0" marL="0">
              <a:buNone/>
            </a:pPr>
            <a:r>
              <a:rPr lang="en-US" sz="1350" dirty="0">
                <a:solidFill>
                  <a:schemeClr val="tx2"/>
                </a:solidFill>
              </a:rPr>
              <a:t>New: parameters, transient study, exact-curve overlay</a:t>
            </a:r>
            <a:endParaRPr lang="en-US" sz="1350" dirty="0"/>
          </a:p>
        </p:txBody>
      </p:sp>
      <p:sp>
        <p:nvSpPr>
          <p:cNvPr id="15" name="pill-1098"/>
          <p:cNvSpPr/>
          <p:nvPr/>
        </p:nvSpPr>
        <p:spPr>
          <a:xfrm>
            <a:off x="4517136" y="4617720"/>
            <a:ext cx="10058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~15 min</a:t>
            </a:r>
            <a:endParaRPr lang="en-US" sz="1200" dirty="0"/>
          </a:p>
        </p:txBody>
      </p:sp>
      <p:sp>
        <p:nvSpPr>
          <p:cNvPr id="16" name="card-1099"/>
          <p:cNvSpPr/>
          <p:nvPr/>
        </p:nvSpPr>
        <p:spPr>
          <a:xfrm>
            <a:off x="8119872" y="1371600"/>
            <a:ext cx="3520440" cy="37490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7" name="img-1100" descr="p3_platemap.png">    </p:cNvPr>
          <p:cNvPicPr>
            <a:picLocks noChangeAspect="1"/>
          </p:cNvPicPr>
          <p:nvPr/>
        </p:nvPicPr>
        <p:blipFill>
          <a:blip r:embed="rId3"/>
          <a:stretch>
            <a:fillRect/>
          </a:stretch>
        </p:blipFill>
        <p:spPr>
          <a:xfrm>
            <a:off x="8735358" y="1463040"/>
            <a:ext cx="2289469" cy="1508760"/>
          </a:xfrm>
          <a:prstGeom prst="rect">
            <a:avLst/>
          </a:prstGeom>
        </p:spPr>
      </p:pic>
      <p:sp>
        <p:nvSpPr>
          <p:cNvPr id="18" name="text-1101"/>
          <p:cNvSpPr txBox="1"/>
          <p:nvPr/>
        </p:nvSpPr>
        <p:spPr>
          <a:xfrm>
            <a:off x="8302752" y="3063240"/>
            <a:ext cx="3154680" cy="365760"/>
          </a:xfrm>
          <a:prstGeom prst="rect">
            <a:avLst/>
          </a:prstGeom>
          <a:noFill/>
          <a:ln/>
        </p:spPr>
        <p:txBody>
          <a:bodyPr wrap="square" lIns="0" tIns="0" rIns="0" bIns="0" rtlCol="0" anchor="t"/>
          <a:lstStyle/>
          <a:p>
            <a:pPr indent="0" marL="0">
              <a:buNone/>
            </a:pPr>
            <a:r>
              <a:rPr lang="en-US" sz="1700" b="1" dirty="0">
                <a:solidFill>
                  <a:schemeClr val="tx1"/>
                </a:solidFill>
              </a:rPr>
              <a:t>Problem 3 · Square plate</a:t>
            </a:r>
            <a:endParaRPr lang="en-US" sz="1700" dirty="0"/>
          </a:p>
        </p:txBody>
      </p:sp>
      <p:sp>
        <p:nvSpPr>
          <p:cNvPr id="19" name="text-1102"/>
          <p:cNvSpPr txBox="1"/>
          <p:nvPr/>
        </p:nvSpPr>
        <p:spPr>
          <a:xfrm>
            <a:off x="8302752" y="3429000"/>
            <a:ext cx="3154680" cy="457200"/>
          </a:xfrm>
          <a:prstGeom prst="rect">
            <a:avLst/>
          </a:prstGeom>
          <a:noFill/>
          <a:ln/>
        </p:spPr>
        <p:txBody>
          <a:bodyPr wrap="square" lIns="0" tIns="0" rIns="0" bIns="0" rtlCol="0" anchor="t"/>
          <a:lstStyle/>
          <a:p>
            <a:pPr indent="0" marL="0">
              <a:buNone/>
            </a:pPr>
            <a:r>
              <a:rPr lang="en-US" sz="1250" b="1" dirty="0">
                <a:solidFill>
                  <a:schemeClr val="accent1"/>
                </a:solidFill>
              </a:rPr>
              <a:t>2D · steady · Heat Transfer in Solids</a:t>
            </a:r>
            <a:endParaRPr lang="en-US" sz="1250" dirty="0"/>
          </a:p>
        </p:txBody>
      </p:sp>
      <p:sp>
        <p:nvSpPr>
          <p:cNvPr id="20" name="text-1103"/>
          <p:cNvSpPr txBox="1"/>
          <p:nvPr/>
        </p:nvSpPr>
        <p:spPr>
          <a:xfrm>
            <a:off x="8302752" y="3931920"/>
            <a:ext cx="3154680" cy="594360"/>
          </a:xfrm>
          <a:prstGeom prst="rect">
            <a:avLst/>
          </a:prstGeom>
          <a:noFill/>
          <a:ln/>
        </p:spPr>
        <p:txBody>
          <a:bodyPr wrap="square" lIns="0" tIns="0" rIns="0" bIns="0" rtlCol="0" anchor="t"/>
          <a:lstStyle/>
          <a:p>
            <a:pPr indent="0" marL="0">
              <a:buNone/>
            </a:pPr>
            <a:r>
              <a:rPr lang="en-US" sz="1350" dirty="0">
                <a:solidFill>
                  <a:schemeClr val="tx2"/>
                </a:solidFill>
              </a:rPr>
              <a:t>New: 2D geometry, parametric mesh sweep</a:t>
            </a:r>
            <a:endParaRPr lang="en-US" sz="1350" dirty="0"/>
          </a:p>
        </p:txBody>
      </p:sp>
      <p:sp>
        <p:nvSpPr>
          <p:cNvPr id="21" name="pill-1104"/>
          <p:cNvSpPr/>
          <p:nvPr/>
        </p:nvSpPr>
        <p:spPr>
          <a:xfrm>
            <a:off x="8302752" y="4617720"/>
            <a:ext cx="100584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~15 min</a:t>
            </a:r>
            <a:endParaRPr lang="en-US" sz="1200" dirty="0"/>
          </a:p>
        </p:txBody>
      </p:sp>
      <p:sp>
        <p:nvSpPr>
          <p:cNvPr id="22" name="card-1105"/>
          <p:cNvSpPr/>
          <p:nvPr/>
        </p:nvSpPr>
        <p:spPr>
          <a:xfrm>
            <a:off x="548640" y="5303520"/>
            <a:ext cx="11094415" cy="777240"/>
          </a:xfrm>
          <a:prstGeom prst="roundRect">
            <a:avLst>
              <a:gd name="adj" fmla="val 11765"/>
            </a:avLst>
          </a:prstGeom>
          <a:solidFill>
            <a:schemeClr val="bg1"/>
          </a:solidFill>
          <a:ln w="9525">
            <a:solidFill>
              <a:schemeClr val="accent4">
                <a:alpha val="35000"/>
              </a:schemeClr>
            </a:solidFill>
            <a:prstDash val="solid"/>
          </a:ln>
        </p:spPr>
      </p:sp>
      <p:sp>
        <p:nvSpPr>
          <p:cNvPr id="23" name="text-1106"/>
          <p:cNvSpPr txBox="1"/>
          <p:nvPr/>
        </p:nvSpPr>
        <p:spPr>
          <a:xfrm>
            <a:off x="777240" y="5303520"/>
            <a:ext cx="2743200" cy="777240"/>
          </a:xfrm>
          <a:prstGeom prst="rect">
            <a:avLst/>
          </a:prstGeom>
          <a:noFill/>
          <a:ln/>
        </p:spPr>
        <p:txBody>
          <a:bodyPr wrap="square" lIns="0" tIns="0" rIns="0" bIns="0" rtlCol="0" anchor="ctr"/>
          <a:lstStyle/>
          <a:p>
            <a:pPr indent="0" marL="0">
              <a:buNone/>
            </a:pPr>
            <a:r>
              <a:rPr lang="en-US" sz="1200" b="1" spc="100" kern="0" dirty="0">
                <a:solidFill>
                  <a:schemeClr val="accent4"/>
                </a:solidFill>
              </a:rPr>
              <a:t>IF TIME ALLOWS · TAKE-HOME</a:t>
            </a:r>
            <a:endParaRPr lang="en-US" sz="1200" dirty="0"/>
          </a:p>
        </p:txBody>
      </p:sp>
      <p:sp>
        <p:nvSpPr>
          <p:cNvPr id="24" name="pill-1107"/>
          <p:cNvSpPr/>
          <p:nvPr/>
        </p:nvSpPr>
        <p:spPr>
          <a:xfrm>
            <a:off x="3154680" y="5513832"/>
            <a:ext cx="26974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4 · Brick column (Robin BC)</a:t>
            </a:r>
            <a:endParaRPr lang="en-US" sz="1250" dirty="0"/>
          </a:p>
        </p:txBody>
      </p:sp>
      <p:sp>
        <p:nvSpPr>
          <p:cNvPr id="25" name="pill-1108"/>
          <p:cNvSpPr/>
          <p:nvPr/>
        </p:nvSpPr>
        <p:spPr>
          <a:xfrm>
            <a:off x="5989320" y="5513832"/>
            <a:ext cx="26974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5 · Convection–diffusion</a:t>
            </a:r>
            <a:endParaRPr lang="en-US" sz="1250" dirty="0"/>
          </a:p>
        </p:txBody>
      </p:sp>
      <p:sp>
        <p:nvSpPr>
          <p:cNvPr id="26" name="pill-1109"/>
          <p:cNvSpPr/>
          <p:nvPr/>
        </p:nvSpPr>
        <p:spPr>
          <a:xfrm>
            <a:off x="8823960" y="5513832"/>
            <a:ext cx="26974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6 · Lid-driven cavity</a:t>
            </a:r>
            <a:endParaRPr lang="en-US" sz="12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1110"/>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HANDS-ON · SET-UP</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Before you start</a:t>
            </a:r>
            <a:endParaRPr lang="en-US" sz="3200" dirty="0"/>
          </a:p>
        </p:txBody>
      </p:sp>
      <p:sp>
        <p:nvSpPr>
          <p:cNvPr id="4" name="card-1111"/>
          <p:cNvSpPr/>
          <p:nvPr/>
        </p:nvSpPr>
        <p:spPr>
          <a:xfrm>
            <a:off x="548640" y="1371600"/>
            <a:ext cx="4983480"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text-1112"/>
          <p:cNvSpPr txBox="1"/>
          <p:nvPr/>
        </p:nvSpPr>
        <p:spPr>
          <a:xfrm>
            <a:off x="822960" y="1554480"/>
            <a:ext cx="4389120" cy="365760"/>
          </a:xfrm>
          <a:prstGeom prst="rect">
            <a:avLst/>
          </a:prstGeom>
          <a:noFill/>
          <a:ln/>
        </p:spPr>
        <p:txBody>
          <a:bodyPr wrap="square" lIns="0" tIns="0" rIns="0" bIns="0" rtlCol="0" anchor="t"/>
          <a:lstStyle/>
          <a:p>
            <a:pPr indent="0" marL="0">
              <a:buNone/>
            </a:pPr>
            <a:r>
              <a:rPr lang="en-US" sz="1800" b="1" dirty="0">
                <a:solidFill>
                  <a:schemeClr val="tx1"/>
                </a:solidFill>
              </a:rPr>
              <a:t>Get the files</a:t>
            </a:r>
            <a:endParaRPr lang="en-US" sz="1800" dirty="0"/>
          </a:p>
        </p:txBody>
      </p:sp>
      <p:sp>
        <p:nvSpPr>
          <p:cNvPr id="6" name="code-1113"/>
          <p:cNvSpPr/>
          <p:nvPr/>
        </p:nvSpPr>
        <p:spPr>
          <a:xfrm>
            <a:off x="822960" y="2011680"/>
            <a:ext cx="4434840" cy="685800"/>
          </a:xfrm>
          <a:prstGeom prst="roundRect">
            <a:avLst>
              <a:gd name="adj" fmla="val 8000"/>
            </a:avLst>
          </a:prstGeom>
          <a:solidFill>
            <a:schemeClr val="bg2"/>
          </a:solidFill>
          <a:ln/>
        </p:spPr>
        <p:txBody>
          <a:bodyPr wrap="square" lIns="0" tIns="1524" rIns="1524" bIns="0" rtlCol="0" anchor="ctr"/>
          <a:lstStyle/>
          <a:p>
            <a:pPr algn="l" indent="0" marL="0">
              <a:buNone/>
            </a:pPr>
            <a:r>
              <a:rPr lang="en-US" sz="1300" dirty="0">
                <a:solidFill>
                  <a:schemeClr val="tx1"/>
                </a:solidFill>
                <a:latin typeface="Courier New" pitchFamily="34" charset="0"/>
                <a:ea typeface="Courier New" pitchFamily="34" charset="-122"/>
                <a:cs typeface="Courier New" pitchFamily="34" charset="-120"/>
              </a:rPr>
              <a:t>problems/01_aluminium_fin/</a:t>
            </a:r>
            <a:endParaRPr lang="en-US" sz="1300" dirty="0"/>
          </a:p>
          <a:p>
            <a:pPr algn="l" indent="0" marL="0">
              <a:buNone/>
            </a:pPr>
            <a:r>
              <a:rPr lang="en-US" sz="1300" dirty="0">
                <a:solidFill>
                  <a:schemeClr val="tx1"/>
                </a:solidFill>
                <a:latin typeface="Courier New" pitchFamily="34" charset="0"/>
                <a:ea typeface="Courier New" pitchFamily="34" charset="-122"/>
                <a:cs typeface="Courier New" pitchFamily="34" charset="-120"/>
              </a:rPr>
              <a:t>  comsol_solution/</a:t>
            </a:r>
            <a:endParaRPr lang="en-US" sz="1300" dirty="0"/>
          </a:p>
        </p:txBody>
      </p:sp>
      <p:sp>
        <p:nvSpPr>
          <p:cNvPr id="7" name="icon-bg-1114"/>
          <p:cNvSpPr/>
          <p:nvPr/>
        </p:nvSpPr>
        <p:spPr>
          <a:xfrm>
            <a:off x="822960" y="2926080"/>
            <a:ext cx="502920" cy="502920"/>
          </a:xfrm>
          <a:prstGeom prst="ellipse">
            <a:avLst/>
          </a:prstGeom>
          <a:solidFill>
            <a:schemeClr val="accent2"/>
          </a:solidFill>
          <a:ln/>
        </p:spPr>
      </p:sp>
      <p:pic>
        <p:nvPicPr>
          <p:cNvPr id="8" name="icon-1115" descr="preencoded.png">    </p:cNvPr>
          <p:cNvPicPr>
            <a:picLocks noChangeAspect="1"/>
          </p:cNvPicPr>
          <p:nvPr/>
        </p:nvPicPr>
        <p:blipFill>
          <a:blip r:embed="rId1"/>
          <a:stretch>
            <a:fillRect/>
          </a:stretch>
        </p:blipFill>
        <p:spPr>
          <a:xfrm>
            <a:off x="938632" y="3041752"/>
            <a:ext cx="271577" cy="271577"/>
          </a:xfrm>
          <a:prstGeom prst="rect">
            <a:avLst/>
          </a:prstGeom>
        </p:spPr>
      </p:pic>
      <p:sp>
        <p:nvSpPr>
          <p:cNvPr id="9" name="text-1116"/>
          <p:cNvSpPr txBox="1"/>
          <p:nvPr/>
        </p:nvSpPr>
        <p:spPr>
          <a:xfrm>
            <a:off x="1463040" y="2880360"/>
            <a:ext cx="3931920" cy="320040"/>
          </a:xfrm>
          <a:prstGeom prst="rect">
            <a:avLst/>
          </a:prstGeom>
          <a:noFill/>
          <a:ln/>
        </p:spPr>
        <p:txBody>
          <a:bodyPr wrap="square" lIns="0" tIns="0" rIns="0" bIns="0" rtlCol="0" anchor="t"/>
          <a:lstStyle/>
          <a:p>
            <a:pPr indent="0" marL="0">
              <a:buNone/>
            </a:pPr>
            <a:r>
              <a:rPr lang="en-US" sz="1350" b="1" dirty="0">
                <a:solidFill>
                  <a:schemeClr val="tx1"/>
                </a:solidFill>
                <a:latin typeface="Courier New" pitchFamily="34" charset="0"/>
                <a:ea typeface="Courier New" pitchFamily="34" charset="-122"/>
                <a:cs typeface="Courier New" pitchFamily="34" charset="-120"/>
              </a:rPr>
              <a:t>COMSOL_PinFin_Guide.pdf</a:t>
            </a:r>
            <a:endParaRPr lang="en-US" sz="1350" dirty="0"/>
          </a:p>
        </p:txBody>
      </p:sp>
      <p:sp>
        <p:nvSpPr>
          <p:cNvPr id="10" name="text-1117"/>
          <p:cNvSpPr txBox="1"/>
          <p:nvPr/>
        </p:nvSpPr>
        <p:spPr>
          <a:xfrm>
            <a:off x="1463040" y="3209544"/>
            <a:ext cx="3931920" cy="274320"/>
          </a:xfrm>
          <a:prstGeom prst="rect">
            <a:avLst/>
          </a:prstGeom>
          <a:noFill/>
          <a:ln/>
        </p:spPr>
        <p:txBody>
          <a:bodyPr wrap="square" lIns="0" tIns="0" rIns="0" bIns="0" rtlCol="0" anchor="t"/>
          <a:lstStyle/>
          <a:p>
            <a:pPr indent="0" marL="0">
              <a:buNone/>
            </a:pPr>
            <a:r>
              <a:rPr lang="en-US" sz="1300" dirty="0">
                <a:solidFill>
                  <a:schemeClr val="tx2"/>
                </a:solidFill>
              </a:rPr>
              <a:t>12 annotated steps with screenshots</a:t>
            </a:r>
            <a:endParaRPr lang="en-US" sz="1300" dirty="0"/>
          </a:p>
        </p:txBody>
      </p:sp>
      <p:sp>
        <p:nvSpPr>
          <p:cNvPr id="11" name="icon-bg-1118"/>
          <p:cNvSpPr/>
          <p:nvPr/>
        </p:nvSpPr>
        <p:spPr>
          <a:xfrm>
            <a:off x="822960" y="3703320"/>
            <a:ext cx="502920" cy="502920"/>
          </a:xfrm>
          <a:prstGeom prst="ellipse">
            <a:avLst/>
          </a:prstGeom>
          <a:solidFill>
            <a:schemeClr val="accent1"/>
          </a:solidFill>
          <a:ln/>
        </p:spPr>
      </p:sp>
      <p:pic>
        <p:nvPicPr>
          <p:cNvPr id="12" name="icon-1119" descr="preencoded.png">    </p:cNvPr>
          <p:cNvPicPr>
            <a:picLocks noChangeAspect="1"/>
          </p:cNvPicPr>
          <p:nvPr/>
        </p:nvPicPr>
        <p:blipFill>
          <a:blip r:embed="rId2"/>
          <a:stretch>
            <a:fillRect/>
          </a:stretch>
        </p:blipFill>
        <p:spPr>
          <a:xfrm>
            <a:off x="938632" y="3818992"/>
            <a:ext cx="271577" cy="271577"/>
          </a:xfrm>
          <a:prstGeom prst="rect">
            <a:avLst/>
          </a:prstGeom>
        </p:spPr>
      </p:pic>
      <p:sp>
        <p:nvSpPr>
          <p:cNvPr id="13" name="text-1120"/>
          <p:cNvSpPr txBox="1"/>
          <p:nvPr/>
        </p:nvSpPr>
        <p:spPr>
          <a:xfrm>
            <a:off x="1463040" y="3657600"/>
            <a:ext cx="3931920" cy="320040"/>
          </a:xfrm>
          <a:prstGeom prst="rect">
            <a:avLst/>
          </a:prstGeom>
          <a:noFill/>
          <a:ln/>
        </p:spPr>
        <p:txBody>
          <a:bodyPr wrap="square" lIns="0" tIns="0" rIns="0" bIns="0" rtlCol="0" anchor="t"/>
          <a:lstStyle/>
          <a:p>
            <a:pPr indent="0" marL="0">
              <a:buNone/>
            </a:pPr>
            <a:r>
              <a:rPr lang="en-US" sz="1350" b="1" dirty="0">
                <a:solidFill>
                  <a:schemeClr val="tx1"/>
                </a:solidFill>
                <a:latin typeface="Courier New" pitchFamily="34" charset="0"/>
                <a:ea typeface="Courier New" pitchFamily="34" charset="-122"/>
                <a:cs typeface="Courier New" pitchFamily="34" charset="-120"/>
              </a:rPr>
              <a:t>fin1d_pin_fin.mph</a:t>
            </a:r>
            <a:endParaRPr lang="en-US" sz="1350" dirty="0"/>
          </a:p>
        </p:txBody>
      </p:sp>
      <p:sp>
        <p:nvSpPr>
          <p:cNvPr id="14" name="text-1121"/>
          <p:cNvSpPr txBox="1"/>
          <p:nvPr/>
        </p:nvSpPr>
        <p:spPr>
          <a:xfrm>
            <a:off x="1463040" y="3986784"/>
            <a:ext cx="3931920" cy="274320"/>
          </a:xfrm>
          <a:prstGeom prst="rect">
            <a:avLst/>
          </a:prstGeom>
          <a:noFill/>
          <a:ln/>
        </p:spPr>
        <p:txBody>
          <a:bodyPr wrap="square" lIns="0" tIns="0" rIns="0" bIns="0" rtlCol="0" anchor="t"/>
          <a:lstStyle/>
          <a:p>
            <a:pPr indent="0" marL="0">
              <a:buNone/>
            </a:pPr>
            <a:r>
              <a:rPr lang="en-US" sz="1300" dirty="0">
                <a:solidFill>
                  <a:schemeClr val="tx2"/>
                </a:solidFill>
              </a:rPr>
              <a:t>the finished model, to compare</a:t>
            </a:r>
            <a:endParaRPr lang="en-US" sz="1300" dirty="0"/>
          </a:p>
        </p:txBody>
      </p:sp>
      <p:sp>
        <p:nvSpPr>
          <p:cNvPr id="15" name="line-1122"/>
          <p:cNvSpPr/>
          <p:nvPr/>
        </p:nvSpPr>
        <p:spPr>
          <a:xfrm>
            <a:off x="822960" y="4526280"/>
            <a:ext cx="4434840" cy="0"/>
          </a:xfrm>
          <a:prstGeom prst="line">
            <a:avLst/>
          </a:prstGeom>
          <a:noFill/>
          <a:ln w="9525">
            <a:solidFill>
              <a:schemeClr val="accent4"/>
            </a:solidFill>
            <a:prstDash val="solid"/>
          </a:ln>
        </p:spPr>
      </p:sp>
      <p:pic>
        <p:nvPicPr>
          <p:cNvPr id="16" name="icon-1123" descr="preencoded.png">    </p:cNvPr>
          <p:cNvPicPr>
            <a:picLocks noChangeAspect="1"/>
          </p:cNvPicPr>
          <p:nvPr/>
        </p:nvPicPr>
        <p:blipFill>
          <a:blip r:embed="rId3"/>
          <a:stretch>
            <a:fillRect/>
          </a:stretch>
        </p:blipFill>
        <p:spPr>
          <a:xfrm>
            <a:off x="868680" y="4709160"/>
            <a:ext cx="347472" cy="347472"/>
          </a:xfrm>
          <a:prstGeom prst="rect">
            <a:avLst/>
          </a:prstGeom>
        </p:spPr>
      </p:pic>
      <p:sp>
        <p:nvSpPr>
          <p:cNvPr id="17" name="text-1124"/>
          <p:cNvSpPr txBox="1"/>
          <p:nvPr/>
        </p:nvSpPr>
        <p:spPr>
          <a:xfrm>
            <a:off x="1463040" y="4681728"/>
            <a:ext cx="3931920" cy="411480"/>
          </a:xfrm>
          <a:prstGeom prst="rect">
            <a:avLst/>
          </a:prstGeom>
          <a:noFill/>
          <a:ln/>
        </p:spPr>
        <p:txBody>
          <a:bodyPr wrap="square" lIns="0" tIns="0" rIns="0" bIns="0" rtlCol="0" anchor="ctr"/>
          <a:lstStyle/>
          <a:p>
            <a:pPr indent="0" marL="0">
              <a:buNone/>
            </a:pPr>
            <a:r>
              <a:rPr lang="en-US" sz="1500" dirty="0">
                <a:solidFill>
                  <a:schemeClr val="tx1"/>
                </a:solidFill>
              </a:rPr>
              <a:t>COMSOL 4.3a or newer</a:t>
            </a:r>
            <a:endParaRPr lang="en-US" sz="1500" dirty="0"/>
          </a:p>
        </p:txBody>
      </p:sp>
      <p:pic>
        <p:nvPicPr>
          <p:cNvPr id="18" name="icon-1125" descr="preencoded.png">    </p:cNvPr>
          <p:cNvPicPr>
            <a:picLocks noChangeAspect="1"/>
          </p:cNvPicPr>
          <p:nvPr/>
        </p:nvPicPr>
        <p:blipFill>
          <a:blip r:embed="rId4"/>
          <a:stretch>
            <a:fillRect/>
          </a:stretch>
        </p:blipFill>
        <p:spPr>
          <a:xfrm>
            <a:off x="868680" y="5257800"/>
            <a:ext cx="347472" cy="347472"/>
          </a:xfrm>
          <a:prstGeom prst="rect">
            <a:avLst/>
          </a:prstGeom>
        </p:spPr>
      </p:pic>
      <p:sp>
        <p:nvSpPr>
          <p:cNvPr id="19" name="text-1126"/>
          <p:cNvSpPr txBox="1"/>
          <p:nvPr/>
        </p:nvSpPr>
        <p:spPr>
          <a:xfrm>
            <a:off x="1463040" y="5230368"/>
            <a:ext cx="3931920" cy="411480"/>
          </a:xfrm>
          <a:prstGeom prst="rect">
            <a:avLst/>
          </a:prstGeom>
          <a:noFill/>
          <a:ln/>
        </p:spPr>
        <p:txBody>
          <a:bodyPr wrap="square" lIns="0" tIns="0" rIns="0" bIns="0" rtlCol="0" anchor="ctr"/>
          <a:lstStyle/>
          <a:p>
            <a:pPr indent="0" marL="0">
              <a:buNone/>
            </a:pPr>
            <a:r>
              <a:rPr lang="en-US" sz="1500" dirty="0">
                <a:solidFill>
                  <a:schemeClr val="tx1"/>
                </a:solidFill>
              </a:rPr>
              <a:t>Licence: university network or VPN</a:t>
            </a:r>
            <a:endParaRPr lang="en-US" sz="1500" dirty="0"/>
          </a:p>
        </p:txBody>
      </p:sp>
      <p:sp>
        <p:nvSpPr>
          <p:cNvPr id="20" name="card-1127"/>
          <p:cNvSpPr/>
          <p:nvPr/>
        </p:nvSpPr>
        <p:spPr>
          <a:xfrm>
            <a:off x="5806440" y="1371600"/>
            <a:ext cx="2843784" cy="1810512"/>
          </a:xfrm>
          <a:prstGeom prst="roundRect">
            <a:avLst>
              <a:gd name="adj" fmla="val 505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1" name="icon-bg-1128"/>
          <p:cNvSpPr/>
          <p:nvPr/>
        </p:nvSpPr>
        <p:spPr>
          <a:xfrm>
            <a:off x="5989320" y="1554480"/>
            <a:ext cx="548640" cy="548640"/>
          </a:xfrm>
          <a:prstGeom prst="ellipse">
            <a:avLst/>
          </a:prstGeom>
          <a:solidFill>
            <a:schemeClr val="accent2"/>
          </a:solidFill>
          <a:ln/>
        </p:spPr>
      </p:sp>
      <p:pic>
        <p:nvPicPr>
          <p:cNvPr id="22" name="icon-1129" descr="preencoded.png">    </p:cNvPr>
          <p:cNvPicPr>
            <a:picLocks noChangeAspect="1"/>
          </p:cNvPicPr>
          <p:nvPr/>
        </p:nvPicPr>
        <p:blipFill>
          <a:blip r:embed="rId5"/>
          <a:stretch>
            <a:fillRect/>
          </a:stretch>
        </p:blipFill>
        <p:spPr>
          <a:xfrm>
            <a:off x="6115507" y="1680667"/>
            <a:ext cx="296266" cy="296266"/>
          </a:xfrm>
          <a:prstGeom prst="rect">
            <a:avLst/>
          </a:prstGeom>
        </p:spPr>
      </p:pic>
      <p:sp>
        <p:nvSpPr>
          <p:cNvPr id="23" name="text-1130"/>
          <p:cNvSpPr txBox="1"/>
          <p:nvPr/>
        </p:nvSpPr>
        <p:spPr>
          <a:xfrm>
            <a:off x="6675120" y="1554480"/>
            <a:ext cx="1874520" cy="548640"/>
          </a:xfrm>
          <a:prstGeom prst="rect">
            <a:avLst/>
          </a:prstGeom>
          <a:noFill/>
          <a:ln/>
        </p:spPr>
        <p:txBody>
          <a:bodyPr wrap="square" lIns="0" tIns="0" rIns="0" bIns="0" rtlCol="0" anchor="ctr"/>
          <a:lstStyle/>
          <a:p>
            <a:pPr indent="0" marL="0">
              <a:buNone/>
            </a:pPr>
            <a:r>
              <a:rPr lang="en-US" sz="1500" b="1" dirty="0">
                <a:solidFill>
                  <a:schemeClr val="tx1"/>
                </a:solidFill>
              </a:rPr>
              <a:t>Menus</a:t>
            </a:r>
            <a:endParaRPr lang="en-US" sz="1500" dirty="0"/>
          </a:p>
        </p:txBody>
      </p:sp>
      <p:sp>
        <p:nvSpPr>
          <p:cNvPr id="24" name="text-1131"/>
          <p:cNvSpPr txBox="1"/>
          <p:nvPr/>
        </p:nvSpPr>
        <p:spPr>
          <a:xfrm>
            <a:off x="5989320" y="2240280"/>
            <a:ext cx="2514600" cy="868680"/>
          </a:xfrm>
          <a:prstGeom prst="rect">
            <a:avLst/>
          </a:prstGeom>
          <a:noFill/>
          <a:ln/>
        </p:spPr>
        <p:txBody>
          <a:bodyPr wrap="square" lIns="0" tIns="0" rIns="0" bIns="0" rtlCol="0" anchor="t"/>
          <a:lstStyle/>
          <a:p>
            <a:pPr indent="0" marL="0">
              <a:buNone/>
            </a:pPr>
            <a:r>
              <a:rPr lang="en-US" sz="1400" dirty="0">
                <a:solidFill>
                  <a:schemeClr val="tx2"/>
                </a:solidFill>
              </a:rPr>
              <a:t>Left-click a tree node first, then right-click it.</a:t>
            </a:r>
            <a:endParaRPr lang="en-US" sz="1400" dirty="0"/>
          </a:p>
        </p:txBody>
      </p:sp>
      <p:sp>
        <p:nvSpPr>
          <p:cNvPr id="25" name="card-1132"/>
          <p:cNvSpPr/>
          <p:nvPr/>
        </p:nvSpPr>
        <p:spPr>
          <a:xfrm>
            <a:off x="8796528" y="1371600"/>
            <a:ext cx="2843784" cy="1810512"/>
          </a:xfrm>
          <a:prstGeom prst="roundRect">
            <a:avLst>
              <a:gd name="adj" fmla="val 505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6" name="icon-bg-1133"/>
          <p:cNvSpPr/>
          <p:nvPr/>
        </p:nvSpPr>
        <p:spPr>
          <a:xfrm>
            <a:off x="8979408" y="1554480"/>
            <a:ext cx="548640" cy="548640"/>
          </a:xfrm>
          <a:prstGeom prst="ellipse">
            <a:avLst/>
          </a:prstGeom>
          <a:solidFill>
            <a:schemeClr val="accent2"/>
          </a:solidFill>
          <a:ln/>
        </p:spPr>
      </p:sp>
      <p:pic>
        <p:nvPicPr>
          <p:cNvPr id="27" name="icon-1134" descr="preencoded.png">    </p:cNvPr>
          <p:cNvPicPr>
            <a:picLocks noChangeAspect="1"/>
          </p:cNvPicPr>
          <p:nvPr/>
        </p:nvPicPr>
        <p:blipFill>
          <a:blip r:embed="rId6"/>
          <a:stretch>
            <a:fillRect/>
          </a:stretch>
        </p:blipFill>
        <p:spPr>
          <a:xfrm>
            <a:off x="9105595" y="1680667"/>
            <a:ext cx="296266" cy="296266"/>
          </a:xfrm>
          <a:prstGeom prst="rect">
            <a:avLst/>
          </a:prstGeom>
        </p:spPr>
      </p:pic>
      <p:sp>
        <p:nvSpPr>
          <p:cNvPr id="28" name="text-1135"/>
          <p:cNvSpPr txBox="1"/>
          <p:nvPr/>
        </p:nvSpPr>
        <p:spPr>
          <a:xfrm>
            <a:off x="9665208" y="1554480"/>
            <a:ext cx="1874520" cy="548640"/>
          </a:xfrm>
          <a:prstGeom prst="rect">
            <a:avLst/>
          </a:prstGeom>
          <a:noFill/>
          <a:ln/>
        </p:spPr>
        <p:txBody>
          <a:bodyPr wrap="square" lIns="0" tIns="0" rIns="0" bIns="0" rtlCol="0" anchor="ctr"/>
          <a:lstStyle/>
          <a:p>
            <a:pPr indent="0" marL="0">
              <a:buNone/>
            </a:pPr>
            <a:r>
              <a:rPr lang="en-US" sz="1500" b="1" dirty="0">
                <a:solidFill>
                  <a:schemeClr val="tx1"/>
                </a:solidFill>
              </a:rPr>
              <a:t>Select points &amp; edges</a:t>
            </a:r>
            <a:endParaRPr lang="en-US" sz="1500" dirty="0"/>
          </a:p>
        </p:txBody>
      </p:sp>
      <p:sp>
        <p:nvSpPr>
          <p:cNvPr id="29" name="text-1136"/>
          <p:cNvSpPr txBox="1"/>
          <p:nvPr/>
        </p:nvSpPr>
        <p:spPr>
          <a:xfrm>
            <a:off x="8979408" y="2240280"/>
            <a:ext cx="2514600" cy="868680"/>
          </a:xfrm>
          <a:prstGeom prst="rect">
            <a:avLst/>
          </a:prstGeom>
          <a:noFill/>
          <a:ln/>
        </p:spPr>
        <p:txBody>
          <a:bodyPr wrap="square" lIns="0" tIns="0" rIns="0" bIns="0" rtlCol="0" anchor="t"/>
          <a:lstStyle/>
          <a:p>
            <a:pPr indent="0" marL="0">
              <a:buNone/>
            </a:pPr>
            <a:r>
              <a:rPr lang="en-US" sz="1400" dirty="0">
                <a:solidFill>
                  <a:schemeClr val="tx2"/>
                </a:solidFill>
              </a:rPr>
              <a:t>Hover until it turns </a:t>
            </a:r>
            <a:pPr indent="0" marL="0">
              <a:buNone/>
            </a:pPr>
            <a:r>
              <a:rPr lang="en-US" sz="1400" b="1" dirty="0">
                <a:solidFill>
                  <a:schemeClr val="tx2"/>
                </a:solidFill>
              </a:rPr>
              <a:t>red</a:t>
            </a:r>
            <a:pPr indent="0" marL="0">
              <a:buNone/>
            </a:pPr>
            <a:r>
              <a:rPr lang="en-US" sz="1400" dirty="0">
                <a:solidFill>
                  <a:schemeClr val="tx2"/>
                </a:solidFill>
              </a:rPr>
              <a:t> → click → press </a:t>
            </a:r>
            <a:pPr indent="0" marL="0">
              <a:buNone/>
            </a:pPr>
            <a:r>
              <a:rPr lang="en-US" sz="1400" b="1" dirty="0">
                <a:solidFill>
                  <a:schemeClr val="tx2"/>
                </a:solidFill>
              </a:rPr>
              <a:t>+</a:t>
            </a:r>
            <a:pPr indent="0" marL="0">
              <a:buNone/>
            </a:pPr>
            <a:r>
              <a:rPr lang="en-US" sz="1400" dirty="0">
                <a:solidFill>
                  <a:schemeClr val="tx2"/>
                </a:solidFill>
              </a:rPr>
              <a:t>.</a:t>
            </a:r>
            <a:endParaRPr lang="en-US" sz="1400" dirty="0"/>
          </a:p>
        </p:txBody>
      </p:sp>
      <p:sp>
        <p:nvSpPr>
          <p:cNvPr id="30" name="card-1137"/>
          <p:cNvSpPr/>
          <p:nvPr/>
        </p:nvSpPr>
        <p:spPr>
          <a:xfrm>
            <a:off x="5806440" y="3337560"/>
            <a:ext cx="2843784" cy="1810512"/>
          </a:xfrm>
          <a:prstGeom prst="roundRect">
            <a:avLst>
              <a:gd name="adj" fmla="val 505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1" name="icon-bg-1138"/>
          <p:cNvSpPr/>
          <p:nvPr/>
        </p:nvSpPr>
        <p:spPr>
          <a:xfrm>
            <a:off x="5989320" y="3520440"/>
            <a:ext cx="548640" cy="548640"/>
          </a:xfrm>
          <a:prstGeom prst="ellipse">
            <a:avLst/>
          </a:prstGeom>
          <a:solidFill>
            <a:schemeClr val="accent2"/>
          </a:solidFill>
          <a:ln/>
        </p:spPr>
      </p:sp>
      <p:pic>
        <p:nvPicPr>
          <p:cNvPr id="32" name="icon-1139" descr="preencoded.png">    </p:cNvPr>
          <p:cNvPicPr>
            <a:picLocks noChangeAspect="1"/>
          </p:cNvPicPr>
          <p:nvPr/>
        </p:nvPicPr>
        <p:blipFill>
          <a:blip r:embed="rId7"/>
          <a:stretch>
            <a:fillRect/>
          </a:stretch>
        </p:blipFill>
        <p:spPr>
          <a:xfrm>
            <a:off x="6115507" y="3646627"/>
            <a:ext cx="296266" cy="296266"/>
          </a:xfrm>
          <a:prstGeom prst="rect">
            <a:avLst/>
          </a:prstGeom>
        </p:spPr>
      </p:pic>
      <p:sp>
        <p:nvSpPr>
          <p:cNvPr id="33" name="text-1140"/>
          <p:cNvSpPr txBox="1"/>
          <p:nvPr/>
        </p:nvSpPr>
        <p:spPr>
          <a:xfrm>
            <a:off x="6675120" y="3520440"/>
            <a:ext cx="1874520" cy="548640"/>
          </a:xfrm>
          <a:prstGeom prst="rect">
            <a:avLst/>
          </a:prstGeom>
          <a:noFill/>
          <a:ln/>
        </p:spPr>
        <p:txBody>
          <a:bodyPr wrap="square" lIns="0" tIns="0" rIns="0" bIns="0" rtlCol="0" anchor="ctr"/>
          <a:lstStyle/>
          <a:p>
            <a:pPr indent="0" marL="0">
              <a:buNone/>
            </a:pPr>
            <a:r>
              <a:rPr lang="en-US" sz="1500" b="1" dirty="0">
                <a:solidFill>
                  <a:schemeClr val="tx1"/>
                </a:solidFill>
              </a:rPr>
              <a:t>Units in [brackets]</a:t>
            </a:r>
            <a:endParaRPr lang="en-US" sz="1500" dirty="0"/>
          </a:p>
        </p:txBody>
      </p:sp>
      <p:sp>
        <p:nvSpPr>
          <p:cNvPr id="34" name="text-1141"/>
          <p:cNvSpPr txBox="1"/>
          <p:nvPr/>
        </p:nvSpPr>
        <p:spPr>
          <a:xfrm>
            <a:off x="5989320" y="4206240"/>
            <a:ext cx="2514600" cy="868680"/>
          </a:xfrm>
          <a:prstGeom prst="rect">
            <a:avLst/>
          </a:prstGeom>
          <a:noFill/>
          <a:ln/>
        </p:spPr>
        <p:txBody>
          <a:bodyPr wrap="square" lIns="0" tIns="0" rIns="0" bIns="0" rtlCol="0" anchor="t"/>
          <a:lstStyle/>
          <a:p>
            <a:pPr indent="0" marL="0">
              <a:buNone/>
            </a:pPr>
            <a:r>
              <a:rPr lang="en-US" sz="1400" dirty="0">
                <a:solidFill>
                  <a:schemeClr val="tx2"/>
                </a:solidFill>
              </a:rPr>
              <a:t>373.15[K]</a:t>
            </a:r>
            <a:endParaRPr lang="en-US" sz="1400" dirty="0"/>
          </a:p>
          <a:p>
            <a:pPr indent="0" marL="0">
              <a:buNone/>
            </a:pPr>
            <a:r>
              <a:rPr lang="en-US" sz="1400" dirty="0">
                <a:solidFill>
                  <a:schemeClr val="tx2"/>
                </a:solidFill>
              </a:rPr>
              <a:t>0.1[um]</a:t>
            </a:r>
            <a:endParaRPr lang="en-US" sz="1400" dirty="0"/>
          </a:p>
          <a:p>
            <a:pPr indent="0" marL="0">
              <a:buNone/>
            </a:pPr>
            <a:r>
              <a:rPr lang="en-US" sz="1400" dirty="0">
                <a:solidFill>
                  <a:schemeClr val="tx2"/>
                </a:solidFill>
              </a:rPr>
              <a:t>6.5e-13[cm^2/s]</a:t>
            </a:r>
            <a:endParaRPr lang="en-US" sz="1400" dirty="0"/>
          </a:p>
        </p:txBody>
      </p:sp>
      <p:sp>
        <p:nvSpPr>
          <p:cNvPr id="35" name="card-1142"/>
          <p:cNvSpPr/>
          <p:nvPr/>
        </p:nvSpPr>
        <p:spPr>
          <a:xfrm>
            <a:off x="8796528" y="3337560"/>
            <a:ext cx="2843784" cy="1810512"/>
          </a:xfrm>
          <a:prstGeom prst="roundRect">
            <a:avLst>
              <a:gd name="adj" fmla="val 505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6" name="icon-bg-1143"/>
          <p:cNvSpPr/>
          <p:nvPr/>
        </p:nvSpPr>
        <p:spPr>
          <a:xfrm>
            <a:off x="8979408" y="3520440"/>
            <a:ext cx="548640" cy="548640"/>
          </a:xfrm>
          <a:prstGeom prst="ellipse">
            <a:avLst/>
          </a:prstGeom>
          <a:solidFill>
            <a:schemeClr val="accent2"/>
          </a:solidFill>
          <a:ln/>
        </p:spPr>
      </p:sp>
      <p:pic>
        <p:nvPicPr>
          <p:cNvPr id="37" name="icon-1144" descr="preencoded.png">    </p:cNvPr>
          <p:cNvPicPr>
            <a:picLocks noChangeAspect="1"/>
          </p:cNvPicPr>
          <p:nvPr/>
        </p:nvPicPr>
        <p:blipFill>
          <a:blip r:embed="rId8"/>
          <a:stretch>
            <a:fillRect/>
          </a:stretch>
        </p:blipFill>
        <p:spPr>
          <a:xfrm>
            <a:off x="9105595" y="3646627"/>
            <a:ext cx="296266" cy="296266"/>
          </a:xfrm>
          <a:prstGeom prst="rect">
            <a:avLst/>
          </a:prstGeom>
        </p:spPr>
      </p:pic>
      <p:sp>
        <p:nvSpPr>
          <p:cNvPr id="38" name="text-1145"/>
          <p:cNvSpPr txBox="1"/>
          <p:nvPr/>
        </p:nvSpPr>
        <p:spPr>
          <a:xfrm>
            <a:off x="9665208" y="3520440"/>
            <a:ext cx="1874520" cy="548640"/>
          </a:xfrm>
          <a:prstGeom prst="rect">
            <a:avLst/>
          </a:prstGeom>
          <a:noFill/>
          <a:ln/>
        </p:spPr>
        <p:txBody>
          <a:bodyPr wrap="square" lIns="0" tIns="0" rIns="0" bIns="0" rtlCol="0" anchor="ctr"/>
          <a:lstStyle/>
          <a:p>
            <a:pPr indent="0" marL="0">
              <a:buNone/>
            </a:pPr>
            <a:r>
              <a:rPr lang="en-US" sz="1500" b="1" dirty="0">
                <a:solidFill>
                  <a:schemeClr val="tx1"/>
                </a:solidFill>
              </a:rPr>
              <a:t>Kelvin &amp; metres</a:t>
            </a:r>
            <a:endParaRPr lang="en-US" sz="1500" dirty="0"/>
          </a:p>
        </p:txBody>
      </p:sp>
      <p:sp>
        <p:nvSpPr>
          <p:cNvPr id="39" name="text-1146"/>
          <p:cNvSpPr txBox="1"/>
          <p:nvPr/>
        </p:nvSpPr>
        <p:spPr>
          <a:xfrm>
            <a:off x="8979408" y="4206240"/>
            <a:ext cx="2514600" cy="868680"/>
          </a:xfrm>
          <a:prstGeom prst="rect">
            <a:avLst/>
          </a:prstGeom>
          <a:noFill/>
          <a:ln/>
        </p:spPr>
        <p:txBody>
          <a:bodyPr wrap="square" lIns="0" tIns="0" rIns="0" bIns="0" rtlCol="0" anchor="t"/>
          <a:lstStyle/>
          <a:p>
            <a:pPr indent="0" marL="0">
              <a:buNone/>
            </a:pPr>
            <a:r>
              <a:rPr lang="en-US" sz="1400" dirty="0">
                <a:solidFill>
                  <a:schemeClr val="tx2"/>
                </a:solidFill>
              </a:rPr>
              <a:t>100 °C = 373.15 K. Type 0.1 (m), not 10 (cm).</a:t>
            </a:r>
            <a:endParaRPr lang="en-US" sz="1400" dirty="0"/>
          </a:p>
        </p:txBody>
      </p:sp>
      <p:sp>
        <p:nvSpPr>
          <p:cNvPr id="40" name="note-strip-1147"/>
          <p:cNvSpPr/>
          <p:nvPr/>
        </p:nvSpPr>
        <p:spPr>
          <a:xfrm>
            <a:off x="5806440" y="5376672"/>
            <a:ext cx="5833872" cy="658368"/>
          </a:xfrm>
          <a:prstGeom prst="roundRect">
            <a:avLst>
              <a:gd name="adj" fmla="val 13889"/>
            </a:avLst>
          </a:prstGeom>
          <a:solidFill>
            <a:schemeClr val="tx1">
              <a:alpha val="12000"/>
            </a:schemeClr>
          </a:solidFill>
          <a:ln/>
        </p:spPr>
      </p:sp>
      <p:sp>
        <p:nvSpPr>
          <p:cNvPr id="41" name="icon-bg-1148"/>
          <p:cNvSpPr/>
          <p:nvPr/>
        </p:nvSpPr>
        <p:spPr>
          <a:xfrm>
            <a:off x="5943600" y="5513832"/>
            <a:ext cx="384048" cy="384048"/>
          </a:xfrm>
          <a:prstGeom prst="ellipse">
            <a:avLst/>
          </a:prstGeom>
          <a:solidFill>
            <a:schemeClr val="tx1"/>
          </a:solidFill>
          <a:ln/>
        </p:spPr>
      </p:sp>
      <p:pic>
        <p:nvPicPr>
          <p:cNvPr id="42" name="icon-1149" descr="preencoded.png">    </p:cNvPr>
          <p:cNvPicPr>
            <a:picLocks noChangeAspect="1"/>
          </p:cNvPicPr>
          <p:nvPr/>
        </p:nvPicPr>
        <p:blipFill>
          <a:blip r:embed="rId9"/>
          <a:stretch>
            <a:fillRect/>
          </a:stretch>
        </p:blipFill>
        <p:spPr>
          <a:xfrm>
            <a:off x="6031931" y="5602163"/>
            <a:ext cx="207386" cy="207386"/>
          </a:xfrm>
          <a:prstGeom prst="rect">
            <a:avLst/>
          </a:prstGeom>
        </p:spPr>
      </p:pic>
      <p:sp>
        <p:nvSpPr>
          <p:cNvPr id="43" name="text-1150"/>
          <p:cNvSpPr txBox="1"/>
          <p:nvPr/>
        </p:nvSpPr>
        <p:spPr>
          <a:xfrm>
            <a:off x="6492240" y="5376672"/>
            <a:ext cx="4965192" cy="658368"/>
          </a:xfrm>
          <a:prstGeom prst="rect">
            <a:avLst/>
          </a:prstGeom>
          <a:noFill/>
          <a:ln/>
        </p:spPr>
        <p:txBody>
          <a:bodyPr wrap="square" lIns="0" tIns="0" rIns="0" bIns="0" rtlCol="0" anchor="ctr"/>
          <a:lstStyle/>
          <a:p>
            <a:pPr indent="0" marL="0">
              <a:buNone/>
            </a:pPr>
            <a:r>
              <a:rPr lang="en-US" sz="1450" b="1" dirty="0">
                <a:solidFill>
                  <a:schemeClr val="tx1"/>
                </a:solidFill>
              </a:rPr>
              <a:t>Save often:</a:t>
            </a:r>
            <a:pPr indent="0" marL="0">
              <a:buNone/>
            </a:pPr>
            <a:r>
              <a:rPr lang="en-US" sz="1450" dirty="0">
                <a:solidFill>
                  <a:schemeClr val="tx1"/>
                </a:solidFill>
              </a:rPr>
              <a:t> File › Save As, and compare with the supplied .mph if you get stuck.</a:t>
            </a:r>
            <a:endParaRPr lang="en-US" sz="14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115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Translating the fin into a COMSOL model</a:t>
            </a:r>
            <a:endParaRPr lang="en-US" sz="3200" dirty="0"/>
          </a:p>
        </p:txBody>
      </p:sp>
      <p:sp>
        <p:nvSpPr>
          <p:cNvPr id="4" name="card-1152"/>
          <p:cNvSpPr/>
          <p:nvPr/>
        </p:nvSpPr>
        <p:spPr>
          <a:xfrm>
            <a:off x="548640" y="1371600"/>
            <a:ext cx="5120640" cy="2377440"/>
          </a:xfrm>
          <a:prstGeom prst="roundRect">
            <a:avLst>
              <a:gd name="adj" fmla="val 384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153" descr="p1_schematic.png">    </p:cNvPr>
          <p:cNvPicPr>
            <a:picLocks noChangeAspect="1"/>
          </p:cNvPicPr>
          <p:nvPr/>
        </p:nvPicPr>
        <p:blipFill>
          <a:blip r:embed="rId1"/>
          <a:stretch>
            <a:fillRect/>
          </a:stretch>
        </p:blipFill>
        <p:spPr>
          <a:xfrm>
            <a:off x="640080" y="1485726"/>
            <a:ext cx="4937760" cy="2149188"/>
          </a:xfrm>
          <a:prstGeom prst="rect">
            <a:avLst/>
          </a:prstGeom>
        </p:spPr>
      </p:pic>
      <p:sp>
        <p:nvSpPr>
          <p:cNvPr id="6" name="card-1154"/>
          <p:cNvSpPr/>
          <p:nvPr/>
        </p:nvSpPr>
        <p:spPr>
          <a:xfrm>
            <a:off x="548640" y="3931920"/>
            <a:ext cx="5120640" cy="2103120"/>
          </a:xfrm>
          <a:prstGeom prst="roundRect">
            <a:avLst>
              <a:gd name="adj" fmla="val 4348"/>
            </a:avLst>
          </a:prstGeom>
          <a:solidFill>
            <a:schemeClr val="tx1"/>
          </a:solidFill>
          <a:ln/>
          <a:effectLst>
            <a:outerShdw sx="100000" sy="100000" kx="0" ky="0" algn="bl" rotWithShape="0" blurRad="88900" dist="19050" dir="5400000">
              <a:srgbClr val="0B2E47">
                <a:alpha val="12000"/>
              </a:srgbClr>
            </a:outerShdw>
          </a:effectLst>
        </p:spPr>
      </p:sp>
      <p:sp>
        <p:nvSpPr>
          <p:cNvPr id="7" name="text-1155"/>
          <p:cNvSpPr txBox="1"/>
          <p:nvPr/>
        </p:nvSpPr>
        <p:spPr>
          <a:xfrm>
            <a:off x="822960" y="4069080"/>
            <a:ext cx="45720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TARGET: THE EXACT SOLUTION</a:t>
            </a:r>
            <a:endParaRPr lang="en-US" sz="1200" dirty="0"/>
          </a:p>
        </p:txBody>
      </p:sp>
      <p:sp>
        <p:nvSpPr>
          <p:cNvPr id="8" name="text-1156"/>
          <p:cNvSpPr txBox="1"/>
          <p:nvPr/>
        </p:nvSpPr>
        <p:spPr>
          <a:xfrm>
            <a:off x="822960" y="4526280"/>
            <a:ext cx="2286000" cy="1280160"/>
          </a:xfrm>
          <a:prstGeom prst="rect">
            <a:avLst/>
          </a:prstGeom>
          <a:noFill/>
          <a:ln/>
        </p:spPr>
        <p:txBody>
          <a:bodyPr wrap="square" lIns="0" tIns="0" rIns="0" bIns="0" rtlCol="0" anchor="t"/>
          <a:lstStyle/>
          <a:p>
            <a:pPr indent="0" marL="0">
              <a:buNone/>
            </a:pPr>
            <a:r>
              <a:rPr lang="en-US" sz="3000" b="1" dirty="0">
                <a:solidFill>
                  <a:schemeClr val="bg1"/>
                </a:solidFill>
              </a:rPr>
              <a:t>78.194 °C</a:t>
            </a:r>
            <a:endParaRPr lang="en-US" sz="1600" dirty="0"/>
          </a:p>
          <a:p>
            <a:pPr indent="0" marL="0">
              <a:buNone/>
            </a:pPr>
            <a:r>
              <a:rPr lang="en-US" sz="1300" dirty="0">
                <a:solidFill>
                  <a:schemeClr val="bg2"/>
                </a:solidFill>
              </a:rPr>
              <a:t>tip temperature</a:t>
            </a:r>
            <a:endParaRPr lang="en-US" sz="1600" dirty="0"/>
          </a:p>
        </p:txBody>
      </p:sp>
      <p:sp>
        <p:nvSpPr>
          <p:cNvPr id="9" name="text-1157"/>
          <p:cNvSpPr txBox="1"/>
          <p:nvPr/>
        </p:nvSpPr>
        <p:spPr>
          <a:xfrm>
            <a:off x="3246120" y="4526280"/>
            <a:ext cx="2286000" cy="1280160"/>
          </a:xfrm>
          <a:prstGeom prst="rect">
            <a:avLst/>
          </a:prstGeom>
          <a:noFill/>
          <a:ln/>
        </p:spPr>
        <p:txBody>
          <a:bodyPr wrap="square" lIns="0" tIns="0" rIns="0" bIns="0" rtlCol="0" anchor="t"/>
          <a:lstStyle/>
          <a:p>
            <a:pPr indent="0" marL="0">
              <a:buNone/>
            </a:pPr>
            <a:r>
              <a:rPr lang="en-US" sz="3000" b="1" dirty="0">
                <a:solidFill>
                  <a:schemeClr val="bg1"/>
                </a:solidFill>
              </a:rPr>
              <a:t>2.1702 W</a:t>
            </a:r>
            <a:endParaRPr lang="en-US" sz="1600" dirty="0"/>
          </a:p>
          <a:p>
            <a:pPr indent="0" marL="0">
              <a:buNone/>
            </a:pPr>
            <a:r>
              <a:rPr lang="en-US" sz="1300" dirty="0">
                <a:solidFill>
                  <a:schemeClr val="bg2"/>
                </a:solidFill>
              </a:rPr>
              <a:t>heat lost by the fin</a:t>
            </a:r>
            <a:endParaRPr lang="en-US" sz="1600" dirty="0"/>
          </a:p>
        </p:txBody>
      </p:sp>
      <p:sp>
        <p:nvSpPr>
          <p:cNvPr id="10" name="text-1158"/>
          <p:cNvSpPr txBox="1"/>
          <p:nvPr/>
        </p:nvSpPr>
        <p:spPr>
          <a:xfrm>
            <a:off x="5989320" y="1371600"/>
            <a:ext cx="219456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PROBLEM</a:t>
            </a:r>
            <a:endParaRPr lang="en-US" sz="1100" dirty="0"/>
          </a:p>
        </p:txBody>
      </p:sp>
      <p:sp>
        <p:nvSpPr>
          <p:cNvPr id="11" name="text-1159"/>
          <p:cNvSpPr txBox="1"/>
          <p:nvPr/>
        </p:nvSpPr>
        <p:spPr>
          <a:xfrm>
            <a:off x="8641080" y="1371600"/>
            <a:ext cx="29260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COMSOL FEATURE</a:t>
            </a:r>
            <a:endParaRPr lang="en-US" sz="1100" dirty="0"/>
          </a:p>
        </p:txBody>
      </p:sp>
      <p:sp>
        <p:nvSpPr>
          <p:cNvPr id="12" name="card-1160"/>
          <p:cNvSpPr/>
          <p:nvPr/>
        </p:nvSpPr>
        <p:spPr>
          <a:xfrm>
            <a:off x="5989320" y="1691640"/>
            <a:ext cx="2240280" cy="731520"/>
          </a:xfrm>
          <a:prstGeom prst="roundRect">
            <a:avLst>
              <a:gd name="adj" fmla="val 12500"/>
            </a:avLst>
          </a:prstGeom>
          <a:solidFill>
            <a:schemeClr val="bg1"/>
          </a:solidFill>
          <a:ln w="9525">
            <a:solidFill>
              <a:schemeClr val="accent4">
                <a:alpha val="35000"/>
              </a:schemeClr>
            </a:solidFill>
            <a:prstDash val="solid"/>
          </a:ln>
        </p:spPr>
      </p:sp>
      <p:sp>
        <p:nvSpPr>
          <p:cNvPr id="13" name="text-1161"/>
          <p:cNvSpPr txBox="1"/>
          <p:nvPr/>
        </p:nvSpPr>
        <p:spPr>
          <a:xfrm>
            <a:off x="6126480" y="1691640"/>
            <a:ext cx="2011680" cy="731520"/>
          </a:xfrm>
          <a:prstGeom prst="rect">
            <a:avLst/>
          </a:prstGeom>
          <a:noFill/>
          <a:ln/>
        </p:spPr>
        <p:txBody>
          <a:bodyPr wrap="square" lIns="0" tIns="0" rIns="0" bIns="0" rtlCol="0" anchor="ctr"/>
          <a:lstStyle/>
          <a:p>
            <a:pPr indent="0" marL="0">
              <a:buNone/>
            </a:pPr>
            <a:r>
              <a:rPr lang="en-US" sz="1450" dirty="0">
                <a:solidFill>
                  <a:schemeClr val="tx1"/>
                </a:solidFill>
              </a:rPr>
              <a:t>The fin, 10 cm long</a:t>
            </a:r>
            <a:endParaRPr lang="en-US" sz="1450" dirty="0"/>
          </a:p>
        </p:txBody>
      </p:sp>
      <p:sp>
        <p:nvSpPr>
          <p:cNvPr id="14" name="arrow-1162"/>
          <p:cNvSpPr/>
          <p:nvPr/>
        </p:nvSpPr>
        <p:spPr>
          <a:xfrm>
            <a:off x="8275320" y="2057400"/>
            <a:ext cx="301752" cy="0"/>
          </a:xfrm>
          <a:prstGeom prst="line">
            <a:avLst/>
          </a:prstGeom>
          <a:noFill/>
          <a:ln w="25400">
            <a:solidFill>
              <a:schemeClr val="accent2"/>
            </a:solidFill>
            <a:prstDash val="solid"/>
            <a:tailEnd type="triangle"/>
          </a:ln>
        </p:spPr>
      </p:sp>
      <p:sp>
        <p:nvSpPr>
          <p:cNvPr id="15" name="card-1163"/>
          <p:cNvSpPr/>
          <p:nvPr/>
        </p:nvSpPr>
        <p:spPr>
          <a:xfrm>
            <a:off x="8641080" y="1691640"/>
            <a:ext cx="2999232" cy="731520"/>
          </a:xfrm>
          <a:prstGeom prst="roundRect">
            <a:avLst>
              <a:gd name="adj" fmla="val 12500"/>
            </a:avLst>
          </a:prstGeom>
          <a:solidFill>
            <a:schemeClr val="bg1"/>
          </a:solidFill>
          <a:ln w="15875">
            <a:solidFill>
              <a:schemeClr val="accent1"/>
            </a:solidFill>
            <a:prstDash val="solid"/>
          </a:ln>
        </p:spPr>
      </p:sp>
      <p:sp>
        <p:nvSpPr>
          <p:cNvPr id="16" name="text-1164"/>
          <p:cNvSpPr txBox="1"/>
          <p:nvPr/>
        </p:nvSpPr>
        <p:spPr>
          <a:xfrm>
            <a:off x="8778240" y="1691640"/>
            <a:ext cx="2788920" cy="731520"/>
          </a:xfrm>
          <a:prstGeom prst="rect">
            <a:avLst/>
          </a:prstGeom>
          <a:noFill/>
          <a:ln/>
        </p:spPr>
        <p:txBody>
          <a:bodyPr wrap="square" lIns="0" tIns="0" rIns="0" bIns="0" rtlCol="0" anchor="ctr"/>
          <a:lstStyle/>
          <a:p>
            <a:pPr indent="0" marL="0">
              <a:buNone/>
            </a:pPr>
            <a:r>
              <a:rPr lang="en-US" sz="1400" b="1" dirty="0">
                <a:solidFill>
                  <a:schemeClr val="tx1"/>
                </a:solidFill>
              </a:rPr>
              <a:t>Interval</a:t>
            </a:r>
            <a:pPr indent="0" marL="0">
              <a:buNone/>
            </a:pPr>
            <a:r>
              <a:rPr lang="en-US" sz="1400" dirty="0">
                <a:solidFill>
                  <a:schemeClr val="tx1"/>
                </a:solidFill>
              </a:rPr>
              <a:t> 0 → 0.1 m (1D)</a:t>
            </a:r>
            <a:endParaRPr lang="en-US" sz="1400" dirty="0"/>
          </a:p>
        </p:txBody>
      </p:sp>
      <p:sp>
        <p:nvSpPr>
          <p:cNvPr id="17" name="card-1165"/>
          <p:cNvSpPr/>
          <p:nvPr/>
        </p:nvSpPr>
        <p:spPr>
          <a:xfrm>
            <a:off x="5989320" y="2560320"/>
            <a:ext cx="2240280" cy="731520"/>
          </a:xfrm>
          <a:prstGeom prst="roundRect">
            <a:avLst>
              <a:gd name="adj" fmla="val 12500"/>
            </a:avLst>
          </a:prstGeom>
          <a:solidFill>
            <a:schemeClr val="bg1"/>
          </a:solidFill>
          <a:ln w="9525">
            <a:solidFill>
              <a:schemeClr val="accent4">
                <a:alpha val="35000"/>
              </a:schemeClr>
            </a:solidFill>
            <a:prstDash val="solid"/>
          </a:ln>
        </p:spPr>
      </p:sp>
      <p:sp>
        <p:nvSpPr>
          <p:cNvPr id="18" name="text-1166"/>
          <p:cNvSpPr txBox="1"/>
          <p:nvPr/>
        </p:nvSpPr>
        <p:spPr>
          <a:xfrm>
            <a:off x="6126480" y="2560320"/>
            <a:ext cx="2011680" cy="731520"/>
          </a:xfrm>
          <a:prstGeom prst="rect">
            <a:avLst/>
          </a:prstGeom>
          <a:noFill/>
          <a:ln/>
        </p:spPr>
        <p:txBody>
          <a:bodyPr wrap="square" lIns="0" tIns="0" rIns="0" bIns="0" rtlCol="0" anchor="ctr"/>
          <a:lstStyle/>
          <a:p>
            <a:pPr indent="0" marL="0">
              <a:buNone/>
            </a:pPr>
            <a:r>
              <a:rPr lang="en-US" sz="1450" dirty="0">
                <a:solidFill>
                  <a:schemeClr val="tx1"/>
                </a:solidFill>
              </a:rPr>
              <a:t>Base at 100 °C</a:t>
            </a:r>
            <a:endParaRPr lang="en-US" sz="1450" dirty="0"/>
          </a:p>
        </p:txBody>
      </p:sp>
      <p:sp>
        <p:nvSpPr>
          <p:cNvPr id="19" name="arrow-1167"/>
          <p:cNvSpPr/>
          <p:nvPr/>
        </p:nvSpPr>
        <p:spPr>
          <a:xfrm>
            <a:off x="8275320" y="2926080"/>
            <a:ext cx="301752" cy="0"/>
          </a:xfrm>
          <a:prstGeom prst="line">
            <a:avLst/>
          </a:prstGeom>
          <a:noFill/>
          <a:ln w="25400">
            <a:solidFill>
              <a:schemeClr val="accent2"/>
            </a:solidFill>
            <a:prstDash val="solid"/>
            <a:tailEnd type="triangle"/>
          </a:ln>
        </p:spPr>
      </p:sp>
      <p:sp>
        <p:nvSpPr>
          <p:cNvPr id="20" name="card-1168"/>
          <p:cNvSpPr/>
          <p:nvPr/>
        </p:nvSpPr>
        <p:spPr>
          <a:xfrm>
            <a:off x="8641080" y="2560320"/>
            <a:ext cx="2999232" cy="731520"/>
          </a:xfrm>
          <a:prstGeom prst="roundRect">
            <a:avLst>
              <a:gd name="adj" fmla="val 12500"/>
            </a:avLst>
          </a:prstGeom>
          <a:solidFill>
            <a:schemeClr val="bg1"/>
          </a:solidFill>
          <a:ln w="15875">
            <a:solidFill>
              <a:schemeClr val="accent1"/>
            </a:solidFill>
            <a:prstDash val="solid"/>
          </a:ln>
        </p:spPr>
      </p:sp>
      <p:sp>
        <p:nvSpPr>
          <p:cNvPr id="21" name="text-1169"/>
          <p:cNvSpPr txBox="1"/>
          <p:nvPr/>
        </p:nvSpPr>
        <p:spPr>
          <a:xfrm>
            <a:off x="8778240" y="2560320"/>
            <a:ext cx="2788920" cy="731520"/>
          </a:xfrm>
          <a:prstGeom prst="rect">
            <a:avLst/>
          </a:prstGeom>
          <a:noFill/>
          <a:ln/>
        </p:spPr>
        <p:txBody>
          <a:bodyPr wrap="square" lIns="0" tIns="0" rIns="0" bIns="0" rtlCol="0" anchor="ctr"/>
          <a:lstStyle/>
          <a:p>
            <a:pPr indent="0" marL="0">
              <a:buNone/>
            </a:pPr>
            <a:r>
              <a:rPr lang="en-US" sz="1400" b="1" dirty="0">
                <a:solidFill>
                  <a:schemeClr val="tx1"/>
                </a:solidFill>
              </a:rPr>
              <a:t>Temperature</a:t>
            </a:r>
            <a:pPr indent="0" marL="0">
              <a:buNone/>
            </a:pPr>
            <a:r>
              <a:rPr lang="en-US" sz="1400" dirty="0">
                <a:solidFill>
                  <a:schemeClr val="tx1"/>
                </a:solidFill>
              </a:rPr>
              <a:t> 373.15 K at Point 1</a:t>
            </a:r>
            <a:endParaRPr lang="en-US" sz="1400" dirty="0"/>
          </a:p>
        </p:txBody>
      </p:sp>
      <p:sp>
        <p:nvSpPr>
          <p:cNvPr id="22" name="card-1170"/>
          <p:cNvSpPr/>
          <p:nvPr/>
        </p:nvSpPr>
        <p:spPr>
          <a:xfrm>
            <a:off x="5989320" y="3429000"/>
            <a:ext cx="2240280" cy="731520"/>
          </a:xfrm>
          <a:prstGeom prst="roundRect">
            <a:avLst>
              <a:gd name="adj" fmla="val 12500"/>
            </a:avLst>
          </a:prstGeom>
          <a:solidFill>
            <a:schemeClr val="bg1"/>
          </a:solidFill>
          <a:ln w="9525">
            <a:solidFill>
              <a:schemeClr val="accent4">
                <a:alpha val="35000"/>
              </a:schemeClr>
            </a:solidFill>
            <a:prstDash val="solid"/>
          </a:ln>
        </p:spPr>
      </p:sp>
      <p:sp>
        <p:nvSpPr>
          <p:cNvPr id="23" name="text-1171"/>
          <p:cNvSpPr txBox="1"/>
          <p:nvPr/>
        </p:nvSpPr>
        <p:spPr>
          <a:xfrm>
            <a:off x="6126480" y="3429000"/>
            <a:ext cx="2011680" cy="731520"/>
          </a:xfrm>
          <a:prstGeom prst="rect">
            <a:avLst/>
          </a:prstGeom>
          <a:noFill/>
          <a:ln/>
        </p:spPr>
        <p:txBody>
          <a:bodyPr wrap="square" lIns="0" tIns="0" rIns="0" bIns="0" rtlCol="0" anchor="ctr"/>
          <a:lstStyle/>
          <a:p>
            <a:pPr indent="0" marL="0">
              <a:buNone/>
            </a:pPr>
            <a:r>
              <a:rPr lang="en-US" sz="1450" dirty="0">
                <a:solidFill>
                  <a:schemeClr val="tx1"/>
                </a:solidFill>
              </a:rPr>
              <a:t>Insulated tip</a:t>
            </a:r>
            <a:endParaRPr lang="en-US" sz="1450" dirty="0"/>
          </a:p>
        </p:txBody>
      </p:sp>
      <p:sp>
        <p:nvSpPr>
          <p:cNvPr id="24" name="arrow-1172"/>
          <p:cNvSpPr/>
          <p:nvPr/>
        </p:nvSpPr>
        <p:spPr>
          <a:xfrm>
            <a:off x="8275320" y="3794760"/>
            <a:ext cx="301752" cy="0"/>
          </a:xfrm>
          <a:prstGeom prst="line">
            <a:avLst/>
          </a:prstGeom>
          <a:noFill/>
          <a:ln w="25400">
            <a:solidFill>
              <a:schemeClr val="accent2"/>
            </a:solidFill>
            <a:prstDash val="solid"/>
            <a:tailEnd type="triangle"/>
          </a:ln>
        </p:spPr>
      </p:sp>
      <p:sp>
        <p:nvSpPr>
          <p:cNvPr id="25" name="card-1173"/>
          <p:cNvSpPr/>
          <p:nvPr/>
        </p:nvSpPr>
        <p:spPr>
          <a:xfrm>
            <a:off x="8641080" y="3429000"/>
            <a:ext cx="2999232" cy="731520"/>
          </a:xfrm>
          <a:prstGeom prst="roundRect">
            <a:avLst>
              <a:gd name="adj" fmla="val 12500"/>
            </a:avLst>
          </a:prstGeom>
          <a:solidFill>
            <a:schemeClr val="bg1"/>
          </a:solidFill>
          <a:ln w="15875">
            <a:solidFill>
              <a:schemeClr val="accent1"/>
            </a:solidFill>
            <a:prstDash val="solid"/>
          </a:ln>
        </p:spPr>
      </p:sp>
      <p:sp>
        <p:nvSpPr>
          <p:cNvPr id="26" name="text-1174"/>
          <p:cNvSpPr txBox="1"/>
          <p:nvPr/>
        </p:nvSpPr>
        <p:spPr>
          <a:xfrm>
            <a:off x="8778240" y="3429000"/>
            <a:ext cx="2788920" cy="731520"/>
          </a:xfrm>
          <a:prstGeom prst="rect">
            <a:avLst/>
          </a:prstGeom>
          <a:noFill/>
          <a:ln/>
        </p:spPr>
        <p:txBody>
          <a:bodyPr wrap="square" lIns="0" tIns="0" rIns="0" bIns="0" rtlCol="0" anchor="ctr"/>
          <a:lstStyle/>
          <a:p>
            <a:pPr indent="0" marL="0">
              <a:buNone/>
            </a:pPr>
            <a:r>
              <a:rPr lang="en-US" sz="1400" b="1" dirty="0">
                <a:solidFill>
                  <a:schemeClr val="tx1"/>
                </a:solidFill>
              </a:rPr>
              <a:t>Thermal Insulation</a:t>
            </a:r>
            <a:pPr indent="0" marL="0">
              <a:buNone/>
            </a:pPr>
            <a:r>
              <a:rPr lang="en-US" sz="1400" dirty="0">
                <a:solidFill>
                  <a:schemeClr val="tx1"/>
                </a:solidFill>
              </a:rPr>
              <a:t> at Point 2 (default!)</a:t>
            </a:r>
            <a:endParaRPr lang="en-US" sz="1400" dirty="0"/>
          </a:p>
        </p:txBody>
      </p:sp>
      <p:sp>
        <p:nvSpPr>
          <p:cNvPr id="27" name="card-1175"/>
          <p:cNvSpPr/>
          <p:nvPr/>
        </p:nvSpPr>
        <p:spPr>
          <a:xfrm>
            <a:off x="5989320" y="4297680"/>
            <a:ext cx="2240280" cy="731520"/>
          </a:xfrm>
          <a:prstGeom prst="roundRect">
            <a:avLst>
              <a:gd name="adj" fmla="val 12500"/>
            </a:avLst>
          </a:prstGeom>
          <a:solidFill>
            <a:schemeClr val="bg1"/>
          </a:solidFill>
          <a:ln w="9525">
            <a:solidFill>
              <a:schemeClr val="accent4">
                <a:alpha val="35000"/>
              </a:schemeClr>
            </a:solidFill>
            <a:prstDash val="solid"/>
          </a:ln>
        </p:spPr>
      </p:sp>
      <p:sp>
        <p:nvSpPr>
          <p:cNvPr id="28" name="text-1176"/>
          <p:cNvSpPr txBox="1"/>
          <p:nvPr/>
        </p:nvSpPr>
        <p:spPr>
          <a:xfrm>
            <a:off x="6126480" y="4297680"/>
            <a:ext cx="2011680" cy="731520"/>
          </a:xfrm>
          <a:prstGeom prst="rect">
            <a:avLst/>
          </a:prstGeom>
          <a:noFill/>
          <a:ln/>
        </p:spPr>
        <p:txBody>
          <a:bodyPr wrap="square" lIns="0" tIns="0" rIns="0" bIns="0" rtlCol="0" anchor="ctr"/>
          <a:lstStyle/>
          <a:p>
            <a:pPr indent="0" marL="0">
              <a:buNone/>
            </a:pPr>
            <a:r>
              <a:rPr lang="en-US" sz="1450" dirty="0">
                <a:solidFill>
                  <a:schemeClr val="tx1"/>
                </a:solidFill>
              </a:rPr>
              <a:t>Convection from the side</a:t>
            </a:r>
            <a:endParaRPr lang="en-US" sz="1450" dirty="0"/>
          </a:p>
        </p:txBody>
      </p:sp>
      <p:sp>
        <p:nvSpPr>
          <p:cNvPr id="29" name="arrow-1177"/>
          <p:cNvSpPr/>
          <p:nvPr/>
        </p:nvSpPr>
        <p:spPr>
          <a:xfrm>
            <a:off x="8275320" y="4663440"/>
            <a:ext cx="301752" cy="0"/>
          </a:xfrm>
          <a:prstGeom prst="line">
            <a:avLst/>
          </a:prstGeom>
          <a:noFill/>
          <a:ln w="25400">
            <a:solidFill>
              <a:schemeClr val="accent2"/>
            </a:solidFill>
            <a:prstDash val="solid"/>
            <a:tailEnd type="triangle"/>
          </a:ln>
        </p:spPr>
      </p:sp>
      <p:sp>
        <p:nvSpPr>
          <p:cNvPr id="30" name="card-1178"/>
          <p:cNvSpPr/>
          <p:nvPr/>
        </p:nvSpPr>
        <p:spPr>
          <a:xfrm>
            <a:off x="8641080" y="4297680"/>
            <a:ext cx="2999232" cy="731520"/>
          </a:xfrm>
          <a:prstGeom prst="roundRect">
            <a:avLst>
              <a:gd name="adj" fmla="val 12500"/>
            </a:avLst>
          </a:prstGeom>
          <a:solidFill>
            <a:schemeClr val="bg1"/>
          </a:solidFill>
          <a:ln w="15875">
            <a:solidFill>
              <a:schemeClr val="accent1"/>
            </a:solidFill>
            <a:prstDash val="solid"/>
          </a:ln>
        </p:spPr>
      </p:sp>
      <p:sp>
        <p:nvSpPr>
          <p:cNvPr id="31" name="text-1179"/>
          <p:cNvSpPr txBox="1"/>
          <p:nvPr/>
        </p:nvSpPr>
        <p:spPr>
          <a:xfrm>
            <a:off x="8778240" y="4297680"/>
            <a:ext cx="2788920" cy="731520"/>
          </a:xfrm>
          <a:prstGeom prst="rect">
            <a:avLst/>
          </a:prstGeom>
          <a:noFill/>
          <a:ln/>
        </p:spPr>
        <p:txBody>
          <a:bodyPr wrap="square" lIns="0" tIns="0" rIns="0" bIns="0" rtlCol="0" anchor="ctr"/>
          <a:lstStyle/>
          <a:p>
            <a:pPr indent="0" marL="0">
              <a:buNone/>
            </a:pPr>
            <a:r>
              <a:rPr lang="en-US" sz="1400" b="1" dirty="0">
                <a:solidFill>
                  <a:schemeClr val="tx1"/>
                </a:solidFill>
              </a:rPr>
              <a:t>Heat Source</a:t>
            </a:r>
            <a:pPr indent="0" marL="0">
              <a:buNone/>
            </a:pPr>
            <a:r>
              <a:rPr lang="en-US" sz="1400" dirty="0">
                <a:solidFill>
                  <a:schemeClr val="tx1"/>
                </a:solidFill>
              </a:rPr>
              <a:t> Q = −h (4/d)(T − T</a:t>
            </a:r>
            <a:pPr indent="0" marL="0">
              <a:buNone/>
            </a:pPr>
            <a:r>
              <a:rPr lang="en-US" sz="1400" baseline="-40000" dirty="0">
                <a:solidFill>
                  <a:schemeClr val="tx1"/>
                </a:solidFill>
              </a:rPr>
              <a:t>∞</a:t>
            </a:r>
            <a:pPr indent="0" marL="0">
              <a:buNone/>
            </a:pPr>
            <a:r>
              <a:rPr lang="en-US" sz="1400" dirty="0">
                <a:solidFill>
                  <a:schemeClr val="tx1"/>
                </a:solidFill>
              </a:rPr>
              <a:t>)</a:t>
            </a:r>
            <a:endParaRPr lang="en-US" sz="1400" dirty="0"/>
          </a:p>
        </p:txBody>
      </p:sp>
      <p:sp>
        <p:nvSpPr>
          <p:cNvPr id="32" name="card-1180"/>
          <p:cNvSpPr/>
          <p:nvPr/>
        </p:nvSpPr>
        <p:spPr>
          <a:xfrm>
            <a:off x="5989320" y="5166360"/>
            <a:ext cx="2240280" cy="731520"/>
          </a:xfrm>
          <a:prstGeom prst="roundRect">
            <a:avLst>
              <a:gd name="adj" fmla="val 12500"/>
            </a:avLst>
          </a:prstGeom>
          <a:solidFill>
            <a:schemeClr val="bg1"/>
          </a:solidFill>
          <a:ln w="9525">
            <a:solidFill>
              <a:schemeClr val="accent4">
                <a:alpha val="35000"/>
              </a:schemeClr>
            </a:solidFill>
            <a:prstDash val="solid"/>
          </a:ln>
        </p:spPr>
      </p:sp>
      <p:sp>
        <p:nvSpPr>
          <p:cNvPr id="33" name="text-1181"/>
          <p:cNvSpPr txBox="1"/>
          <p:nvPr/>
        </p:nvSpPr>
        <p:spPr>
          <a:xfrm>
            <a:off x="6126480" y="5166360"/>
            <a:ext cx="2011680" cy="731520"/>
          </a:xfrm>
          <a:prstGeom prst="rect">
            <a:avLst/>
          </a:prstGeom>
          <a:noFill/>
          <a:ln/>
        </p:spPr>
        <p:txBody>
          <a:bodyPr wrap="square" lIns="0" tIns="0" rIns="0" bIns="0" rtlCol="0" anchor="ctr"/>
          <a:lstStyle/>
          <a:p>
            <a:pPr indent="0" marL="0">
              <a:buNone/>
            </a:pPr>
            <a:r>
              <a:rPr lang="en-US" sz="1450" dirty="0">
                <a:solidFill>
                  <a:schemeClr val="tx1"/>
                </a:solidFill>
              </a:rPr>
              <a:t>Steady state</a:t>
            </a:r>
            <a:endParaRPr lang="en-US" sz="1450" dirty="0"/>
          </a:p>
        </p:txBody>
      </p:sp>
      <p:sp>
        <p:nvSpPr>
          <p:cNvPr id="34" name="arrow-1182"/>
          <p:cNvSpPr/>
          <p:nvPr/>
        </p:nvSpPr>
        <p:spPr>
          <a:xfrm>
            <a:off x="8275320" y="5532120"/>
            <a:ext cx="301752" cy="0"/>
          </a:xfrm>
          <a:prstGeom prst="line">
            <a:avLst/>
          </a:prstGeom>
          <a:noFill/>
          <a:ln w="25400">
            <a:solidFill>
              <a:schemeClr val="accent2"/>
            </a:solidFill>
            <a:prstDash val="solid"/>
            <a:tailEnd type="triangle"/>
          </a:ln>
        </p:spPr>
      </p:sp>
      <p:sp>
        <p:nvSpPr>
          <p:cNvPr id="35" name="card-1183"/>
          <p:cNvSpPr/>
          <p:nvPr/>
        </p:nvSpPr>
        <p:spPr>
          <a:xfrm>
            <a:off x="8641080" y="5166360"/>
            <a:ext cx="2999232" cy="731520"/>
          </a:xfrm>
          <a:prstGeom prst="roundRect">
            <a:avLst>
              <a:gd name="adj" fmla="val 12500"/>
            </a:avLst>
          </a:prstGeom>
          <a:solidFill>
            <a:schemeClr val="bg1"/>
          </a:solidFill>
          <a:ln w="15875">
            <a:solidFill>
              <a:schemeClr val="accent1"/>
            </a:solidFill>
            <a:prstDash val="solid"/>
          </a:ln>
        </p:spPr>
      </p:sp>
      <p:sp>
        <p:nvSpPr>
          <p:cNvPr id="36" name="text-1184"/>
          <p:cNvSpPr txBox="1"/>
          <p:nvPr/>
        </p:nvSpPr>
        <p:spPr>
          <a:xfrm>
            <a:off x="8778240" y="5166360"/>
            <a:ext cx="2788920" cy="731520"/>
          </a:xfrm>
          <a:prstGeom prst="rect">
            <a:avLst/>
          </a:prstGeom>
          <a:noFill/>
          <a:ln/>
        </p:spPr>
        <p:txBody>
          <a:bodyPr wrap="square" lIns="0" tIns="0" rIns="0" bIns="0" rtlCol="0" anchor="ctr"/>
          <a:lstStyle/>
          <a:p>
            <a:pPr indent="0" marL="0">
              <a:buNone/>
            </a:pPr>
            <a:r>
              <a:rPr lang="en-US" sz="1400" b="1" dirty="0">
                <a:solidFill>
                  <a:schemeClr val="tx1"/>
                </a:solidFill>
              </a:rPr>
              <a:t>Stationary</a:t>
            </a:r>
            <a:pPr indent="0" marL="0">
              <a:buNone/>
            </a:pPr>
            <a:r>
              <a:rPr lang="en-US" sz="1400" dirty="0">
                <a:solidFill>
                  <a:schemeClr val="tx1"/>
                </a:solidFill>
              </a:rPr>
              <a:t> study</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118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STEPS 1–3</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Model Wizard: 1D → physics → study</a:t>
            </a:r>
            <a:endParaRPr lang="en-US" sz="3200" dirty="0"/>
          </a:p>
        </p:txBody>
      </p:sp>
      <p:sp>
        <p:nvSpPr>
          <p:cNvPr id="4" name="card-1186"/>
          <p:cNvSpPr/>
          <p:nvPr/>
        </p:nvSpPr>
        <p:spPr>
          <a:xfrm>
            <a:off x="548640" y="1371600"/>
            <a:ext cx="3520440" cy="46634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badge-1187"/>
          <p:cNvSpPr/>
          <p:nvPr/>
        </p:nvSpPr>
        <p:spPr>
          <a:xfrm>
            <a:off x="731520" y="1527048"/>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1188"/>
          <p:cNvSpPr txBox="1"/>
          <p:nvPr/>
        </p:nvSpPr>
        <p:spPr>
          <a:xfrm>
            <a:off x="1280160" y="1463040"/>
            <a:ext cx="2697480" cy="566928"/>
          </a:xfrm>
          <a:prstGeom prst="rect">
            <a:avLst/>
          </a:prstGeom>
          <a:noFill/>
          <a:ln/>
        </p:spPr>
        <p:txBody>
          <a:bodyPr wrap="square" lIns="0" tIns="0" rIns="0" bIns="0" rtlCol="0" anchor="ctr"/>
          <a:lstStyle/>
          <a:p>
            <a:pPr indent="0" marL="0">
              <a:buNone/>
            </a:pPr>
            <a:r>
              <a:rPr lang="en-US" sz="1450" dirty="0">
                <a:solidFill>
                  <a:schemeClr val="tx1"/>
                </a:solidFill>
              </a:rPr>
              <a:t>Select </a:t>
            </a:r>
            <a:pPr indent="0" marL="0">
              <a:buNone/>
            </a:pPr>
            <a:r>
              <a:rPr lang="en-US" sz="1450" b="1" dirty="0">
                <a:solidFill>
                  <a:schemeClr val="tx1"/>
                </a:solidFill>
              </a:rPr>
              <a:t>1D</a:t>
            </a:r>
            <a:pPr indent="0" marL="0">
              <a:buNone/>
            </a:pPr>
            <a:r>
              <a:rPr lang="en-US" sz="1450" dirty="0">
                <a:solidFill>
                  <a:schemeClr val="tx1"/>
                </a:solidFill>
              </a:rPr>
              <a:t>, then Next</a:t>
            </a:r>
            <a:endParaRPr lang="en-US" sz="1450" dirty="0"/>
          </a:p>
        </p:txBody>
      </p:sp>
      <p:pic>
        <p:nvPicPr>
          <p:cNvPr id="7" name="img-1189" descr="COMSOL Model Wizard screenshot, step 1">    </p:cNvPr>
          <p:cNvPicPr>
            <a:picLocks noChangeAspect="1"/>
          </p:cNvPicPr>
          <p:nvPr/>
        </p:nvPicPr>
        <p:blipFill>
          <a:blip r:embed="rId1"/>
          <a:stretch>
            <a:fillRect/>
          </a:stretch>
        </p:blipFill>
        <p:spPr>
          <a:xfrm>
            <a:off x="685800" y="2482031"/>
            <a:ext cx="3246120" cy="1711057"/>
          </a:xfrm>
          <a:prstGeom prst="rect">
            <a:avLst/>
          </a:prstGeom>
        </p:spPr>
      </p:pic>
      <p:sp>
        <p:nvSpPr>
          <p:cNvPr id="8" name="text-1190"/>
          <p:cNvSpPr txBox="1"/>
          <p:nvPr/>
        </p:nvSpPr>
        <p:spPr>
          <a:xfrm>
            <a:off x="731520" y="4709160"/>
            <a:ext cx="3154680" cy="1188720"/>
          </a:xfrm>
          <a:prstGeom prst="rect">
            <a:avLst/>
          </a:prstGeom>
          <a:noFill/>
          <a:ln/>
        </p:spPr>
        <p:txBody>
          <a:bodyPr wrap="square" lIns="0" tIns="0" rIns="0" bIns="0" rtlCol="0" anchor="t"/>
          <a:lstStyle/>
          <a:p>
            <a:pPr indent="0" marL="0">
              <a:buNone/>
            </a:pPr>
            <a:r>
              <a:rPr lang="en-US" sz="1350" b="1" dirty="0">
                <a:solidFill>
                  <a:schemeClr val="tx2"/>
                </a:solidFill>
              </a:rPr>
              <a:t>Why?</a:t>
            </a:r>
            <a:pPr indent="0" marL="0">
              <a:buNone/>
            </a:pPr>
            <a:r>
              <a:rPr lang="en-US" sz="1350" dirty="0">
                <a:solidFill>
                  <a:schemeClr val="tx2"/>
                </a:solidFill>
              </a:rPr>
              <a:t> The pin is long and thin: one temperature per cross-section, T(x) only.</a:t>
            </a:r>
            <a:endParaRPr lang="en-US" sz="1350" dirty="0"/>
          </a:p>
        </p:txBody>
      </p:sp>
      <p:sp>
        <p:nvSpPr>
          <p:cNvPr id="9" name="card-1191"/>
          <p:cNvSpPr/>
          <p:nvPr/>
        </p:nvSpPr>
        <p:spPr>
          <a:xfrm>
            <a:off x="4334256" y="1371600"/>
            <a:ext cx="3520440" cy="46634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badge-1192"/>
          <p:cNvSpPr/>
          <p:nvPr/>
        </p:nvSpPr>
        <p:spPr>
          <a:xfrm>
            <a:off x="4517136" y="1527048"/>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1193"/>
          <p:cNvSpPr txBox="1"/>
          <p:nvPr/>
        </p:nvSpPr>
        <p:spPr>
          <a:xfrm>
            <a:off x="5065776" y="1463040"/>
            <a:ext cx="2697480" cy="566928"/>
          </a:xfrm>
          <a:prstGeom prst="rect">
            <a:avLst/>
          </a:prstGeom>
          <a:noFill/>
          <a:ln/>
        </p:spPr>
        <p:txBody>
          <a:bodyPr wrap="square" lIns="0" tIns="0" rIns="0" bIns="0" rtlCol="0" anchor="ctr"/>
          <a:lstStyle/>
          <a:p>
            <a:pPr indent="0" marL="0">
              <a:buNone/>
            </a:pPr>
            <a:r>
              <a:rPr lang="en-US" sz="1450" dirty="0">
                <a:solidFill>
                  <a:schemeClr val="tx1"/>
                </a:solidFill>
              </a:rPr>
              <a:t>Heat Transfer › </a:t>
            </a:r>
            <a:pPr indent="0" marL="0">
              <a:buNone/>
            </a:pPr>
            <a:r>
              <a:rPr lang="en-US" sz="1450" b="1" dirty="0">
                <a:solidFill>
                  <a:schemeClr val="tx1"/>
                </a:solidFill>
              </a:rPr>
              <a:t>Heat Transfer in Solids</a:t>
            </a:r>
            <a:pPr indent="0" marL="0">
              <a:buNone/>
            </a:pPr>
            <a:r>
              <a:rPr lang="en-US" sz="1450" dirty="0">
                <a:solidFill>
                  <a:schemeClr val="tx1"/>
                </a:solidFill>
              </a:rPr>
              <a:t> › </a:t>
            </a:r>
            <a:pPr indent="0" marL="0">
              <a:buNone/>
            </a:pPr>
            <a:r>
              <a:rPr lang="en-US" sz="1450" b="1" dirty="0">
                <a:solidFill>
                  <a:schemeClr val="tx1"/>
                </a:solidFill>
              </a:rPr>
              <a:t>+</a:t>
            </a:r>
            <a:pPr indent="0" marL="0">
              <a:buNone/>
            </a:pPr>
            <a:r>
              <a:rPr lang="en-US" sz="1450" dirty="0">
                <a:solidFill>
                  <a:schemeClr val="tx1"/>
                </a:solidFill>
              </a:rPr>
              <a:t> › Next</a:t>
            </a:r>
            <a:endParaRPr lang="en-US" sz="1450" dirty="0"/>
          </a:p>
        </p:txBody>
      </p:sp>
      <p:pic>
        <p:nvPicPr>
          <p:cNvPr id="12" name="img-1194" descr="COMSOL Model Wizard screenshot, step 2">    </p:cNvPr>
          <p:cNvPicPr>
            <a:picLocks noChangeAspect="1"/>
          </p:cNvPicPr>
          <p:nvPr/>
        </p:nvPicPr>
        <p:blipFill>
          <a:blip r:embed="rId2"/>
          <a:stretch>
            <a:fillRect/>
          </a:stretch>
        </p:blipFill>
        <p:spPr>
          <a:xfrm>
            <a:off x="5013229" y="2148840"/>
            <a:ext cx="2162493" cy="2377440"/>
          </a:xfrm>
          <a:prstGeom prst="rect">
            <a:avLst/>
          </a:prstGeom>
        </p:spPr>
      </p:pic>
      <p:sp>
        <p:nvSpPr>
          <p:cNvPr id="13" name="text-1195"/>
          <p:cNvSpPr txBox="1"/>
          <p:nvPr/>
        </p:nvSpPr>
        <p:spPr>
          <a:xfrm>
            <a:off x="4517136" y="4709160"/>
            <a:ext cx="3154680" cy="1188720"/>
          </a:xfrm>
          <a:prstGeom prst="rect">
            <a:avLst/>
          </a:prstGeom>
          <a:noFill/>
          <a:ln/>
        </p:spPr>
        <p:txBody>
          <a:bodyPr wrap="square" lIns="0" tIns="0" rIns="0" bIns="0" rtlCol="0" anchor="t"/>
          <a:lstStyle/>
          <a:p>
            <a:pPr indent="0" marL="0">
              <a:buNone/>
            </a:pPr>
            <a:r>
              <a:rPr lang="en-US" sz="1350" b="1" dirty="0">
                <a:solidFill>
                  <a:schemeClr val="tx2"/>
                </a:solidFill>
              </a:rPr>
              <a:t>Why?</a:t>
            </a:r>
            <a:pPr indent="0" marL="0">
              <a:buNone/>
            </a:pPr>
            <a:r>
              <a:rPr lang="en-US" sz="1350" dirty="0">
                <a:solidFill>
                  <a:schemeClr val="tx2"/>
                </a:solidFill>
              </a:rPr>
              <a:t> Solves −d/dx(k dT/dx) = Q. We will use Q for the convective loss.</a:t>
            </a:r>
            <a:endParaRPr lang="en-US" sz="1350" dirty="0"/>
          </a:p>
        </p:txBody>
      </p:sp>
      <p:sp>
        <p:nvSpPr>
          <p:cNvPr id="14" name="card-1196"/>
          <p:cNvSpPr/>
          <p:nvPr/>
        </p:nvSpPr>
        <p:spPr>
          <a:xfrm>
            <a:off x="8119872" y="1371600"/>
            <a:ext cx="3520440" cy="466344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badge-1197"/>
          <p:cNvSpPr/>
          <p:nvPr/>
        </p:nvSpPr>
        <p:spPr>
          <a:xfrm>
            <a:off x="8302752" y="1527048"/>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1198"/>
          <p:cNvSpPr txBox="1"/>
          <p:nvPr/>
        </p:nvSpPr>
        <p:spPr>
          <a:xfrm>
            <a:off x="8851392" y="1463040"/>
            <a:ext cx="2697480" cy="566928"/>
          </a:xfrm>
          <a:prstGeom prst="rect">
            <a:avLst/>
          </a:prstGeom>
          <a:noFill/>
          <a:ln/>
        </p:spPr>
        <p:txBody>
          <a:bodyPr wrap="square" lIns="0" tIns="0" rIns="0" bIns="0" rtlCol="0" anchor="ctr"/>
          <a:lstStyle/>
          <a:p>
            <a:pPr indent="0" marL="0">
              <a:buNone/>
            </a:pPr>
            <a:r>
              <a:rPr lang="en-US" sz="1450" b="1" dirty="0">
                <a:solidFill>
                  <a:schemeClr val="tx1"/>
                </a:solidFill>
              </a:rPr>
              <a:t>Stationary</a:t>
            </a:r>
            <a:pPr indent="0" marL="0">
              <a:buNone/>
            </a:pPr>
            <a:r>
              <a:rPr lang="en-US" sz="1450" dirty="0">
                <a:solidFill>
                  <a:schemeClr val="tx1"/>
                </a:solidFill>
              </a:rPr>
              <a:t> › Finish</a:t>
            </a:r>
            <a:endParaRPr lang="en-US" sz="1450" dirty="0"/>
          </a:p>
        </p:txBody>
      </p:sp>
      <p:pic>
        <p:nvPicPr>
          <p:cNvPr id="17" name="img-1199" descr="COMSOL Model Wizard screenshot, step 3">    </p:cNvPr>
          <p:cNvPicPr>
            <a:picLocks noChangeAspect="1"/>
          </p:cNvPicPr>
          <p:nvPr/>
        </p:nvPicPr>
        <p:blipFill>
          <a:blip r:embed="rId3"/>
          <a:stretch>
            <a:fillRect/>
          </a:stretch>
        </p:blipFill>
        <p:spPr>
          <a:xfrm>
            <a:off x="8798845" y="2148840"/>
            <a:ext cx="2162493" cy="2377440"/>
          </a:xfrm>
          <a:prstGeom prst="rect">
            <a:avLst/>
          </a:prstGeom>
        </p:spPr>
      </p:pic>
      <p:sp>
        <p:nvSpPr>
          <p:cNvPr id="18" name="text-1200"/>
          <p:cNvSpPr txBox="1"/>
          <p:nvPr/>
        </p:nvSpPr>
        <p:spPr>
          <a:xfrm>
            <a:off x="8302752" y="4709160"/>
            <a:ext cx="3154680" cy="1188720"/>
          </a:xfrm>
          <a:prstGeom prst="rect">
            <a:avLst/>
          </a:prstGeom>
          <a:noFill/>
          <a:ln/>
        </p:spPr>
        <p:txBody>
          <a:bodyPr wrap="square" lIns="0" tIns="0" rIns="0" bIns="0" rtlCol="0" anchor="t"/>
          <a:lstStyle/>
          <a:p>
            <a:pPr indent="0" marL="0">
              <a:buNone/>
            </a:pPr>
            <a:r>
              <a:rPr lang="en-US" sz="1350" b="1" dirty="0">
                <a:solidFill>
                  <a:schemeClr val="tx2"/>
                </a:solidFill>
              </a:rPr>
              <a:t>Why?</a:t>
            </a:r>
            <a:pPr indent="0" marL="0">
              <a:buNone/>
            </a:pPr>
            <a:r>
              <a:rPr lang="en-US" sz="1350" dirty="0">
                <a:solidFill>
                  <a:schemeClr val="tx2"/>
                </a:solidFill>
              </a:rPr>
              <a:t> Steady state: the initial 30 °C has no influence, so it is not needed.</a:t>
            </a:r>
            <a:endParaRPr lang="en-US" sz="13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120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 4</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A tour of the Model Builder tree</a:t>
            </a:r>
            <a:endParaRPr lang="en-US" sz="3200" dirty="0"/>
          </a:p>
        </p:txBody>
      </p:sp>
      <p:sp>
        <p:nvSpPr>
          <p:cNvPr id="4" name="card-1202"/>
          <p:cNvSpPr/>
          <p:nvPr/>
        </p:nvSpPr>
        <p:spPr>
          <a:xfrm>
            <a:off x="548640" y="1371600"/>
            <a:ext cx="6766560" cy="3429000"/>
          </a:xfrm>
          <a:prstGeom prst="roundRect">
            <a:avLst>
              <a:gd name="adj" fmla="val 2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203" descr="COMSOL Model Builder tree after the wizard">    </p:cNvPr>
          <p:cNvPicPr>
            <a:picLocks noChangeAspect="1"/>
          </p:cNvPicPr>
          <p:nvPr/>
        </p:nvPicPr>
        <p:blipFill>
          <a:blip r:embed="rId1"/>
          <a:stretch>
            <a:fillRect/>
          </a:stretch>
        </p:blipFill>
        <p:spPr>
          <a:xfrm>
            <a:off x="640080" y="1495044"/>
            <a:ext cx="6583680" cy="3182112"/>
          </a:xfrm>
          <a:prstGeom prst="rect">
            <a:avLst/>
          </a:prstGeom>
        </p:spPr>
      </p:pic>
      <p:sp>
        <p:nvSpPr>
          <p:cNvPr id="6" name="badge-1204"/>
          <p:cNvSpPr/>
          <p:nvPr/>
        </p:nvSpPr>
        <p:spPr>
          <a:xfrm>
            <a:off x="7589520" y="146304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1205"/>
          <p:cNvSpPr txBox="1"/>
          <p:nvPr/>
        </p:nvSpPr>
        <p:spPr>
          <a:xfrm>
            <a:off x="8138160" y="1371600"/>
            <a:ext cx="3520440" cy="640080"/>
          </a:xfrm>
          <a:prstGeom prst="rect">
            <a:avLst/>
          </a:prstGeom>
          <a:noFill/>
          <a:ln/>
        </p:spPr>
        <p:txBody>
          <a:bodyPr wrap="square" lIns="0" tIns="0" rIns="0" bIns="0" rtlCol="0" anchor="t"/>
          <a:lstStyle/>
          <a:p>
            <a:pPr indent="0" marL="0">
              <a:buNone/>
            </a:pPr>
            <a:r>
              <a:rPr lang="en-US" sz="1500" b="1" dirty="0">
                <a:solidFill>
                  <a:schemeClr val="tx1"/>
                </a:solidFill>
              </a:rPr>
              <a:t>Geometry 1</a:t>
            </a:r>
            <a:endParaRPr lang="en-US" sz="1600" dirty="0"/>
          </a:p>
          <a:p>
            <a:pPr indent="0" marL="0">
              <a:buNone/>
            </a:pPr>
            <a:r>
              <a:rPr lang="en-US" sz="1300" dirty="0">
                <a:solidFill>
                  <a:schemeClr val="tx2"/>
                </a:solidFill>
              </a:rPr>
              <a:t>the fin's shape (Step 5)</a:t>
            </a:r>
            <a:endParaRPr lang="en-US" sz="1600" dirty="0"/>
          </a:p>
        </p:txBody>
      </p:sp>
      <p:sp>
        <p:nvSpPr>
          <p:cNvPr id="8" name="badge-1206"/>
          <p:cNvSpPr/>
          <p:nvPr/>
        </p:nvSpPr>
        <p:spPr>
          <a:xfrm>
            <a:off x="7589520" y="2157984"/>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1207"/>
          <p:cNvSpPr txBox="1"/>
          <p:nvPr/>
        </p:nvSpPr>
        <p:spPr>
          <a:xfrm>
            <a:off x="8138160" y="2066544"/>
            <a:ext cx="3520440" cy="640080"/>
          </a:xfrm>
          <a:prstGeom prst="rect">
            <a:avLst/>
          </a:prstGeom>
          <a:noFill/>
          <a:ln/>
        </p:spPr>
        <p:txBody>
          <a:bodyPr wrap="square" lIns="0" tIns="0" rIns="0" bIns="0" rtlCol="0" anchor="t"/>
          <a:lstStyle/>
          <a:p>
            <a:pPr indent="0" marL="0">
              <a:buNone/>
            </a:pPr>
            <a:r>
              <a:rPr lang="en-US" sz="1500" b="1" dirty="0">
                <a:solidFill>
                  <a:schemeClr val="tx1"/>
                </a:solidFill>
              </a:rPr>
              <a:t>Materials</a:t>
            </a:r>
            <a:endParaRPr lang="en-US" sz="1600" dirty="0"/>
          </a:p>
          <a:p>
            <a:pPr indent="0" marL="0">
              <a:buNone/>
            </a:pPr>
            <a:r>
              <a:rPr lang="en-US" sz="1300" dirty="0">
                <a:solidFill>
                  <a:schemeClr val="tx2"/>
                </a:solidFill>
              </a:rPr>
              <a:t>aluminium (Step 6)</a:t>
            </a:r>
            <a:endParaRPr lang="en-US" sz="1600" dirty="0"/>
          </a:p>
        </p:txBody>
      </p:sp>
      <p:sp>
        <p:nvSpPr>
          <p:cNvPr id="10" name="badge-1208"/>
          <p:cNvSpPr/>
          <p:nvPr/>
        </p:nvSpPr>
        <p:spPr>
          <a:xfrm>
            <a:off x="7589520" y="2852928"/>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1209"/>
          <p:cNvSpPr txBox="1"/>
          <p:nvPr/>
        </p:nvSpPr>
        <p:spPr>
          <a:xfrm>
            <a:off x="8138160" y="2761488"/>
            <a:ext cx="3520440" cy="640080"/>
          </a:xfrm>
          <a:prstGeom prst="rect">
            <a:avLst/>
          </a:prstGeom>
          <a:noFill/>
          <a:ln/>
        </p:spPr>
        <p:txBody>
          <a:bodyPr wrap="square" lIns="0" tIns="0" rIns="0" bIns="0" rtlCol="0" anchor="t"/>
          <a:lstStyle/>
          <a:p>
            <a:pPr indent="0" marL="0">
              <a:buNone/>
            </a:pPr>
            <a:r>
              <a:rPr lang="en-US" sz="1500" b="1" dirty="0">
                <a:solidFill>
                  <a:schemeClr val="tx1"/>
                </a:solidFill>
              </a:rPr>
              <a:t>Heat Transfer in Solids</a:t>
            </a:r>
            <a:endParaRPr lang="en-US" sz="1600" dirty="0"/>
          </a:p>
          <a:p>
            <a:pPr indent="0" marL="0">
              <a:buNone/>
            </a:pPr>
            <a:r>
              <a:rPr lang="en-US" sz="1300" dirty="0">
                <a:solidFill>
                  <a:schemeClr val="tx2"/>
                </a:solidFill>
              </a:rPr>
              <a:t>equation &amp; BCs (Steps 7–8)</a:t>
            </a:r>
            <a:endParaRPr lang="en-US" sz="1600" dirty="0"/>
          </a:p>
        </p:txBody>
      </p:sp>
      <p:sp>
        <p:nvSpPr>
          <p:cNvPr id="12" name="badge-1210"/>
          <p:cNvSpPr/>
          <p:nvPr/>
        </p:nvSpPr>
        <p:spPr>
          <a:xfrm>
            <a:off x="7589520" y="3547872"/>
            <a:ext cx="384048" cy="38404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3" name="text-1211"/>
          <p:cNvSpPr txBox="1"/>
          <p:nvPr/>
        </p:nvSpPr>
        <p:spPr>
          <a:xfrm>
            <a:off x="8138160" y="3456432"/>
            <a:ext cx="3520440" cy="640080"/>
          </a:xfrm>
          <a:prstGeom prst="rect">
            <a:avLst/>
          </a:prstGeom>
          <a:noFill/>
          <a:ln/>
        </p:spPr>
        <p:txBody>
          <a:bodyPr wrap="square" lIns="0" tIns="0" rIns="0" bIns="0" rtlCol="0" anchor="t"/>
          <a:lstStyle/>
          <a:p>
            <a:pPr indent="0" marL="0">
              <a:buNone/>
            </a:pPr>
            <a:r>
              <a:rPr lang="en-US" sz="1500" b="1" dirty="0">
                <a:solidFill>
                  <a:schemeClr val="tx1"/>
                </a:solidFill>
              </a:rPr>
              <a:t>Thermal Insulation 1</a:t>
            </a:r>
            <a:endParaRPr lang="en-US" sz="1600" dirty="0"/>
          </a:p>
          <a:p>
            <a:pPr indent="0" marL="0">
              <a:buNone/>
            </a:pPr>
            <a:r>
              <a:rPr lang="en-US" sz="1300" dirty="0">
                <a:solidFill>
                  <a:schemeClr val="tx2"/>
                </a:solidFill>
              </a:rPr>
              <a:t>default on every boundary = our insulated tip</a:t>
            </a:r>
            <a:endParaRPr lang="en-US" sz="1600" dirty="0"/>
          </a:p>
        </p:txBody>
      </p:sp>
      <p:sp>
        <p:nvSpPr>
          <p:cNvPr id="14" name="badge-1212"/>
          <p:cNvSpPr/>
          <p:nvPr/>
        </p:nvSpPr>
        <p:spPr>
          <a:xfrm>
            <a:off x="7589520" y="4242816"/>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1213"/>
          <p:cNvSpPr txBox="1"/>
          <p:nvPr/>
        </p:nvSpPr>
        <p:spPr>
          <a:xfrm>
            <a:off x="8138160" y="4151376"/>
            <a:ext cx="3520440" cy="640080"/>
          </a:xfrm>
          <a:prstGeom prst="rect">
            <a:avLst/>
          </a:prstGeom>
          <a:noFill/>
          <a:ln/>
        </p:spPr>
        <p:txBody>
          <a:bodyPr wrap="square" lIns="0" tIns="0" rIns="0" bIns="0" rtlCol="0" anchor="t"/>
          <a:lstStyle/>
          <a:p>
            <a:pPr indent="0" marL="0">
              <a:buNone/>
            </a:pPr>
            <a:r>
              <a:rPr lang="en-US" sz="1500" b="1" dirty="0">
                <a:solidFill>
                  <a:schemeClr val="tx1"/>
                </a:solidFill>
              </a:rPr>
              <a:t>Length unit: m</a:t>
            </a:r>
            <a:endParaRPr lang="en-US" sz="1600" dirty="0"/>
          </a:p>
          <a:p>
            <a:pPr indent="0" marL="0">
              <a:buNone/>
            </a:pPr>
            <a:r>
              <a:rPr lang="en-US" sz="1300" dirty="0">
                <a:solidFill>
                  <a:schemeClr val="tx2"/>
                </a:solidFill>
              </a:rPr>
              <a:t>enter all lengths in metres</a:t>
            </a:r>
            <a:endParaRPr lang="en-US" sz="1600" dirty="0"/>
          </a:p>
        </p:txBody>
      </p:sp>
      <p:sp>
        <p:nvSpPr>
          <p:cNvPr id="16" name="card-1214"/>
          <p:cNvSpPr/>
          <p:nvPr/>
        </p:nvSpPr>
        <p:spPr>
          <a:xfrm>
            <a:off x="548640" y="5029200"/>
            <a:ext cx="11094415" cy="1051560"/>
          </a:xfrm>
          <a:prstGeom prst="roundRect">
            <a:avLst>
              <a:gd name="adj" fmla="val 8696"/>
            </a:avLst>
          </a:prstGeom>
          <a:solidFill>
            <a:schemeClr val="bg1"/>
          </a:solidFill>
          <a:ln w="9525">
            <a:solidFill>
              <a:schemeClr val="accent4">
                <a:alpha val="35000"/>
              </a:schemeClr>
            </a:solidFill>
            <a:prstDash val="solid"/>
          </a:ln>
        </p:spPr>
      </p:sp>
      <p:sp>
        <p:nvSpPr>
          <p:cNvPr id="17" name="text-1215"/>
          <p:cNvSpPr txBox="1"/>
          <p:nvPr/>
        </p:nvSpPr>
        <p:spPr>
          <a:xfrm>
            <a:off x="777240" y="5029200"/>
            <a:ext cx="2926080" cy="1051560"/>
          </a:xfrm>
          <a:prstGeom prst="rect">
            <a:avLst/>
          </a:prstGeom>
          <a:noFill/>
          <a:ln/>
        </p:spPr>
        <p:txBody>
          <a:bodyPr wrap="square" lIns="0" tIns="0" rIns="0" bIns="0" rtlCol="0" anchor="ctr"/>
          <a:lstStyle/>
          <a:p>
            <a:pPr indent="0" marL="0">
              <a:buNone/>
            </a:pPr>
            <a:r>
              <a:rPr lang="en-US" sz="1400" b="1" dirty="0">
                <a:solidFill>
                  <a:schemeClr val="tx1"/>
                </a:solidFill>
              </a:rPr>
              <a:t>In 1D</a:t>
            </a:r>
            <a:pPr indent="0" marL="0">
              <a:buNone/>
            </a:pPr>
            <a:r>
              <a:rPr lang="en-US" sz="1400" dirty="0">
                <a:solidFill>
                  <a:schemeClr val="tx1"/>
                </a:solidFill>
              </a:rPr>
              <a:t> the domain is a line; its boundaries are its two end points.</a:t>
            </a:r>
            <a:endParaRPr lang="en-US" sz="1400" dirty="0"/>
          </a:p>
        </p:txBody>
      </p:sp>
      <p:sp>
        <p:nvSpPr>
          <p:cNvPr id="18" name="line-1216"/>
          <p:cNvSpPr/>
          <p:nvPr/>
        </p:nvSpPr>
        <p:spPr>
          <a:xfrm>
            <a:off x="3931920" y="5486400"/>
            <a:ext cx="5943600" cy="0"/>
          </a:xfrm>
          <a:prstGeom prst="line">
            <a:avLst/>
          </a:prstGeom>
          <a:noFill/>
          <a:ln w="63500">
            <a:solidFill>
              <a:schemeClr val="accent1"/>
            </a:solidFill>
            <a:prstDash val="solid"/>
          </a:ln>
        </p:spPr>
      </p:sp>
      <p:sp>
        <p:nvSpPr>
          <p:cNvPr id="19" name="badge-1217"/>
          <p:cNvSpPr/>
          <p:nvPr/>
        </p:nvSpPr>
        <p:spPr>
          <a:xfrm>
            <a:off x="3794760" y="5349240"/>
            <a:ext cx="274320" cy="274320"/>
          </a:xfrm>
          <a:prstGeom prst="ellipse">
            <a:avLst/>
          </a:prstGeom>
          <a:solidFill>
            <a:schemeClr val="accent2"/>
          </a:solidFill>
          <a:ln/>
        </p:spPr>
        <p:txBody>
          <a:bodyPr wrap="square" lIns="0" tIns="0" rIns="0" bIns="0" rtlCol="0" anchor="ctr"/>
          <a:lstStyle/>
          <a:p>
            <a:pPr algn="ctr" indent="0" marL="0">
              <a:buNone/>
            </a:pPr>
            <a:endParaRPr lang="en-US" sz="1400" dirty="0"/>
          </a:p>
        </p:txBody>
      </p:sp>
      <p:sp>
        <p:nvSpPr>
          <p:cNvPr id="20" name="badge-1218"/>
          <p:cNvSpPr/>
          <p:nvPr/>
        </p:nvSpPr>
        <p:spPr>
          <a:xfrm>
            <a:off x="9738360" y="5349240"/>
            <a:ext cx="274320" cy="274320"/>
          </a:xfrm>
          <a:prstGeom prst="ellipse">
            <a:avLst/>
          </a:prstGeom>
          <a:solidFill>
            <a:schemeClr val="tx1"/>
          </a:solidFill>
          <a:ln/>
        </p:spPr>
        <p:txBody>
          <a:bodyPr wrap="square" lIns="0" tIns="0" rIns="0" bIns="0" rtlCol="0" anchor="ctr"/>
          <a:lstStyle/>
          <a:p>
            <a:pPr algn="ctr" indent="0" marL="0">
              <a:buNone/>
            </a:pPr>
            <a:endParaRPr lang="en-US" sz="1400" dirty="0"/>
          </a:p>
        </p:txBody>
      </p:sp>
      <p:sp>
        <p:nvSpPr>
          <p:cNvPr id="21" name="text-1219"/>
          <p:cNvSpPr txBox="1"/>
          <p:nvPr/>
        </p:nvSpPr>
        <p:spPr>
          <a:xfrm>
            <a:off x="5852160" y="5074920"/>
            <a:ext cx="2103120" cy="274320"/>
          </a:xfrm>
          <a:prstGeom prst="rect">
            <a:avLst/>
          </a:prstGeom>
          <a:noFill/>
          <a:ln/>
        </p:spPr>
        <p:txBody>
          <a:bodyPr wrap="square" lIns="0" tIns="0" rIns="0" bIns="0" rtlCol="0" anchor="t"/>
          <a:lstStyle/>
          <a:p>
            <a:pPr algn="ctr" indent="0" marL="0">
              <a:buNone/>
            </a:pPr>
            <a:r>
              <a:rPr lang="en-US" sz="1250" b="1" dirty="0">
                <a:solidFill>
                  <a:schemeClr val="accent1"/>
                </a:solidFill>
              </a:rPr>
              <a:t>Domain 1: the fin</a:t>
            </a:r>
            <a:endParaRPr lang="en-US" sz="1250" dirty="0"/>
          </a:p>
        </p:txBody>
      </p:sp>
      <p:sp>
        <p:nvSpPr>
          <p:cNvPr id="22" name="text-1220"/>
          <p:cNvSpPr txBox="1"/>
          <p:nvPr/>
        </p:nvSpPr>
        <p:spPr>
          <a:xfrm>
            <a:off x="3291840" y="5669280"/>
            <a:ext cx="2194560" cy="274320"/>
          </a:xfrm>
          <a:prstGeom prst="rect">
            <a:avLst/>
          </a:prstGeom>
          <a:noFill/>
          <a:ln/>
        </p:spPr>
        <p:txBody>
          <a:bodyPr wrap="square" lIns="0" tIns="0" rIns="0" bIns="0" rtlCol="0" anchor="t"/>
          <a:lstStyle/>
          <a:p>
            <a:pPr indent="0" marL="0">
              <a:buNone/>
            </a:pPr>
            <a:r>
              <a:rPr lang="en-US" sz="1250" b="1" dirty="0">
                <a:solidFill>
                  <a:schemeClr val="accent2"/>
                </a:solidFill>
              </a:rPr>
              <a:t>Point 1 · base, x = 0</a:t>
            </a:r>
            <a:endParaRPr lang="en-US" sz="1250" dirty="0"/>
          </a:p>
        </p:txBody>
      </p:sp>
      <p:sp>
        <p:nvSpPr>
          <p:cNvPr id="23" name="text-1221"/>
          <p:cNvSpPr txBox="1"/>
          <p:nvPr/>
        </p:nvSpPr>
        <p:spPr>
          <a:xfrm>
            <a:off x="8778240" y="5669280"/>
            <a:ext cx="2194560" cy="274320"/>
          </a:xfrm>
          <a:prstGeom prst="rect">
            <a:avLst/>
          </a:prstGeom>
          <a:noFill/>
          <a:ln/>
        </p:spPr>
        <p:txBody>
          <a:bodyPr wrap="square" lIns="0" tIns="0" rIns="0" bIns="0" rtlCol="0" anchor="t"/>
          <a:lstStyle/>
          <a:p>
            <a:pPr algn="r" indent="0" marL="0">
              <a:buNone/>
            </a:pPr>
            <a:r>
              <a:rPr lang="en-US" sz="1250" b="1" dirty="0">
                <a:solidFill>
                  <a:schemeClr val="tx1"/>
                </a:solidFill>
              </a:rPr>
              <a:t>Point 2 · tip, x = L</a:t>
            </a:r>
            <a:endParaRPr lang="en-US" sz="12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1222"/>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STEPS 5–6</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Geometry and material</a:t>
            </a:r>
            <a:endParaRPr lang="en-US" sz="3200" dirty="0"/>
          </a:p>
        </p:txBody>
      </p:sp>
      <p:sp>
        <p:nvSpPr>
          <p:cNvPr id="4" name="badge-1223"/>
          <p:cNvSpPr/>
          <p:nvPr/>
        </p:nvSpPr>
        <p:spPr>
          <a:xfrm>
            <a:off x="548640" y="14173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5" name="text-1224"/>
          <p:cNvSpPr txBox="1"/>
          <p:nvPr/>
        </p:nvSpPr>
        <p:spPr>
          <a:xfrm>
            <a:off x="1097280" y="1417320"/>
            <a:ext cx="5029200" cy="420624"/>
          </a:xfrm>
          <a:prstGeom prst="rect">
            <a:avLst/>
          </a:prstGeom>
          <a:noFill/>
          <a:ln/>
        </p:spPr>
        <p:txBody>
          <a:bodyPr wrap="square" lIns="0" tIns="0" rIns="0" bIns="0" rtlCol="0" anchor="ctr"/>
          <a:lstStyle/>
          <a:p>
            <a:pPr indent="0" marL="0">
              <a:buNone/>
            </a:pPr>
            <a:r>
              <a:rPr lang="en-US" sz="1700" b="1" dirty="0">
                <a:solidFill>
                  <a:schemeClr val="tx1"/>
                </a:solidFill>
              </a:rPr>
              <a:t>Geometry: a 10 cm line</a:t>
            </a:r>
            <a:endParaRPr lang="en-US" sz="1700" dirty="0"/>
          </a:p>
        </p:txBody>
      </p:sp>
      <p:sp>
        <p:nvSpPr>
          <p:cNvPr id="6" name="text-1225"/>
          <p:cNvSpPr txBox="1"/>
          <p:nvPr/>
        </p:nvSpPr>
        <p:spPr>
          <a:xfrm>
            <a:off x="548640" y="1920240"/>
            <a:ext cx="5760720" cy="594360"/>
          </a:xfrm>
          <a:prstGeom prst="rect">
            <a:avLst/>
          </a:prstGeom>
          <a:noFill/>
          <a:ln/>
        </p:spPr>
        <p:txBody>
          <a:bodyPr wrap="square" lIns="0" tIns="0" rIns="0" bIns="0" rtlCol="0" anchor="t"/>
          <a:lstStyle/>
          <a:p>
            <a:pPr indent="0" marL="0">
              <a:buNone/>
            </a:pPr>
            <a:r>
              <a:rPr lang="en-US" sz="1400" dirty="0">
                <a:solidFill>
                  <a:schemeClr val="tx2"/>
                </a:solidFill>
              </a:rPr>
              <a:t>Right-click </a:t>
            </a:r>
            <a:pPr indent="0" marL="0">
              <a:buNone/>
            </a:pPr>
            <a:r>
              <a:rPr lang="en-US" sz="1400" b="1" dirty="0">
                <a:solidFill>
                  <a:schemeClr val="tx2"/>
                </a:solidFill>
              </a:rPr>
              <a:t>Geometry 1</a:t>
            </a:r>
            <a:pPr indent="0" marL="0">
              <a:buNone/>
            </a:pPr>
            <a:r>
              <a:rPr lang="en-US" sz="1400" dirty="0">
                <a:solidFill>
                  <a:schemeClr val="tx2"/>
                </a:solidFill>
              </a:rPr>
              <a:t> › </a:t>
            </a:r>
            <a:pPr indent="0" marL="0">
              <a:buNone/>
            </a:pPr>
            <a:r>
              <a:rPr lang="en-US" sz="1400" b="1" dirty="0">
                <a:solidFill>
                  <a:schemeClr val="tx2"/>
                </a:solidFill>
              </a:rPr>
              <a:t>Interval</a:t>
            </a:r>
            <a:pPr indent="0" marL="0">
              <a:buNone/>
            </a:pPr>
            <a:r>
              <a:rPr lang="en-US" sz="1400" dirty="0">
                <a:solidFill>
                  <a:schemeClr val="tx2"/>
                </a:solidFill>
              </a:rPr>
              <a:t> · Left endpoint </a:t>
            </a:r>
            <a:pPr indent="0" marL="0">
              <a:buNone/>
            </a:pPr>
            <a:r>
              <a:rPr lang="en-US" sz="1400" b="1" dirty="0">
                <a:solidFill>
                  <a:schemeClr val="tx2"/>
                </a:solidFill>
              </a:rPr>
              <a:t>0</a:t>
            </a:r>
            <a:pPr indent="0" marL="0">
              <a:buNone/>
            </a:pPr>
            <a:r>
              <a:rPr lang="en-US" sz="1400" dirty="0">
                <a:solidFill>
                  <a:schemeClr val="tx2"/>
                </a:solidFill>
              </a:rPr>
              <a:t> · Right endpoint </a:t>
            </a:r>
            <a:pPr indent="0" marL="0">
              <a:buNone/>
            </a:pPr>
            <a:r>
              <a:rPr lang="en-US" sz="1400" b="1" dirty="0">
                <a:solidFill>
                  <a:schemeClr val="tx2"/>
                </a:solidFill>
              </a:rPr>
              <a:t>0.1</a:t>
            </a:r>
            <a:pPr indent="0" marL="0">
              <a:buNone/>
            </a:pPr>
            <a:r>
              <a:rPr lang="en-US" sz="1400" dirty="0">
                <a:solidFill>
                  <a:schemeClr val="tx2"/>
                </a:solidFill>
              </a:rPr>
              <a:t> · </a:t>
            </a:r>
            <a:pPr indent="0" marL="0">
              <a:buNone/>
            </a:pPr>
            <a:r>
              <a:rPr lang="en-US" sz="1400" b="1" dirty="0">
                <a:solidFill>
                  <a:schemeClr val="tx2"/>
                </a:solidFill>
              </a:rPr>
              <a:t>Build Selected</a:t>
            </a:r>
            <a:pPr indent="0" marL="0">
              <a:buNone/>
            </a:pPr>
            <a:r>
              <a:rPr lang="en-US" sz="1400" dirty="0">
                <a:solidFill>
                  <a:schemeClr val="tx2"/>
                </a:solidFill>
              </a:rPr>
              <a:t> (F8)</a:t>
            </a:r>
            <a:endParaRPr lang="en-US" sz="1400" dirty="0"/>
          </a:p>
        </p:txBody>
      </p:sp>
      <p:sp>
        <p:nvSpPr>
          <p:cNvPr id="7" name="card-1226"/>
          <p:cNvSpPr/>
          <p:nvPr/>
        </p:nvSpPr>
        <p:spPr>
          <a:xfrm>
            <a:off x="548640" y="2606040"/>
            <a:ext cx="5760720" cy="2743200"/>
          </a:xfrm>
          <a:prstGeom prst="roundRect">
            <a:avLst>
              <a:gd name="adj" fmla="val 3333"/>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8" name="img-1227" descr="Interval settings with endpoints 0 and 0.1">    </p:cNvPr>
          <p:cNvPicPr>
            <a:picLocks noChangeAspect="1"/>
          </p:cNvPicPr>
          <p:nvPr/>
        </p:nvPicPr>
        <p:blipFill>
          <a:blip r:embed="rId1"/>
          <a:stretch>
            <a:fillRect/>
          </a:stretch>
        </p:blipFill>
        <p:spPr>
          <a:xfrm>
            <a:off x="1176820" y="2651760"/>
            <a:ext cx="4504359" cy="2651760"/>
          </a:xfrm>
          <a:prstGeom prst="rect">
            <a:avLst/>
          </a:prstGeom>
        </p:spPr>
      </p:pic>
      <p:sp>
        <p:nvSpPr>
          <p:cNvPr id="9" name="note-strip-1228"/>
          <p:cNvSpPr/>
          <p:nvPr/>
        </p:nvSpPr>
        <p:spPr>
          <a:xfrm>
            <a:off x="548640" y="5486400"/>
            <a:ext cx="5760720" cy="566928"/>
          </a:xfrm>
          <a:prstGeom prst="roundRect">
            <a:avLst>
              <a:gd name="adj" fmla="val 16129"/>
            </a:avLst>
          </a:prstGeom>
          <a:solidFill>
            <a:schemeClr val="accent2">
              <a:alpha val="12000"/>
            </a:schemeClr>
          </a:solidFill>
          <a:ln/>
        </p:spPr>
      </p:sp>
      <p:sp>
        <p:nvSpPr>
          <p:cNvPr id="10" name="icon-bg-1229"/>
          <p:cNvSpPr/>
          <p:nvPr/>
        </p:nvSpPr>
        <p:spPr>
          <a:xfrm>
            <a:off x="685800" y="5577840"/>
            <a:ext cx="384048" cy="384048"/>
          </a:xfrm>
          <a:prstGeom prst="ellipse">
            <a:avLst/>
          </a:prstGeom>
          <a:solidFill>
            <a:schemeClr val="accent2"/>
          </a:solidFill>
          <a:ln/>
        </p:spPr>
      </p:sp>
      <p:pic>
        <p:nvPicPr>
          <p:cNvPr id="11" name="icon-1230" descr="preencoded.png">    </p:cNvPr>
          <p:cNvPicPr>
            <a:picLocks noChangeAspect="1"/>
          </p:cNvPicPr>
          <p:nvPr/>
        </p:nvPicPr>
        <p:blipFill>
          <a:blip r:embed="rId2"/>
          <a:stretch>
            <a:fillRect/>
          </a:stretch>
        </p:blipFill>
        <p:spPr>
          <a:xfrm>
            <a:off x="774131" y="5666171"/>
            <a:ext cx="207386" cy="207386"/>
          </a:xfrm>
          <a:prstGeom prst="rect">
            <a:avLst/>
          </a:prstGeom>
        </p:spPr>
      </p:pic>
      <p:sp>
        <p:nvSpPr>
          <p:cNvPr id="12" name="text-1231"/>
          <p:cNvSpPr txBox="1"/>
          <p:nvPr/>
        </p:nvSpPr>
        <p:spPr>
          <a:xfrm>
            <a:off x="1234440" y="5486400"/>
            <a:ext cx="4892040" cy="566928"/>
          </a:xfrm>
          <a:prstGeom prst="rect">
            <a:avLst/>
          </a:prstGeom>
          <a:noFill/>
          <a:ln/>
        </p:spPr>
        <p:txBody>
          <a:bodyPr wrap="square" lIns="0" tIns="0" rIns="0" bIns="0" rtlCol="0" anchor="ctr"/>
          <a:lstStyle/>
          <a:p>
            <a:pPr indent="0" marL="0">
              <a:buNone/>
            </a:pPr>
            <a:r>
              <a:rPr lang="en-US" sz="1450" dirty="0">
                <a:solidFill>
                  <a:schemeClr val="tx1"/>
                </a:solidFill>
              </a:rPr>
              <a:t>Type </a:t>
            </a:r>
            <a:pPr indent="0" marL="0">
              <a:buNone/>
            </a:pPr>
            <a:r>
              <a:rPr lang="en-US" sz="1450" b="1" dirty="0">
                <a:solidFill>
                  <a:schemeClr val="tx1"/>
                </a:solidFill>
              </a:rPr>
              <a:t>0.1</a:t>
            </a:r>
            <a:pPr indent="0" marL="0">
              <a:buNone/>
            </a:pPr>
            <a:r>
              <a:rPr lang="en-US" sz="1450" dirty="0">
                <a:solidFill>
                  <a:schemeClr val="tx1"/>
                </a:solidFill>
              </a:rPr>
              <a:t>, not 10: the length unit is metres.</a:t>
            </a:r>
            <a:endParaRPr lang="en-US" sz="1450" dirty="0"/>
          </a:p>
        </p:txBody>
      </p:sp>
      <p:sp>
        <p:nvSpPr>
          <p:cNvPr id="13" name="badge-1232"/>
          <p:cNvSpPr/>
          <p:nvPr/>
        </p:nvSpPr>
        <p:spPr>
          <a:xfrm>
            <a:off x="6675120" y="14173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4" name="text-1233"/>
          <p:cNvSpPr txBox="1"/>
          <p:nvPr/>
        </p:nvSpPr>
        <p:spPr>
          <a:xfrm>
            <a:off x="7223760" y="1417320"/>
            <a:ext cx="4389120" cy="420624"/>
          </a:xfrm>
          <a:prstGeom prst="rect">
            <a:avLst/>
          </a:prstGeom>
          <a:noFill/>
          <a:ln/>
        </p:spPr>
        <p:txBody>
          <a:bodyPr wrap="square" lIns="0" tIns="0" rIns="0" bIns="0" rtlCol="0" anchor="ctr"/>
          <a:lstStyle/>
          <a:p>
            <a:pPr indent="0" marL="0">
              <a:buNone/>
            </a:pPr>
            <a:r>
              <a:rPr lang="en-US" sz="1700" b="1" dirty="0">
                <a:solidFill>
                  <a:schemeClr val="tx1"/>
                </a:solidFill>
              </a:rPr>
              <a:t>Material: aluminium</a:t>
            </a:r>
            <a:endParaRPr lang="en-US" sz="1700" dirty="0"/>
          </a:p>
        </p:txBody>
      </p:sp>
      <p:sp>
        <p:nvSpPr>
          <p:cNvPr id="15" name="text-1234"/>
          <p:cNvSpPr txBox="1"/>
          <p:nvPr/>
        </p:nvSpPr>
        <p:spPr>
          <a:xfrm>
            <a:off x="6675120" y="1920240"/>
            <a:ext cx="4965192" cy="594360"/>
          </a:xfrm>
          <a:prstGeom prst="rect">
            <a:avLst/>
          </a:prstGeom>
          <a:noFill/>
          <a:ln/>
        </p:spPr>
        <p:txBody>
          <a:bodyPr wrap="square" lIns="0" tIns="0" rIns="0" bIns="0" rtlCol="0" anchor="t"/>
          <a:lstStyle/>
          <a:p>
            <a:pPr indent="0" marL="0">
              <a:buNone/>
            </a:pPr>
            <a:r>
              <a:rPr lang="en-US" sz="1400" dirty="0">
                <a:solidFill>
                  <a:schemeClr val="tx2"/>
                </a:solidFill>
              </a:rPr>
              <a:t>Right-click </a:t>
            </a:r>
            <a:pPr indent="0" marL="0">
              <a:buNone/>
            </a:pPr>
            <a:r>
              <a:rPr lang="en-US" sz="1400" b="1" dirty="0">
                <a:solidFill>
                  <a:schemeClr val="tx2"/>
                </a:solidFill>
              </a:rPr>
              <a:t>Materials</a:t>
            </a:r>
            <a:pPr indent="0" marL="0">
              <a:buNone/>
            </a:pPr>
            <a:r>
              <a:rPr lang="en-US" sz="1400" dirty="0">
                <a:solidFill>
                  <a:schemeClr val="tx2"/>
                </a:solidFill>
              </a:rPr>
              <a:t> › </a:t>
            </a:r>
            <a:pPr indent="0" marL="0">
              <a:buNone/>
            </a:pPr>
            <a:r>
              <a:rPr lang="en-US" sz="1400" b="1" dirty="0">
                <a:solidFill>
                  <a:schemeClr val="tx2"/>
                </a:solidFill>
              </a:rPr>
              <a:t>Material</a:t>
            </a:r>
            <a:pPr indent="0" marL="0">
              <a:buNone/>
            </a:pPr>
            <a:r>
              <a:rPr lang="en-US" sz="1400" dirty="0">
                <a:solidFill>
                  <a:schemeClr val="tx2"/>
                </a:solidFill>
              </a:rPr>
              <a:t> (blank) · Selection: </a:t>
            </a:r>
            <a:pPr indent="0" marL="0">
              <a:buNone/>
            </a:pPr>
            <a:r>
              <a:rPr lang="en-US" sz="1400" b="1" dirty="0">
                <a:solidFill>
                  <a:schemeClr val="tx2"/>
                </a:solidFill>
              </a:rPr>
              <a:t>All domains</a:t>
            </a:r>
            <a:endParaRPr lang="en-US" sz="1400" dirty="0"/>
          </a:p>
        </p:txBody>
      </p:sp>
      <p:sp>
        <p:nvSpPr>
          <p:cNvPr id="16" name="card-1235"/>
          <p:cNvSpPr/>
          <p:nvPr/>
        </p:nvSpPr>
        <p:spPr>
          <a:xfrm>
            <a:off x="6675120" y="2606040"/>
            <a:ext cx="2331720" cy="3154680"/>
          </a:xfrm>
          <a:prstGeom prst="roundRect">
            <a:avLst>
              <a:gd name="adj" fmla="val 392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7" name="img-1236" descr="Material contents with k, rho and Cp">    </p:cNvPr>
          <p:cNvPicPr>
            <a:picLocks noChangeAspect="1"/>
          </p:cNvPicPr>
          <p:nvPr/>
        </p:nvPicPr>
        <p:blipFill>
          <a:blip r:embed="rId3"/>
          <a:stretch>
            <a:fillRect/>
          </a:stretch>
        </p:blipFill>
        <p:spPr>
          <a:xfrm>
            <a:off x="6720840" y="2672888"/>
            <a:ext cx="2240280" cy="3020984"/>
          </a:xfrm>
          <a:prstGeom prst="rect">
            <a:avLst/>
          </a:prstGeom>
        </p:spPr>
      </p:pic>
      <p:sp>
        <p:nvSpPr>
          <p:cNvPr id="18" name="pill-1237"/>
          <p:cNvSpPr/>
          <p:nvPr/>
        </p:nvSpPr>
        <p:spPr>
          <a:xfrm>
            <a:off x="9189720" y="2606040"/>
            <a:ext cx="2450592" cy="438912"/>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k = 237 W/(m·K)</a:t>
            </a:r>
            <a:endParaRPr lang="en-US" sz="1400" dirty="0"/>
          </a:p>
        </p:txBody>
      </p:sp>
      <p:sp>
        <p:nvSpPr>
          <p:cNvPr id="19" name="pill-1238"/>
          <p:cNvSpPr/>
          <p:nvPr/>
        </p:nvSpPr>
        <p:spPr>
          <a:xfrm>
            <a:off x="9189720" y="3154680"/>
            <a:ext cx="2450592" cy="438912"/>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ρ = 2700 kg/m³</a:t>
            </a:r>
            <a:endParaRPr lang="en-US" sz="1400" dirty="0"/>
          </a:p>
        </p:txBody>
      </p:sp>
      <p:sp>
        <p:nvSpPr>
          <p:cNvPr id="20" name="pill-1239"/>
          <p:cNvSpPr/>
          <p:nvPr/>
        </p:nvSpPr>
        <p:spPr>
          <a:xfrm>
            <a:off x="9189720" y="3703320"/>
            <a:ext cx="2450592" cy="438912"/>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C</a:t>
            </a:r>
            <a:pPr algn="ctr" indent="0" marL="0">
              <a:buNone/>
            </a:pPr>
            <a:r>
              <a:rPr lang="en-US" sz="1400" b="1" baseline="-40000" dirty="0">
                <a:solidFill>
                  <a:schemeClr val="tx1"/>
                </a:solidFill>
              </a:rPr>
              <a:t>p</a:t>
            </a:r>
            <a:pPr algn="ctr" indent="0" marL="0">
              <a:buNone/>
            </a:pPr>
            <a:r>
              <a:rPr lang="en-US" sz="1400" b="1" dirty="0">
                <a:solidFill>
                  <a:schemeClr val="tx1"/>
                </a:solidFill>
              </a:rPr>
              <a:t> = 900 J/(kg·K)</a:t>
            </a:r>
            <a:endParaRPr lang="en-US" sz="1400" dirty="0"/>
          </a:p>
        </p:txBody>
      </p:sp>
      <p:sp>
        <p:nvSpPr>
          <p:cNvPr id="21" name="text-1240"/>
          <p:cNvSpPr txBox="1"/>
          <p:nvPr/>
        </p:nvSpPr>
        <p:spPr>
          <a:xfrm>
            <a:off x="9189720" y="4343400"/>
            <a:ext cx="2450592" cy="1371600"/>
          </a:xfrm>
          <a:prstGeom prst="rect">
            <a:avLst/>
          </a:prstGeom>
          <a:noFill/>
          <a:ln/>
        </p:spPr>
        <p:txBody>
          <a:bodyPr wrap="square" lIns="0" tIns="0" rIns="0" bIns="0" rtlCol="0" anchor="t"/>
          <a:lstStyle/>
          <a:p>
            <a:pPr indent="0" marL="0">
              <a:buNone/>
            </a:pPr>
            <a:r>
              <a:rPr lang="en-US" sz="1350" dirty="0">
                <a:solidFill>
                  <a:schemeClr val="tx2"/>
                </a:solidFill>
              </a:rPr>
              <a:t>Only </a:t>
            </a:r>
            <a:pPr indent="0" marL="0">
              <a:buNone/>
            </a:pPr>
            <a:r>
              <a:rPr lang="en-US" sz="1350" b="1" dirty="0">
                <a:solidFill>
                  <a:schemeClr val="tx2"/>
                </a:solidFill>
              </a:rPr>
              <a:t>k</a:t>
            </a:r>
            <a:pPr indent="0" marL="0">
              <a:buNone/>
            </a:pPr>
            <a:r>
              <a:rPr lang="en-US" sz="1350" dirty="0">
                <a:solidFill>
                  <a:schemeClr val="tx2"/>
                </a:solidFill>
              </a:rPr>
              <a:t> matters for the steady state. COMSOL needs ρ and C</a:t>
            </a:r>
            <a:pPr indent="0" marL="0">
              <a:buNone/>
            </a:pPr>
            <a:r>
              <a:rPr lang="en-US" sz="1350" baseline="-40000" dirty="0">
                <a:solidFill>
                  <a:schemeClr val="tx2"/>
                </a:solidFill>
              </a:rPr>
              <a:t>p</a:t>
            </a:r>
            <a:pPr indent="0" marL="0">
              <a:buNone/>
            </a:pPr>
            <a:r>
              <a:rPr lang="en-US" sz="1350" dirty="0">
                <a:solidFill>
                  <a:schemeClr val="tx2"/>
                </a:solidFill>
              </a:rPr>
              <a:t> for a complete material.</a:t>
            </a:r>
            <a:endParaRPr lang="en-US" sz="13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124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 7</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Boundary condition: the base at 100 °C</a:t>
            </a:r>
            <a:endParaRPr lang="en-US" sz="3200" dirty="0"/>
          </a:p>
        </p:txBody>
      </p:sp>
      <p:sp>
        <p:nvSpPr>
          <p:cNvPr id="4" name="card-1242"/>
          <p:cNvSpPr/>
          <p:nvPr/>
        </p:nvSpPr>
        <p:spPr>
          <a:xfrm>
            <a:off x="548640" y="1371600"/>
            <a:ext cx="6766560" cy="3931920"/>
          </a:xfrm>
          <a:prstGeom prst="roundRect">
            <a:avLst>
              <a:gd name="adj" fmla="val 232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243" descr="Temperature boundary condition at Point 1 with T0 = 373.15[K]">    </p:cNvPr>
          <p:cNvPicPr>
            <a:picLocks noChangeAspect="1"/>
          </p:cNvPicPr>
          <p:nvPr/>
        </p:nvPicPr>
        <p:blipFill>
          <a:blip r:embed="rId1"/>
          <a:stretch>
            <a:fillRect/>
          </a:stretch>
        </p:blipFill>
        <p:spPr>
          <a:xfrm>
            <a:off x="640080" y="1474736"/>
            <a:ext cx="6583680" cy="3725648"/>
          </a:xfrm>
          <a:prstGeom prst="rect">
            <a:avLst/>
          </a:prstGeom>
        </p:spPr>
      </p:pic>
      <p:sp>
        <p:nvSpPr>
          <p:cNvPr id="6" name="badge-1244"/>
          <p:cNvSpPr/>
          <p:nvPr/>
        </p:nvSpPr>
        <p:spPr>
          <a:xfrm>
            <a:off x="7589520" y="1527048"/>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1245"/>
          <p:cNvSpPr txBox="1"/>
          <p:nvPr/>
        </p:nvSpPr>
        <p:spPr>
          <a:xfrm>
            <a:off x="8138160" y="1417320"/>
            <a:ext cx="3502152" cy="640080"/>
          </a:xfrm>
          <a:prstGeom prst="rect">
            <a:avLst/>
          </a:prstGeom>
          <a:noFill/>
          <a:ln/>
        </p:spPr>
        <p:txBody>
          <a:bodyPr wrap="square" lIns="0" tIns="0" rIns="0" bIns="0" rtlCol="0" anchor="ctr"/>
          <a:lstStyle/>
          <a:p>
            <a:pPr indent="0" marL="0">
              <a:buNone/>
            </a:pPr>
            <a:r>
              <a:rPr lang="en-US" sz="1500" dirty="0">
                <a:solidFill>
                  <a:schemeClr val="tx1"/>
                </a:solidFill>
              </a:rPr>
              <a:t>Right-click </a:t>
            </a:r>
            <a:pPr indent="0" marL="0">
              <a:buNone/>
            </a:pPr>
            <a:r>
              <a:rPr lang="en-US" sz="1500" b="1" dirty="0">
                <a:solidFill>
                  <a:schemeClr val="tx1"/>
                </a:solidFill>
              </a:rPr>
              <a:t>Heat Transfer in Solids</a:t>
            </a:r>
            <a:pPr indent="0" marL="0">
              <a:buNone/>
            </a:pPr>
            <a:r>
              <a:rPr lang="en-US" sz="1500" dirty="0">
                <a:solidFill>
                  <a:schemeClr val="tx1"/>
                </a:solidFill>
              </a:rPr>
              <a:t> › </a:t>
            </a:r>
            <a:pPr indent="0" marL="0">
              <a:buNone/>
            </a:pPr>
            <a:r>
              <a:rPr lang="en-US" sz="1500" b="1" dirty="0">
                <a:solidFill>
                  <a:schemeClr val="tx1"/>
                </a:solidFill>
              </a:rPr>
              <a:t>Temperature</a:t>
            </a:r>
            <a:endParaRPr lang="en-US" sz="1500" dirty="0"/>
          </a:p>
        </p:txBody>
      </p:sp>
      <p:sp>
        <p:nvSpPr>
          <p:cNvPr id="8" name="badge-1246"/>
          <p:cNvSpPr/>
          <p:nvPr/>
        </p:nvSpPr>
        <p:spPr>
          <a:xfrm>
            <a:off x="7589520" y="2368296"/>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1247"/>
          <p:cNvSpPr txBox="1"/>
          <p:nvPr/>
        </p:nvSpPr>
        <p:spPr>
          <a:xfrm>
            <a:off x="8138160" y="2258568"/>
            <a:ext cx="3502152" cy="640080"/>
          </a:xfrm>
          <a:prstGeom prst="rect">
            <a:avLst/>
          </a:prstGeom>
          <a:noFill/>
          <a:ln/>
        </p:spPr>
        <p:txBody>
          <a:bodyPr wrap="square" lIns="0" tIns="0" rIns="0" bIns="0" rtlCol="0" anchor="ctr"/>
          <a:lstStyle/>
          <a:p>
            <a:pPr indent="0" marL="0">
              <a:buNone/>
            </a:pPr>
            <a:r>
              <a:rPr lang="en-US" sz="1500" dirty="0">
                <a:solidFill>
                  <a:schemeClr val="tx1"/>
                </a:solidFill>
              </a:rPr>
              <a:t>Select </a:t>
            </a:r>
            <a:pPr indent="0" marL="0">
              <a:buNone/>
            </a:pPr>
            <a:r>
              <a:rPr lang="en-US" sz="1500" b="1" dirty="0">
                <a:solidFill>
                  <a:schemeClr val="tx1"/>
                </a:solidFill>
              </a:rPr>
              <a:t>Point 1</a:t>
            </a:r>
            <a:pPr indent="0" marL="0">
              <a:buNone/>
            </a:pPr>
            <a:r>
              <a:rPr lang="en-US" sz="1500" dirty="0">
                <a:solidFill>
                  <a:schemeClr val="tx1"/>
                </a:solidFill>
              </a:rPr>
              <a:t>: hover until red → click → </a:t>
            </a:r>
            <a:pPr indent="0" marL="0">
              <a:buNone/>
            </a:pPr>
            <a:r>
              <a:rPr lang="en-US" sz="1500" b="1" dirty="0">
                <a:solidFill>
                  <a:schemeClr val="tx1"/>
                </a:solidFill>
              </a:rPr>
              <a:t>+</a:t>
            </a:r>
            <a:endParaRPr lang="en-US" sz="1500" dirty="0"/>
          </a:p>
        </p:txBody>
      </p:sp>
      <p:sp>
        <p:nvSpPr>
          <p:cNvPr id="10" name="badge-1248"/>
          <p:cNvSpPr/>
          <p:nvPr/>
        </p:nvSpPr>
        <p:spPr>
          <a:xfrm>
            <a:off x="7589520" y="3209544"/>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1249"/>
          <p:cNvSpPr txBox="1"/>
          <p:nvPr/>
        </p:nvSpPr>
        <p:spPr>
          <a:xfrm>
            <a:off x="8138160" y="3099816"/>
            <a:ext cx="3502152" cy="640080"/>
          </a:xfrm>
          <a:prstGeom prst="rect">
            <a:avLst/>
          </a:prstGeom>
          <a:noFill/>
          <a:ln/>
        </p:spPr>
        <p:txBody>
          <a:bodyPr wrap="square" lIns="0" tIns="0" rIns="0" bIns="0" rtlCol="0" anchor="ctr"/>
          <a:lstStyle/>
          <a:p>
            <a:pPr indent="0" marL="0">
              <a:buNone/>
            </a:pPr>
            <a:r>
              <a:rPr lang="en-US" sz="1500" dirty="0">
                <a:solidFill>
                  <a:schemeClr val="tx1"/>
                </a:solidFill>
              </a:rPr>
              <a:t>T</a:t>
            </a:r>
            <a:pPr indent="0" marL="0">
              <a:buNone/>
            </a:pPr>
            <a:r>
              <a:rPr lang="en-US" sz="1500" baseline="-40000" dirty="0">
                <a:solidFill>
                  <a:schemeClr val="tx1"/>
                </a:solidFill>
              </a:rPr>
              <a:t>0</a:t>
            </a:r>
            <a:pPr indent="0" marL="0">
              <a:buNone/>
            </a:pPr>
            <a:r>
              <a:rPr lang="en-US" sz="1500" dirty="0">
                <a:solidFill>
                  <a:schemeClr val="tx1"/>
                </a:solidFill>
              </a:rPr>
              <a:t> = </a:t>
            </a:r>
            <a:pPr indent="0" marL="0">
              <a:buNone/>
            </a:pPr>
            <a:r>
              <a:rPr lang="en-US" sz="1500" b="1" dirty="0">
                <a:solidFill>
                  <a:schemeClr val="tx1"/>
                </a:solidFill>
              </a:rPr>
              <a:t>373.15[K]</a:t>
            </a:r>
            <a:endParaRPr lang="en-US" sz="1500" dirty="0"/>
          </a:p>
        </p:txBody>
      </p:sp>
      <p:sp>
        <p:nvSpPr>
          <p:cNvPr id="12" name="pill-1250"/>
          <p:cNvSpPr/>
          <p:nvPr/>
        </p:nvSpPr>
        <p:spPr>
          <a:xfrm>
            <a:off x="7589520" y="4023360"/>
            <a:ext cx="4050792" cy="685800"/>
          </a:xfrm>
          <a:prstGeom prst="roundRect">
            <a:avLst>
              <a:gd name="adj" fmla="val 50000"/>
            </a:avLst>
          </a:prstGeom>
          <a:solidFill>
            <a:schemeClr val="tx1"/>
          </a:solidFill>
          <a:ln/>
        </p:spPr>
        <p:txBody>
          <a:bodyPr wrap="square" lIns="0" tIns="0" rIns="0" bIns="0" rtlCol="0" anchor="ctr"/>
          <a:lstStyle/>
          <a:p>
            <a:pPr algn="ctr" indent="0" marL="0">
              <a:buNone/>
            </a:pPr>
            <a:r>
              <a:rPr lang="en-US" sz="2200" b="1" dirty="0">
                <a:solidFill>
                  <a:schemeClr val="bg1"/>
                </a:solidFill>
              </a:rPr>
              <a:t>100 °C = 373.15 K</a:t>
            </a:r>
            <a:endParaRPr lang="en-US" sz="2200" dirty="0"/>
          </a:p>
        </p:txBody>
      </p:sp>
      <p:sp>
        <p:nvSpPr>
          <p:cNvPr id="13" name="text-1251"/>
          <p:cNvSpPr txBox="1"/>
          <p:nvPr/>
        </p:nvSpPr>
        <p:spPr>
          <a:xfrm>
            <a:off x="7589520" y="4892040"/>
            <a:ext cx="4050792" cy="914400"/>
          </a:xfrm>
          <a:prstGeom prst="rect">
            <a:avLst/>
          </a:prstGeom>
          <a:noFill/>
          <a:ln/>
        </p:spPr>
        <p:txBody>
          <a:bodyPr wrap="square" lIns="0" tIns="0" rIns="0" bIns="0" rtlCol="0" anchor="t"/>
          <a:lstStyle/>
          <a:p>
            <a:pPr indent="0" marL="0">
              <a:buNone/>
            </a:pPr>
            <a:r>
              <a:rPr lang="en-US" sz="1400" b="1" dirty="0">
                <a:solidFill>
                  <a:schemeClr val="tx2"/>
                </a:solidFill>
              </a:rPr>
              <a:t>Why?</a:t>
            </a:r>
            <a:pPr indent="0" marL="0">
              <a:buNone/>
            </a:pPr>
            <a:r>
              <a:rPr lang="en-US" sz="1400" dirty="0">
                <a:solidFill>
                  <a:schemeClr val="tx2"/>
                </a:solidFill>
              </a:rPr>
              <a:t> A Dirichlet condition T(0) = T</a:t>
            </a:r>
            <a:pPr indent="0" marL="0">
              <a:buNone/>
            </a:pPr>
            <a:r>
              <a:rPr lang="en-US" sz="1400" baseline="-40000" dirty="0">
                <a:solidFill>
                  <a:schemeClr val="tx2"/>
                </a:solidFill>
              </a:rPr>
              <a:t>b</a:t>
            </a:r>
            <a:pPr indent="0" marL="0">
              <a:buNone/>
            </a:pPr>
            <a:r>
              <a:rPr lang="en-US" sz="1400" dirty="0">
                <a:solidFill>
                  <a:schemeClr val="tx2"/>
                </a:solidFill>
              </a:rPr>
              <a:t>. Thermal Insulation stays on Point 2: the insulated tip.</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1252"/>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 8</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Convection as a heat sink</a:t>
            </a:r>
            <a:endParaRPr lang="en-US" sz="3200" dirty="0"/>
          </a:p>
        </p:txBody>
      </p:sp>
      <p:sp>
        <p:nvSpPr>
          <p:cNvPr id="4" name="card-1253"/>
          <p:cNvSpPr/>
          <p:nvPr/>
        </p:nvSpPr>
        <p:spPr>
          <a:xfrm>
            <a:off x="548640" y="1371600"/>
            <a:ext cx="5440680" cy="4114800"/>
          </a:xfrm>
          <a:prstGeom prst="roundRect">
            <a:avLst>
              <a:gd name="adj" fmla="val 222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254" descr="Heat Source settings with Q = -25*4/0.005*(T-303.15)">    </p:cNvPr>
          <p:cNvPicPr>
            <a:picLocks noChangeAspect="1"/>
          </p:cNvPicPr>
          <p:nvPr/>
        </p:nvPicPr>
        <p:blipFill>
          <a:blip r:embed="rId1"/>
          <a:stretch>
            <a:fillRect/>
          </a:stretch>
        </p:blipFill>
        <p:spPr>
          <a:xfrm>
            <a:off x="640080" y="1468855"/>
            <a:ext cx="5257800" cy="3920289"/>
          </a:xfrm>
          <a:prstGeom prst="rect">
            <a:avLst/>
          </a:prstGeom>
        </p:spPr>
      </p:pic>
      <p:sp>
        <p:nvSpPr>
          <p:cNvPr id="6" name="text-1255"/>
          <p:cNvSpPr txBox="1"/>
          <p:nvPr/>
        </p:nvSpPr>
        <p:spPr>
          <a:xfrm>
            <a:off x="6309360" y="1371600"/>
            <a:ext cx="5330952" cy="685800"/>
          </a:xfrm>
          <a:prstGeom prst="rect">
            <a:avLst/>
          </a:prstGeom>
          <a:noFill/>
          <a:ln/>
        </p:spPr>
        <p:txBody>
          <a:bodyPr wrap="square" lIns="0" tIns="0" rIns="0" bIns="0" rtlCol="0" anchor="t"/>
          <a:lstStyle/>
          <a:p>
            <a:pPr indent="0" marL="0">
              <a:buNone/>
            </a:pPr>
            <a:r>
              <a:rPr lang="en-US" sz="1500" dirty="0">
                <a:solidFill>
                  <a:schemeClr val="tx1"/>
                </a:solidFill>
              </a:rPr>
              <a:t>A 1D model has no side surface, so we add the convective loss as a </a:t>
            </a:r>
            <a:pPr indent="0" marL="0">
              <a:buNone/>
            </a:pPr>
            <a:r>
              <a:rPr lang="en-US" sz="1500" b="1" dirty="0">
                <a:solidFill>
                  <a:schemeClr val="tx1"/>
                </a:solidFill>
              </a:rPr>
              <a:t>volumetric heat sink</a:t>
            </a:r>
            <a:pPr indent="0" marL="0">
              <a:buNone/>
            </a:pPr>
            <a:r>
              <a:rPr lang="en-US" sz="1500" dirty="0">
                <a:solidFill>
                  <a:schemeClr val="tx1"/>
                </a:solidFill>
              </a:rPr>
              <a:t> along the fin.</a:t>
            </a:r>
            <a:endParaRPr lang="en-US" sz="1500" dirty="0"/>
          </a:p>
        </p:txBody>
      </p:sp>
      <p:sp>
        <p:nvSpPr>
          <p:cNvPr id="7" name="text-1256"/>
          <p:cNvSpPr txBox="1"/>
          <p:nvPr/>
        </p:nvSpPr>
        <p:spPr>
          <a:xfrm>
            <a:off x="6309360" y="2148840"/>
            <a:ext cx="530352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WHAT COMSOL SOLVES</a:t>
            </a:r>
            <a:endParaRPr lang="en-US" sz="1150" dirty="0"/>
          </a:p>
        </p:txBody>
      </p:sp>
      <p:pic>
        <p:nvPicPr>
          <p:cNvPr id="8" name="eq-1257" descr="c_ht">    </p:cNvPr>
          <p:cNvPicPr>
            <a:picLocks noChangeAspect="1"/>
          </p:cNvPicPr>
          <p:nvPr/>
        </p:nvPicPr>
        <p:blipFill>
          <a:blip r:embed="rId2"/>
          <a:stretch>
            <a:fillRect/>
          </a:stretch>
        </p:blipFill>
        <p:spPr>
          <a:xfrm>
            <a:off x="6309360" y="2485644"/>
            <a:ext cx="1938528" cy="469392"/>
          </a:xfrm>
          <a:prstGeom prst="rect">
            <a:avLst/>
          </a:prstGeom>
        </p:spPr>
      </p:pic>
      <p:sp>
        <p:nvSpPr>
          <p:cNvPr id="9" name="text-1258"/>
          <p:cNvSpPr txBox="1"/>
          <p:nvPr/>
        </p:nvSpPr>
        <p:spPr>
          <a:xfrm>
            <a:off x="6309360" y="3108960"/>
            <a:ext cx="530352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THE SOURCE: LOSS PER UNIT VOLUME (P/A = 4/d)</a:t>
            </a:r>
            <a:endParaRPr lang="en-US" sz="1150" dirty="0"/>
          </a:p>
        </p:txBody>
      </p:sp>
      <p:pic>
        <p:nvPicPr>
          <p:cNvPr id="10" name="eq-1259" descr="c_q">    </p:cNvPr>
          <p:cNvPicPr>
            <a:picLocks noChangeAspect="1"/>
          </p:cNvPicPr>
          <p:nvPr/>
        </p:nvPicPr>
        <p:blipFill>
          <a:blip r:embed="rId3"/>
          <a:stretch>
            <a:fillRect/>
          </a:stretch>
        </p:blipFill>
        <p:spPr>
          <a:xfrm>
            <a:off x="6309360" y="3461004"/>
            <a:ext cx="4474464" cy="438912"/>
          </a:xfrm>
          <a:prstGeom prst="rect">
            <a:avLst/>
          </a:prstGeom>
        </p:spPr>
      </p:pic>
      <p:sp>
        <p:nvSpPr>
          <p:cNvPr id="11" name="text-1260"/>
          <p:cNvSpPr txBox="1"/>
          <p:nvPr/>
        </p:nvSpPr>
        <p:spPr>
          <a:xfrm>
            <a:off x="6309360" y="4114800"/>
            <a:ext cx="530352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TYPE IN THE Q FIELD (UNIT W/m³)</a:t>
            </a:r>
            <a:endParaRPr lang="en-US" sz="1150" dirty="0"/>
          </a:p>
        </p:txBody>
      </p:sp>
      <p:sp>
        <p:nvSpPr>
          <p:cNvPr id="12" name="code-1261"/>
          <p:cNvSpPr/>
          <p:nvPr/>
        </p:nvSpPr>
        <p:spPr>
          <a:xfrm>
            <a:off x="6309360" y="4407408"/>
            <a:ext cx="5330952" cy="548640"/>
          </a:xfrm>
          <a:prstGeom prst="roundRect">
            <a:avLst>
              <a:gd name="adj" fmla="val 10000"/>
            </a:avLst>
          </a:prstGeom>
          <a:solidFill>
            <a:schemeClr val="tx1"/>
          </a:solidFill>
          <a:ln/>
        </p:spPr>
        <p:txBody>
          <a:bodyPr wrap="square" lIns="0" tIns="1524" rIns="1524" bIns="0" rtlCol="0" anchor="ctr"/>
          <a:lstStyle/>
          <a:p>
            <a:pPr algn="ctr" indent="0" marL="0">
              <a:buNone/>
            </a:pPr>
            <a:r>
              <a:rPr lang="en-US" sz="1800" dirty="0">
                <a:solidFill>
                  <a:schemeClr val="bg1"/>
                </a:solidFill>
                <a:latin typeface="Courier New" pitchFamily="34" charset="0"/>
                <a:ea typeface="Courier New" pitchFamily="34" charset="-122"/>
                <a:cs typeface="Courier New" pitchFamily="34" charset="-120"/>
              </a:rPr>
              <a:t>-25*4/0.005*(T-303.15)</a:t>
            </a:r>
            <a:endParaRPr lang="en-US" sz="1800" dirty="0"/>
          </a:p>
        </p:txBody>
      </p:sp>
      <p:sp>
        <p:nvSpPr>
          <p:cNvPr id="13" name="text-1262"/>
          <p:cNvSpPr txBox="1"/>
          <p:nvPr/>
        </p:nvSpPr>
        <p:spPr>
          <a:xfrm>
            <a:off x="6309360" y="5074920"/>
            <a:ext cx="5330952" cy="685800"/>
          </a:xfrm>
          <a:prstGeom prst="rect">
            <a:avLst/>
          </a:prstGeom>
          <a:noFill/>
          <a:ln/>
        </p:spPr>
        <p:txBody>
          <a:bodyPr wrap="square" lIns="0" tIns="0" rIns="0" bIns="0" rtlCol="0" anchor="t"/>
          <a:lstStyle/>
          <a:p>
            <a:pPr indent="0" marL="0">
              <a:buNone/>
            </a:pPr>
            <a:r>
              <a:rPr lang="en-US" sz="1400" dirty="0">
                <a:solidFill>
                  <a:schemeClr val="tx2"/>
                </a:solidFill>
              </a:rPr>
              <a:t>The minus sign makes it a </a:t>
            </a:r>
            <a:pPr indent="0" marL="0">
              <a:buNone/>
            </a:pPr>
            <a:r>
              <a:rPr lang="en-US" sz="1400" b="1" dirty="0">
                <a:solidFill>
                  <a:schemeClr val="tx2"/>
                </a:solidFill>
              </a:rPr>
              <a:t>sink</a:t>
            </a:r>
            <a:pPr indent="0" marL="0">
              <a:buNone/>
            </a:pPr>
            <a:r>
              <a:rPr lang="en-US" sz="1400" dirty="0">
                <a:solidFill>
                  <a:schemeClr val="tx2"/>
                </a:solidFill>
              </a:rPr>
              <a:t>: heat leaves the fin. 303.15 K = T</a:t>
            </a:r>
            <a:pPr indent="0" marL="0">
              <a:buNone/>
            </a:pPr>
            <a:r>
              <a:rPr lang="en-US" sz="1400" baseline="-40000" dirty="0">
                <a:solidFill>
                  <a:schemeClr val="tx2"/>
                </a:solidFill>
              </a:rPr>
              <a:t>∞</a:t>
            </a:r>
            <a:pPr indent="0" marL="0">
              <a:buNone/>
            </a:pPr>
            <a:r>
              <a:rPr lang="en-US" sz="1400" dirty="0">
                <a:solidFill>
                  <a:schemeClr val="tx2"/>
                </a:solidFill>
              </a:rPr>
              <a:t> = 30 °C.</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1263"/>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 9</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Mesh: 100 elements along the fin</a:t>
            </a:r>
            <a:endParaRPr lang="en-US" sz="3200" dirty="0"/>
          </a:p>
        </p:txBody>
      </p:sp>
      <p:sp>
        <p:nvSpPr>
          <p:cNvPr id="4" name="card-1264"/>
          <p:cNvSpPr/>
          <p:nvPr/>
        </p:nvSpPr>
        <p:spPr>
          <a:xfrm>
            <a:off x="548640" y="1371600"/>
            <a:ext cx="5486400" cy="3154680"/>
          </a:xfrm>
          <a:prstGeom prst="roundRect">
            <a:avLst>
              <a:gd name="adj" fmla="val 289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265" descr="Mesh settings, element size Extremely fine">    </p:cNvPr>
          <p:cNvPicPr>
            <a:picLocks noChangeAspect="1"/>
          </p:cNvPicPr>
          <p:nvPr/>
        </p:nvPicPr>
        <p:blipFill>
          <a:blip r:embed="rId1"/>
          <a:stretch>
            <a:fillRect/>
          </a:stretch>
        </p:blipFill>
        <p:spPr>
          <a:xfrm>
            <a:off x="640080" y="1530016"/>
            <a:ext cx="5303520" cy="2837848"/>
          </a:xfrm>
          <a:prstGeom prst="rect">
            <a:avLst/>
          </a:prstGeom>
        </p:spPr>
      </p:pic>
      <p:sp>
        <p:nvSpPr>
          <p:cNvPr id="6" name="card-1266"/>
          <p:cNvSpPr/>
          <p:nvPr/>
        </p:nvSpPr>
        <p:spPr>
          <a:xfrm>
            <a:off x="6153912" y="1371600"/>
            <a:ext cx="5486400" cy="3154680"/>
          </a:xfrm>
          <a:prstGeom prst="roundRect">
            <a:avLst>
              <a:gd name="adj" fmla="val 289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7" name="img-1267" descr="Mesh of 100 elements and the Messages window">    </p:cNvPr>
          <p:cNvPicPr>
            <a:picLocks noChangeAspect="1"/>
          </p:cNvPicPr>
          <p:nvPr/>
        </p:nvPicPr>
        <p:blipFill>
          <a:blip r:embed="rId2"/>
          <a:stretch>
            <a:fillRect/>
          </a:stretch>
        </p:blipFill>
        <p:spPr>
          <a:xfrm>
            <a:off x="6245352" y="1491929"/>
            <a:ext cx="5303520" cy="2914022"/>
          </a:xfrm>
          <a:prstGeom prst="rect">
            <a:avLst/>
          </a:prstGeom>
        </p:spPr>
      </p:pic>
      <p:sp>
        <p:nvSpPr>
          <p:cNvPr id="8" name="text-1268"/>
          <p:cNvSpPr txBox="1"/>
          <p:nvPr/>
        </p:nvSpPr>
        <p:spPr>
          <a:xfrm>
            <a:off x="548640" y="4617720"/>
            <a:ext cx="5486400" cy="548640"/>
          </a:xfrm>
          <a:prstGeom prst="rect">
            <a:avLst/>
          </a:prstGeom>
          <a:noFill/>
          <a:ln/>
        </p:spPr>
        <p:txBody>
          <a:bodyPr wrap="square" lIns="0" tIns="0" rIns="0" bIns="0" rtlCol="0" anchor="t"/>
          <a:lstStyle/>
          <a:p>
            <a:pPr indent="0" marL="0">
              <a:buNone/>
            </a:pPr>
            <a:r>
              <a:rPr lang="en-US" sz="1450" b="1" dirty="0">
                <a:solidFill>
                  <a:schemeClr val="tx1"/>
                </a:solidFill>
              </a:rPr>
              <a:t>Mesh 1</a:t>
            </a:r>
            <a:pPr indent="0" marL="0">
              <a:buNone/>
            </a:pPr>
            <a:r>
              <a:rPr lang="en-US" sz="1450" dirty="0">
                <a:solidFill>
                  <a:schemeClr val="tx1"/>
                </a:solidFill>
              </a:rPr>
              <a:t> › Element size: </a:t>
            </a:r>
            <a:pPr indent="0" marL="0">
              <a:buNone/>
            </a:pPr>
            <a:r>
              <a:rPr lang="en-US" sz="1450" b="1" dirty="0">
                <a:solidFill>
                  <a:schemeClr val="tx1"/>
                </a:solidFill>
              </a:rPr>
              <a:t>Extremely fine</a:t>
            </a:r>
            <a:pPr indent="0" marL="0">
              <a:buNone/>
            </a:pPr>
            <a:r>
              <a:rPr lang="en-US" sz="1450" dirty="0">
                <a:solidFill>
                  <a:schemeClr val="tx1"/>
                </a:solidFill>
              </a:rPr>
              <a:t> › </a:t>
            </a:r>
            <a:pPr indent="0" marL="0">
              <a:buNone/>
            </a:pPr>
            <a:r>
              <a:rPr lang="en-US" sz="1450" b="1" dirty="0">
                <a:solidFill>
                  <a:schemeClr val="tx1"/>
                </a:solidFill>
              </a:rPr>
              <a:t>Build All</a:t>
            </a:r>
            <a:pPr indent="0" marL="0">
              <a:buNone/>
            </a:pPr>
            <a:r>
              <a:rPr lang="en-US" sz="1450" dirty="0">
                <a:solidFill>
                  <a:schemeClr val="tx1"/>
                </a:solidFill>
              </a:rPr>
              <a:t> (F8)</a:t>
            </a:r>
            <a:endParaRPr lang="en-US" sz="1450" dirty="0"/>
          </a:p>
        </p:txBody>
      </p:sp>
      <p:sp>
        <p:nvSpPr>
          <p:cNvPr id="9" name="text-1269"/>
          <p:cNvSpPr txBox="1"/>
          <p:nvPr/>
        </p:nvSpPr>
        <p:spPr>
          <a:xfrm>
            <a:off x="6153912" y="4617720"/>
            <a:ext cx="5486400" cy="548640"/>
          </a:xfrm>
          <a:prstGeom prst="rect">
            <a:avLst/>
          </a:prstGeom>
          <a:noFill/>
          <a:ln/>
        </p:spPr>
        <p:txBody>
          <a:bodyPr wrap="square" lIns="0" tIns="0" rIns="0" bIns="0" rtlCol="0" anchor="t"/>
          <a:lstStyle/>
          <a:p>
            <a:pPr indent="0" marL="0">
              <a:buNone/>
            </a:pPr>
            <a:r>
              <a:rPr lang="en-US" sz="1450" dirty="0">
                <a:solidFill>
                  <a:schemeClr val="tx1"/>
                </a:solidFill>
              </a:rPr>
              <a:t>Messages: </a:t>
            </a:r>
            <a:pPr indent="0" marL="0">
              <a:buNone/>
            </a:pPr>
            <a:r>
              <a:rPr lang="en-US" sz="1450" b="1" dirty="0">
                <a:solidFill>
                  <a:schemeClr val="tx1"/>
                </a:solidFill>
              </a:rPr>
              <a:t>Complete mesh consists of 100 elements</a:t>
            </a:r>
            <a:pPr indent="0" marL="0">
              <a:buNone/>
            </a:pPr>
            <a:r>
              <a:rPr lang="en-US" sz="1450" dirty="0">
                <a:solidFill>
                  <a:schemeClr val="tx1"/>
                </a:solidFill>
              </a:rPr>
              <a:t> (Δx = 1 mm)</a:t>
            </a:r>
            <a:endParaRPr lang="en-US" sz="1450" dirty="0"/>
          </a:p>
        </p:txBody>
      </p:sp>
      <p:sp>
        <p:nvSpPr>
          <p:cNvPr id="10" name="note-strip-1270"/>
          <p:cNvSpPr/>
          <p:nvPr/>
        </p:nvSpPr>
        <p:spPr>
          <a:xfrm>
            <a:off x="548640" y="5349240"/>
            <a:ext cx="11094415" cy="685800"/>
          </a:xfrm>
          <a:prstGeom prst="roundRect">
            <a:avLst>
              <a:gd name="adj" fmla="val 13333"/>
            </a:avLst>
          </a:prstGeom>
          <a:solidFill>
            <a:schemeClr val="accent1">
              <a:alpha val="12000"/>
            </a:schemeClr>
          </a:solidFill>
          <a:ln/>
        </p:spPr>
      </p:sp>
      <p:sp>
        <p:nvSpPr>
          <p:cNvPr id="11" name="icon-bg-1271"/>
          <p:cNvSpPr/>
          <p:nvPr/>
        </p:nvSpPr>
        <p:spPr>
          <a:xfrm>
            <a:off x="685800" y="5500116"/>
            <a:ext cx="384048" cy="384048"/>
          </a:xfrm>
          <a:prstGeom prst="ellipse">
            <a:avLst/>
          </a:prstGeom>
          <a:solidFill>
            <a:schemeClr val="accent1"/>
          </a:solidFill>
          <a:ln/>
        </p:spPr>
      </p:sp>
      <p:pic>
        <p:nvPicPr>
          <p:cNvPr id="12" name="icon-1272" descr="preencoded.png">    </p:cNvPr>
          <p:cNvPicPr>
            <a:picLocks noChangeAspect="1"/>
          </p:cNvPicPr>
          <p:nvPr/>
        </p:nvPicPr>
        <p:blipFill>
          <a:blip r:embed="rId3"/>
          <a:stretch>
            <a:fillRect/>
          </a:stretch>
        </p:blipFill>
        <p:spPr>
          <a:xfrm>
            <a:off x="774131" y="5588447"/>
            <a:ext cx="207386" cy="207386"/>
          </a:xfrm>
          <a:prstGeom prst="rect">
            <a:avLst/>
          </a:prstGeom>
        </p:spPr>
      </p:pic>
      <p:sp>
        <p:nvSpPr>
          <p:cNvPr id="13" name="text-1273"/>
          <p:cNvSpPr txBox="1"/>
          <p:nvPr/>
        </p:nvSpPr>
        <p:spPr>
          <a:xfrm>
            <a:off x="1234440" y="5349240"/>
            <a:ext cx="10225735" cy="685800"/>
          </a:xfrm>
          <a:prstGeom prst="rect">
            <a:avLst/>
          </a:prstGeom>
          <a:noFill/>
          <a:ln/>
        </p:spPr>
        <p:txBody>
          <a:bodyPr wrap="square" lIns="0" tIns="0" rIns="0" bIns="0" rtlCol="0" anchor="ctr"/>
          <a:lstStyle/>
          <a:p>
            <a:pPr indent="0" marL="0">
              <a:buNone/>
            </a:pPr>
            <a:r>
              <a:rPr lang="en-US" sz="1500" dirty="0">
                <a:solidFill>
                  <a:schemeClr val="tx1"/>
                </a:solidFill>
              </a:rPr>
              <a:t>The FEM mesh plays the role of our FDM grid. Later, try </a:t>
            </a:r>
            <a:pPr indent="0" marL="0">
              <a:buNone/>
            </a:pPr>
            <a:r>
              <a:rPr lang="en-US" sz="1500" b="1" dirty="0">
                <a:solidFill>
                  <a:schemeClr val="tx1"/>
                </a:solidFill>
              </a:rPr>
              <a:t>Normal</a:t>
            </a:r>
            <a:pPr indent="0" marL="0">
              <a:buNone/>
            </a:pPr>
            <a:r>
              <a:rPr lang="en-US" sz="1500" dirty="0">
                <a:solidFill>
                  <a:schemeClr val="tx1"/>
                </a:solidFill>
              </a:rPr>
              <a:t> (15) and </a:t>
            </a:r>
            <a:pPr indent="0" marL="0">
              <a:buNone/>
            </a:pPr>
            <a:r>
              <a:rPr lang="en-US" sz="1500" b="1" dirty="0">
                <a:solidFill>
                  <a:schemeClr val="tx1"/>
                </a:solidFill>
              </a:rPr>
              <a:t>Extremely coarse</a:t>
            </a:r>
            <a:pPr indent="0" marL="0">
              <a:buNone/>
            </a:pPr>
            <a:r>
              <a:rPr lang="en-US" sz="1500" dirty="0">
                <a:solidFill>
                  <a:schemeClr val="tx1"/>
                </a:solidFill>
              </a:rPr>
              <a:t> (3 elements).</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1274"/>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 10</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Compute: the temperature profile</a:t>
            </a:r>
            <a:endParaRPr lang="en-US" sz="3200" dirty="0"/>
          </a:p>
        </p:txBody>
      </p:sp>
      <p:sp>
        <p:nvSpPr>
          <p:cNvPr id="4" name="card-1275"/>
          <p:cNvSpPr/>
          <p:nvPr/>
        </p:nvSpPr>
        <p:spPr>
          <a:xfrm>
            <a:off x="548640" y="1371600"/>
            <a:ext cx="6263640"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276" descr="COMSOL line graph of temperature from 373.15 K at the base to 351.3 K at the tip">    </p:cNvPr>
          <p:cNvPicPr>
            <a:picLocks noChangeAspect="1"/>
          </p:cNvPicPr>
          <p:nvPr/>
        </p:nvPicPr>
        <p:blipFill>
          <a:blip r:embed="rId1"/>
          <a:stretch>
            <a:fillRect/>
          </a:stretch>
        </p:blipFill>
        <p:spPr>
          <a:xfrm>
            <a:off x="640080" y="1457374"/>
            <a:ext cx="6080760" cy="4491892"/>
          </a:xfrm>
          <a:prstGeom prst="rect">
            <a:avLst/>
          </a:prstGeom>
        </p:spPr>
      </p:pic>
      <p:sp>
        <p:nvSpPr>
          <p:cNvPr id="6" name="badge-1277"/>
          <p:cNvSpPr/>
          <p:nvPr/>
        </p:nvSpPr>
        <p:spPr>
          <a:xfrm>
            <a:off x="7132320" y="141732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7" name="text-1278"/>
          <p:cNvSpPr txBox="1"/>
          <p:nvPr/>
        </p:nvSpPr>
        <p:spPr>
          <a:xfrm>
            <a:off x="7726680" y="1371600"/>
            <a:ext cx="3931920" cy="548640"/>
          </a:xfrm>
          <a:prstGeom prst="rect">
            <a:avLst/>
          </a:prstGeom>
          <a:noFill/>
          <a:ln/>
        </p:spPr>
        <p:txBody>
          <a:bodyPr wrap="square" lIns="0" tIns="0" rIns="0" bIns="0" rtlCol="0" anchor="ctr"/>
          <a:lstStyle/>
          <a:p>
            <a:pPr indent="0" marL="0">
              <a:buNone/>
            </a:pPr>
            <a:r>
              <a:rPr lang="en-US" sz="1600" dirty="0">
                <a:solidFill>
                  <a:schemeClr val="tx1"/>
                </a:solidFill>
              </a:rPr>
              <a:t>Right-click </a:t>
            </a:r>
            <a:pPr indent="0" marL="0">
              <a:buNone/>
            </a:pPr>
            <a:r>
              <a:rPr lang="en-US" sz="1600" b="1" dirty="0">
                <a:solidFill>
                  <a:schemeClr val="tx1"/>
                </a:solidFill>
              </a:rPr>
              <a:t>Study 1</a:t>
            </a:r>
            <a:pPr indent="0" marL="0">
              <a:buNone/>
            </a:pPr>
            <a:r>
              <a:rPr lang="en-US" sz="1600" dirty="0">
                <a:solidFill>
                  <a:schemeClr val="tx1"/>
                </a:solidFill>
              </a:rPr>
              <a:t> › </a:t>
            </a:r>
            <a:pPr indent="0" marL="0">
              <a:buNone/>
            </a:pPr>
            <a:r>
              <a:rPr lang="en-US" sz="1600" b="1" dirty="0">
                <a:solidFill>
                  <a:schemeClr val="tx1"/>
                </a:solidFill>
              </a:rPr>
              <a:t>Compute</a:t>
            </a:r>
            <a:pPr indent="0" marL="0">
              <a:buNone/>
            </a:pPr>
            <a:r>
              <a:rPr lang="en-US" sz="1600" dirty="0">
                <a:solidFill>
                  <a:schemeClr val="tx1"/>
                </a:solidFill>
              </a:rPr>
              <a:t> (F8)</a:t>
            </a:r>
            <a:endParaRPr lang="en-US" sz="1600" dirty="0"/>
          </a:p>
        </p:txBody>
      </p:sp>
      <p:sp>
        <p:nvSpPr>
          <p:cNvPr id="8" name="card-1279"/>
          <p:cNvSpPr/>
          <p:nvPr/>
        </p:nvSpPr>
        <p:spPr>
          <a:xfrm>
            <a:off x="7132320" y="2194560"/>
            <a:ext cx="4507992"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9" name="text-1280"/>
          <p:cNvSpPr txBox="1"/>
          <p:nvPr/>
        </p:nvSpPr>
        <p:spPr>
          <a:xfrm>
            <a:off x="7360920" y="2304288"/>
            <a:ext cx="4050792" cy="653796"/>
          </a:xfrm>
          <a:prstGeom prst="rect">
            <a:avLst/>
          </a:prstGeom>
          <a:noFill/>
          <a:ln/>
        </p:spPr>
        <p:txBody>
          <a:bodyPr wrap="square" lIns="0" tIns="0" rIns="0" bIns="0" rtlCol="0" anchor="b"/>
          <a:lstStyle/>
          <a:p>
            <a:pPr indent="0" marL="0">
              <a:buNone/>
            </a:pPr>
            <a:r>
              <a:rPr lang="en-US" sz="3000" b="1" dirty="0">
                <a:solidFill>
                  <a:schemeClr val="tx1"/>
                </a:solidFill>
              </a:rPr>
              <a:t>373.15 K</a:t>
            </a:r>
            <a:endParaRPr lang="en-US" sz="3000" dirty="0"/>
          </a:p>
        </p:txBody>
      </p:sp>
      <p:sp>
        <p:nvSpPr>
          <p:cNvPr id="10" name="text-1281"/>
          <p:cNvSpPr txBox="1"/>
          <p:nvPr/>
        </p:nvSpPr>
        <p:spPr>
          <a:xfrm>
            <a:off x="7360920" y="2958084"/>
            <a:ext cx="4050792" cy="365760"/>
          </a:xfrm>
          <a:prstGeom prst="rect">
            <a:avLst/>
          </a:prstGeom>
          <a:noFill/>
          <a:ln/>
        </p:spPr>
        <p:txBody>
          <a:bodyPr wrap="square" lIns="0" tIns="0" rIns="0" bIns="0" rtlCol="0" anchor="t"/>
          <a:lstStyle/>
          <a:p>
            <a:pPr indent="0" marL="0">
              <a:buNone/>
            </a:pPr>
            <a:r>
              <a:rPr lang="en-US" sz="1300" dirty="0">
                <a:solidFill>
                  <a:schemeClr val="tx2"/>
                </a:solidFill>
              </a:rPr>
              <a:t>= 100 °C at the base</a:t>
            </a:r>
            <a:endParaRPr lang="en-US" sz="1300" dirty="0"/>
          </a:p>
        </p:txBody>
      </p:sp>
      <p:sp>
        <p:nvSpPr>
          <p:cNvPr id="11" name="card-1282"/>
          <p:cNvSpPr/>
          <p:nvPr/>
        </p:nvSpPr>
        <p:spPr>
          <a:xfrm>
            <a:off x="7132320" y="3566160"/>
            <a:ext cx="4507992" cy="1188720"/>
          </a:xfrm>
          <a:prstGeom prst="roundRect">
            <a:avLst>
              <a:gd name="adj" fmla="val 769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2" name="text-1283"/>
          <p:cNvSpPr txBox="1"/>
          <p:nvPr/>
        </p:nvSpPr>
        <p:spPr>
          <a:xfrm>
            <a:off x="7360920" y="3675888"/>
            <a:ext cx="4050792" cy="653796"/>
          </a:xfrm>
          <a:prstGeom prst="rect">
            <a:avLst/>
          </a:prstGeom>
          <a:noFill/>
          <a:ln/>
        </p:spPr>
        <p:txBody>
          <a:bodyPr wrap="square" lIns="0" tIns="0" rIns="0" bIns="0" rtlCol="0" anchor="b"/>
          <a:lstStyle/>
          <a:p>
            <a:pPr indent="0" marL="0">
              <a:buNone/>
            </a:pPr>
            <a:r>
              <a:rPr lang="en-US" sz="3000" b="1" dirty="0">
                <a:solidFill>
                  <a:schemeClr val="accent2"/>
                </a:solidFill>
              </a:rPr>
              <a:t>351.3 K</a:t>
            </a:r>
            <a:endParaRPr lang="en-US" sz="3000" dirty="0"/>
          </a:p>
        </p:txBody>
      </p:sp>
      <p:sp>
        <p:nvSpPr>
          <p:cNvPr id="13" name="text-1284"/>
          <p:cNvSpPr txBox="1"/>
          <p:nvPr/>
        </p:nvSpPr>
        <p:spPr>
          <a:xfrm>
            <a:off x="7360920" y="4329684"/>
            <a:ext cx="4050792" cy="365760"/>
          </a:xfrm>
          <a:prstGeom prst="rect">
            <a:avLst/>
          </a:prstGeom>
          <a:noFill/>
          <a:ln/>
        </p:spPr>
        <p:txBody>
          <a:bodyPr wrap="square" lIns="0" tIns="0" rIns="0" bIns="0" rtlCol="0" anchor="t"/>
          <a:lstStyle/>
          <a:p>
            <a:pPr indent="0" marL="0">
              <a:buNone/>
            </a:pPr>
            <a:r>
              <a:rPr lang="en-US" sz="1300" dirty="0">
                <a:solidFill>
                  <a:schemeClr val="tx2"/>
                </a:solidFill>
              </a:rPr>
              <a:t>= 78.2 °C at the tip</a:t>
            </a:r>
            <a:endParaRPr lang="en-US" sz="1300" dirty="0"/>
          </a:p>
        </p:txBody>
      </p:sp>
      <p:sp>
        <p:nvSpPr>
          <p:cNvPr id="14" name="text-1285"/>
          <p:cNvSpPr txBox="1"/>
          <p:nvPr/>
        </p:nvSpPr>
        <p:spPr>
          <a:xfrm>
            <a:off x="7132320" y="4937760"/>
            <a:ext cx="4507992" cy="1097280"/>
          </a:xfrm>
          <a:prstGeom prst="rect">
            <a:avLst/>
          </a:prstGeom>
          <a:noFill/>
          <a:ln/>
        </p:spPr>
        <p:txBody>
          <a:bodyPr wrap="square" lIns="0" tIns="0" rIns="0" bIns="0" rtlCol="0" anchor="t"/>
          <a:lstStyle/>
          <a:p>
            <a:pPr indent="0" marL="0">
              <a:buNone/>
            </a:pPr>
            <a:r>
              <a:rPr lang="en-US" sz="1400" dirty="0">
                <a:solidFill>
                  <a:schemeClr val="tx2"/>
                </a:solidFill>
              </a:rPr>
              <a:t>Steepest slope at the base, where heat enters; </a:t>
            </a:r>
            <a:pPr indent="0" marL="0">
              <a:buNone/>
            </a:pPr>
            <a:r>
              <a:rPr lang="en-US" sz="1400" b="1" dirty="0">
                <a:solidFill>
                  <a:schemeClr val="tx2"/>
                </a:solidFill>
              </a:rPr>
              <a:t>zero slope at the tip</a:t>
            </a:r>
            <a:pPr indent="0" marL="0">
              <a:buNone/>
            </a:pPr>
            <a:r>
              <a:rPr lang="en-US" sz="1400" dirty="0">
                <a:solidFill>
                  <a:schemeClr val="tx2"/>
                </a:solidFill>
              </a:rPr>
              <a:t> = insulated. The classic fin profile cosh m(L − x) / cosh mL.</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1286"/>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IN COMSOL · STEPS 11–12</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Read the numbers: tip temperature and heat loss</a:t>
            </a:r>
            <a:endParaRPr lang="en-US" sz="3200" dirty="0"/>
          </a:p>
        </p:txBody>
      </p:sp>
      <p:sp>
        <p:nvSpPr>
          <p:cNvPr id="4" name="card-1287"/>
          <p:cNvSpPr/>
          <p:nvPr/>
        </p:nvSpPr>
        <p:spPr>
          <a:xfrm>
            <a:off x="548640" y="1371600"/>
            <a:ext cx="5440680"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badge-1288"/>
          <p:cNvSpPr/>
          <p:nvPr/>
        </p:nvSpPr>
        <p:spPr>
          <a:xfrm>
            <a:off x="731520" y="1536192"/>
            <a:ext cx="438912" cy="43891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6" name="text-1289"/>
          <p:cNvSpPr txBox="1"/>
          <p:nvPr/>
        </p:nvSpPr>
        <p:spPr>
          <a:xfrm>
            <a:off x="1280160" y="1536192"/>
            <a:ext cx="4480560" cy="438912"/>
          </a:xfrm>
          <a:prstGeom prst="rect">
            <a:avLst/>
          </a:prstGeom>
          <a:noFill/>
          <a:ln/>
        </p:spPr>
        <p:txBody>
          <a:bodyPr wrap="square" lIns="0" tIns="0" rIns="0" bIns="0" rtlCol="0" anchor="ctr"/>
          <a:lstStyle/>
          <a:p>
            <a:pPr indent="0" marL="0">
              <a:buNone/>
            </a:pPr>
            <a:r>
              <a:rPr lang="en-US" sz="1700" b="1" dirty="0">
                <a:solidFill>
                  <a:schemeClr val="tx1"/>
                </a:solidFill>
              </a:rPr>
              <a:t>Tip temperature</a:t>
            </a:r>
            <a:endParaRPr lang="en-US" sz="1700" dirty="0"/>
          </a:p>
        </p:txBody>
      </p:sp>
      <p:sp>
        <p:nvSpPr>
          <p:cNvPr id="7" name="text-1290"/>
          <p:cNvSpPr txBox="1"/>
          <p:nvPr/>
        </p:nvSpPr>
        <p:spPr>
          <a:xfrm>
            <a:off x="731520" y="2057400"/>
            <a:ext cx="5074920" cy="548640"/>
          </a:xfrm>
          <a:prstGeom prst="rect">
            <a:avLst/>
          </a:prstGeom>
          <a:noFill/>
          <a:ln/>
        </p:spPr>
        <p:txBody>
          <a:bodyPr wrap="square" lIns="0" tIns="0" rIns="0" bIns="0" rtlCol="0" anchor="t"/>
          <a:lstStyle/>
          <a:p>
            <a:pPr indent="0" marL="0">
              <a:buNone/>
            </a:pPr>
            <a:r>
              <a:rPr lang="en-US" sz="1350" b="1" dirty="0">
                <a:solidFill>
                  <a:schemeClr val="tx2"/>
                </a:solidFill>
              </a:rPr>
              <a:t>Derived Values</a:t>
            </a:r>
            <a:pPr indent="0" marL="0">
              <a:buNone/>
            </a:pPr>
            <a:r>
              <a:rPr lang="en-US" sz="1350" dirty="0">
                <a:solidFill>
                  <a:schemeClr val="tx2"/>
                </a:solidFill>
              </a:rPr>
              <a:t> › </a:t>
            </a:r>
            <a:pPr indent="0" marL="0">
              <a:buNone/>
            </a:pPr>
            <a:r>
              <a:rPr lang="en-US" sz="1350" b="1" dirty="0">
                <a:solidFill>
                  <a:schemeClr val="tx2"/>
                </a:solidFill>
              </a:rPr>
              <a:t>Point Evaluation</a:t>
            </a:r>
            <a:pPr indent="0" marL="0">
              <a:buNone/>
            </a:pPr>
            <a:r>
              <a:rPr lang="en-US" sz="1350" dirty="0">
                <a:solidFill>
                  <a:schemeClr val="tx2"/>
                </a:solidFill>
              </a:rPr>
              <a:t> · select </a:t>
            </a:r>
            <a:pPr indent="0" marL="0">
              <a:buNone/>
            </a:pPr>
            <a:r>
              <a:rPr lang="en-US" sz="1350" b="1" dirty="0">
                <a:solidFill>
                  <a:schemeClr val="tx2"/>
                </a:solidFill>
              </a:rPr>
              <a:t>Point 2</a:t>
            </a:r>
            <a:pPr indent="0" marL="0">
              <a:buNone/>
            </a:pPr>
            <a:r>
              <a:rPr lang="en-US" sz="1350" dirty="0">
                <a:solidFill>
                  <a:schemeClr val="tx2"/>
                </a:solidFill>
              </a:rPr>
              <a:t> (the tip) · Evaluate (=)</a:t>
            </a:r>
            <a:endParaRPr lang="en-US" sz="1350" dirty="0"/>
          </a:p>
        </p:txBody>
      </p:sp>
      <p:pic>
        <p:nvPicPr>
          <p:cNvPr id="8" name="img-1291" descr="Point evaluation settings and result table">    </p:cNvPr>
          <p:cNvPicPr>
            <a:picLocks noChangeAspect="1"/>
          </p:cNvPicPr>
          <p:nvPr/>
        </p:nvPicPr>
        <p:blipFill>
          <a:blip r:embed="rId1"/>
          <a:stretch>
            <a:fillRect/>
          </a:stretch>
        </p:blipFill>
        <p:spPr>
          <a:xfrm>
            <a:off x="731520" y="2739472"/>
            <a:ext cx="2331720" cy="3070696"/>
          </a:xfrm>
          <a:prstGeom prst="rect">
            <a:avLst/>
          </a:prstGeom>
        </p:spPr>
      </p:pic>
      <p:sp>
        <p:nvSpPr>
          <p:cNvPr id="9" name="text-1292"/>
          <p:cNvSpPr txBox="1"/>
          <p:nvPr/>
        </p:nvSpPr>
        <p:spPr>
          <a:xfrm>
            <a:off x="3246120" y="2743200"/>
            <a:ext cx="256032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EXPRESSION</a:t>
            </a:r>
            <a:endParaRPr lang="en-US" sz="1100" dirty="0"/>
          </a:p>
        </p:txBody>
      </p:sp>
      <p:sp>
        <p:nvSpPr>
          <p:cNvPr id="10" name="code-1293"/>
          <p:cNvSpPr/>
          <p:nvPr/>
        </p:nvSpPr>
        <p:spPr>
          <a:xfrm>
            <a:off x="3246120" y="3017520"/>
            <a:ext cx="2560320" cy="457200"/>
          </a:xfrm>
          <a:prstGeom prst="roundRect">
            <a:avLst>
              <a:gd name="adj" fmla="val 12000"/>
            </a:avLst>
          </a:prstGeom>
          <a:solidFill>
            <a:schemeClr val="bg2"/>
          </a:solidFill>
          <a:ln/>
        </p:spPr>
        <p:txBody>
          <a:bodyPr wrap="square" lIns="0" tIns="1524" rIns="1524"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T</a:t>
            </a:r>
            <a:endParaRPr lang="en-US" sz="1300" dirty="0"/>
          </a:p>
        </p:txBody>
      </p:sp>
      <p:sp>
        <p:nvSpPr>
          <p:cNvPr id="11" name="text-1294"/>
          <p:cNvSpPr txBox="1"/>
          <p:nvPr/>
        </p:nvSpPr>
        <p:spPr>
          <a:xfrm>
            <a:off x="3246120" y="3566160"/>
            <a:ext cx="2560320" cy="685800"/>
          </a:xfrm>
          <a:prstGeom prst="rect">
            <a:avLst/>
          </a:prstGeom>
          <a:noFill/>
          <a:ln/>
        </p:spPr>
        <p:txBody>
          <a:bodyPr wrap="square" lIns="0" tIns="0" rIns="0" bIns="0" rtlCol="0" anchor="t"/>
          <a:lstStyle/>
          <a:p>
            <a:pPr indent="0" marL="0">
              <a:buNone/>
            </a:pPr>
            <a:r>
              <a:rPr lang="en-US" sz="1250" dirty="0">
                <a:solidFill>
                  <a:schemeClr val="tx2"/>
                </a:solidFill>
              </a:rPr>
              <a:t>the temperature, in K</a:t>
            </a:r>
            <a:endParaRPr lang="en-US" sz="1250" dirty="0"/>
          </a:p>
        </p:txBody>
      </p:sp>
      <p:sp>
        <p:nvSpPr>
          <p:cNvPr id="12" name="text-1295"/>
          <p:cNvSpPr txBox="1"/>
          <p:nvPr/>
        </p:nvSpPr>
        <p:spPr>
          <a:xfrm>
            <a:off x="3246120" y="4389120"/>
            <a:ext cx="256032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RESULT</a:t>
            </a:r>
            <a:endParaRPr lang="en-US" sz="1100" dirty="0"/>
          </a:p>
        </p:txBody>
      </p:sp>
      <p:sp>
        <p:nvSpPr>
          <p:cNvPr id="13" name="text-1296"/>
          <p:cNvSpPr txBox="1"/>
          <p:nvPr/>
        </p:nvSpPr>
        <p:spPr>
          <a:xfrm>
            <a:off x="3246120" y="4663440"/>
            <a:ext cx="2560320" cy="1097280"/>
          </a:xfrm>
          <a:prstGeom prst="rect">
            <a:avLst/>
          </a:prstGeom>
          <a:noFill/>
          <a:ln/>
        </p:spPr>
        <p:txBody>
          <a:bodyPr wrap="square" lIns="0" tIns="0" rIns="0" bIns="0" rtlCol="0" anchor="t"/>
          <a:lstStyle/>
          <a:p>
            <a:pPr indent="0" marL="0">
              <a:buNone/>
            </a:pPr>
            <a:r>
              <a:rPr lang="en-US" sz="2000" b="1" dirty="0">
                <a:solidFill>
                  <a:schemeClr val="accent2"/>
                </a:solidFill>
              </a:rPr>
              <a:t>351.34408 K</a:t>
            </a:r>
            <a:endParaRPr lang="en-US" sz="2000" dirty="0"/>
          </a:p>
          <a:p>
            <a:pPr indent="0" marL="0">
              <a:buNone/>
            </a:pPr>
            <a:r>
              <a:rPr lang="en-US" sz="2000" b="1" dirty="0">
                <a:solidFill>
                  <a:schemeClr val="accent2"/>
                </a:solidFill>
              </a:rPr>
              <a:t>= 78.194 °C</a:t>
            </a:r>
            <a:endParaRPr lang="en-US" sz="2000" dirty="0"/>
          </a:p>
        </p:txBody>
      </p:sp>
      <p:sp>
        <p:nvSpPr>
          <p:cNvPr id="14" name="card-1297"/>
          <p:cNvSpPr/>
          <p:nvPr/>
        </p:nvSpPr>
        <p:spPr>
          <a:xfrm>
            <a:off x="6199632" y="1371600"/>
            <a:ext cx="5440680"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badge-1298"/>
          <p:cNvSpPr/>
          <p:nvPr/>
        </p:nvSpPr>
        <p:spPr>
          <a:xfrm>
            <a:off x="6382512" y="1536192"/>
            <a:ext cx="438912" cy="43891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16" name="text-1299"/>
          <p:cNvSpPr txBox="1"/>
          <p:nvPr/>
        </p:nvSpPr>
        <p:spPr>
          <a:xfrm>
            <a:off x="6931152" y="1536192"/>
            <a:ext cx="4480560" cy="438912"/>
          </a:xfrm>
          <a:prstGeom prst="rect">
            <a:avLst/>
          </a:prstGeom>
          <a:noFill/>
          <a:ln/>
        </p:spPr>
        <p:txBody>
          <a:bodyPr wrap="square" lIns="0" tIns="0" rIns="0" bIns="0" rtlCol="0" anchor="ctr"/>
          <a:lstStyle/>
          <a:p>
            <a:pPr indent="0" marL="0">
              <a:buNone/>
            </a:pPr>
            <a:r>
              <a:rPr lang="en-US" sz="1700" b="1" dirty="0">
                <a:solidFill>
                  <a:schemeClr val="tx1"/>
                </a:solidFill>
              </a:rPr>
              <a:t>Heat lost by the fin</a:t>
            </a:r>
            <a:endParaRPr lang="en-US" sz="1700" dirty="0"/>
          </a:p>
        </p:txBody>
      </p:sp>
      <p:sp>
        <p:nvSpPr>
          <p:cNvPr id="17" name="text-1300"/>
          <p:cNvSpPr txBox="1"/>
          <p:nvPr/>
        </p:nvSpPr>
        <p:spPr>
          <a:xfrm>
            <a:off x="6382512" y="2057400"/>
            <a:ext cx="5074920" cy="548640"/>
          </a:xfrm>
          <a:prstGeom prst="rect">
            <a:avLst/>
          </a:prstGeom>
          <a:noFill/>
          <a:ln/>
        </p:spPr>
        <p:txBody>
          <a:bodyPr wrap="square" lIns="0" tIns="0" rIns="0" bIns="0" rtlCol="0" anchor="t"/>
          <a:lstStyle/>
          <a:p>
            <a:pPr indent="0" marL="0">
              <a:buNone/>
            </a:pPr>
            <a:r>
              <a:rPr lang="en-US" sz="1350" dirty="0">
                <a:solidFill>
                  <a:schemeClr val="tx2"/>
                </a:solidFill>
              </a:rPr>
              <a:t>Second </a:t>
            </a:r>
            <a:pPr indent="0" marL="0">
              <a:buNone/>
            </a:pPr>
            <a:r>
              <a:rPr lang="en-US" sz="1350" b="1" dirty="0">
                <a:solidFill>
                  <a:schemeClr val="tx2"/>
                </a:solidFill>
              </a:rPr>
              <a:t>Point Evaluation</a:t>
            </a:r>
            <a:pPr indent="0" marL="0">
              <a:buNone/>
            </a:pPr>
            <a:r>
              <a:rPr lang="en-US" sz="1350" dirty="0">
                <a:solidFill>
                  <a:schemeClr val="tx2"/>
                </a:solidFill>
              </a:rPr>
              <a:t> · select </a:t>
            </a:r>
            <a:pPr indent="0" marL="0">
              <a:buNone/>
            </a:pPr>
            <a:r>
              <a:rPr lang="en-US" sz="1350" b="1" dirty="0">
                <a:solidFill>
                  <a:schemeClr val="tx2"/>
                </a:solidFill>
              </a:rPr>
              <a:t>Point 1</a:t>
            </a:r>
            <a:pPr indent="0" marL="0">
              <a:buNone/>
            </a:pPr>
            <a:r>
              <a:rPr lang="en-US" sz="1350" dirty="0">
                <a:solidFill>
                  <a:schemeClr val="tx2"/>
                </a:solidFill>
              </a:rPr>
              <a:t> (the base) · clear the Unit field</a:t>
            </a:r>
            <a:endParaRPr lang="en-US" sz="1350" dirty="0"/>
          </a:p>
        </p:txBody>
      </p:sp>
      <p:pic>
        <p:nvPicPr>
          <p:cNvPr id="18" name="img-1301" descr="Point evaluation settings and result table">    </p:cNvPr>
          <p:cNvPicPr>
            <a:picLocks noChangeAspect="1"/>
          </p:cNvPicPr>
          <p:nvPr/>
        </p:nvPicPr>
        <p:blipFill>
          <a:blip r:embed="rId2"/>
          <a:stretch>
            <a:fillRect/>
          </a:stretch>
        </p:blipFill>
        <p:spPr>
          <a:xfrm>
            <a:off x="6382512" y="2961693"/>
            <a:ext cx="2331720" cy="2626253"/>
          </a:xfrm>
          <a:prstGeom prst="rect">
            <a:avLst/>
          </a:prstGeom>
        </p:spPr>
      </p:pic>
      <p:sp>
        <p:nvSpPr>
          <p:cNvPr id="19" name="text-1302"/>
          <p:cNvSpPr txBox="1"/>
          <p:nvPr/>
        </p:nvSpPr>
        <p:spPr>
          <a:xfrm>
            <a:off x="8897112" y="2743200"/>
            <a:ext cx="256032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EXPRESSION</a:t>
            </a:r>
            <a:endParaRPr lang="en-US" sz="1100" dirty="0"/>
          </a:p>
        </p:txBody>
      </p:sp>
      <p:sp>
        <p:nvSpPr>
          <p:cNvPr id="20" name="code-1303"/>
          <p:cNvSpPr/>
          <p:nvPr/>
        </p:nvSpPr>
        <p:spPr>
          <a:xfrm>
            <a:off x="8897112" y="3017520"/>
            <a:ext cx="2560320" cy="457200"/>
          </a:xfrm>
          <a:prstGeom prst="roundRect">
            <a:avLst>
              <a:gd name="adj" fmla="val 12000"/>
            </a:avLst>
          </a:prstGeom>
          <a:solidFill>
            <a:schemeClr val="bg2"/>
          </a:solidFill>
          <a:ln/>
        </p:spPr>
        <p:txBody>
          <a:bodyPr wrap="square" lIns="0" tIns="1524" rIns="1524"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-237*pi*0.005^2/4*Tx</a:t>
            </a:r>
            <a:endParaRPr lang="en-US" sz="1300" dirty="0"/>
          </a:p>
        </p:txBody>
      </p:sp>
      <p:sp>
        <p:nvSpPr>
          <p:cNvPr id="21" name="text-1304"/>
          <p:cNvSpPr txBox="1"/>
          <p:nvPr/>
        </p:nvSpPr>
        <p:spPr>
          <a:xfrm>
            <a:off x="8897112" y="3566160"/>
            <a:ext cx="2560320" cy="685800"/>
          </a:xfrm>
          <a:prstGeom prst="rect">
            <a:avLst/>
          </a:prstGeom>
          <a:noFill/>
          <a:ln/>
        </p:spPr>
        <p:txBody>
          <a:bodyPr wrap="square" lIns="0" tIns="0" rIns="0" bIns="0" rtlCol="0" anchor="t"/>
          <a:lstStyle/>
          <a:p>
            <a:pPr indent="0" marL="0">
              <a:buNone/>
            </a:pPr>
            <a:r>
              <a:rPr lang="en-US" sz="1250" dirty="0">
                <a:solidFill>
                  <a:schemeClr val="tx2"/>
                </a:solidFill>
              </a:rPr>
              <a:t>Q = −kA dT/dx at the base; Tx is COMSOL's dT/dx</a:t>
            </a:r>
            <a:endParaRPr lang="en-US" sz="1250" dirty="0"/>
          </a:p>
        </p:txBody>
      </p:sp>
      <p:sp>
        <p:nvSpPr>
          <p:cNvPr id="22" name="text-1305"/>
          <p:cNvSpPr txBox="1"/>
          <p:nvPr/>
        </p:nvSpPr>
        <p:spPr>
          <a:xfrm>
            <a:off x="8897112" y="4389120"/>
            <a:ext cx="256032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RESULT</a:t>
            </a:r>
            <a:endParaRPr lang="en-US" sz="1100" dirty="0"/>
          </a:p>
        </p:txBody>
      </p:sp>
      <p:sp>
        <p:nvSpPr>
          <p:cNvPr id="23" name="text-1306"/>
          <p:cNvSpPr txBox="1"/>
          <p:nvPr/>
        </p:nvSpPr>
        <p:spPr>
          <a:xfrm>
            <a:off x="8897112" y="4663440"/>
            <a:ext cx="2560320" cy="1097280"/>
          </a:xfrm>
          <a:prstGeom prst="rect">
            <a:avLst/>
          </a:prstGeom>
          <a:noFill/>
          <a:ln/>
        </p:spPr>
        <p:txBody>
          <a:bodyPr wrap="square" lIns="0" tIns="0" rIns="0" bIns="0" rtlCol="0" anchor="t"/>
          <a:lstStyle/>
          <a:p>
            <a:pPr indent="0" marL="0">
              <a:buNone/>
            </a:pPr>
            <a:r>
              <a:rPr lang="en-US" sz="2000" b="1" dirty="0">
                <a:solidFill>
                  <a:schemeClr val="accent2"/>
                </a:solidFill>
              </a:rPr>
              <a:t>Q = 2.17021 W</a:t>
            </a:r>
            <a:endParaRPr lang="en-US" sz="2000" dirty="0"/>
          </a:p>
          <a:p>
            <a:pPr indent="0" marL="0">
              <a:buNone/>
            </a:pPr>
            <a:r>
              <a:rPr lang="en-US" sz="2000" b="1" dirty="0">
                <a:solidFill>
                  <a:schemeClr val="accent2"/>
                </a:solidFill>
              </a:rPr>
              <a:t>(exact 2.17022 W)</a:t>
            </a:r>
            <a:endParaRPr lang="en-US" sz="20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1307"/>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1 · VERIFICATION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COMSOL vs FDM vs exact</a:t>
            </a:r>
            <a:endParaRPr lang="en-US" sz="3200" dirty="0"/>
          </a:p>
        </p:txBody>
      </p:sp>
      <p:graphicFrame>
        <p:nvGraphicFramePr>
          <p:cNvPr id="52" name="table-1308"/>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914400"/>
        </p:xfrm>
        <a:graphic>
          <a:graphicData uri="http://schemas.openxmlformats.org/drawingml/2006/table">
            <a:tbl>
              <a:tblPr/>
              <a:tblGrid>
                <a:gridCol w="2057400"/>
                <a:gridCol w="1188720"/>
                <a:gridCol w="1188720"/>
                <a:gridCol w="1188720"/>
                <a:gridCol w="1188720"/>
              </a:tblGrid>
              <a:tr h="658368">
                <a:tc>
                  <a:txBody>
                    <a:bodyPr/>
                    <a:lstStyle/>
                    <a:p>
                      <a:pPr algn="l" indent="0" marL="0">
                        <a:buNone/>
                      </a:pP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FDM by hand</a:t>
                      </a:r>
                      <a:endParaRPr lang="en-US" sz="1400" dirty="0"/>
                    </a:p>
                    <a:p>
                      <a:pPr algn="ctr" indent="0" marL="0">
                        <a:buNone/>
                      </a:pPr>
                      <a:r>
                        <a:rPr lang="en-US" sz="1400" b="1" dirty="0">
                          <a:solidFill>
                            <a:schemeClr val="bg1"/>
                          </a:solidFill>
                        </a:rPr>
                        <a:t>4 intervals</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FDM notebook</a:t>
                      </a:r>
                      <a:endParaRPr lang="en-US" sz="1400" dirty="0"/>
                    </a:p>
                    <a:p>
                      <a:pPr algn="ctr" indent="0" marL="0">
                        <a:buNone/>
                      </a:pPr>
                      <a:r>
                        <a:rPr lang="en-US" sz="1400" b="1" dirty="0">
                          <a:solidFill>
                            <a:schemeClr val="bg1"/>
                          </a:solidFill>
                        </a:rPr>
                        <a:t>10 intervals</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COMSOL</a:t>
                      </a:r>
                      <a:endParaRPr lang="en-US" sz="1400" dirty="0"/>
                    </a:p>
                    <a:p>
                      <a:pPr algn="ctr" indent="0" marL="0">
                        <a:buNone/>
                      </a:pPr>
                      <a:r>
                        <a:rPr lang="en-US" sz="1400" b="1" dirty="0">
                          <a:solidFill>
                            <a:schemeClr val="bg1"/>
                          </a:solidFill>
                        </a:rPr>
                        <a:t>100 elements</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Exact</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457200">
                <a:tc>
                  <a:txBody>
                    <a:bodyPr/>
                    <a:lstStyle/>
                    <a:p>
                      <a:pPr algn="l" indent="0" marL="0">
                        <a:buNone/>
                      </a:pPr>
                      <a:r>
                        <a:rPr lang="en-US" sz="1400" dirty="0">
                          <a:solidFill>
                            <a:schemeClr val="tx1"/>
                          </a:solidFill>
                        </a:rPr>
                        <a:t>Tip temperature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78.26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78.205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78.194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78.194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Heat lost [W]</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2.18</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2.1721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2.1702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2.1702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bl>
          </a:graphicData>
        </a:graphic>
      </p:graphicFrame>
      <p:sp>
        <p:nvSpPr>
          <p:cNvPr id="5" name="card-1309"/>
          <p:cNvSpPr/>
          <p:nvPr/>
        </p:nvSpPr>
        <p:spPr>
          <a:xfrm>
            <a:off x="548640" y="3154680"/>
            <a:ext cx="6812280" cy="2880360"/>
          </a:xfrm>
          <a:prstGeom prst="roundRect">
            <a:avLst>
              <a:gd name="adj" fmla="val 317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graphicFrame>
        <p:nvGraphicFramePr>
          <p:cNvPr id="6" name="Chart 0" descr=""/>
          <p:cNvGraphicFramePr/>
          <p:nvPr/>
        </p:nvGraphicFramePr>
        <p:xfrm>
          <a:off x="640080" y="3200400"/>
          <a:ext cx="6629400" cy="2788920"/>
        </p:xfrm>
        <a:graphic xmlns:a="http://schemas.openxmlformats.org/drawingml/2006/main">
          <a:graphicData uri="http://schemas.openxmlformats.org/drawingml/2006/chart">
            <c:chart xmlns:c="http://schemas.openxmlformats.org/drawingml/2006/chart" r:id="rId1"/>
          </a:graphicData>
        </a:graphic>
      </p:graphicFrame>
      <p:sp>
        <p:nvSpPr>
          <p:cNvPr id="7" name="card-1310"/>
          <p:cNvSpPr/>
          <p:nvPr/>
        </p:nvSpPr>
        <p:spPr>
          <a:xfrm>
            <a:off x="7635240" y="1371600"/>
            <a:ext cx="4005072" cy="2514600"/>
          </a:xfrm>
          <a:prstGeom prst="roundRect">
            <a:avLst>
              <a:gd name="adj" fmla="val 363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8" name="icon-bg-1311"/>
          <p:cNvSpPr/>
          <p:nvPr/>
        </p:nvSpPr>
        <p:spPr>
          <a:xfrm>
            <a:off x="7818120" y="1536192"/>
            <a:ext cx="457200" cy="457200"/>
          </a:xfrm>
          <a:prstGeom prst="ellipse">
            <a:avLst/>
          </a:prstGeom>
          <a:solidFill>
            <a:schemeClr val="accent6"/>
          </a:solidFill>
          <a:ln/>
        </p:spPr>
      </p:sp>
      <p:pic>
        <p:nvPicPr>
          <p:cNvPr id="9" name="icon-1312" descr="preencoded.png">    </p:cNvPr>
          <p:cNvPicPr>
            <a:picLocks noChangeAspect="1"/>
          </p:cNvPicPr>
          <p:nvPr/>
        </p:nvPicPr>
        <p:blipFill>
          <a:blip r:embed="rId2"/>
          <a:stretch>
            <a:fillRect/>
          </a:stretch>
        </p:blipFill>
        <p:spPr>
          <a:xfrm>
            <a:off x="7923276" y="1641348"/>
            <a:ext cx="246888" cy="246888"/>
          </a:xfrm>
          <a:prstGeom prst="rect">
            <a:avLst/>
          </a:prstGeom>
        </p:spPr>
      </p:pic>
      <p:sp>
        <p:nvSpPr>
          <p:cNvPr id="10" name="text-1313"/>
          <p:cNvSpPr txBox="1"/>
          <p:nvPr/>
        </p:nvSpPr>
        <p:spPr>
          <a:xfrm>
            <a:off x="8412480" y="1536192"/>
            <a:ext cx="3108960" cy="457200"/>
          </a:xfrm>
          <a:prstGeom prst="rect">
            <a:avLst/>
          </a:prstGeom>
          <a:noFill/>
          <a:ln/>
        </p:spPr>
        <p:txBody>
          <a:bodyPr wrap="square" lIns="0" tIns="0" rIns="0" bIns="0" rtlCol="0" anchor="ctr"/>
          <a:lstStyle/>
          <a:p>
            <a:pPr indent="0" marL="0">
              <a:buNone/>
            </a:pPr>
            <a:r>
              <a:rPr lang="en-US" sz="1600" b="1" dirty="0">
                <a:solidFill>
                  <a:schemeClr val="tx1"/>
                </a:solidFill>
              </a:rPr>
              <a:t>Reading the mesh study</a:t>
            </a:r>
            <a:endParaRPr lang="en-US" sz="1600" dirty="0"/>
          </a:p>
        </p:txBody>
      </p:sp>
      <p:sp>
        <p:nvSpPr>
          <p:cNvPr id="11" name="text-1314"/>
          <p:cNvSpPr txBox="1"/>
          <p:nvPr/>
        </p:nvSpPr>
        <p:spPr>
          <a:xfrm>
            <a:off x="7818120" y="2103120"/>
            <a:ext cx="3657600" cy="1691640"/>
          </a:xfrm>
          <a:prstGeom prst="rect">
            <a:avLst/>
          </a:prstGeom>
          <a:noFill/>
          <a:ln/>
        </p:spPr>
        <p:txBody>
          <a:bodyPr wrap="square" lIns="0" tIns="0" rIns="0" bIns="0" rtlCol="0" anchor="t"/>
          <a:lstStyle/>
          <a:p>
            <a:pPr indent="0" marL="0">
              <a:buNone/>
            </a:pPr>
            <a:r>
              <a:rPr lang="en-US" sz="1350" dirty="0">
                <a:solidFill>
                  <a:schemeClr val="tx2"/>
                </a:solidFill>
              </a:rPr>
              <a:t>T</a:t>
            </a:r>
            <a:pPr indent="0" marL="0">
              <a:buNone/>
            </a:pPr>
            <a:r>
              <a:rPr lang="en-US" sz="1350" baseline="-40000" dirty="0">
                <a:solidFill>
                  <a:schemeClr val="tx2"/>
                </a:solidFill>
              </a:rPr>
              <a:t>tip</a:t>
            </a:r>
            <a:pPr indent="0" marL="0">
              <a:buNone/>
            </a:pPr>
            <a:r>
              <a:rPr lang="en-US" sz="1350" dirty="0">
                <a:solidFill>
                  <a:schemeClr val="tx2"/>
                </a:solidFill>
              </a:rPr>
              <a:t> is already exact on the Normal mesh: COMSOL uses quadratic elements. Q needs a </a:t>
            </a:r>
            <a:pPr indent="0" marL="0">
              <a:buNone/>
            </a:pPr>
            <a:r>
              <a:rPr lang="en-US" sz="1350" b="1" dirty="0">
                <a:solidFill>
                  <a:schemeClr val="tx2"/>
                </a:solidFill>
              </a:rPr>
              <a:t>derivative</a:t>
            </a:r>
            <a:pPr indent="0" marL="0">
              <a:buNone/>
            </a:pPr>
            <a:r>
              <a:rPr lang="en-US" sz="1350" dirty="0">
                <a:solidFill>
                  <a:schemeClr val="tx2"/>
                </a:solidFill>
              </a:rPr>
              <a:t>, so its error falls more slowly, roughly with the element size squared.</a:t>
            </a:r>
            <a:endParaRPr lang="en-US" sz="1350" dirty="0"/>
          </a:p>
        </p:txBody>
      </p:sp>
      <p:sp>
        <p:nvSpPr>
          <p:cNvPr id="12" name="card-1315"/>
          <p:cNvSpPr/>
          <p:nvPr/>
        </p:nvSpPr>
        <p:spPr>
          <a:xfrm>
            <a:off x="7635240" y="4069080"/>
            <a:ext cx="4005072" cy="1965960"/>
          </a:xfrm>
          <a:prstGeom prst="roundRect">
            <a:avLst>
              <a:gd name="adj" fmla="val 4651"/>
            </a:avLst>
          </a:prstGeom>
          <a:solidFill>
            <a:schemeClr val="accent2">
              <a:alpha val="14000"/>
            </a:schemeClr>
          </a:solidFill>
          <a:ln/>
        </p:spPr>
      </p:sp>
      <p:sp>
        <p:nvSpPr>
          <p:cNvPr id="13" name="icon-bg-1316"/>
          <p:cNvSpPr/>
          <p:nvPr/>
        </p:nvSpPr>
        <p:spPr>
          <a:xfrm>
            <a:off x="7818120" y="4206240"/>
            <a:ext cx="457200" cy="457200"/>
          </a:xfrm>
          <a:prstGeom prst="ellipse">
            <a:avLst/>
          </a:prstGeom>
          <a:solidFill>
            <a:schemeClr val="accent2"/>
          </a:solidFill>
          <a:ln/>
        </p:spPr>
      </p:sp>
      <p:pic>
        <p:nvPicPr>
          <p:cNvPr id="14" name="icon-1317" descr="preencoded.png">    </p:cNvPr>
          <p:cNvPicPr>
            <a:picLocks noChangeAspect="1"/>
          </p:cNvPicPr>
          <p:nvPr/>
        </p:nvPicPr>
        <p:blipFill>
          <a:blip r:embed="rId3"/>
          <a:stretch>
            <a:fillRect/>
          </a:stretch>
        </p:blipFill>
        <p:spPr>
          <a:xfrm>
            <a:off x="7923276" y="4311396"/>
            <a:ext cx="246888" cy="246888"/>
          </a:xfrm>
          <a:prstGeom prst="rect">
            <a:avLst/>
          </a:prstGeom>
        </p:spPr>
      </p:pic>
      <p:sp>
        <p:nvSpPr>
          <p:cNvPr id="15" name="text-1318"/>
          <p:cNvSpPr txBox="1"/>
          <p:nvPr/>
        </p:nvSpPr>
        <p:spPr>
          <a:xfrm>
            <a:off x="8412480" y="4206240"/>
            <a:ext cx="2743200" cy="457200"/>
          </a:xfrm>
          <a:prstGeom prst="rect">
            <a:avLst/>
          </a:prstGeom>
          <a:noFill/>
          <a:ln/>
        </p:spPr>
        <p:txBody>
          <a:bodyPr wrap="square" lIns="0" tIns="0" rIns="0" bIns="0" rtlCol="0" anchor="ctr"/>
          <a:lstStyle/>
          <a:p>
            <a:pPr indent="0" marL="0">
              <a:buNone/>
            </a:pPr>
            <a:r>
              <a:rPr lang="en-US" sz="1300" b="1" spc="100" kern="0" dirty="0">
                <a:solidFill>
                  <a:schemeClr val="accent2"/>
                </a:solidFill>
              </a:rPr>
              <a:t>TRY IT</a:t>
            </a:r>
            <a:endParaRPr lang="en-US" sz="1300" dirty="0"/>
          </a:p>
        </p:txBody>
      </p:sp>
      <p:sp>
        <p:nvSpPr>
          <p:cNvPr id="16" name="text-1319"/>
          <p:cNvSpPr txBox="1"/>
          <p:nvPr/>
        </p:nvSpPr>
        <p:spPr>
          <a:xfrm>
            <a:off x="7818120" y="4709160"/>
            <a:ext cx="3657600" cy="1234440"/>
          </a:xfrm>
          <a:prstGeom prst="rect">
            <a:avLst/>
          </a:prstGeom>
          <a:noFill/>
          <a:ln/>
        </p:spPr>
        <p:txBody>
          <a:bodyPr wrap="square" lIns="0" tIns="0" rIns="0" bIns="0" rtlCol="0" anchor="t"/>
          <a:lstStyle/>
          <a:p>
            <a:pPr indent="0" marL="0">
              <a:buNone/>
            </a:pPr>
            <a:r>
              <a:rPr lang="en-US" sz="1450" dirty="0">
                <a:solidFill>
                  <a:schemeClr val="tx1"/>
                </a:solidFill>
              </a:rPr>
              <a:t>Change h to </a:t>
            </a:r>
            <a:pPr indent="0" marL="0">
              <a:buNone/>
            </a:pPr>
            <a:r>
              <a:rPr lang="en-US" sz="1450" b="1" dirty="0">
                <a:solidFill>
                  <a:schemeClr val="tx1"/>
                </a:solidFill>
              </a:rPr>
              <a:t>100 W/(m²·K)</a:t>
            </a:r>
            <a:pPr indent="0" marL="0">
              <a:buNone/>
            </a:pPr>
            <a:r>
              <a:rPr lang="en-US" sz="1450" dirty="0">
                <a:solidFill>
                  <a:schemeClr val="tx1"/>
                </a:solidFill>
              </a:rPr>
              <a:t> (a fan). </a:t>
            </a:r>
            <a:pPr indent="0" marL="0">
              <a:buNone/>
            </a:pPr>
            <a:r>
              <a:rPr lang="en-US" sz="1450" b="1" dirty="0">
                <a:solidFill>
                  <a:schemeClr val="tx1"/>
                </a:solidFill>
              </a:rPr>
              <a:t>Predict first:</a:t>
            </a:r>
            <a:pPr indent="0" marL="0">
              <a:buNone/>
            </a:pPr>
            <a:r>
              <a:rPr lang="en-US" sz="1450" dirty="0">
                <a:solidFill>
                  <a:schemeClr val="tx1"/>
                </a:solidFill>
              </a:rPr>
              <a:t> hotter or colder tip? Then check with COMSOL.</a:t>
            </a:r>
            <a:endParaRPr lang="en-US" sz="14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1320"/>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2 · PHOSPHORUS DIFFUSION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Doping a silicon wafer: 1D and unsteady</a:t>
            </a:r>
            <a:endParaRPr lang="en-US" sz="3200" dirty="0"/>
          </a:p>
        </p:txBody>
      </p:sp>
      <p:sp>
        <p:nvSpPr>
          <p:cNvPr id="4" name="card-1321"/>
          <p:cNvSpPr/>
          <p:nvPr/>
        </p:nvSpPr>
        <p:spPr>
          <a:xfrm>
            <a:off x="548640" y="1371600"/>
            <a:ext cx="5760720" cy="2880360"/>
          </a:xfrm>
          <a:prstGeom prst="roundRect">
            <a:avLst>
              <a:gd name="adj" fmla="val 317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322" descr="Phosphorus diffusing from a P-rich coating into a silicon wafer, with the expected concentration profile">    </p:cNvPr>
          <p:cNvPicPr>
            <a:picLocks noChangeAspect="1"/>
          </p:cNvPicPr>
          <p:nvPr/>
        </p:nvPicPr>
        <p:blipFill>
          <a:blip r:embed="rId1"/>
          <a:stretch>
            <a:fillRect/>
          </a:stretch>
        </p:blipFill>
        <p:spPr>
          <a:xfrm>
            <a:off x="640080" y="1429088"/>
            <a:ext cx="5577840" cy="2765385"/>
          </a:xfrm>
          <a:prstGeom prst="rect">
            <a:avLst/>
          </a:prstGeom>
        </p:spPr>
      </p:pic>
      <p:sp>
        <p:nvSpPr>
          <p:cNvPr id="6" name="pill-1323"/>
          <p:cNvSpPr/>
          <p:nvPr/>
        </p:nvSpPr>
        <p:spPr>
          <a:xfrm>
            <a:off x="548640" y="4434840"/>
            <a:ext cx="2834640" cy="457200"/>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c</a:t>
            </a:r>
            <a:pPr algn="ctr" indent="0" marL="0">
              <a:buNone/>
            </a:pPr>
            <a:r>
              <a:rPr lang="en-US" sz="1400" b="1" baseline="-40000" dirty="0">
                <a:solidFill>
                  <a:schemeClr val="tx1"/>
                </a:solidFill>
              </a:rPr>
              <a:t>s</a:t>
            </a:r>
            <a:pPr algn="ctr" indent="0" marL="0">
              <a:buNone/>
            </a:pPr>
            <a:r>
              <a:rPr lang="en-US" sz="1400" b="1" dirty="0">
                <a:solidFill>
                  <a:schemeClr val="tx1"/>
                </a:solidFill>
              </a:rPr>
              <a:t> = 2.5×10</a:t>
            </a:r>
            <a:pPr algn="ctr" indent="0" marL="0">
              <a:buNone/>
            </a:pPr>
            <a:r>
              <a:rPr lang="en-US" sz="1400" b="1" baseline="30000" dirty="0">
                <a:solidFill>
                  <a:schemeClr val="tx1"/>
                </a:solidFill>
              </a:rPr>
              <a:t>20</a:t>
            </a:r>
            <a:pPr algn="ctr" indent="0" marL="0">
              <a:buNone/>
            </a:pPr>
            <a:r>
              <a:rPr lang="en-US" sz="1400" b="1" dirty="0">
                <a:solidFill>
                  <a:schemeClr val="tx1"/>
                </a:solidFill>
              </a:rPr>
              <a:t> atoms/cm³</a:t>
            </a:r>
            <a:endParaRPr lang="en-US" sz="1400" dirty="0"/>
          </a:p>
        </p:txBody>
      </p:sp>
      <p:sp>
        <p:nvSpPr>
          <p:cNvPr id="7" name="pill-1324"/>
          <p:cNvSpPr/>
          <p:nvPr/>
        </p:nvSpPr>
        <p:spPr>
          <a:xfrm>
            <a:off x="3474720" y="4434840"/>
            <a:ext cx="2834640" cy="457200"/>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D = 6.5×10</a:t>
            </a:r>
            <a:pPr algn="ctr" indent="0" marL="0">
              <a:buNone/>
            </a:pPr>
            <a:r>
              <a:rPr lang="en-US" sz="1400" b="1" baseline="30000" dirty="0">
                <a:solidFill>
                  <a:schemeClr val="tx1"/>
                </a:solidFill>
              </a:rPr>
              <a:t>−13</a:t>
            </a:r>
            <a:pPr algn="ctr" indent="0" marL="0">
              <a:buNone/>
            </a:pPr>
            <a:r>
              <a:rPr lang="en-US" sz="1400" b="1" dirty="0">
                <a:solidFill>
                  <a:schemeClr val="tx1"/>
                </a:solidFill>
              </a:rPr>
              <a:t> cm²/s</a:t>
            </a:r>
            <a:endParaRPr lang="en-US" sz="1400" dirty="0"/>
          </a:p>
        </p:txBody>
      </p:sp>
      <p:sp>
        <p:nvSpPr>
          <p:cNvPr id="8" name="pill-1325"/>
          <p:cNvSpPr/>
          <p:nvPr/>
        </p:nvSpPr>
        <p:spPr>
          <a:xfrm>
            <a:off x="548640" y="5001768"/>
            <a:ext cx="2834640" cy="457200"/>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1 h at 1100 °C</a:t>
            </a:r>
            <a:endParaRPr lang="en-US" sz="1400" dirty="0"/>
          </a:p>
        </p:txBody>
      </p:sp>
      <p:sp>
        <p:nvSpPr>
          <p:cNvPr id="9" name="pill-1326"/>
          <p:cNvSpPr/>
          <p:nvPr/>
        </p:nvSpPr>
        <p:spPr>
          <a:xfrm>
            <a:off x="3474720" y="5001768"/>
            <a:ext cx="2834640" cy="457200"/>
          </a:xfrm>
          <a:prstGeom prst="roundRect">
            <a:avLst>
              <a:gd name="adj" fmla="val 50000"/>
            </a:avLst>
          </a:prstGeom>
          <a:solidFill>
            <a:schemeClr val="bg1"/>
          </a:solidFill>
          <a:ln w="12700">
            <a:solidFill>
              <a:schemeClr val="accent1"/>
            </a:solidFill>
          </a:ln>
        </p:spPr>
        <p:txBody>
          <a:bodyPr wrap="square" lIns="0" tIns="0" rIns="0" bIns="0" rtlCol="0" anchor="ctr"/>
          <a:lstStyle/>
          <a:p>
            <a:pPr algn="ctr" indent="0" marL="0">
              <a:buNone/>
            </a:pPr>
            <a:r>
              <a:rPr lang="en-US" sz="1400" b="1" dirty="0">
                <a:solidFill>
                  <a:schemeClr val="tx1"/>
                </a:solidFill>
              </a:rPr>
              <a:t>film edge: c = 1 % of c</a:t>
            </a:r>
            <a:pPr algn="ctr" indent="0" marL="0">
              <a:buNone/>
            </a:pPr>
            <a:r>
              <a:rPr lang="en-US" sz="1400" b="1" baseline="-40000" dirty="0">
                <a:solidFill>
                  <a:schemeClr val="tx1"/>
                </a:solidFill>
              </a:rPr>
              <a:t>s</a:t>
            </a:r>
            <a:endParaRPr lang="en-US" sz="1400" dirty="0"/>
          </a:p>
        </p:txBody>
      </p:sp>
      <p:sp>
        <p:nvSpPr>
          <p:cNvPr id="10" name="text-1327"/>
          <p:cNvSpPr txBox="1"/>
          <p:nvPr/>
        </p:nvSpPr>
        <p:spPr>
          <a:xfrm>
            <a:off x="548640" y="5623560"/>
            <a:ext cx="1463040" cy="384048"/>
          </a:xfrm>
          <a:prstGeom prst="rect">
            <a:avLst/>
          </a:prstGeom>
          <a:noFill/>
          <a:ln/>
        </p:spPr>
        <p:txBody>
          <a:bodyPr wrap="square" lIns="0" tIns="0" rIns="0" bIns="0" rtlCol="0" anchor="ctr"/>
          <a:lstStyle/>
          <a:p>
            <a:pPr indent="0" marL="0">
              <a:buNone/>
            </a:pPr>
            <a:r>
              <a:rPr lang="en-US" sz="1100" b="1" spc="100" kern="0" dirty="0">
                <a:solidFill>
                  <a:schemeClr val="accent4"/>
                </a:solidFill>
              </a:rPr>
              <a:t>NEW IN COMSOL</a:t>
            </a:r>
            <a:endParaRPr lang="en-US" sz="1100" dirty="0"/>
          </a:p>
        </p:txBody>
      </p:sp>
      <p:sp>
        <p:nvSpPr>
          <p:cNvPr id="11" name="pill-1328"/>
          <p:cNvSpPr/>
          <p:nvPr/>
        </p:nvSpPr>
        <p:spPr>
          <a:xfrm>
            <a:off x="2011680" y="5650992"/>
            <a:ext cx="132588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time-dependent</a:t>
            </a:r>
            <a:endParaRPr lang="en-US" sz="1100" dirty="0"/>
          </a:p>
        </p:txBody>
      </p:sp>
      <p:sp>
        <p:nvSpPr>
          <p:cNvPr id="12" name="pill-1329"/>
          <p:cNvSpPr/>
          <p:nvPr/>
        </p:nvSpPr>
        <p:spPr>
          <a:xfrm>
            <a:off x="3410712" y="5650992"/>
            <a:ext cx="105156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parameters</a:t>
            </a:r>
            <a:endParaRPr lang="en-US" sz="1100" dirty="0"/>
          </a:p>
        </p:txBody>
      </p:sp>
      <p:sp>
        <p:nvSpPr>
          <p:cNvPr id="13" name="pill-1330"/>
          <p:cNvSpPr/>
          <p:nvPr/>
        </p:nvSpPr>
        <p:spPr>
          <a:xfrm>
            <a:off x="4535424" y="5650992"/>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Diluted Species</a:t>
            </a:r>
            <a:endParaRPr lang="en-US" sz="1100" dirty="0"/>
          </a:p>
        </p:txBody>
      </p:sp>
      <p:sp>
        <p:nvSpPr>
          <p:cNvPr id="14" name="text-1331"/>
          <p:cNvSpPr txBox="1"/>
          <p:nvPr/>
        </p:nvSpPr>
        <p:spPr>
          <a:xfrm>
            <a:off x="6583680" y="1371600"/>
            <a:ext cx="502920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GOVERNING EQUATION (FICK'S LAW)</a:t>
            </a:r>
            <a:endParaRPr lang="en-US" sz="1150" dirty="0"/>
          </a:p>
        </p:txBody>
      </p:sp>
      <p:sp>
        <p:nvSpPr>
          <p:cNvPr id="15" name="card-1332"/>
          <p:cNvSpPr/>
          <p:nvPr/>
        </p:nvSpPr>
        <p:spPr>
          <a:xfrm>
            <a:off x="6583680" y="1664208"/>
            <a:ext cx="5056632" cy="914400"/>
          </a:xfrm>
          <a:prstGeom prst="roundRect">
            <a:avLst>
              <a:gd name="adj" fmla="val 10000"/>
            </a:avLst>
          </a:prstGeom>
          <a:solidFill>
            <a:schemeClr val="bg1"/>
          </a:solidFill>
          <a:ln w="9525">
            <a:solidFill>
              <a:schemeClr val="accent4">
                <a:alpha val="35000"/>
              </a:schemeClr>
            </a:solidFill>
            <a:prstDash val="solid"/>
          </a:ln>
        </p:spPr>
      </p:sp>
      <p:pic>
        <p:nvPicPr>
          <p:cNvPr id="16" name="eq-1333" descr="p2_pde">    </p:cNvPr>
          <p:cNvPicPr>
            <a:picLocks noChangeAspect="1"/>
          </p:cNvPicPr>
          <p:nvPr/>
        </p:nvPicPr>
        <p:blipFill>
          <a:blip r:embed="rId2"/>
          <a:stretch>
            <a:fillRect/>
          </a:stretch>
        </p:blipFill>
        <p:spPr>
          <a:xfrm>
            <a:off x="8171688" y="1854708"/>
            <a:ext cx="1880616" cy="542544"/>
          </a:xfrm>
          <a:prstGeom prst="rect">
            <a:avLst/>
          </a:prstGeom>
        </p:spPr>
      </p:pic>
      <p:sp>
        <p:nvSpPr>
          <p:cNvPr id="17" name="text-1334"/>
          <p:cNvSpPr txBox="1"/>
          <p:nvPr/>
        </p:nvSpPr>
        <p:spPr>
          <a:xfrm>
            <a:off x="6583680" y="2743200"/>
            <a:ext cx="502920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EXACT SOLUTION (SEMI-INFINITE WAFER)</a:t>
            </a:r>
            <a:endParaRPr lang="en-US" sz="1150" dirty="0"/>
          </a:p>
        </p:txBody>
      </p:sp>
      <p:sp>
        <p:nvSpPr>
          <p:cNvPr id="18" name="card-1335"/>
          <p:cNvSpPr/>
          <p:nvPr/>
        </p:nvSpPr>
        <p:spPr>
          <a:xfrm>
            <a:off x="6583680" y="3035808"/>
            <a:ext cx="5056632" cy="914400"/>
          </a:xfrm>
          <a:prstGeom prst="roundRect">
            <a:avLst>
              <a:gd name="adj" fmla="val 10000"/>
            </a:avLst>
          </a:prstGeom>
          <a:solidFill>
            <a:schemeClr val="bg1"/>
          </a:solidFill>
          <a:ln w="9525">
            <a:solidFill>
              <a:schemeClr val="accent4">
                <a:alpha val="35000"/>
              </a:schemeClr>
            </a:solidFill>
            <a:prstDash val="solid"/>
          </a:ln>
        </p:spPr>
      </p:sp>
      <p:pic>
        <p:nvPicPr>
          <p:cNvPr id="19" name="eq-1336" descr="p2_exact">    </p:cNvPr>
          <p:cNvPicPr>
            <a:picLocks noChangeAspect="1"/>
          </p:cNvPicPr>
          <p:nvPr/>
        </p:nvPicPr>
        <p:blipFill>
          <a:blip r:embed="rId3"/>
          <a:stretch>
            <a:fillRect/>
          </a:stretch>
        </p:blipFill>
        <p:spPr>
          <a:xfrm>
            <a:off x="7816596" y="3229356"/>
            <a:ext cx="2590800" cy="536448"/>
          </a:xfrm>
          <a:prstGeom prst="rect">
            <a:avLst/>
          </a:prstGeom>
        </p:spPr>
      </p:pic>
      <p:sp>
        <p:nvSpPr>
          <p:cNvPr id="20" name="card-1337"/>
          <p:cNvSpPr/>
          <p:nvPr/>
        </p:nvSpPr>
        <p:spPr>
          <a:xfrm>
            <a:off x="6583680" y="4206240"/>
            <a:ext cx="5056632" cy="1828800"/>
          </a:xfrm>
          <a:prstGeom prst="roundRect">
            <a:avLst>
              <a:gd name="adj" fmla="val 5000"/>
            </a:avLst>
          </a:prstGeom>
          <a:solidFill>
            <a:schemeClr val="tx1"/>
          </a:solidFill>
          <a:ln/>
          <a:effectLst>
            <a:outerShdw sx="100000" sy="100000" kx="0" ky="0" algn="bl" rotWithShape="0" blurRad="88900" dist="19050" dir="5400000">
              <a:srgbClr val="0B2E47">
                <a:alpha val="12000"/>
              </a:srgbClr>
            </a:outerShdw>
          </a:effectLst>
        </p:spPr>
      </p:sp>
      <p:sp>
        <p:nvSpPr>
          <p:cNvPr id="21" name="text-1338"/>
          <p:cNvSpPr txBox="1"/>
          <p:nvPr/>
        </p:nvSpPr>
        <p:spPr>
          <a:xfrm>
            <a:off x="6858000" y="4343400"/>
            <a:ext cx="27432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TARGET</a:t>
            </a:r>
            <a:endParaRPr lang="en-US" sz="1200" dirty="0"/>
          </a:p>
        </p:txBody>
      </p:sp>
      <p:sp>
        <p:nvSpPr>
          <p:cNvPr id="22" name="text-1339"/>
          <p:cNvSpPr txBox="1"/>
          <p:nvPr/>
        </p:nvSpPr>
        <p:spPr>
          <a:xfrm>
            <a:off x="6858000" y="4663440"/>
            <a:ext cx="4572000" cy="685800"/>
          </a:xfrm>
          <a:prstGeom prst="rect">
            <a:avLst/>
          </a:prstGeom>
          <a:noFill/>
          <a:ln/>
        </p:spPr>
        <p:txBody>
          <a:bodyPr wrap="square" lIns="0" tIns="0" rIns="0" bIns="0" rtlCol="0" anchor="t"/>
          <a:lstStyle/>
          <a:p>
            <a:pPr indent="0" marL="0">
              <a:buNone/>
            </a:pPr>
            <a:r>
              <a:rPr lang="en-US" sz="3200" b="1" dirty="0">
                <a:solidFill>
                  <a:schemeClr val="bg1"/>
                </a:solidFill>
              </a:rPr>
              <a:t>z</a:t>
            </a:r>
            <a:pPr indent="0" marL="0">
              <a:buNone/>
            </a:pPr>
            <a:r>
              <a:rPr lang="en-US" sz="3200" b="1" baseline="-40000" dirty="0">
                <a:solidFill>
                  <a:schemeClr val="bg1"/>
                </a:solidFill>
              </a:rPr>
              <a:t>film</a:t>
            </a:r>
            <a:pPr indent="0" marL="0">
              <a:buNone/>
            </a:pPr>
            <a:r>
              <a:rPr lang="en-US" sz="3200" b="1" dirty="0">
                <a:solidFill>
                  <a:schemeClr val="bg1"/>
                </a:solidFill>
              </a:rPr>
              <a:t> = 1.762 µm</a:t>
            </a:r>
            <a:endParaRPr lang="en-US" sz="3200" dirty="0"/>
          </a:p>
        </p:txBody>
      </p:sp>
      <p:sp>
        <p:nvSpPr>
          <p:cNvPr id="23" name="text-1340"/>
          <p:cNvSpPr txBox="1"/>
          <p:nvPr/>
        </p:nvSpPr>
        <p:spPr>
          <a:xfrm>
            <a:off x="6858000" y="5394960"/>
            <a:ext cx="4572000" cy="365760"/>
          </a:xfrm>
          <a:prstGeom prst="rect">
            <a:avLst/>
          </a:prstGeom>
          <a:noFill/>
          <a:ln/>
        </p:spPr>
        <p:txBody>
          <a:bodyPr wrap="square" lIns="0" tIns="0" rIns="0" bIns="0" rtlCol="0" anchor="t"/>
          <a:lstStyle/>
          <a:p>
            <a:pPr indent="0" marL="0">
              <a:buNone/>
            </a:pPr>
            <a:r>
              <a:rPr lang="en-US" sz="1400" dirty="0">
                <a:solidFill>
                  <a:schemeClr val="bg2"/>
                </a:solidFill>
              </a:rPr>
              <a:t>depth where c = 1 % of c</a:t>
            </a:r>
            <a:pPr indent="0" marL="0">
              <a:buNone/>
            </a:pPr>
            <a:r>
              <a:rPr lang="en-US" sz="1400" baseline="-40000" dirty="0">
                <a:solidFill>
                  <a:schemeClr val="bg2"/>
                </a:solidFill>
              </a:rPr>
              <a:t>s</a:t>
            </a:r>
            <a:pPr indent="0" marL="0">
              <a:buNone/>
            </a:pPr>
            <a:r>
              <a:rPr lang="en-US" sz="1400" dirty="0">
                <a:solidFill>
                  <a:schemeClr val="bg2"/>
                </a:solidFill>
              </a:rPr>
              <a:t>, after 1 h (exact)</a:t>
            </a:r>
            <a:endParaRPr lang="en-US" sz="14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134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2 · STEPS 1–5</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Model Wizard and parameters</a:t>
            </a:r>
            <a:endParaRPr lang="en-US" sz="3200" dirty="0"/>
          </a:p>
        </p:txBody>
      </p:sp>
      <p:sp>
        <p:nvSpPr>
          <p:cNvPr id="4" name="badge-1342"/>
          <p:cNvSpPr/>
          <p:nvPr/>
        </p:nvSpPr>
        <p:spPr>
          <a:xfrm>
            <a:off x="548640" y="1426464"/>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1343"/>
          <p:cNvSpPr txBox="1"/>
          <p:nvPr/>
        </p:nvSpPr>
        <p:spPr>
          <a:xfrm>
            <a:off x="1097280" y="1371600"/>
            <a:ext cx="4754880" cy="512064"/>
          </a:xfrm>
          <a:prstGeom prst="rect">
            <a:avLst/>
          </a:prstGeom>
          <a:noFill/>
          <a:ln/>
        </p:spPr>
        <p:txBody>
          <a:bodyPr wrap="square" lIns="0" tIns="0" rIns="0" bIns="0" rtlCol="0" anchor="ctr"/>
          <a:lstStyle/>
          <a:p>
            <a:pPr indent="0" marL="0">
              <a:buNone/>
            </a:pPr>
            <a:r>
              <a:rPr lang="en-US" sz="1450" b="1" dirty="0">
                <a:solidFill>
                  <a:schemeClr val="tx1"/>
                </a:solidFill>
              </a:rPr>
              <a:t>1D</a:t>
            </a:r>
            <a:pPr indent="0" marL="0">
              <a:buNone/>
            </a:pPr>
            <a:r>
              <a:rPr lang="en-US" sz="1450" dirty="0">
                <a:solidFill>
                  <a:schemeClr val="tx1"/>
                </a:solidFill>
              </a:rPr>
              <a:t> (COMSOL's x is the depth z)</a:t>
            </a:r>
            <a:endParaRPr lang="en-US" sz="1450" dirty="0"/>
          </a:p>
        </p:txBody>
      </p:sp>
      <p:sp>
        <p:nvSpPr>
          <p:cNvPr id="6" name="badge-1344"/>
          <p:cNvSpPr/>
          <p:nvPr/>
        </p:nvSpPr>
        <p:spPr>
          <a:xfrm>
            <a:off x="548640" y="2029968"/>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7" name="text-1345"/>
          <p:cNvSpPr txBox="1"/>
          <p:nvPr/>
        </p:nvSpPr>
        <p:spPr>
          <a:xfrm>
            <a:off x="1097280" y="1975104"/>
            <a:ext cx="4754880" cy="512064"/>
          </a:xfrm>
          <a:prstGeom prst="rect">
            <a:avLst/>
          </a:prstGeom>
          <a:noFill/>
          <a:ln/>
        </p:spPr>
        <p:txBody>
          <a:bodyPr wrap="square" lIns="0" tIns="0" rIns="0" bIns="0" rtlCol="0" anchor="ctr"/>
          <a:lstStyle/>
          <a:p>
            <a:pPr indent="0" marL="0">
              <a:buNone/>
            </a:pPr>
            <a:r>
              <a:rPr lang="en-US" sz="1450" dirty="0">
                <a:solidFill>
                  <a:schemeClr val="tx1"/>
                </a:solidFill>
              </a:rPr>
              <a:t>Chemical Species Transport › </a:t>
            </a:r>
            <a:pPr indent="0" marL="0">
              <a:buNone/>
            </a:pPr>
            <a:r>
              <a:rPr lang="en-US" sz="1450" b="1" dirty="0">
                <a:solidFill>
                  <a:schemeClr val="tx1"/>
                </a:solidFill>
              </a:rPr>
              <a:t>Transport of Diluted Species</a:t>
            </a:r>
            <a:endParaRPr lang="en-US" sz="1450" dirty="0"/>
          </a:p>
        </p:txBody>
      </p:sp>
      <p:sp>
        <p:nvSpPr>
          <p:cNvPr id="8" name="badge-1346"/>
          <p:cNvSpPr/>
          <p:nvPr/>
        </p:nvSpPr>
        <p:spPr>
          <a:xfrm>
            <a:off x="548640" y="2633472"/>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9" name="text-1347"/>
          <p:cNvSpPr txBox="1"/>
          <p:nvPr/>
        </p:nvSpPr>
        <p:spPr>
          <a:xfrm>
            <a:off x="1097280" y="2578608"/>
            <a:ext cx="4754880" cy="512064"/>
          </a:xfrm>
          <a:prstGeom prst="rect">
            <a:avLst/>
          </a:prstGeom>
          <a:noFill/>
          <a:ln/>
        </p:spPr>
        <p:txBody>
          <a:bodyPr wrap="square" lIns="0" tIns="0" rIns="0" bIns="0" rtlCol="0" anchor="ctr"/>
          <a:lstStyle/>
          <a:p>
            <a:pPr indent="0" marL="0">
              <a:buNone/>
            </a:pPr>
            <a:r>
              <a:rPr lang="en-US" sz="1450" b="1" dirty="0">
                <a:solidFill>
                  <a:schemeClr val="tx1"/>
                </a:solidFill>
              </a:rPr>
              <a:t>Time Dependent</a:t>
            </a:r>
            <a:pPr indent="0" marL="0">
              <a:buNone/>
            </a:pPr>
            <a:r>
              <a:rPr lang="en-US" sz="1450" dirty="0">
                <a:solidFill>
                  <a:schemeClr val="tx1"/>
                </a:solidFill>
              </a:rPr>
              <a:t> › Finish</a:t>
            </a:r>
            <a:endParaRPr lang="en-US" sz="1450" dirty="0"/>
          </a:p>
        </p:txBody>
      </p:sp>
      <p:sp>
        <p:nvSpPr>
          <p:cNvPr id="10" name="card-1348"/>
          <p:cNvSpPr/>
          <p:nvPr/>
        </p:nvSpPr>
        <p:spPr>
          <a:xfrm>
            <a:off x="548640" y="3291840"/>
            <a:ext cx="5303520" cy="2743200"/>
          </a:xfrm>
          <a:prstGeom prst="roundRect">
            <a:avLst>
              <a:gd name="adj" fmla="val 3333"/>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1" name="img-1349" descr="Add Physics: Transport of Diluted Species">    </p:cNvPr>
          <p:cNvPicPr>
            <a:picLocks noChangeAspect="1"/>
          </p:cNvPicPr>
          <p:nvPr/>
        </p:nvPicPr>
        <p:blipFill>
          <a:blip r:embed="rId1"/>
          <a:stretch>
            <a:fillRect/>
          </a:stretch>
        </p:blipFill>
        <p:spPr>
          <a:xfrm>
            <a:off x="660728" y="3337560"/>
            <a:ext cx="3250545" cy="2651760"/>
          </a:xfrm>
          <a:prstGeom prst="rect">
            <a:avLst/>
          </a:prstGeom>
        </p:spPr>
      </p:pic>
      <p:sp>
        <p:nvSpPr>
          <p:cNvPr id="12" name="text-1350"/>
          <p:cNvSpPr txBox="1"/>
          <p:nvPr/>
        </p:nvSpPr>
        <p:spPr>
          <a:xfrm>
            <a:off x="4023360" y="3474720"/>
            <a:ext cx="1691640" cy="2377440"/>
          </a:xfrm>
          <a:prstGeom prst="rect">
            <a:avLst/>
          </a:prstGeom>
          <a:noFill/>
          <a:ln/>
        </p:spPr>
        <p:txBody>
          <a:bodyPr wrap="square" lIns="0" tIns="0" rIns="0" bIns="0" rtlCol="0" anchor="t"/>
          <a:lstStyle/>
          <a:p>
            <a:pPr indent="0" marL="0">
              <a:buNone/>
            </a:pPr>
            <a:r>
              <a:rPr lang="en-US" sz="1300" dirty="0">
                <a:solidFill>
                  <a:schemeClr val="tx2"/>
                </a:solidFill>
              </a:rPr>
              <a:t>COMSOL's concentration c is in </a:t>
            </a:r>
            <a:pPr indent="0" marL="0">
              <a:buNone/>
            </a:pPr>
            <a:r>
              <a:rPr lang="en-US" sz="1300" b="1" dirty="0">
                <a:solidFill>
                  <a:schemeClr val="tx2"/>
                </a:solidFill>
              </a:rPr>
              <a:t>mol/m³</a:t>
            </a:r>
            <a:pPr indent="0" marL="0">
              <a:buNone/>
            </a:pPr>
            <a:r>
              <a:rPr lang="en-US" sz="1300" dirty="0">
                <a:solidFill>
                  <a:schemeClr val="tx2"/>
                </a:solidFill>
              </a:rPr>
              <a:t>: atoms/cm³ must be converted with Avogadro's number.</a:t>
            </a:r>
            <a:endParaRPr lang="en-US" sz="1300" dirty="0"/>
          </a:p>
        </p:txBody>
      </p:sp>
      <p:sp>
        <p:nvSpPr>
          <p:cNvPr id="13" name="badge-1351"/>
          <p:cNvSpPr/>
          <p:nvPr/>
        </p:nvSpPr>
        <p:spPr>
          <a:xfrm>
            <a:off x="6172200" y="1426464"/>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4" name="text-1352"/>
          <p:cNvSpPr txBox="1"/>
          <p:nvPr/>
        </p:nvSpPr>
        <p:spPr>
          <a:xfrm>
            <a:off x="6720840" y="1371600"/>
            <a:ext cx="4937760" cy="512064"/>
          </a:xfrm>
          <a:prstGeom prst="rect">
            <a:avLst/>
          </a:prstGeom>
          <a:noFill/>
          <a:ln/>
        </p:spPr>
        <p:txBody>
          <a:bodyPr wrap="square" lIns="0" tIns="0" rIns="0" bIns="0" rtlCol="0" anchor="ctr"/>
          <a:lstStyle/>
          <a:p>
            <a:pPr indent="0" marL="0">
              <a:buNone/>
            </a:pPr>
            <a:r>
              <a:rPr lang="en-US" sz="1600" b="1" dirty="0">
                <a:solidFill>
                  <a:schemeClr val="tx1"/>
                </a:solidFill>
              </a:rPr>
              <a:t>Parameters: all data in one place</a:t>
            </a:r>
            <a:endParaRPr lang="en-US" sz="1600" dirty="0"/>
          </a:p>
        </p:txBody>
      </p:sp>
      <p:graphicFrame>
        <p:nvGraphicFramePr>
          <p:cNvPr id="54" name="table-1353"/>
          <p:cNvGraphicFramePr>
            <a:graphicFrameLocks noGrp="1"/>
          </p:cNvGraphicFramePr>
          <p:nvPr>
            <p:extLst>
              <p:ext uri="{D42A27DB-BD31-4B8C-83A1-F6EECF244321}">
                <p14:modId xmlns:p14="http://schemas.microsoft.com/office/powerpoint/2010/main" val="1579011935"/>
              </p:ext>
            </p:extLst>
          </p:nvPr>
        </p:nvGraphicFramePr>
        <p:xfrm>
          <a:off x="6172200" y="2011680"/>
          <a:ext cx="5468112" cy="914400"/>
        </p:xfrm>
        <a:graphic>
          <a:graphicData uri="http://schemas.openxmlformats.org/drawingml/2006/table">
            <a:tbl>
              <a:tblPr/>
              <a:tblGrid>
                <a:gridCol w="914400"/>
                <a:gridCol w="2514600"/>
                <a:gridCol w="2039112"/>
              </a:tblGrid>
              <a:tr h="365760">
                <a:tc>
                  <a:txBody>
                    <a:bodyPr/>
                    <a:lstStyle/>
                    <a:p>
                      <a:pPr algn="l" indent="0" marL="0">
                        <a:buNone/>
                      </a:pPr>
                      <a:r>
                        <a:rPr lang="en-US" sz="1250" b="1" dirty="0">
                          <a:solidFill>
                            <a:schemeClr val="bg1"/>
                          </a:solidFill>
                        </a:rPr>
                        <a:t>Name</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250" b="1" dirty="0">
                          <a:solidFill>
                            <a:schemeClr val="bg1"/>
                          </a:solidFill>
                        </a:rPr>
                        <a:t>Expression</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250" b="1" dirty="0">
                          <a:solidFill>
                            <a:schemeClr val="bg1"/>
                          </a:solidFill>
                        </a:rPr>
                        <a:t>Meaning</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384048">
                <a:tc>
                  <a:txBody>
                    <a:bodyPr/>
                    <a:lstStyle/>
                    <a:p>
                      <a:pPr algn="l" indent="0" marL="0">
                        <a:buNone/>
                      </a:pPr>
                      <a:r>
                        <a:rPr lang="en-US" sz="1250" dirty="0">
                          <a:solidFill>
                            <a:schemeClr val="tx1"/>
                          </a:solidFill>
                          <a:latin typeface="Courier New" pitchFamily="34" charset="0"/>
                          <a:ea typeface="Courier New" pitchFamily="34" charset="-122"/>
                          <a:cs typeface="Courier New" pitchFamily="34" charset="-120"/>
                        </a:rPr>
                        <a:t>D</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latin typeface="Courier New" pitchFamily="34" charset="0"/>
                          <a:ea typeface="Courier New" pitchFamily="34" charset="-122"/>
                          <a:cs typeface="Courier New" pitchFamily="34" charset="-120"/>
                        </a:rPr>
                        <a:t>6.5e-13[cm^2/s]</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rPr>
                        <a:t>diffusivity of P in Si</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566928">
                <a:tc>
                  <a:txBody>
                    <a:bodyPr/>
                    <a:lstStyle/>
                    <a:p>
                      <a:pPr algn="l" indent="0" marL="0">
                        <a:buNone/>
                      </a:pPr>
                      <a:r>
                        <a:rPr lang="en-US" sz="1250" dirty="0">
                          <a:solidFill>
                            <a:schemeClr val="tx1"/>
                          </a:solidFill>
                          <a:latin typeface="Courier New" pitchFamily="34" charset="0"/>
                          <a:ea typeface="Courier New" pitchFamily="34" charset="-122"/>
                          <a:cs typeface="Courier New" pitchFamily="34" charset="-120"/>
                        </a:rPr>
                        <a:t>cs</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2"/>
                          </a:solidFill>
                          <a:latin typeface="Courier New" pitchFamily="34" charset="0"/>
                          <a:ea typeface="Courier New" pitchFamily="34" charset="-122"/>
                          <a:cs typeface="Courier New" pitchFamily="34" charset="-120"/>
                        </a:rPr>
                        <a:t>2.5e20[1/cm^3]/</a:t>
                      </a:r>
                      <a:endParaRPr lang="en-US" sz="1250" dirty="0">
                        <a:latin typeface="Courier New" charset="0"/>
                        <a:ea typeface="Courier New" charset="0"/>
                        <a:cs typeface="Courier New" charset="0"/>
                      </a:endParaRPr>
                    </a:p>
                    <a:p>
                      <a:pPr algn="ctr" indent="0" marL="0">
                        <a:buNone/>
                      </a:pPr>
                      <a:r>
                        <a:rPr lang="en-US" sz="1250" dirty="0">
                          <a:solidFill>
                            <a:schemeClr val="tx2"/>
                          </a:solidFill>
                          <a:latin typeface="Courier New" pitchFamily="34" charset="0"/>
                          <a:ea typeface="Courier New" pitchFamily="34" charset="-122"/>
                          <a:cs typeface="Courier New" pitchFamily="34" charset="-120"/>
                        </a:rPr>
                        <a:t>6.02214e23[1/mol]</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2"/>
                          </a:solidFill>
                        </a:rPr>
                        <a:t>surface conc., 415.13 mol/m³</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l" indent="0" marL="0">
                        <a:buNone/>
                      </a:pPr>
                      <a:r>
                        <a:rPr lang="en-US" sz="1250" dirty="0">
                          <a:solidFill>
                            <a:schemeClr val="tx1"/>
                          </a:solidFill>
                          <a:latin typeface="Courier New" pitchFamily="34" charset="0"/>
                          <a:ea typeface="Courier New" pitchFamily="34" charset="-122"/>
                          <a:cs typeface="Courier New" pitchFamily="34" charset="-120"/>
                        </a:rPr>
                        <a:t>c_edge</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latin typeface="Courier New" pitchFamily="34" charset="0"/>
                          <a:ea typeface="Courier New" pitchFamily="34" charset="-122"/>
                          <a:cs typeface="Courier New" pitchFamily="34" charset="-120"/>
                        </a:rPr>
                        <a:t>0.01*cs</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rPr>
                        <a:t>film edge (1 %)</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384048">
                <a:tc>
                  <a:txBody>
                    <a:bodyPr/>
                    <a:lstStyle/>
                    <a:p>
                      <a:pPr algn="l" indent="0" marL="0">
                        <a:buNone/>
                      </a:pPr>
                      <a:r>
                        <a:rPr lang="en-US" sz="1250" dirty="0">
                          <a:solidFill>
                            <a:schemeClr val="tx1"/>
                          </a:solidFill>
                          <a:latin typeface="Courier New" pitchFamily="34" charset="0"/>
                          <a:ea typeface="Courier New" pitchFamily="34" charset="-122"/>
                          <a:cs typeface="Courier New" pitchFamily="34" charset="-120"/>
                        </a:rPr>
                        <a:t>t_end</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2"/>
                          </a:solidFill>
                          <a:latin typeface="Courier New" pitchFamily="34" charset="0"/>
                          <a:ea typeface="Courier New" pitchFamily="34" charset="-122"/>
                          <a:cs typeface="Courier New" pitchFamily="34" charset="-120"/>
                        </a:rPr>
                        <a:t>3600[s]</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2"/>
                          </a:solidFill>
                        </a:rPr>
                        <a:t>doping time, 1 h</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384048">
                <a:tc>
                  <a:txBody>
                    <a:bodyPr/>
                    <a:lstStyle/>
                    <a:p>
                      <a:pPr algn="l" indent="0" marL="0">
                        <a:buNone/>
                      </a:pPr>
                      <a:r>
                        <a:rPr lang="en-US" sz="1250" dirty="0">
                          <a:solidFill>
                            <a:schemeClr val="tx1"/>
                          </a:solidFill>
                          <a:latin typeface="Courier New" pitchFamily="34" charset="0"/>
                          <a:ea typeface="Courier New" pitchFamily="34" charset="-122"/>
                          <a:cs typeface="Courier New" pitchFamily="34" charset="-120"/>
                        </a:rPr>
                        <a:t>zmax</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latin typeface="Courier New" pitchFamily="34" charset="0"/>
                          <a:ea typeface="Courier New" pitchFamily="34" charset="-122"/>
                          <a:cs typeface="Courier New" pitchFamily="34" charset="-120"/>
                        </a:rPr>
                        <a:t>5[um]</a:t>
                      </a:r>
                      <a:endParaRPr lang="en-US" sz="1250" dirty="0">
                        <a:latin typeface="Courier New" charset="0"/>
                        <a:ea typeface="Courier New" charset="0"/>
                        <a:cs typeface="Courier New" charset="0"/>
                      </a:endParaRPr>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2"/>
                          </a:solidFill>
                        </a:rPr>
                        <a:t>depth of the model</a:t>
                      </a:r>
                      <a:endParaRPr lang="en-US" sz="125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bl>
          </a:graphicData>
        </a:graphic>
      </p:graphicFrame>
      <p:sp>
        <p:nvSpPr>
          <p:cNvPr id="16" name="card-1354"/>
          <p:cNvSpPr/>
          <p:nvPr/>
        </p:nvSpPr>
        <p:spPr>
          <a:xfrm>
            <a:off x="6172200" y="4617720"/>
            <a:ext cx="3154680"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7" name="img-1355" descr="COMSOL Parameters table">    </p:cNvPr>
          <p:cNvPicPr>
            <a:picLocks noChangeAspect="1"/>
          </p:cNvPicPr>
          <p:nvPr/>
        </p:nvPicPr>
        <p:blipFill>
          <a:blip r:embed="rId2"/>
          <a:stretch>
            <a:fillRect/>
          </a:stretch>
        </p:blipFill>
        <p:spPr>
          <a:xfrm>
            <a:off x="6291072" y="4663440"/>
            <a:ext cx="2916936" cy="1325880"/>
          </a:xfrm>
          <a:prstGeom prst="rect">
            <a:avLst/>
          </a:prstGeom>
        </p:spPr>
      </p:pic>
      <p:sp>
        <p:nvSpPr>
          <p:cNvPr id="18" name="text-1356"/>
          <p:cNvSpPr txBox="1"/>
          <p:nvPr/>
        </p:nvSpPr>
        <p:spPr>
          <a:xfrm>
            <a:off x="9464040" y="4617720"/>
            <a:ext cx="2176272" cy="1417320"/>
          </a:xfrm>
          <a:prstGeom prst="rect">
            <a:avLst/>
          </a:prstGeom>
          <a:noFill/>
          <a:ln/>
        </p:spPr>
        <p:txBody>
          <a:bodyPr wrap="square" lIns="0" tIns="0" rIns="0" bIns="0" rtlCol="0" anchor="ctr"/>
          <a:lstStyle/>
          <a:p>
            <a:pPr indent="0" marL="0">
              <a:buNone/>
            </a:pPr>
            <a:r>
              <a:rPr lang="en-US" sz="1300" dirty="0">
                <a:solidFill>
                  <a:schemeClr val="tx2"/>
                </a:solidFill>
              </a:rPr>
              <a:t>Units in [brackets]: COMSOL converts everything to SI. Change a value and re-run.</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1357"/>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2 · STEPS 6–10</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Domain, boundary conditions and mesh</a:t>
            </a:r>
            <a:endParaRPr lang="en-US" sz="3200" dirty="0"/>
          </a:p>
        </p:txBody>
      </p:sp>
      <p:sp>
        <p:nvSpPr>
          <p:cNvPr id="4" name="card-1358"/>
          <p:cNvSpPr/>
          <p:nvPr/>
        </p:nvSpPr>
        <p:spPr>
          <a:xfrm>
            <a:off x="548640" y="1371600"/>
            <a:ext cx="11094415" cy="2514600"/>
          </a:xfrm>
          <a:prstGeom prst="roundRect">
            <a:avLst>
              <a:gd name="adj" fmla="val 363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line-1359"/>
          <p:cNvSpPr/>
          <p:nvPr/>
        </p:nvSpPr>
        <p:spPr>
          <a:xfrm>
            <a:off x="2514600" y="2697480"/>
            <a:ext cx="7178040" cy="0"/>
          </a:xfrm>
          <a:prstGeom prst="line">
            <a:avLst/>
          </a:prstGeom>
          <a:noFill/>
          <a:ln w="63500">
            <a:solidFill>
              <a:schemeClr val="accent1"/>
            </a:solidFill>
            <a:prstDash val="solid"/>
          </a:ln>
        </p:spPr>
      </p:sp>
      <p:sp>
        <p:nvSpPr>
          <p:cNvPr id="6" name="line-1360"/>
          <p:cNvSpPr/>
          <p:nvPr/>
        </p:nvSpPr>
        <p:spPr>
          <a:xfrm>
            <a:off x="2801722" y="2587752"/>
            <a:ext cx="0" cy="219456"/>
          </a:xfrm>
          <a:prstGeom prst="line">
            <a:avLst/>
          </a:prstGeom>
          <a:noFill/>
          <a:ln w="9525">
            <a:solidFill>
              <a:schemeClr val="accent4"/>
            </a:solidFill>
            <a:prstDash val="solid"/>
          </a:ln>
        </p:spPr>
      </p:sp>
      <p:sp>
        <p:nvSpPr>
          <p:cNvPr id="7" name="line-1361"/>
          <p:cNvSpPr/>
          <p:nvPr/>
        </p:nvSpPr>
        <p:spPr>
          <a:xfrm>
            <a:off x="3088843" y="2587752"/>
            <a:ext cx="0" cy="219456"/>
          </a:xfrm>
          <a:prstGeom prst="line">
            <a:avLst/>
          </a:prstGeom>
          <a:noFill/>
          <a:ln w="9525">
            <a:solidFill>
              <a:schemeClr val="accent4"/>
            </a:solidFill>
            <a:prstDash val="solid"/>
          </a:ln>
        </p:spPr>
      </p:sp>
      <p:sp>
        <p:nvSpPr>
          <p:cNvPr id="8" name="line-1362"/>
          <p:cNvSpPr/>
          <p:nvPr/>
        </p:nvSpPr>
        <p:spPr>
          <a:xfrm>
            <a:off x="3375965" y="2587752"/>
            <a:ext cx="0" cy="219456"/>
          </a:xfrm>
          <a:prstGeom prst="line">
            <a:avLst/>
          </a:prstGeom>
          <a:noFill/>
          <a:ln w="9525">
            <a:solidFill>
              <a:schemeClr val="accent4"/>
            </a:solidFill>
            <a:prstDash val="solid"/>
          </a:ln>
        </p:spPr>
      </p:sp>
      <p:sp>
        <p:nvSpPr>
          <p:cNvPr id="9" name="line-1363"/>
          <p:cNvSpPr/>
          <p:nvPr/>
        </p:nvSpPr>
        <p:spPr>
          <a:xfrm>
            <a:off x="3663086" y="2587752"/>
            <a:ext cx="0" cy="219456"/>
          </a:xfrm>
          <a:prstGeom prst="line">
            <a:avLst/>
          </a:prstGeom>
          <a:noFill/>
          <a:ln w="9525">
            <a:solidFill>
              <a:schemeClr val="accent4"/>
            </a:solidFill>
            <a:prstDash val="solid"/>
          </a:ln>
        </p:spPr>
      </p:sp>
      <p:sp>
        <p:nvSpPr>
          <p:cNvPr id="10" name="line-1364"/>
          <p:cNvSpPr/>
          <p:nvPr/>
        </p:nvSpPr>
        <p:spPr>
          <a:xfrm>
            <a:off x="3950208" y="2587752"/>
            <a:ext cx="0" cy="219456"/>
          </a:xfrm>
          <a:prstGeom prst="line">
            <a:avLst/>
          </a:prstGeom>
          <a:noFill/>
          <a:ln w="9525">
            <a:solidFill>
              <a:schemeClr val="accent4"/>
            </a:solidFill>
            <a:prstDash val="solid"/>
          </a:ln>
        </p:spPr>
      </p:sp>
      <p:sp>
        <p:nvSpPr>
          <p:cNvPr id="11" name="line-1365"/>
          <p:cNvSpPr/>
          <p:nvPr/>
        </p:nvSpPr>
        <p:spPr>
          <a:xfrm>
            <a:off x="4237330" y="2587752"/>
            <a:ext cx="0" cy="219456"/>
          </a:xfrm>
          <a:prstGeom prst="line">
            <a:avLst/>
          </a:prstGeom>
          <a:noFill/>
          <a:ln w="9525">
            <a:solidFill>
              <a:schemeClr val="accent4"/>
            </a:solidFill>
            <a:prstDash val="solid"/>
          </a:ln>
        </p:spPr>
      </p:sp>
      <p:sp>
        <p:nvSpPr>
          <p:cNvPr id="12" name="line-1366"/>
          <p:cNvSpPr/>
          <p:nvPr/>
        </p:nvSpPr>
        <p:spPr>
          <a:xfrm>
            <a:off x="4524451" y="2587752"/>
            <a:ext cx="0" cy="219456"/>
          </a:xfrm>
          <a:prstGeom prst="line">
            <a:avLst/>
          </a:prstGeom>
          <a:noFill/>
          <a:ln w="9525">
            <a:solidFill>
              <a:schemeClr val="accent4"/>
            </a:solidFill>
            <a:prstDash val="solid"/>
          </a:ln>
        </p:spPr>
      </p:sp>
      <p:sp>
        <p:nvSpPr>
          <p:cNvPr id="13" name="line-1367"/>
          <p:cNvSpPr/>
          <p:nvPr/>
        </p:nvSpPr>
        <p:spPr>
          <a:xfrm>
            <a:off x="4811573" y="2587752"/>
            <a:ext cx="0" cy="219456"/>
          </a:xfrm>
          <a:prstGeom prst="line">
            <a:avLst/>
          </a:prstGeom>
          <a:noFill/>
          <a:ln w="9525">
            <a:solidFill>
              <a:schemeClr val="accent4"/>
            </a:solidFill>
            <a:prstDash val="solid"/>
          </a:ln>
        </p:spPr>
      </p:sp>
      <p:sp>
        <p:nvSpPr>
          <p:cNvPr id="14" name="line-1368"/>
          <p:cNvSpPr/>
          <p:nvPr/>
        </p:nvSpPr>
        <p:spPr>
          <a:xfrm>
            <a:off x="5098694" y="2587752"/>
            <a:ext cx="0" cy="219456"/>
          </a:xfrm>
          <a:prstGeom prst="line">
            <a:avLst/>
          </a:prstGeom>
          <a:noFill/>
          <a:ln w="9525">
            <a:solidFill>
              <a:schemeClr val="accent4"/>
            </a:solidFill>
            <a:prstDash val="solid"/>
          </a:ln>
        </p:spPr>
      </p:sp>
      <p:sp>
        <p:nvSpPr>
          <p:cNvPr id="15" name="line-1369"/>
          <p:cNvSpPr/>
          <p:nvPr/>
        </p:nvSpPr>
        <p:spPr>
          <a:xfrm>
            <a:off x="5385816" y="2587752"/>
            <a:ext cx="0" cy="219456"/>
          </a:xfrm>
          <a:prstGeom prst="line">
            <a:avLst/>
          </a:prstGeom>
          <a:noFill/>
          <a:ln w="9525">
            <a:solidFill>
              <a:schemeClr val="accent4"/>
            </a:solidFill>
            <a:prstDash val="solid"/>
          </a:ln>
        </p:spPr>
      </p:sp>
      <p:sp>
        <p:nvSpPr>
          <p:cNvPr id="16" name="line-1370"/>
          <p:cNvSpPr/>
          <p:nvPr/>
        </p:nvSpPr>
        <p:spPr>
          <a:xfrm>
            <a:off x="5672938" y="2587752"/>
            <a:ext cx="0" cy="219456"/>
          </a:xfrm>
          <a:prstGeom prst="line">
            <a:avLst/>
          </a:prstGeom>
          <a:noFill/>
          <a:ln w="9525">
            <a:solidFill>
              <a:schemeClr val="accent4"/>
            </a:solidFill>
            <a:prstDash val="solid"/>
          </a:ln>
        </p:spPr>
      </p:sp>
      <p:sp>
        <p:nvSpPr>
          <p:cNvPr id="17" name="line-1371"/>
          <p:cNvSpPr/>
          <p:nvPr/>
        </p:nvSpPr>
        <p:spPr>
          <a:xfrm>
            <a:off x="5960059" y="2587752"/>
            <a:ext cx="0" cy="219456"/>
          </a:xfrm>
          <a:prstGeom prst="line">
            <a:avLst/>
          </a:prstGeom>
          <a:noFill/>
          <a:ln w="9525">
            <a:solidFill>
              <a:schemeClr val="accent4"/>
            </a:solidFill>
            <a:prstDash val="solid"/>
          </a:ln>
        </p:spPr>
      </p:sp>
      <p:sp>
        <p:nvSpPr>
          <p:cNvPr id="18" name="line-1372"/>
          <p:cNvSpPr/>
          <p:nvPr/>
        </p:nvSpPr>
        <p:spPr>
          <a:xfrm>
            <a:off x="6247181" y="2587752"/>
            <a:ext cx="0" cy="219456"/>
          </a:xfrm>
          <a:prstGeom prst="line">
            <a:avLst/>
          </a:prstGeom>
          <a:noFill/>
          <a:ln w="9525">
            <a:solidFill>
              <a:schemeClr val="accent4"/>
            </a:solidFill>
            <a:prstDash val="solid"/>
          </a:ln>
        </p:spPr>
      </p:sp>
      <p:sp>
        <p:nvSpPr>
          <p:cNvPr id="19" name="line-1373"/>
          <p:cNvSpPr/>
          <p:nvPr/>
        </p:nvSpPr>
        <p:spPr>
          <a:xfrm>
            <a:off x="6534302" y="2587752"/>
            <a:ext cx="0" cy="219456"/>
          </a:xfrm>
          <a:prstGeom prst="line">
            <a:avLst/>
          </a:prstGeom>
          <a:noFill/>
          <a:ln w="9525">
            <a:solidFill>
              <a:schemeClr val="accent4"/>
            </a:solidFill>
            <a:prstDash val="solid"/>
          </a:ln>
        </p:spPr>
      </p:sp>
      <p:sp>
        <p:nvSpPr>
          <p:cNvPr id="20" name="line-1374"/>
          <p:cNvSpPr/>
          <p:nvPr/>
        </p:nvSpPr>
        <p:spPr>
          <a:xfrm>
            <a:off x="6821424" y="2587752"/>
            <a:ext cx="0" cy="219456"/>
          </a:xfrm>
          <a:prstGeom prst="line">
            <a:avLst/>
          </a:prstGeom>
          <a:noFill/>
          <a:ln w="9525">
            <a:solidFill>
              <a:schemeClr val="accent4"/>
            </a:solidFill>
            <a:prstDash val="solid"/>
          </a:ln>
        </p:spPr>
      </p:sp>
      <p:sp>
        <p:nvSpPr>
          <p:cNvPr id="21" name="line-1375"/>
          <p:cNvSpPr/>
          <p:nvPr/>
        </p:nvSpPr>
        <p:spPr>
          <a:xfrm>
            <a:off x="7108546" y="2587752"/>
            <a:ext cx="0" cy="219456"/>
          </a:xfrm>
          <a:prstGeom prst="line">
            <a:avLst/>
          </a:prstGeom>
          <a:noFill/>
          <a:ln w="9525">
            <a:solidFill>
              <a:schemeClr val="accent4"/>
            </a:solidFill>
            <a:prstDash val="solid"/>
          </a:ln>
        </p:spPr>
      </p:sp>
      <p:sp>
        <p:nvSpPr>
          <p:cNvPr id="22" name="line-1376"/>
          <p:cNvSpPr/>
          <p:nvPr/>
        </p:nvSpPr>
        <p:spPr>
          <a:xfrm>
            <a:off x="7395667" y="2587752"/>
            <a:ext cx="0" cy="219456"/>
          </a:xfrm>
          <a:prstGeom prst="line">
            <a:avLst/>
          </a:prstGeom>
          <a:noFill/>
          <a:ln w="9525">
            <a:solidFill>
              <a:schemeClr val="accent4"/>
            </a:solidFill>
            <a:prstDash val="solid"/>
          </a:ln>
        </p:spPr>
      </p:sp>
      <p:sp>
        <p:nvSpPr>
          <p:cNvPr id="23" name="line-1377"/>
          <p:cNvSpPr/>
          <p:nvPr/>
        </p:nvSpPr>
        <p:spPr>
          <a:xfrm>
            <a:off x="7682789" y="2587752"/>
            <a:ext cx="0" cy="219456"/>
          </a:xfrm>
          <a:prstGeom prst="line">
            <a:avLst/>
          </a:prstGeom>
          <a:noFill/>
          <a:ln w="9525">
            <a:solidFill>
              <a:schemeClr val="accent4"/>
            </a:solidFill>
            <a:prstDash val="solid"/>
          </a:ln>
        </p:spPr>
      </p:sp>
      <p:sp>
        <p:nvSpPr>
          <p:cNvPr id="24" name="line-1378"/>
          <p:cNvSpPr/>
          <p:nvPr/>
        </p:nvSpPr>
        <p:spPr>
          <a:xfrm>
            <a:off x="7969910" y="2587752"/>
            <a:ext cx="0" cy="219456"/>
          </a:xfrm>
          <a:prstGeom prst="line">
            <a:avLst/>
          </a:prstGeom>
          <a:noFill/>
          <a:ln w="9525">
            <a:solidFill>
              <a:schemeClr val="accent4"/>
            </a:solidFill>
            <a:prstDash val="solid"/>
          </a:ln>
        </p:spPr>
      </p:sp>
      <p:sp>
        <p:nvSpPr>
          <p:cNvPr id="25" name="line-1379"/>
          <p:cNvSpPr/>
          <p:nvPr/>
        </p:nvSpPr>
        <p:spPr>
          <a:xfrm>
            <a:off x="8257032" y="2587752"/>
            <a:ext cx="0" cy="219456"/>
          </a:xfrm>
          <a:prstGeom prst="line">
            <a:avLst/>
          </a:prstGeom>
          <a:noFill/>
          <a:ln w="9525">
            <a:solidFill>
              <a:schemeClr val="accent4"/>
            </a:solidFill>
            <a:prstDash val="solid"/>
          </a:ln>
        </p:spPr>
      </p:sp>
      <p:sp>
        <p:nvSpPr>
          <p:cNvPr id="26" name="line-1380"/>
          <p:cNvSpPr/>
          <p:nvPr/>
        </p:nvSpPr>
        <p:spPr>
          <a:xfrm>
            <a:off x="8544154" y="2587752"/>
            <a:ext cx="0" cy="219456"/>
          </a:xfrm>
          <a:prstGeom prst="line">
            <a:avLst/>
          </a:prstGeom>
          <a:noFill/>
          <a:ln w="9525">
            <a:solidFill>
              <a:schemeClr val="accent4"/>
            </a:solidFill>
            <a:prstDash val="solid"/>
          </a:ln>
        </p:spPr>
      </p:sp>
      <p:sp>
        <p:nvSpPr>
          <p:cNvPr id="27" name="line-1381"/>
          <p:cNvSpPr/>
          <p:nvPr/>
        </p:nvSpPr>
        <p:spPr>
          <a:xfrm>
            <a:off x="8831275" y="2587752"/>
            <a:ext cx="0" cy="219456"/>
          </a:xfrm>
          <a:prstGeom prst="line">
            <a:avLst/>
          </a:prstGeom>
          <a:noFill/>
          <a:ln w="9525">
            <a:solidFill>
              <a:schemeClr val="accent4"/>
            </a:solidFill>
            <a:prstDash val="solid"/>
          </a:ln>
        </p:spPr>
      </p:sp>
      <p:sp>
        <p:nvSpPr>
          <p:cNvPr id="28" name="line-1382"/>
          <p:cNvSpPr/>
          <p:nvPr/>
        </p:nvSpPr>
        <p:spPr>
          <a:xfrm>
            <a:off x="9118397" y="2587752"/>
            <a:ext cx="0" cy="219456"/>
          </a:xfrm>
          <a:prstGeom prst="line">
            <a:avLst/>
          </a:prstGeom>
          <a:noFill/>
          <a:ln w="9525">
            <a:solidFill>
              <a:schemeClr val="accent4"/>
            </a:solidFill>
            <a:prstDash val="solid"/>
          </a:ln>
        </p:spPr>
      </p:sp>
      <p:sp>
        <p:nvSpPr>
          <p:cNvPr id="29" name="line-1383"/>
          <p:cNvSpPr/>
          <p:nvPr/>
        </p:nvSpPr>
        <p:spPr>
          <a:xfrm>
            <a:off x="9405518" y="2587752"/>
            <a:ext cx="0" cy="219456"/>
          </a:xfrm>
          <a:prstGeom prst="line">
            <a:avLst/>
          </a:prstGeom>
          <a:noFill/>
          <a:ln w="9525">
            <a:solidFill>
              <a:schemeClr val="accent4"/>
            </a:solidFill>
            <a:prstDash val="solid"/>
          </a:ln>
        </p:spPr>
      </p:sp>
      <p:sp>
        <p:nvSpPr>
          <p:cNvPr id="30" name="badge-1384"/>
          <p:cNvSpPr/>
          <p:nvPr/>
        </p:nvSpPr>
        <p:spPr>
          <a:xfrm>
            <a:off x="2359152" y="2542032"/>
            <a:ext cx="310896" cy="310896"/>
          </a:xfrm>
          <a:prstGeom prst="ellipse">
            <a:avLst/>
          </a:prstGeom>
          <a:solidFill>
            <a:schemeClr val="accent2"/>
          </a:solidFill>
          <a:ln/>
        </p:spPr>
        <p:txBody>
          <a:bodyPr wrap="square" lIns="0" tIns="0" rIns="0" bIns="0" rtlCol="0" anchor="ctr"/>
          <a:lstStyle/>
          <a:p>
            <a:pPr algn="ctr" indent="0" marL="0">
              <a:buNone/>
            </a:pPr>
            <a:endParaRPr lang="en-US" sz="1400" dirty="0"/>
          </a:p>
        </p:txBody>
      </p:sp>
      <p:sp>
        <p:nvSpPr>
          <p:cNvPr id="31" name="badge-1385"/>
          <p:cNvSpPr/>
          <p:nvPr/>
        </p:nvSpPr>
        <p:spPr>
          <a:xfrm>
            <a:off x="9537192" y="2542032"/>
            <a:ext cx="310896" cy="310896"/>
          </a:xfrm>
          <a:prstGeom prst="ellipse">
            <a:avLst/>
          </a:prstGeom>
          <a:solidFill>
            <a:schemeClr val="tx1"/>
          </a:solidFill>
          <a:ln/>
        </p:spPr>
        <p:txBody>
          <a:bodyPr wrap="square" lIns="0" tIns="0" rIns="0" bIns="0" rtlCol="0" anchor="ctr"/>
          <a:lstStyle/>
          <a:p>
            <a:pPr algn="ctr" indent="0" marL="0">
              <a:buNone/>
            </a:pPr>
            <a:endParaRPr lang="en-US" sz="1400" dirty="0"/>
          </a:p>
        </p:txBody>
      </p:sp>
      <p:sp>
        <p:nvSpPr>
          <p:cNvPr id="32" name="text-1386"/>
          <p:cNvSpPr txBox="1"/>
          <p:nvPr/>
        </p:nvSpPr>
        <p:spPr>
          <a:xfrm>
            <a:off x="2743200" y="1874520"/>
            <a:ext cx="6766560" cy="365760"/>
          </a:xfrm>
          <a:prstGeom prst="rect">
            <a:avLst/>
          </a:prstGeom>
          <a:noFill/>
          <a:ln/>
        </p:spPr>
        <p:txBody>
          <a:bodyPr wrap="square" lIns="0" tIns="0" rIns="0" bIns="0" rtlCol="0" anchor="t"/>
          <a:lstStyle/>
          <a:p>
            <a:pPr algn="ctr" indent="0" marL="0">
              <a:buNone/>
            </a:pPr>
            <a:r>
              <a:rPr lang="en-US" sz="1400" dirty="0">
                <a:solidFill>
                  <a:schemeClr val="tx1"/>
                </a:solidFill>
              </a:rPr>
              <a:t>Initial value: c = 0 everywhere (the wafer starts free of P)</a:t>
            </a:r>
            <a:endParaRPr lang="en-US" sz="1400" dirty="0"/>
          </a:p>
        </p:txBody>
      </p:sp>
      <p:sp>
        <p:nvSpPr>
          <p:cNvPr id="33" name="text-1387"/>
          <p:cNvSpPr txBox="1"/>
          <p:nvPr/>
        </p:nvSpPr>
        <p:spPr>
          <a:xfrm>
            <a:off x="2743200" y="3017520"/>
            <a:ext cx="6766560" cy="365760"/>
          </a:xfrm>
          <a:prstGeom prst="rect">
            <a:avLst/>
          </a:prstGeom>
          <a:noFill/>
          <a:ln/>
        </p:spPr>
        <p:txBody>
          <a:bodyPr wrap="square" lIns="0" tIns="0" rIns="0" bIns="0" rtlCol="0" anchor="t"/>
          <a:lstStyle/>
          <a:p>
            <a:pPr algn="ctr" indent="0" marL="0">
              <a:buNone/>
            </a:pPr>
            <a:r>
              <a:rPr lang="en-US" sz="1400" dirty="0">
                <a:solidFill>
                  <a:schemeClr val="tx1"/>
                </a:solidFill>
              </a:rPr>
              <a:t>D = 6.5×10</a:t>
            </a:r>
            <a:pPr algn="ctr" indent="0" marL="0">
              <a:buNone/>
            </a:pPr>
            <a:r>
              <a:rPr lang="en-US" sz="1400" baseline="30000" dirty="0">
                <a:solidFill>
                  <a:schemeClr val="tx1"/>
                </a:solidFill>
              </a:rPr>
              <a:t>−13</a:t>
            </a:r>
            <a:pPr algn="ctr" indent="0" marL="0">
              <a:buNone/>
            </a:pPr>
            <a:r>
              <a:rPr lang="en-US" sz="1400" dirty="0">
                <a:solidFill>
                  <a:schemeClr val="tx1"/>
                </a:solidFill>
              </a:rPr>
              <a:t> cm²/s, velocity u = 0: diffusion only</a:t>
            </a:r>
            <a:endParaRPr lang="en-US" sz="1400" dirty="0"/>
          </a:p>
        </p:txBody>
      </p:sp>
      <p:sp>
        <p:nvSpPr>
          <p:cNvPr id="34" name="text-1388"/>
          <p:cNvSpPr txBox="1"/>
          <p:nvPr/>
        </p:nvSpPr>
        <p:spPr>
          <a:xfrm>
            <a:off x="2743200" y="3383280"/>
            <a:ext cx="6766560" cy="320040"/>
          </a:xfrm>
          <a:prstGeom prst="rect">
            <a:avLst/>
          </a:prstGeom>
          <a:noFill/>
          <a:ln/>
        </p:spPr>
        <p:txBody>
          <a:bodyPr wrap="square" lIns="0" tIns="0" rIns="0" bIns="0" rtlCol="0" anchor="t"/>
          <a:lstStyle/>
          <a:p>
            <a:pPr algn="ctr" indent="0" marL="0">
              <a:buNone/>
            </a:pPr>
            <a:r>
              <a:rPr lang="en-US" sz="1250" i="1" dirty="0">
                <a:solidFill>
                  <a:schemeClr val="accent4"/>
                </a:solidFill>
              </a:rPr>
              <a:t>mesh: 50 elements of 0.1 µm</a:t>
            </a:r>
            <a:endParaRPr lang="en-US" sz="1250" dirty="0"/>
          </a:p>
        </p:txBody>
      </p:sp>
      <p:sp>
        <p:nvSpPr>
          <p:cNvPr id="35" name="text-1389"/>
          <p:cNvSpPr txBox="1"/>
          <p:nvPr/>
        </p:nvSpPr>
        <p:spPr>
          <a:xfrm>
            <a:off x="731520" y="1965960"/>
            <a:ext cx="1600200" cy="1463040"/>
          </a:xfrm>
          <a:prstGeom prst="rect">
            <a:avLst/>
          </a:prstGeom>
          <a:noFill/>
          <a:ln/>
        </p:spPr>
        <p:txBody>
          <a:bodyPr wrap="square" lIns="0" tIns="0" rIns="0" bIns="0" rtlCol="0" anchor="t"/>
          <a:lstStyle/>
          <a:p>
            <a:pPr indent="0" marL="0">
              <a:buNone/>
            </a:pPr>
            <a:r>
              <a:rPr lang="en-US" sz="1350" b="1" dirty="0">
                <a:solidFill>
                  <a:schemeClr val="tx1"/>
                </a:solidFill>
              </a:rPr>
              <a:t>Point 1 · z = 0</a:t>
            </a:r>
            <a:endParaRPr lang="en-US" sz="1600" dirty="0"/>
          </a:p>
          <a:p>
            <a:pPr indent="0" marL="0">
              <a:buNone/>
            </a:pPr>
            <a:r>
              <a:rPr lang="en-US" sz="1700" b="1" dirty="0">
                <a:solidFill>
                  <a:schemeClr val="accent2"/>
                </a:solidFill>
              </a:rPr>
              <a:t>c = c</a:t>
            </a:r>
            <a:pPr indent="0" marL="0">
              <a:buNone/>
            </a:pPr>
            <a:r>
              <a:rPr lang="en-US" sz="1700" b="1" baseline="-40000" dirty="0">
                <a:solidFill>
                  <a:schemeClr val="accent2"/>
                </a:solidFill>
              </a:rPr>
              <a:t>s</a:t>
            </a:r>
            <a:endParaRPr lang="en-US" sz="1600" dirty="0"/>
          </a:p>
          <a:p>
            <a:pPr indent="0" marL="0">
              <a:buNone/>
            </a:pPr>
            <a:r>
              <a:rPr lang="en-US" sz="1250" dirty="0">
                <a:solidFill>
                  <a:schemeClr val="tx2"/>
                </a:solidFill>
              </a:rPr>
              <a:t>coating: source</a:t>
            </a:r>
            <a:endParaRPr lang="en-US" sz="1600" dirty="0"/>
          </a:p>
        </p:txBody>
      </p:sp>
      <p:sp>
        <p:nvSpPr>
          <p:cNvPr id="36" name="text-1390"/>
          <p:cNvSpPr txBox="1"/>
          <p:nvPr/>
        </p:nvSpPr>
        <p:spPr>
          <a:xfrm>
            <a:off x="9966960" y="1965960"/>
            <a:ext cx="1600200" cy="1463040"/>
          </a:xfrm>
          <a:prstGeom prst="rect">
            <a:avLst/>
          </a:prstGeom>
          <a:noFill/>
          <a:ln/>
        </p:spPr>
        <p:txBody>
          <a:bodyPr wrap="square" lIns="0" tIns="0" rIns="0" bIns="0" rtlCol="0" anchor="t"/>
          <a:lstStyle/>
          <a:p>
            <a:pPr indent="0" marL="0">
              <a:buNone/>
            </a:pPr>
            <a:r>
              <a:rPr lang="en-US" sz="1350" b="1" dirty="0">
                <a:solidFill>
                  <a:schemeClr val="tx1"/>
                </a:solidFill>
              </a:rPr>
              <a:t>Point 2 · z = 5 µm</a:t>
            </a:r>
            <a:endParaRPr lang="en-US" sz="1600" dirty="0"/>
          </a:p>
          <a:p>
            <a:pPr indent="0" marL="0">
              <a:buNone/>
            </a:pPr>
            <a:r>
              <a:rPr lang="en-US" sz="1700" b="1" dirty="0">
                <a:solidFill>
                  <a:schemeClr val="tx1"/>
                </a:solidFill>
              </a:rPr>
              <a:t>c = 0</a:t>
            </a:r>
            <a:endParaRPr lang="en-US" sz="1600" dirty="0"/>
          </a:p>
          <a:p>
            <a:pPr indent="0" marL="0">
              <a:buNone/>
            </a:pPr>
            <a:r>
              <a:rPr lang="en-US" sz="1250" dirty="0">
                <a:solidFill>
                  <a:schemeClr val="tx2"/>
                </a:solidFill>
              </a:rPr>
              <a:t>deep wafer: sink</a:t>
            </a:r>
            <a:endParaRPr lang="en-US" sz="1600" dirty="0"/>
          </a:p>
        </p:txBody>
      </p:sp>
      <p:sp>
        <p:nvSpPr>
          <p:cNvPr id="37" name="card-1391"/>
          <p:cNvSpPr/>
          <p:nvPr/>
        </p:nvSpPr>
        <p:spPr>
          <a:xfrm>
            <a:off x="548640" y="4069080"/>
            <a:ext cx="2103120" cy="1371600"/>
          </a:xfrm>
          <a:prstGeom prst="roundRect">
            <a:avLst>
              <a:gd name="adj" fmla="val 6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8" name="badge-1392"/>
          <p:cNvSpPr/>
          <p:nvPr/>
        </p:nvSpPr>
        <p:spPr>
          <a:xfrm>
            <a:off x="685800" y="41879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9" name="text-1393"/>
          <p:cNvSpPr txBox="1"/>
          <p:nvPr/>
        </p:nvSpPr>
        <p:spPr>
          <a:xfrm>
            <a:off x="1143000" y="418795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Geometry</a:t>
            </a:r>
            <a:endParaRPr lang="en-US" sz="1400" dirty="0"/>
          </a:p>
        </p:txBody>
      </p:sp>
      <p:sp>
        <p:nvSpPr>
          <p:cNvPr id="40" name="text-1394"/>
          <p:cNvSpPr txBox="1"/>
          <p:nvPr/>
        </p:nvSpPr>
        <p:spPr>
          <a:xfrm>
            <a:off x="685800" y="4663440"/>
            <a:ext cx="1874520" cy="731520"/>
          </a:xfrm>
          <a:prstGeom prst="rect">
            <a:avLst/>
          </a:prstGeom>
          <a:noFill/>
          <a:ln/>
        </p:spPr>
        <p:txBody>
          <a:bodyPr wrap="square" lIns="0" tIns="0" rIns="0" bIns="0" rtlCol="0" anchor="t"/>
          <a:lstStyle/>
          <a:p>
            <a:pPr indent="0" marL="0">
              <a:buNone/>
            </a:pPr>
            <a:r>
              <a:rPr lang="en-US" sz="1250" dirty="0">
                <a:solidFill>
                  <a:schemeClr val="tx2"/>
                </a:solidFill>
              </a:rPr>
              <a:t>Interval 0 → </a:t>
            </a:r>
            <a:pPr indent="0" marL="0">
              <a:buNone/>
            </a:pPr>
            <a:r>
              <a:rPr lang="en-US" sz="1250" b="1" dirty="0">
                <a:solidFill>
                  <a:schemeClr val="tx2"/>
                </a:solidFill>
              </a:rPr>
              <a:t>zmax</a:t>
            </a:r>
            <a:endParaRPr lang="en-US" sz="1250" dirty="0"/>
          </a:p>
        </p:txBody>
      </p:sp>
      <p:sp>
        <p:nvSpPr>
          <p:cNvPr id="41" name="card-1395"/>
          <p:cNvSpPr/>
          <p:nvPr/>
        </p:nvSpPr>
        <p:spPr>
          <a:xfrm>
            <a:off x="2795321" y="4069080"/>
            <a:ext cx="2103120" cy="1371600"/>
          </a:xfrm>
          <a:prstGeom prst="roundRect">
            <a:avLst>
              <a:gd name="adj" fmla="val 6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42" name="badge-1396"/>
          <p:cNvSpPr/>
          <p:nvPr/>
        </p:nvSpPr>
        <p:spPr>
          <a:xfrm>
            <a:off x="2932481" y="41879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3" name="text-1397"/>
          <p:cNvSpPr txBox="1"/>
          <p:nvPr/>
        </p:nvSpPr>
        <p:spPr>
          <a:xfrm>
            <a:off x="3389681" y="418795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Diffusion</a:t>
            </a:r>
            <a:endParaRPr lang="en-US" sz="1400" dirty="0"/>
          </a:p>
        </p:txBody>
      </p:sp>
      <p:sp>
        <p:nvSpPr>
          <p:cNvPr id="44" name="text-1398"/>
          <p:cNvSpPr txBox="1"/>
          <p:nvPr/>
        </p:nvSpPr>
        <p:spPr>
          <a:xfrm>
            <a:off x="2932481" y="4663440"/>
            <a:ext cx="1874520" cy="731520"/>
          </a:xfrm>
          <a:prstGeom prst="rect">
            <a:avLst/>
          </a:prstGeom>
          <a:noFill/>
          <a:ln/>
        </p:spPr>
        <p:txBody>
          <a:bodyPr wrap="square" lIns="0" tIns="0" rIns="0" bIns="0" rtlCol="0" anchor="t"/>
          <a:lstStyle/>
          <a:p>
            <a:pPr indent="0" marL="0">
              <a:buNone/>
            </a:pPr>
            <a:r>
              <a:rPr lang="en-US" sz="1250" dirty="0">
                <a:solidFill>
                  <a:schemeClr val="tx2"/>
                </a:solidFill>
              </a:rPr>
              <a:t>D</a:t>
            </a:r>
            <a:pPr indent="0" marL="0">
              <a:buNone/>
            </a:pPr>
            <a:r>
              <a:rPr lang="en-US" sz="1250" baseline="-40000" dirty="0">
                <a:solidFill>
                  <a:schemeClr val="tx2"/>
                </a:solidFill>
              </a:rPr>
              <a:t>c</a:t>
            </a:r>
            <a:pPr indent="0" marL="0">
              <a:buNone/>
            </a:pPr>
            <a:r>
              <a:rPr lang="en-US" sz="1250" dirty="0">
                <a:solidFill>
                  <a:schemeClr val="tx2"/>
                </a:solidFill>
              </a:rPr>
              <a:t> = </a:t>
            </a:r>
            <a:pPr indent="0" marL="0">
              <a:buNone/>
            </a:pPr>
            <a:r>
              <a:rPr lang="en-US" sz="1250" b="1" dirty="0">
                <a:solidFill>
                  <a:schemeClr val="tx2"/>
                </a:solidFill>
              </a:rPr>
              <a:t>D</a:t>
            </a:r>
            <a:pPr indent="0" marL="0">
              <a:buNone/>
            </a:pPr>
            <a:r>
              <a:rPr lang="en-US" sz="1250" dirty="0">
                <a:solidFill>
                  <a:schemeClr val="tx2"/>
                </a:solidFill>
              </a:rPr>
              <a:t>, u = 0</a:t>
            </a:r>
            <a:endParaRPr lang="en-US" sz="1250" dirty="0"/>
          </a:p>
        </p:txBody>
      </p:sp>
      <p:sp>
        <p:nvSpPr>
          <p:cNvPr id="45" name="card-1399"/>
          <p:cNvSpPr/>
          <p:nvPr/>
        </p:nvSpPr>
        <p:spPr>
          <a:xfrm>
            <a:off x="5042002" y="4069080"/>
            <a:ext cx="2103120" cy="1371600"/>
          </a:xfrm>
          <a:prstGeom prst="roundRect">
            <a:avLst>
              <a:gd name="adj" fmla="val 6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46" name="badge-1400"/>
          <p:cNvSpPr/>
          <p:nvPr/>
        </p:nvSpPr>
        <p:spPr>
          <a:xfrm>
            <a:off x="5179162" y="41879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7" name="text-1401"/>
          <p:cNvSpPr txBox="1"/>
          <p:nvPr/>
        </p:nvSpPr>
        <p:spPr>
          <a:xfrm>
            <a:off x="5636362" y="418795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Surface</a:t>
            </a:r>
            <a:endParaRPr lang="en-US" sz="1400" dirty="0"/>
          </a:p>
        </p:txBody>
      </p:sp>
      <p:sp>
        <p:nvSpPr>
          <p:cNvPr id="48" name="text-1402"/>
          <p:cNvSpPr txBox="1"/>
          <p:nvPr/>
        </p:nvSpPr>
        <p:spPr>
          <a:xfrm>
            <a:off x="5179162" y="4663440"/>
            <a:ext cx="1874520" cy="731520"/>
          </a:xfrm>
          <a:prstGeom prst="rect">
            <a:avLst/>
          </a:prstGeom>
          <a:noFill/>
          <a:ln/>
        </p:spPr>
        <p:txBody>
          <a:bodyPr wrap="square" lIns="0" tIns="0" rIns="0" bIns="0" rtlCol="0" anchor="t"/>
          <a:lstStyle/>
          <a:p>
            <a:pPr indent="0" marL="0">
              <a:buNone/>
            </a:pPr>
            <a:r>
              <a:rPr lang="en-US" sz="1250" b="1" dirty="0">
                <a:solidFill>
                  <a:schemeClr val="tx2"/>
                </a:solidFill>
              </a:rPr>
              <a:t>Concentration</a:t>
            </a:r>
            <a:pPr indent="0" marL="0">
              <a:buNone/>
            </a:pPr>
            <a:r>
              <a:rPr lang="en-US" sz="1250" dirty="0">
                <a:solidFill>
                  <a:schemeClr val="tx2"/>
                </a:solidFill>
              </a:rPr>
              <a:t> at Point 1: </a:t>
            </a:r>
            <a:pPr indent="0" marL="0">
              <a:buNone/>
            </a:pPr>
            <a:r>
              <a:rPr lang="en-US" sz="1250" b="1" dirty="0">
                <a:solidFill>
                  <a:schemeClr val="tx2"/>
                </a:solidFill>
              </a:rPr>
              <a:t>c = cs</a:t>
            </a:r>
            <a:endParaRPr lang="en-US" sz="1250" dirty="0"/>
          </a:p>
        </p:txBody>
      </p:sp>
      <p:sp>
        <p:nvSpPr>
          <p:cNvPr id="49" name="card-1403"/>
          <p:cNvSpPr/>
          <p:nvPr/>
        </p:nvSpPr>
        <p:spPr>
          <a:xfrm>
            <a:off x="7288682" y="4069080"/>
            <a:ext cx="2103120" cy="1371600"/>
          </a:xfrm>
          <a:prstGeom prst="roundRect">
            <a:avLst>
              <a:gd name="adj" fmla="val 6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0" name="badge-1404"/>
          <p:cNvSpPr/>
          <p:nvPr/>
        </p:nvSpPr>
        <p:spPr>
          <a:xfrm>
            <a:off x="7425842" y="41879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1" name="text-1405"/>
          <p:cNvSpPr txBox="1"/>
          <p:nvPr/>
        </p:nvSpPr>
        <p:spPr>
          <a:xfrm>
            <a:off x="7883042" y="418795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Deep end, start</a:t>
            </a:r>
            <a:endParaRPr lang="en-US" sz="1400" dirty="0"/>
          </a:p>
        </p:txBody>
      </p:sp>
      <p:sp>
        <p:nvSpPr>
          <p:cNvPr id="52" name="text-1406"/>
          <p:cNvSpPr txBox="1"/>
          <p:nvPr/>
        </p:nvSpPr>
        <p:spPr>
          <a:xfrm>
            <a:off x="7425842" y="4663440"/>
            <a:ext cx="1874520" cy="731520"/>
          </a:xfrm>
          <a:prstGeom prst="rect">
            <a:avLst/>
          </a:prstGeom>
          <a:noFill/>
          <a:ln/>
        </p:spPr>
        <p:txBody>
          <a:bodyPr wrap="square" lIns="0" tIns="0" rIns="0" bIns="0" rtlCol="0" anchor="t"/>
          <a:lstStyle/>
          <a:p>
            <a:pPr indent="0" marL="0">
              <a:buNone/>
            </a:pPr>
            <a:r>
              <a:rPr lang="en-US" sz="1250" dirty="0">
                <a:solidFill>
                  <a:schemeClr val="tx2"/>
                </a:solidFill>
              </a:rPr>
              <a:t>c = 0 at Point 2; initial c = 0</a:t>
            </a:r>
            <a:endParaRPr lang="en-US" sz="1250" dirty="0"/>
          </a:p>
        </p:txBody>
      </p:sp>
      <p:sp>
        <p:nvSpPr>
          <p:cNvPr id="53" name="card-1407"/>
          <p:cNvSpPr/>
          <p:nvPr/>
        </p:nvSpPr>
        <p:spPr>
          <a:xfrm>
            <a:off x="9535363" y="4069080"/>
            <a:ext cx="2103120" cy="1371600"/>
          </a:xfrm>
          <a:prstGeom prst="roundRect">
            <a:avLst>
              <a:gd name="adj" fmla="val 66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4" name="badge-1408"/>
          <p:cNvSpPr/>
          <p:nvPr/>
        </p:nvSpPr>
        <p:spPr>
          <a:xfrm>
            <a:off x="9672523" y="41879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55" name="text-1409"/>
          <p:cNvSpPr txBox="1"/>
          <p:nvPr/>
        </p:nvSpPr>
        <p:spPr>
          <a:xfrm>
            <a:off x="10129723" y="418795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Mesh</a:t>
            </a:r>
            <a:endParaRPr lang="en-US" sz="1400" dirty="0"/>
          </a:p>
        </p:txBody>
      </p:sp>
      <p:sp>
        <p:nvSpPr>
          <p:cNvPr id="56" name="text-1410"/>
          <p:cNvSpPr txBox="1"/>
          <p:nvPr/>
        </p:nvSpPr>
        <p:spPr>
          <a:xfrm>
            <a:off x="9672523" y="4663440"/>
            <a:ext cx="1874520" cy="731520"/>
          </a:xfrm>
          <a:prstGeom prst="rect">
            <a:avLst/>
          </a:prstGeom>
          <a:noFill/>
          <a:ln/>
        </p:spPr>
        <p:txBody>
          <a:bodyPr wrap="square" lIns="0" tIns="0" rIns="0" bIns="0" rtlCol="0" anchor="t"/>
          <a:lstStyle/>
          <a:p>
            <a:pPr indent="0" marL="0">
              <a:buNone/>
            </a:pPr>
            <a:r>
              <a:rPr lang="en-US" sz="1250" dirty="0">
                <a:solidFill>
                  <a:schemeClr val="tx2"/>
                </a:solidFill>
              </a:rPr>
              <a:t>User-controlled, max </a:t>
            </a:r>
            <a:pPr indent="0" marL="0">
              <a:buNone/>
            </a:pPr>
            <a:r>
              <a:rPr lang="en-US" sz="1250" b="1" dirty="0">
                <a:solidFill>
                  <a:schemeClr val="tx2"/>
                </a:solidFill>
              </a:rPr>
              <a:t>0.1[um]</a:t>
            </a:r>
            <a:pPr indent="0" marL="0">
              <a:buNone/>
            </a:pPr>
            <a:r>
              <a:rPr lang="en-US" sz="1250" dirty="0">
                <a:solidFill>
                  <a:schemeClr val="tx2"/>
                </a:solidFill>
              </a:rPr>
              <a:t> → 50 elements</a:t>
            </a:r>
            <a:endParaRPr lang="en-US" sz="1250" dirty="0"/>
          </a:p>
        </p:txBody>
      </p:sp>
      <p:sp>
        <p:nvSpPr>
          <p:cNvPr id="57" name="note-strip-1411"/>
          <p:cNvSpPr/>
          <p:nvPr/>
        </p:nvSpPr>
        <p:spPr>
          <a:xfrm>
            <a:off x="548640" y="5577840"/>
            <a:ext cx="11094415" cy="548640"/>
          </a:xfrm>
          <a:prstGeom prst="roundRect">
            <a:avLst>
              <a:gd name="adj" fmla="val 16667"/>
            </a:avLst>
          </a:prstGeom>
          <a:solidFill>
            <a:schemeClr val="accent1">
              <a:alpha val="12000"/>
            </a:schemeClr>
          </a:solidFill>
          <a:ln/>
        </p:spPr>
      </p:sp>
      <p:sp>
        <p:nvSpPr>
          <p:cNvPr id="58" name="icon-bg-1412"/>
          <p:cNvSpPr/>
          <p:nvPr/>
        </p:nvSpPr>
        <p:spPr>
          <a:xfrm>
            <a:off x="685800" y="5660136"/>
            <a:ext cx="384048" cy="384048"/>
          </a:xfrm>
          <a:prstGeom prst="ellipse">
            <a:avLst/>
          </a:prstGeom>
          <a:solidFill>
            <a:schemeClr val="accent1"/>
          </a:solidFill>
          <a:ln/>
        </p:spPr>
      </p:sp>
      <p:pic>
        <p:nvPicPr>
          <p:cNvPr id="59" name="icon-1413" descr="preencoded.png">    </p:cNvPr>
          <p:cNvPicPr>
            <a:picLocks noChangeAspect="1"/>
          </p:cNvPicPr>
          <p:nvPr/>
        </p:nvPicPr>
        <p:blipFill>
          <a:blip r:embed="rId1"/>
          <a:stretch>
            <a:fillRect/>
          </a:stretch>
        </p:blipFill>
        <p:spPr>
          <a:xfrm>
            <a:off x="774131" y="5748467"/>
            <a:ext cx="207386" cy="207386"/>
          </a:xfrm>
          <a:prstGeom prst="rect">
            <a:avLst/>
          </a:prstGeom>
        </p:spPr>
      </p:pic>
      <p:sp>
        <p:nvSpPr>
          <p:cNvPr id="60" name="text-1414"/>
          <p:cNvSpPr txBox="1"/>
          <p:nvPr/>
        </p:nvSpPr>
        <p:spPr>
          <a:xfrm>
            <a:off x="1234440" y="5577840"/>
            <a:ext cx="10225735" cy="548640"/>
          </a:xfrm>
          <a:prstGeom prst="rect">
            <a:avLst/>
          </a:prstGeom>
          <a:noFill/>
          <a:ln/>
        </p:spPr>
        <p:txBody>
          <a:bodyPr wrap="square" lIns="0" tIns="0" rIns="0" bIns="0" rtlCol="0" anchor="ctr"/>
          <a:lstStyle/>
          <a:p>
            <a:pPr indent="0" marL="0">
              <a:buNone/>
            </a:pPr>
            <a:r>
              <a:rPr lang="en-US" sz="1450" b="1" dirty="0">
                <a:solidFill>
                  <a:schemeClr val="tx1"/>
                </a:solidFill>
              </a:rPr>
              <a:t>Why cut at 5 µm?</a:t>
            </a:r>
            <a:pPr indent="0" marL="0">
              <a:buNone/>
            </a:pPr>
            <a:r>
              <a:rPr lang="en-US" sz="1450" dirty="0">
                <a:solidFill>
                  <a:schemeClr val="tx1"/>
                </a:solidFill>
              </a:rPr>
              <a:t> There c/c</a:t>
            </a:r>
            <a:pPr indent="0" marL="0">
              <a:buNone/>
            </a:pPr>
            <a:r>
              <a:rPr lang="en-US" sz="1450" baseline="-40000" dirty="0">
                <a:solidFill>
                  <a:schemeClr val="tx1"/>
                </a:solidFill>
              </a:rPr>
              <a:t>s</a:t>
            </a:r>
            <a:pPr indent="0" marL="0">
              <a:buNone/>
            </a:pPr>
            <a:r>
              <a:rPr lang="en-US" sz="1450" dirty="0">
                <a:solidFill>
                  <a:schemeClr val="tx1"/>
                </a:solidFill>
              </a:rPr>
              <a:t> = erfc(5.17) ≈ 4×10</a:t>
            </a:r>
            <a:pPr indent="0" marL="0">
              <a:buNone/>
            </a:pPr>
            <a:r>
              <a:rPr lang="en-US" sz="1450" baseline="30000" dirty="0">
                <a:solidFill>
                  <a:schemeClr val="tx1"/>
                </a:solidFill>
              </a:rPr>
              <a:t>−13</a:t>
            </a:r>
            <a:pPr indent="0" marL="0">
              <a:buNone/>
            </a:pPr>
            <a:r>
              <a:rPr lang="en-US" sz="1450" dirty="0">
                <a:solidFill>
                  <a:schemeClr val="tx1"/>
                </a:solidFill>
              </a:rPr>
              <a:t>: the semi-infinite wafer is effectively infinite.</a:t>
            </a:r>
            <a:endParaRPr lang="en-US" sz="145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141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2 · STEPS 11–13</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Solve in time, then compare with the exact curve</a:t>
            </a:r>
            <a:endParaRPr lang="en-US" sz="3200" dirty="0"/>
          </a:p>
        </p:txBody>
      </p:sp>
      <p:sp>
        <p:nvSpPr>
          <p:cNvPr id="4" name="card-1416"/>
          <p:cNvSpPr/>
          <p:nvPr/>
        </p:nvSpPr>
        <p:spPr>
          <a:xfrm>
            <a:off x="548640"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badge-1417"/>
          <p:cNvSpPr/>
          <p:nvPr/>
        </p:nvSpPr>
        <p:spPr>
          <a:xfrm>
            <a:off x="713232"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6" name="text-1418"/>
          <p:cNvSpPr txBox="1"/>
          <p:nvPr/>
        </p:nvSpPr>
        <p:spPr>
          <a:xfrm>
            <a:off x="1261872"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Output times, then Compute</a:t>
            </a:r>
            <a:endParaRPr lang="en-US" sz="1500" dirty="0"/>
          </a:p>
        </p:txBody>
      </p:sp>
      <p:pic>
        <p:nvPicPr>
          <p:cNvPr id="7" name="img-1419" descr="COMSOL screenshot, step 11">    </p:cNvPr>
          <p:cNvPicPr>
            <a:picLocks noChangeAspect="1"/>
          </p:cNvPicPr>
          <p:nvPr/>
        </p:nvPicPr>
        <p:blipFill>
          <a:blip r:embed="rId1"/>
          <a:stretch>
            <a:fillRect/>
          </a:stretch>
        </p:blipFill>
        <p:spPr>
          <a:xfrm>
            <a:off x="685800" y="2161473"/>
            <a:ext cx="3246120" cy="2306454"/>
          </a:xfrm>
          <a:prstGeom prst="rect">
            <a:avLst/>
          </a:prstGeom>
        </p:spPr>
      </p:pic>
      <p:sp>
        <p:nvSpPr>
          <p:cNvPr id="8" name="code-1420"/>
          <p:cNvSpPr/>
          <p:nvPr/>
        </p:nvSpPr>
        <p:spPr>
          <a:xfrm>
            <a:off x="685800"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range(0,60,3600)</a:t>
            </a:r>
            <a:endParaRPr lang="en-US" sz="1250" dirty="0"/>
          </a:p>
        </p:txBody>
      </p:sp>
      <p:sp>
        <p:nvSpPr>
          <p:cNvPr id="9" name="card-1421"/>
          <p:cNvSpPr/>
          <p:nvPr/>
        </p:nvSpPr>
        <p:spPr>
          <a:xfrm>
            <a:off x="4334256"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badge-1422"/>
          <p:cNvSpPr/>
          <p:nvPr/>
        </p:nvSpPr>
        <p:spPr>
          <a:xfrm>
            <a:off x="4498848"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11" name="text-1423"/>
          <p:cNvSpPr txBox="1"/>
          <p:nvPr/>
        </p:nvSpPr>
        <p:spPr>
          <a:xfrm>
            <a:off x="5047488"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Plot every 10 minutes</a:t>
            </a:r>
            <a:endParaRPr lang="en-US" sz="1500" dirty="0"/>
          </a:p>
        </p:txBody>
      </p:sp>
      <p:pic>
        <p:nvPicPr>
          <p:cNvPr id="12" name="img-1424" descr="COMSOL screenshot, step 12">    </p:cNvPr>
          <p:cNvPicPr>
            <a:picLocks noChangeAspect="1"/>
          </p:cNvPicPr>
          <p:nvPr/>
        </p:nvPicPr>
        <p:blipFill>
          <a:blip r:embed="rId2"/>
          <a:stretch>
            <a:fillRect/>
          </a:stretch>
        </p:blipFill>
        <p:spPr>
          <a:xfrm>
            <a:off x="4712290" y="2057400"/>
            <a:ext cx="2764372" cy="2514600"/>
          </a:xfrm>
          <a:prstGeom prst="rect">
            <a:avLst/>
          </a:prstGeom>
        </p:spPr>
      </p:pic>
      <p:sp>
        <p:nvSpPr>
          <p:cNvPr id="13" name="code-1425"/>
          <p:cNvSpPr/>
          <p:nvPr/>
        </p:nvSpPr>
        <p:spPr>
          <a:xfrm>
            <a:off x="4471416"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range(600,600,3600)</a:t>
            </a:r>
            <a:endParaRPr lang="en-US" sz="1250" dirty="0"/>
          </a:p>
        </p:txBody>
      </p:sp>
      <p:sp>
        <p:nvSpPr>
          <p:cNvPr id="14" name="card-1426"/>
          <p:cNvSpPr/>
          <p:nvPr/>
        </p:nvSpPr>
        <p:spPr>
          <a:xfrm>
            <a:off x="8119872"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badge-1427"/>
          <p:cNvSpPr/>
          <p:nvPr/>
        </p:nvSpPr>
        <p:spPr>
          <a:xfrm>
            <a:off x="8284464"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13</a:t>
            </a:r>
            <a:endParaRPr lang="en-US" sz="1300" dirty="0"/>
          </a:p>
        </p:txBody>
      </p:sp>
      <p:sp>
        <p:nvSpPr>
          <p:cNvPr id="16" name="text-1428"/>
          <p:cNvSpPr txBox="1"/>
          <p:nvPr/>
        </p:nvSpPr>
        <p:spPr>
          <a:xfrm>
            <a:off x="8833104"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Overlay the exact curve</a:t>
            </a:r>
            <a:endParaRPr lang="en-US" sz="1500" dirty="0"/>
          </a:p>
        </p:txBody>
      </p:sp>
      <p:pic>
        <p:nvPicPr>
          <p:cNvPr id="17" name="img-1429" descr="COMSOL screenshot, step 13">    </p:cNvPr>
          <p:cNvPicPr>
            <a:picLocks noChangeAspect="1"/>
          </p:cNvPicPr>
          <p:nvPr/>
        </p:nvPicPr>
        <p:blipFill>
          <a:blip r:embed="rId3"/>
          <a:stretch>
            <a:fillRect/>
          </a:stretch>
        </p:blipFill>
        <p:spPr>
          <a:xfrm>
            <a:off x="8257032" y="2115736"/>
            <a:ext cx="3246120" cy="2397927"/>
          </a:xfrm>
          <a:prstGeom prst="rect">
            <a:avLst/>
          </a:prstGeom>
        </p:spPr>
      </p:pic>
      <p:sp>
        <p:nvSpPr>
          <p:cNvPr id="18" name="code-1430"/>
          <p:cNvSpPr/>
          <p:nvPr/>
        </p:nvSpPr>
        <p:spPr>
          <a:xfrm>
            <a:off x="8257032"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cs*(1-erf(x/(2*sqrt(D*t))))</a:t>
            </a:r>
            <a:endParaRPr lang="en-US" sz="1250" dirty="0"/>
          </a:p>
        </p:txBody>
      </p:sp>
      <p:sp>
        <p:nvSpPr>
          <p:cNvPr id="19" name="note-strip-1431"/>
          <p:cNvSpPr/>
          <p:nvPr/>
        </p:nvSpPr>
        <p:spPr>
          <a:xfrm>
            <a:off x="548640" y="5577840"/>
            <a:ext cx="11094415" cy="548640"/>
          </a:xfrm>
          <a:prstGeom prst="roundRect">
            <a:avLst>
              <a:gd name="adj" fmla="val 16667"/>
            </a:avLst>
          </a:prstGeom>
          <a:solidFill>
            <a:schemeClr val="accent3">
              <a:alpha val="12000"/>
            </a:schemeClr>
          </a:solidFill>
          <a:ln/>
        </p:spPr>
      </p:sp>
      <p:sp>
        <p:nvSpPr>
          <p:cNvPr id="20" name="icon-bg-1432"/>
          <p:cNvSpPr/>
          <p:nvPr/>
        </p:nvSpPr>
        <p:spPr>
          <a:xfrm>
            <a:off x="685800" y="5660136"/>
            <a:ext cx="384048" cy="384048"/>
          </a:xfrm>
          <a:prstGeom prst="ellipse">
            <a:avLst/>
          </a:prstGeom>
          <a:solidFill>
            <a:schemeClr val="accent3"/>
          </a:solidFill>
          <a:ln/>
        </p:spPr>
      </p:sp>
      <p:pic>
        <p:nvPicPr>
          <p:cNvPr id="21" name="icon-1433" descr="preencoded.png">    </p:cNvPr>
          <p:cNvPicPr>
            <a:picLocks noChangeAspect="1"/>
          </p:cNvPicPr>
          <p:nvPr/>
        </p:nvPicPr>
        <p:blipFill>
          <a:blip r:embed="rId4"/>
          <a:stretch>
            <a:fillRect/>
          </a:stretch>
        </p:blipFill>
        <p:spPr>
          <a:xfrm>
            <a:off x="774131" y="5748467"/>
            <a:ext cx="207386" cy="207386"/>
          </a:xfrm>
          <a:prstGeom prst="rect">
            <a:avLst/>
          </a:prstGeom>
        </p:spPr>
      </p:pic>
      <p:sp>
        <p:nvSpPr>
          <p:cNvPr id="22" name="text-1434"/>
          <p:cNvSpPr txBox="1"/>
          <p:nvPr/>
        </p:nvSpPr>
        <p:spPr>
          <a:xfrm>
            <a:off x="1234440" y="5577840"/>
            <a:ext cx="10225735" cy="548640"/>
          </a:xfrm>
          <a:prstGeom prst="rect">
            <a:avLst/>
          </a:prstGeom>
          <a:noFill/>
          <a:ln/>
        </p:spPr>
        <p:txBody>
          <a:bodyPr wrap="square" lIns="0" tIns="0" rIns="0" bIns="0" rtlCol="0" anchor="ctr"/>
          <a:lstStyle/>
          <a:p>
            <a:pPr indent="0" marL="0">
              <a:buNone/>
            </a:pPr>
            <a:r>
              <a:rPr lang="en-US" sz="1500" dirty="0">
                <a:solidFill>
                  <a:schemeClr val="tx1"/>
                </a:solidFill>
              </a:rPr>
              <a:t>COMSOL's time stepper is </a:t>
            </a:r>
            <a:pPr indent="0" marL="0">
              <a:buNone/>
            </a:pPr>
            <a:r>
              <a:rPr lang="en-US" sz="1500" b="1" dirty="0">
                <a:solidFill>
                  <a:schemeClr val="tx1"/>
                </a:solidFill>
              </a:rPr>
              <a:t>implicit</a:t>
            </a:r>
            <a:pPr indent="0" marL="0">
              <a:buNone/>
            </a:pPr>
            <a:r>
              <a:rPr lang="en-US" sz="1500" dirty="0">
                <a:solidFill>
                  <a:schemeClr val="tx1"/>
                </a:solidFill>
              </a:rPr>
              <a:t>: no stability limit on Δt (51 unknowns, solved in about 3 s).</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143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2 · STEP 14 &amp; VERIFICATION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Film depth after 1 hour</a:t>
            </a:r>
            <a:endParaRPr lang="en-US" sz="3200" dirty="0"/>
          </a:p>
        </p:txBody>
      </p:sp>
      <p:sp>
        <p:nvSpPr>
          <p:cNvPr id="4" name="badge-1436"/>
          <p:cNvSpPr/>
          <p:nvPr/>
        </p:nvSpPr>
        <p:spPr>
          <a:xfrm>
            <a:off x="548640" y="141732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14</a:t>
            </a:r>
            <a:endParaRPr lang="en-US" sz="1300" dirty="0"/>
          </a:p>
        </p:txBody>
      </p:sp>
      <p:sp>
        <p:nvSpPr>
          <p:cNvPr id="5" name="text-1437"/>
          <p:cNvSpPr txBox="1"/>
          <p:nvPr/>
        </p:nvSpPr>
        <p:spPr>
          <a:xfrm>
            <a:off x="1097280" y="1417320"/>
            <a:ext cx="4572000" cy="420624"/>
          </a:xfrm>
          <a:prstGeom prst="rect">
            <a:avLst/>
          </a:prstGeom>
          <a:noFill/>
          <a:ln/>
        </p:spPr>
        <p:txBody>
          <a:bodyPr wrap="square" lIns="0" tIns="0" rIns="0" bIns="0" rtlCol="0" anchor="ctr"/>
          <a:lstStyle/>
          <a:p>
            <a:pPr indent="0" marL="0">
              <a:buNone/>
            </a:pPr>
            <a:r>
              <a:rPr lang="en-US" sz="1600" b="1" dirty="0">
                <a:solidFill>
                  <a:schemeClr val="tx1"/>
                </a:solidFill>
              </a:rPr>
              <a:t>Film depth by line integration</a:t>
            </a:r>
            <a:endParaRPr lang="en-US" sz="1600" dirty="0"/>
          </a:p>
        </p:txBody>
      </p:sp>
      <p:sp>
        <p:nvSpPr>
          <p:cNvPr id="6" name="text-1438"/>
          <p:cNvSpPr txBox="1"/>
          <p:nvPr/>
        </p:nvSpPr>
        <p:spPr>
          <a:xfrm>
            <a:off x="548640" y="1920240"/>
            <a:ext cx="4983480" cy="548640"/>
          </a:xfrm>
          <a:prstGeom prst="rect">
            <a:avLst/>
          </a:prstGeom>
          <a:noFill/>
          <a:ln/>
        </p:spPr>
        <p:txBody>
          <a:bodyPr wrap="square" lIns="0" tIns="0" rIns="0" bIns="0" rtlCol="0" anchor="t"/>
          <a:lstStyle/>
          <a:p>
            <a:pPr indent="0" marL="0">
              <a:buNone/>
            </a:pPr>
            <a:r>
              <a:rPr lang="en-US" sz="1350" b="1" dirty="0">
                <a:solidFill>
                  <a:schemeClr val="tx2"/>
                </a:solidFill>
              </a:rPr>
              <a:t>Derived Values</a:t>
            </a:r>
            <a:pPr indent="0" marL="0">
              <a:buNone/>
            </a:pPr>
            <a:r>
              <a:rPr lang="en-US" sz="1350" dirty="0">
                <a:solidFill>
                  <a:schemeClr val="tx2"/>
                </a:solidFill>
              </a:rPr>
              <a:t> › Integration › </a:t>
            </a:r>
            <a:pPr indent="0" marL="0">
              <a:buNone/>
            </a:pPr>
            <a:r>
              <a:rPr lang="en-US" sz="1350" b="1" dirty="0">
                <a:solidFill>
                  <a:schemeClr val="tx2"/>
                </a:solidFill>
              </a:rPr>
              <a:t>Line Integration</a:t>
            </a:r>
            <a:pPr indent="0" marL="0">
              <a:buNone/>
            </a:pPr>
            <a:r>
              <a:rPr lang="en-US" sz="1350" dirty="0">
                <a:solidFill>
                  <a:schemeClr val="tx2"/>
                </a:solidFill>
              </a:rPr>
              <a:t> · Time: </a:t>
            </a:r>
            <a:pPr indent="0" marL="0">
              <a:buNone/>
            </a:pPr>
            <a:r>
              <a:rPr lang="en-US" sz="1350" b="1" dirty="0">
                <a:solidFill>
                  <a:schemeClr val="tx2"/>
                </a:solidFill>
              </a:rPr>
              <a:t>Last</a:t>
            </a:r>
            <a:pPr indent="0" marL="0">
              <a:buNone/>
            </a:pPr>
            <a:r>
              <a:rPr lang="en-US" sz="1350" dirty="0">
                <a:solidFill>
                  <a:schemeClr val="tx2"/>
                </a:solidFill>
              </a:rPr>
              <a:t> · Unit: </a:t>
            </a:r>
            <a:pPr indent="0" marL="0">
              <a:buNone/>
            </a:pPr>
            <a:r>
              <a:rPr lang="en-US" sz="1350" b="1" dirty="0">
                <a:solidFill>
                  <a:schemeClr val="tx2"/>
                </a:solidFill>
              </a:rPr>
              <a:t>um</a:t>
            </a:r>
            <a:endParaRPr lang="en-US" sz="1350" dirty="0"/>
          </a:p>
        </p:txBody>
      </p:sp>
      <p:sp>
        <p:nvSpPr>
          <p:cNvPr id="7" name="code-1439"/>
          <p:cNvSpPr/>
          <p:nvPr/>
        </p:nvSpPr>
        <p:spPr>
          <a:xfrm>
            <a:off x="548640" y="2560320"/>
            <a:ext cx="2011680" cy="457200"/>
          </a:xfrm>
          <a:prstGeom prst="roundRect">
            <a:avLst>
              <a:gd name="adj" fmla="val 12000"/>
            </a:avLst>
          </a:prstGeom>
          <a:solidFill>
            <a:schemeClr val="tx1"/>
          </a:solidFill>
          <a:ln/>
        </p:spPr>
        <p:txBody>
          <a:bodyPr wrap="square" lIns="0" tIns="1524" rIns="1524" bIns="0" rtlCol="0" anchor="ctr"/>
          <a:lstStyle/>
          <a:p>
            <a:pPr algn="ctr" indent="0" marL="0">
              <a:buNone/>
            </a:pPr>
            <a:r>
              <a:rPr lang="en-US" sz="1600" dirty="0">
                <a:solidFill>
                  <a:schemeClr val="bg1"/>
                </a:solidFill>
                <a:latin typeface="Courier New" pitchFamily="34" charset="0"/>
                <a:ea typeface="Courier New" pitchFamily="34" charset="-122"/>
                <a:cs typeface="Courier New" pitchFamily="34" charset="-120"/>
              </a:rPr>
              <a:t>(c&gt;c_edge)</a:t>
            </a:r>
            <a:endParaRPr lang="en-US" sz="1600" dirty="0"/>
          </a:p>
        </p:txBody>
      </p:sp>
      <p:sp>
        <p:nvSpPr>
          <p:cNvPr id="8" name="text-1440"/>
          <p:cNvSpPr txBox="1"/>
          <p:nvPr/>
        </p:nvSpPr>
        <p:spPr>
          <a:xfrm>
            <a:off x="2697480" y="2514600"/>
            <a:ext cx="2834640" cy="548640"/>
          </a:xfrm>
          <a:prstGeom prst="rect">
            <a:avLst/>
          </a:prstGeom>
          <a:noFill/>
          <a:ln/>
        </p:spPr>
        <p:txBody>
          <a:bodyPr wrap="square" lIns="0" tIns="0" rIns="0" bIns="0" rtlCol="0" anchor="ctr"/>
          <a:lstStyle/>
          <a:p>
            <a:pPr indent="0" marL="0">
              <a:buNone/>
            </a:pPr>
            <a:r>
              <a:rPr lang="en-US" sz="1300" dirty="0">
                <a:solidFill>
                  <a:schemeClr val="tx2"/>
                </a:solidFill>
              </a:rPr>
              <a:t>= 1 where c &gt; 1 % of c</a:t>
            </a:r>
            <a:pPr indent="0" marL="0">
              <a:buNone/>
            </a:pPr>
            <a:r>
              <a:rPr lang="en-US" sz="1300" baseline="-40000" dirty="0">
                <a:solidFill>
                  <a:schemeClr val="tx2"/>
                </a:solidFill>
              </a:rPr>
              <a:t>s</a:t>
            </a:r>
            <a:pPr indent="0" marL="0">
              <a:buNone/>
            </a:pPr>
            <a:r>
              <a:rPr lang="en-US" sz="1300" dirty="0">
                <a:solidFill>
                  <a:schemeClr val="tx2"/>
                </a:solidFill>
              </a:rPr>
              <a:t>, so the integral is the film depth</a:t>
            </a:r>
            <a:endParaRPr lang="en-US" sz="1300" dirty="0"/>
          </a:p>
        </p:txBody>
      </p:sp>
      <p:graphicFrame>
        <p:nvGraphicFramePr>
          <p:cNvPr id="57" name="table-1441"/>
          <p:cNvGraphicFramePr>
            <a:graphicFrameLocks noGrp="1"/>
          </p:cNvGraphicFramePr>
          <p:nvPr>
            <p:extLst>
              <p:ext uri="{D42A27DB-BD31-4B8C-83A1-F6EECF244321}">
                <p14:modId xmlns:p14="http://schemas.microsoft.com/office/powerpoint/2010/main" val="1579011935"/>
              </p:ext>
            </p:extLst>
          </p:nvPr>
        </p:nvGraphicFramePr>
        <p:xfrm>
          <a:off x="548640" y="3291840"/>
          <a:ext cx="4983480" cy="914400"/>
        </p:xfrm>
        <a:graphic>
          <a:graphicData uri="http://schemas.openxmlformats.org/drawingml/2006/table">
            <a:tbl>
              <a:tblPr/>
              <a:tblGrid>
                <a:gridCol w="2697480"/>
                <a:gridCol w="1188720"/>
                <a:gridCol w="1097280"/>
              </a:tblGrid>
              <a:tr h="411480">
                <a:tc>
                  <a:txBody>
                    <a:bodyPr/>
                    <a:lstStyle/>
                    <a:p>
                      <a:pPr algn="l" indent="0" marL="0">
                        <a:buNone/>
                      </a:pPr>
                      <a:r>
                        <a:rPr lang="en-US" sz="1300" b="1" dirty="0">
                          <a:solidFill>
                            <a:schemeClr val="bg1"/>
                          </a:solidFill>
                        </a:rPr>
                        <a:t>Method</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Depth [µm]</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Error</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411480">
                <a:tc>
                  <a:txBody>
                    <a:bodyPr/>
                    <a:lstStyle/>
                    <a:p>
                      <a:pPr algn="l" indent="0" marL="0">
                        <a:buNone/>
                      </a:pPr>
                      <a:r>
                        <a:rPr lang="en-US" sz="1300" dirty="0">
                          <a:solidFill>
                            <a:schemeClr val="tx1"/>
                          </a:solidFill>
                        </a:rPr>
                        <a:t>Exact (erf solution)</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1.7621</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rPr>
                        <a:t>COMSOL, line integral</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1.7722</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+0.6 %</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411480">
                <a:tc>
                  <a:txBody>
                    <a:bodyPr/>
                    <a:lstStyle/>
                    <a:p>
                      <a:pPr algn="l" indent="0" marL="0">
                        <a:buNone/>
                      </a:pPr>
                      <a:r>
                        <a:rPr lang="en-US" sz="1300" dirty="0">
                          <a:solidFill>
                            <a:schemeClr val="tx1"/>
                          </a:solidFill>
                        </a:rPr>
                        <a:t>COMSOL, exported profile</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1.7624</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+0.015 %</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rPr>
                        <a:t>FTCS, Δz = 0.1 µm, Δt = 50 s</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1.7643</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2"/>
                          </a:solidFill>
                        </a:rPr>
                        <a:t>+0.12 %</a:t>
                      </a:r>
                      <a:endParaRPr lang="en-US" sz="13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bl>
          </a:graphicData>
        </a:graphic>
      </p:graphicFrame>
      <p:sp>
        <p:nvSpPr>
          <p:cNvPr id="10" name="card-1442"/>
          <p:cNvSpPr/>
          <p:nvPr/>
        </p:nvSpPr>
        <p:spPr>
          <a:xfrm>
            <a:off x="5760720" y="1371600"/>
            <a:ext cx="5879592" cy="2286000"/>
          </a:xfrm>
          <a:prstGeom prst="roundRect">
            <a:avLst>
              <a:gd name="adj" fmla="val 4000"/>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1" name="img-1443" descr="COMSOL concentration profiles on the exact erfc curves, and the 1 h profile on a log scale">    </p:cNvPr>
          <p:cNvPicPr>
            <a:picLocks noChangeAspect="1"/>
          </p:cNvPicPr>
          <p:nvPr/>
        </p:nvPicPr>
        <p:blipFill>
          <a:blip r:embed="rId1"/>
          <a:stretch>
            <a:fillRect/>
          </a:stretch>
        </p:blipFill>
        <p:spPr>
          <a:xfrm>
            <a:off x="5806440" y="1450942"/>
            <a:ext cx="5788152" cy="2127316"/>
          </a:xfrm>
          <a:prstGeom prst="rect">
            <a:avLst/>
          </a:prstGeom>
        </p:spPr>
      </p:pic>
      <p:sp>
        <p:nvSpPr>
          <p:cNvPr id="12" name="card-1444"/>
          <p:cNvSpPr/>
          <p:nvPr/>
        </p:nvSpPr>
        <p:spPr>
          <a:xfrm>
            <a:off x="5760720" y="3840480"/>
            <a:ext cx="5879592" cy="2194560"/>
          </a:xfrm>
          <a:prstGeom prst="roundRect">
            <a:avLst>
              <a:gd name="adj" fmla="val 416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3" name="text-1445"/>
          <p:cNvSpPr txBox="1"/>
          <p:nvPr/>
        </p:nvSpPr>
        <p:spPr>
          <a:xfrm>
            <a:off x="5943600" y="3950208"/>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LINK TO PART 1: FTCS STABILITY</a:t>
            </a:r>
            <a:endParaRPr lang="en-US" sz="1200" dirty="0"/>
          </a:p>
        </p:txBody>
      </p:sp>
      <p:pic>
        <p:nvPicPr>
          <p:cNvPr id="14" name="eq-1446" descr="p2_dt">    </p:cNvPr>
          <p:cNvPicPr>
            <a:picLocks noChangeAspect="1"/>
          </p:cNvPicPr>
          <p:nvPr/>
        </p:nvPicPr>
        <p:blipFill>
          <a:blip r:embed="rId2"/>
          <a:stretch>
            <a:fillRect/>
          </a:stretch>
        </p:blipFill>
        <p:spPr>
          <a:xfrm>
            <a:off x="9366504" y="3988308"/>
            <a:ext cx="2154936" cy="435864"/>
          </a:xfrm>
          <a:prstGeom prst="rect">
            <a:avLst/>
          </a:prstGeom>
        </p:spPr>
      </p:pic>
      <p:pic>
        <p:nvPicPr>
          <p:cNvPr id="15" name="icon-1447" descr="preencoded.png">    </p:cNvPr>
          <p:cNvPicPr>
            <a:picLocks noChangeAspect="1"/>
          </p:cNvPicPr>
          <p:nvPr/>
        </p:nvPicPr>
        <p:blipFill>
          <a:blip r:embed="rId3"/>
          <a:stretch>
            <a:fillRect/>
          </a:stretch>
        </p:blipFill>
        <p:spPr>
          <a:xfrm>
            <a:off x="5943600" y="4617720"/>
            <a:ext cx="329184" cy="329184"/>
          </a:xfrm>
          <a:prstGeom prst="rect">
            <a:avLst/>
          </a:prstGeom>
        </p:spPr>
      </p:pic>
      <p:sp>
        <p:nvSpPr>
          <p:cNvPr id="16" name="text-1448"/>
          <p:cNvSpPr txBox="1"/>
          <p:nvPr/>
        </p:nvSpPr>
        <p:spPr>
          <a:xfrm>
            <a:off x="6400800" y="4553712"/>
            <a:ext cx="5120640" cy="457200"/>
          </a:xfrm>
          <a:prstGeom prst="rect">
            <a:avLst/>
          </a:prstGeom>
          <a:noFill/>
          <a:ln/>
        </p:spPr>
        <p:txBody>
          <a:bodyPr wrap="square" lIns="0" tIns="0" rIns="0" bIns="0" rtlCol="0" anchor="ctr"/>
          <a:lstStyle/>
          <a:p>
            <a:pPr indent="0" marL="0">
              <a:buNone/>
            </a:pPr>
            <a:r>
              <a:rPr lang="en-US" sz="1450" dirty="0">
                <a:solidFill>
                  <a:schemeClr val="tx1"/>
                </a:solidFill>
              </a:rPr>
              <a:t>Δt = 50 s (Fo = 0.33): stable, depth 1.764 µm</a:t>
            </a:r>
            <a:endParaRPr lang="en-US" sz="1450" dirty="0"/>
          </a:p>
        </p:txBody>
      </p:sp>
      <p:pic>
        <p:nvPicPr>
          <p:cNvPr id="17" name="icon-1449" descr="preencoded.png">    </p:cNvPr>
          <p:cNvPicPr>
            <a:picLocks noChangeAspect="1"/>
          </p:cNvPicPr>
          <p:nvPr/>
        </p:nvPicPr>
        <p:blipFill>
          <a:blip r:embed="rId4"/>
          <a:stretch>
            <a:fillRect/>
          </a:stretch>
        </p:blipFill>
        <p:spPr>
          <a:xfrm>
            <a:off x="5943600" y="5120640"/>
            <a:ext cx="329184" cy="329184"/>
          </a:xfrm>
          <a:prstGeom prst="rect">
            <a:avLst/>
          </a:prstGeom>
        </p:spPr>
      </p:pic>
      <p:sp>
        <p:nvSpPr>
          <p:cNvPr id="18" name="text-1450"/>
          <p:cNvSpPr txBox="1"/>
          <p:nvPr/>
        </p:nvSpPr>
        <p:spPr>
          <a:xfrm>
            <a:off x="6400800" y="5056632"/>
            <a:ext cx="5120640" cy="457200"/>
          </a:xfrm>
          <a:prstGeom prst="rect">
            <a:avLst/>
          </a:prstGeom>
          <a:noFill/>
          <a:ln/>
        </p:spPr>
        <p:txBody>
          <a:bodyPr wrap="square" lIns="0" tIns="0" rIns="0" bIns="0" rtlCol="0" anchor="ctr"/>
          <a:lstStyle/>
          <a:p>
            <a:pPr indent="0" marL="0">
              <a:buNone/>
            </a:pPr>
            <a:r>
              <a:rPr lang="en-US" sz="1450" dirty="0">
                <a:solidFill>
                  <a:schemeClr val="tx1"/>
                </a:solidFill>
              </a:rPr>
              <a:t>Δt = 100 s (Fo = 0.65): blows up, 10</a:t>
            </a:r>
            <a:pPr indent="0" marL="0">
              <a:buNone/>
            </a:pPr>
            <a:r>
              <a:rPr lang="en-US" sz="1450" baseline="30000" dirty="0">
                <a:solidFill>
                  <a:schemeClr val="tx1"/>
                </a:solidFill>
              </a:rPr>
              <a:t>5</a:t>
            </a:r>
            <a:pPr indent="0" marL="0">
              <a:buNone/>
            </a:pPr>
            <a:r>
              <a:rPr lang="en-US" sz="1450" dirty="0">
                <a:solidFill>
                  <a:schemeClr val="tx1"/>
                </a:solidFill>
              </a:rPr>
              <a:t> × the surface value!</a:t>
            </a:r>
            <a:endParaRPr lang="en-US" sz="1450" dirty="0"/>
          </a:p>
        </p:txBody>
      </p:sp>
      <p:sp>
        <p:nvSpPr>
          <p:cNvPr id="19" name="text-1451"/>
          <p:cNvSpPr txBox="1"/>
          <p:nvPr/>
        </p:nvSpPr>
        <p:spPr>
          <a:xfrm>
            <a:off x="5943600" y="5559552"/>
            <a:ext cx="5577840" cy="365760"/>
          </a:xfrm>
          <a:prstGeom prst="rect">
            <a:avLst/>
          </a:prstGeom>
          <a:noFill/>
          <a:ln/>
        </p:spPr>
        <p:txBody>
          <a:bodyPr wrap="square" lIns="0" tIns="0" rIns="0" bIns="0" rtlCol="0" anchor="t"/>
          <a:lstStyle/>
          <a:p>
            <a:pPr indent="0" marL="0">
              <a:buNone/>
            </a:pPr>
            <a:r>
              <a:rPr lang="en-US" sz="1300" i="1" dirty="0">
                <a:solidFill>
                  <a:schemeClr val="tx2"/>
                </a:solidFill>
              </a:rPr>
              <a:t>COMSOL's implicit time stepper has no such limit.</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1452"/>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3 · SQUARE PLATE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A plate with four interior nodes (2D)</a:t>
            </a:r>
            <a:endParaRPr lang="en-US" sz="3200" dirty="0"/>
          </a:p>
        </p:txBody>
      </p:sp>
      <p:sp>
        <p:nvSpPr>
          <p:cNvPr id="4" name="card-1453"/>
          <p:cNvSpPr/>
          <p:nvPr/>
        </p:nvSpPr>
        <p:spPr>
          <a:xfrm>
            <a:off x="548640" y="1371600"/>
            <a:ext cx="5852160" cy="4023360"/>
          </a:xfrm>
          <a:prstGeom prst="roundRect">
            <a:avLst>
              <a:gd name="adj" fmla="val 2273"/>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454" descr="Square plate with edge temperatures 700, 100, 400 and 500 °C and four interior nodes">    </p:cNvPr>
          <p:cNvPicPr>
            <a:picLocks noChangeAspect="1"/>
          </p:cNvPicPr>
          <p:nvPr/>
        </p:nvPicPr>
        <p:blipFill>
          <a:blip r:embed="rId1"/>
          <a:stretch>
            <a:fillRect/>
          </a:stretch>
        </p:blipFill>
        <p:spPr>
          <a:xfrm>
            <a:off x="640080" y="1515252"/>
            <a:ext cx="5669280" cy="3736056"/>
          </a:xfrm>
          <a:prstGeom prst="rect">
            <a:avLst/>
          </a:prstGeom>
        </p:spPr>
      </p:pic>
      <p:sp>
        <p:nvSpPr>
          <p:cNvPr id="6" name="text-1455"/>
          <p:cNvSpPr txBox="1"/>
          <p:nvPr/>
        </p:nvSpPr>
        <p:spPr>
          <a:xfrm>
            <a:off x="548640" y="5532120"/>
            <a:ext cx="5852160" cy="457200"/>
          </a:xfrm>
          <a:prstGeom prst="rect">
            <a:avLst/>
          </a:prstGeom>
          <a:noFill/>
          <a:ln/>
        </p:spPr>
        <p:txBody>
          <a:bodyPr wrap="square" lIns="0" tIns="0" rIns="0" bIns="0" rtlCol="0" anchor="ctr"/>
          <a:lstStyle/>
          <a:p>
            <a:pPr indent="0" marL="0">
              <a:buNone/>
            </a:pPr>
            <a:r>
              <a:rPr lang="en-US" sz="1450" i="1" dirty="0">
                <a:solidFill>
                  <a:schemeClr val="tx2"/>
                </a:solidFill>
              </a:rPr>
              <a:t>Plate size and k are not given: they are not needed!</a:t>
            </a:r>
            <a:endParaRPr lang="en-US" sz="1450" dirty="0"/>
          </a:p>
        </p:txBody>
      </p:sp>
      <p:sp>
        <p:nvSpPr>
          <p:cNvPr id="7" name="text-1456"/>
          <p:cNvSpPr txBox="1"/>
          <p:nvPr/>
        </p:nvSpPr>
        <p:spPr>
          <a:xfrm>
            <a:off x="6720840" y="1371600"/>
            <a:ext cx="49377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LAPLACE EQUATION (STEADY 2D CONDUCTION)</a:t>
            </a:r>
            <a:endParaRPr lang="en-US" sz="1150" dirty="0"/>
          </a:p>
        </p:txBody>
      </p:sp>
      <p:sp>
        <p:nvSpPr>
          <p:cNvPr id="8" name="card-1457"/>
          <p:cNvSpPr/>
          <p:nvPr/>
        </p:nvSpPr>
        <p:spPr>
          <a:xfrm>
            <a:off x="6720840" y="1664208"/>
            <a:ext cx="4919472" cy="822960"/>
          </a:xfrm>
          <a:prstGeom prst="roundRect">
            <a:avLst>
              <a:gd name="adj" fmla="val 11111"/>
            </a:avLst>
          </a:prstGeom>
          <a:solidFill>
            <a:schemeClr val="bg1"/>
          </a:solidFill>
          <a:ln w="9525">
            <a:solidFill>
              <a:schemeClr val="accent4">
                <a:alpha val="35000"/>
              </a:schemeClr>
            </a:solidFill>
            <a:prstDash val="solid"/>
          </a:ln>
        </p:spPr>
      </p:sp>
      <p:pic>
        <p:nvPicPr>
          <p:cNvPr id="9" name="eq-1458" descr="p3_laplace">    </p:cNvPr>
          <p:cNvPicPr>
            <a:picLocks noChangeAspect="1"/>
          </p:cNvPicPr>
          <p:nvPr/>
        </p:nvPicPr>
        <p:blipFill>
          <a:blip r:embed="rId2"/>
          <a:stretch>
            <a:fillRect/>
          </a:stretch>
        </p:blipFill>
        <p:spPr>
          <a:xfrm>
            <a:off x="8409432" y="1822704"/>
            <a:ext cx="1542288" cy="515112"/>
          </a:xfrm>
          <a:prstGeom prst="rect">
            <a:avLst/>
          </a:prstGeom>
        </p:spPr>
      </p:pic>
      <p:sp>
        <p:nvSpPr>
          <p:cNvPr id="10" name="text-1459"/>
          <p:cNvSpPr txBox="1"/>
          <p:nvPr/>
        </p:nvSpPr>
        <p:spPr>
          <a:xfrm>
            <a:off x="6720840" y="2651760"/>
            <a:ext cx="49377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FDM, Δx = Δy: THE FIVE-POINT STENCIL</a:t>
            </a:r>
            <a:endParaRPr lang="en-US" sz="1150" dirty="0"/>
          </a:p>
        </p:txBody>
      </p:sp>
      <p:sp>
        <p:nvSpPr>
          <p:cNvPr id="11" name="card-1460"/>
          <p:cNvSpPr/>
          <p:nvPr/>
        </p:nvSpPr>
        <p:spPr>
          <a:xfrm>
            <a:off x="6720840" y="2944368"/>
            <a:ext cx="4919472" cy="822960"/>
          </a:xfrm>
          <a:prstGeom prst="roundRect">
            <a:avLst>
              <a:gd name="adj" fmla="val 11111"/>
            </a:avLst>
          </a:prstGeom>
          <a:solidFill>
            <a:schemeClr val="bg1"/>
          </a:solidFill>
          <a:ln w="9525">
            <a:solidFill>
              <a:schemeClr val="accent4">
                <a:alpha val="35000"/>
              </a:schemeClr>
            </a:solidFill>
            <a:prstDash val="solid"/>
          </a:ln>
        </p:spPr>
      </p:sp>
      <p:pic>
        <p:nvPicPr>
          <p:cNvPr id="12" name="eq-1461" descr="p3_stencil">    </p:cNvPr>
          <p:cNvPicPr>
            <a:picLocks noChangeAspect="1"/>
          </p:cNvPicPr>
          <p:nvPr/>
        </p:nvPicPr>
        <p:blipFill>
          <a:blip r:embed="rId3"/>
          <a:stretch>
            <a:fillRect/>
          </a:stretch>
        </p:blipFill>
        <p:spPr>
          <a:xfrm>
            <a:off x="6812280" y="3162711"/>
            <a:ext cx="4736592" cy="395417"/>
          </a:xfrm>
          <a:prstGeom prst="rect">
            <a:avLst/>
          </a:prstGeom>
        </p:spPr>
      </p:pic>
      <p:sp>
        <p:nvSpPr>
          <p:cNvPr id="13" name="text-1462"/>
          <p:cNvSpPr txBox="1"/>
          <p:nvPr/>
        </p:nvSpPr>
        <p:spPr>
          <a:xfrm>
            <a:off x="6720840" y="3931920"/>
            <a:ext cx="4937760" cy="256032"/>
          </a:xfrm>
          <a:prstGeom prst="rect">
            <a:avLst/>
          </a:prstGeom>
          <a:noFill/>
          <a:ln/>
        </p:spPr>
        <p:txBody>
          <a:bodyPr wrap="square" lIns="0" tIns="0" rIns="0" bIns="0" rtlCol="0" anchor="t"/>
          <a:lstStyle/>
          <a:p>
            <a:pPr indent="0" marL="0">
              <a:buNone/>
            </a:pPr>
            <a:r>
              <a:rPr lang="en-US" sz="1150" b="1" spc="100" kern="0" dirty="0">
                <a:solidFill>
                  <a:schemeClr val="accent4"/>
                </a:solidFill>
              </a:rPr>
              <a:t>HAND ANSWER (4 UNKNOWNS)</a:t>
            </a:r>
            <a:endParaRPr lang="en-US" sz="1150" dirty="0"/>
          </a:p>
        </p:txBody>
      </p:sp>
      <p:sp>
        <p:nvSpPr>
          <p:cNvPr id="14" name="pill-1463"/>
          <p:cNvSpPr/>
          <p:nvPr/>
        </p:nvSpPr>
        <p:spPr>
          <a:xfrm>
            <a:off x="6720840" y="4251960"/>
            <a:ext cx="2414016" cy="457200"/>
          </a:xfrm>
          <a:prstGeom prst="roundRect">
            <a:avLst>
              <a:gd name="adj" fmla="val 50000"/>
            </a:avLst>
          </a:prstGeom>
          <a:solidFill>
            <a:schemeClr val="tx1"/>
          </a:solidFill>
          <a:ln/>
        </p:spPr>
        <p:txBody>
          <a:bodyPr wrap="square" lIns="0" tIns="0" rIns="0" bIns="0" rtlCol="0" anchor="ctr"/>
          <a:lstStyle/>
          <a:p>
            <a:pPr algn="ctr" indent="0" marL="0">
              <a:buNone/>
            </a:pPr>
            <a:r>
              <a:rPr lang="en-US" sz="1500" b="1" dirty="0">
                <a:solidFill>
                  <a:schemeClr val="bg1"/>
                </a:solidFill>
              </a:rPr>
              <a:t>T</a:t>
            </a:r>
            <a:pPr algn="ctr" indent="0" marL="0">
              <a:buNone/>
            </a:pPr>
            <a:r>
              <a:rPr lang="en-US" sz="1500" b="1" baseline="-40000" dirty="0">
                <a:solidFill>
                  <a:schemeClr val="bg1"/>
                </a:solidFill>
              </a:rPr>
              <a:t>1</a:t>
            </a:r>
            <a:pPr algn="ctr" indent="0" marL="0">
              <a:buNone/>
            </a:pPr>
            <a:r>
              <a:rPr lang="en-US" sz="1500" b="1" dirty="0">
                <a:solidFill>
                  <a:schemeClr val="bg1"/>
                </a:solidFill>
              </a:rPr>
              <a:t> = 487.5 °C</a:t>
            </a:r>
            <a:endParaRPr lang="en-US" sz="1500" dirty="0"/>
          </a:p>
        </p:txBody>
      </p:sp>
      <p:sp>
        <p:nvSpPr>
          <p:cNvPr id="15" name="pill-1464"/>
          <p:cNvSpPr/>
          <p:nvPr/>
        </p:nvSpPr>
        <p:spPr>
          <a:xfrm>
            <a:off x="9226296" y="4251960"/>
            <a:ext cx="2414016" cy="457200"/>
          </a:xfrm>
          <a:prstGeom prst="roundRect">
            <a:avLst>
              <a:gd name="adj" fmla="val 50000"/>
            </a:avLst>
          </a:prstGeom>
          <a:solidFill>
            <a:schemeClr val="tx1"/>
          </a:solidFill>
          <a:ln/>
        </p:spPr>
        <p:txBody>
          <a:bodyPr wrap="square" lIns="0" tIns="0" rIns="0" bIns="0" rtlCol="0" anchor="ctr"/>
          <a:lstStyle/>
          <a:p>
            <a:pPr algn="ctr" indent="0" marL="0">
              <a:buNone/>
            </a:pPr>
            <a:r>
              <a:rPr lang="en-US" sz="1500" b="1" dirty="0">
                <a:solidFill>
                  <a:schemeClr val="bg1"/>
                </a:solidFill>
              </a:rPr>
              <a:t>T</a:t>
            </a:r>
            <a:pPr algn="ctr" indent="0" marL="0">
              <a:buNone/>
            </a:pPr>
            <a:r>
              <a:rPr lang="en-US" sz="1500" b="1" baseline="-40000" dirty="0">
                <a:solidFill>
                  <a:schemeClr val="bg1"/>
                </a:solidFill>
              </a:rPr>
              <a:t>2</a:t>
            </a:r>
            <a:pPr algn="ctr" indent="0" marL="0">
              <a:buNone/>
            </a:pPr>
            <a:r>
              <a:rPr lang="en-US" sz="1500" b="1" dirty="0">
                <a:solidFill>
                  <a:schemeClr val="bg1"/>
                </a:solidFill>
              </a:rPr>
              <a:t> = 362.5 °C</a:t>
            </a:r>
            <a:endParaRPr lang="en-US" sz="1500" dirty="0"/>
          </a:p>
        </p:txBody>
      </p:sp>
      <p:sp>
        <p:nvSpPr>
          <p:cNvPr id="16" name="pill-1465"/>
          <p:cNvSpPr/>
          <p:nvPr/>
        </p:nvSpPr>
        <p:spPr>
          <a:xfrm>
            <a:off x="6720840" y="4800600"/>
            <a:ext cx="2414016" cy="457200"/>
          </a:xfrm>
          <a:prstGeom prst="roundRect">
            <a:avLst>
              <a:gd name="adj" fmla="val 50000"/>
            </a:avLst>
          </a:prstGeom>
          <a:solidFill>
            <a:schemeClr val="tx1"/>
          </a:solidFill>
          <a:ln/>
        </p:spPr>
        <p:txBody>
          <a:bodyPr wrap="square" lIns="0" tIns="0" rIns="0" bIns="0" rtlCol="0" anchor="ctr"/>
          <a:lstStyle/>
          <a:p>
            <a:pPr algn="ctr" indent="0" marL="0">
              <a:buNone/>
            </a:pPr>
            <a:r>
              <a:rPr lang="en-US" sz="1500" b="1" dirty="0">
                <a:solidFill>
                  <a:schemeClr val="bg1"/>
                </a:solidFill>
              </a:rPr>
              <a:t>T</a:t>
            </a:r>
            <a:pPr algn="ctr" indent="0" marL="0">
              <a:buNone/>
            </a:pPr>
            <a:r>
              <a:rPr lang="en-US" sz="1500" b="1" baseline="-40000" dirty="0">
                <a:solidFill>
                  <a:schemeClr val="bg1"/>
                </a:solidFill>
              </a:rPr>
              <a:t>3</a:t>
            </a:r>
            <a:pPr algn="ctr" indent="0" marL="0">
              <a:buNone/>
            </a:pPr>
            <a:r>
              <a:rPr lang="en-US" sz="1500" b="1" dirty="0">
                <a:solidFill>
                  <a:schemeClr val="bg1"/>
                </a:solidFill>
              </a:rPr>
              <a:t> = 437.5 °C</a:t>
            </a:r>
            <a:endParaRPr lang="en-US" sz="1500" dirty="0"/>
          </a:p>
        </p:txBody>
      </p:sp>
      <p:sp>
        <p:nvSpPr>
          <p:cNvPr id="17" name="pill-1466"/>
          <p:cNvSpPr/>
          <p:nvPr/>
        </p:nvSpPr>
        <p:spPr>
          <a:xfrm>
            <a:off x="9226296" y="4800600"/>
            <a:ext cx="2414016" cy="457200"/>
          </a:xfrm>
          <a:prstGeom prst="roundRect">
            <a:avLst>
              <a:gd name="adj" fmla="val 50000"/>
            </a:avLst>
          </a:prstGeom>
          <a:solidFill>
            <a:schemeClr val="tx1"/>
          </a:solidFill>
          <a:ln/>
        </p:spPr>
        <p:txBody>
          <a:bodyPr wrap="square" lIns="0" tIns="0" rIns="0" bIns="0" rtlCol="0" anchor="ctr"/>
          <a:lstStyle/>
          <a:p>
            <a:pPr algn="ctr" indent="0" marL="0">
              <a:buNone/>
            </a:pPr>
            <a:r>
              <a:rPr lang="en-US" sz="1500" b="1" dirty="0">
                <a:solidFill>
                  <a:schemeClr val="bg1"/>
                </a:solidFill>
              </a:rPr>
              <a:t>T</a:t>
            </a:r>
            <a:pPr algn="ctr" indent="0" marL="0">
              <a:buNone/>
            </a:pPr>
            <a:r>
              <a:rPr lang="en-US" sz="1500" b="1" baseline="-40000" dirty="0">
                <a:solidFill>
                  <a:schemeClr val="bg1"/>
                </a:solidFill>
              </a:rPr>
              <a:t>4</a:t>
            </a:r>
            <a:pPr algn="ctr" indent="0" marL="0">
              <a:buNone/>
            </a:pPr>
            <a:r>
              <a:rPr lang="en-US" sz="1500" b="1" dirty="0">
                <a:solidFill>
                  <a:schemeClr val="bg1"/>
                </a:solidFill>
              </a:rPr>
              <a:t> = 412.5 °C</a:t>
            </a:r>
            <a:endParaRPr lang="en-US" sz="1500" dirty="0"/>
          </a:p>
        </p:txBody>
      </p:sp>
      <p:sp>
        <p:nvSpPr>
          <p:cNvPr id="18" name="text-1467"/>
          <p:cNvSpPr txBox="1"/>
          <p:nvPr/>
        </p:nvSpPr>
        <p:spPr>
          <a:xfrm>
            <a:off x="6720840" y="5486400"/>
            <a:ext cx="548640" cy="365760"/>
          </a:xfrm>
          <a:prstGeom prst="rect">
            <a:avLst/>
          </a:prstGeom>
          <a:noFill/>
          <a:ln/>
        </p:spPr>
        <p:txBody>
          <a:bodyPr wrap="square" lIns="0" tIns="0" rIns="0" bIns="0" rtlCol="0" anchor="ctr"/>
          <a:lstStyle/>
          <a:p>
            <a:pPr indent="0" marL="0">
              <a:buNone/>
            </a:pPr>
            <a:r>
              <a:rPr lang="en-US" sz="1100" b="1" spc="100" kern="0" dirty="0">
                <a:solidFill>
                  <a:schemeClr val="accent4"/>
                </a:solidFill>
              </a:rPr>
              <a:t>NEW</a:t>
            </a:r>
            <a:endParaRPr lang="en-US" sz="1100" dirty="0"/>
          </a:p>
        </p:txBody>
      </p:sp>
      <p:sp>
        <p:nvSpPr>
          <p:cNvPr id="19" name="pill-1468"/>
          <p:cNvSpPr/>
          <p:nvPr/>
        </p:nvSpPr>
        <p:spPr>
          <a:xfrm>
            <a:off x="7269480" y="5504688"/>
            <a:ext cx="11887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2D geometry</a:t>
            </a:r>
            <a:endParaRPr lang="en-US" sz="1100" dirty="0"/>
          </a:p>
        </p:txBody>
      </p:sp>
      <p:sp>
        <p:nvSpPr>
          <p:cNvPr id="20" name="pill-1469"/>
          <p:cNvSpPr/>
          <p:nvPr/>
        </p:nvSpPr>
        <p:spPr>
          <a:xfrm>
            <a:off x="8531352" y="5504688"/>
            <a:ext cx="11430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mesh sweep</a:t>
            </a:r>
            <a:endParaRPr lang="en-US" sz="1100" dirty="0"/>
          </a:p>
        </p:txBody>
      </p:sp>
      <p:sp>
        <p:nvSpPr>
          <p:cNvPr id="21" name="pill-1470"/>
          <p:cNvSpPr/>
          <p:nvPr/>
        </p:nvSpPr>
        <p:spPr>
          <a:xfrm>
            <a:off x="9747504" y="5504688"/>
            <a:ext cx="16002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heat-balance check</a:t>
            </a:r>
            <a:endParaRPr lang="en-US" sz="11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147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3 · STEPS 1–8</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Build the plate: 2D, a square, four edge temperatures</a:t>
            </a:r>
            <a:endParaRPr lang="en-US" sz="3200" dirty="0"/>
          </a:p>
        </p:txBody>
      </p:sp>
      <p:sp>
        <p:nvSpPr>
          <p:cNvPr id="4" name="card-1472"/>
          <p:cNvSpPr/>
          <p:nvPr/>
        </p:nvSpPr>
        <p:spPr>
          <a:xfrm>
            <a:off x="548640" y="1371600"/>
            <a:ext cx="5120640" cy="4663440"/>
          </a:xfrm>
          <a:prstGeom prst="roundRect">
            <a:avLst>
              <a:gd name="adj" fmla="val 196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plate-1473"/>
          <p:cNvSpPr/>
          <p:nvPr/>
        </p:nvSpPr>
        <p:spPr>
          <a:xfrm>
            <a:off x="1691640" y="2148840"/>
            <a:ext cx="2834640" cy="2834640"/>
          </a:xfrm>
          <a:prstGeom prst="rect">
            <a:avLst/>
          </a:prstGeom>
          <a:solidFill>
            <a:schemeClr val="bg2"/>
          </a:solidFill>
          <a:ln/>
        </p:spPr>
      </p:sp>
      <p:sp>
        <p:nvSpPr>
          <p:cNvPr id="6" name="line-1474"/>
          <p:cNvSpPr/>
          <p:nvPr/>
        </p:nvSpPr>
        <p:spPr>
          <a:xfrm>
            <a:off x="2636520" y="2148840"/>
            <a:ext cx="0" cy="2834640"/>
          </a:xfrm>
          <a:prstGeom prst="line">
            <a:avLst/>
          </a:prstGeom>
          <a:noFill/>
          <a:ln w="9525">
            <a:solidFill>
              <a:schemeClr val="accent4"/>
            </a:solidFill>
            <a:prstDash val="solid"/>
          </a:ln>
        </p:spPr>
      </p:sp>
      <p:sp>
        <p:nvSpPr>
          <p:cNvPr id="7" name="line-1475"/>
          <p:cNvSpPr/>
          <p:nvPr/>
        </p:nvSpPr>
        <p:spPr>
          <a:xfrm>
            <a:off x="1691640" y="3093720"/>
            <a:ext cx="2834640" cy="0"/>
          </a:xfrm>
          <a:prstGeom prst="line">
            <a:avLst/>
          </a:prstGeom>
          <a:noFill/>
          <a:ln w="9525">
            <a:solidFill>
              <a:schemeClr val="accent4"/>
            </a:solidFill>
            <a:prstDash val="solid"/>
          </a:ln>
        </p:spPr>
      </p:sp>
      <p:sp>
        <p:nvSpPr>
          <p:cNvPr id="8" name="line-1476"/>
          <p:cNvSpPr/>
          <p:nvPr/>
        </p:nvSpPr>
        <p:spPr>
          <a:xfrm>
            <a:off x="3581400" y="2148840"/>
            <a:ext cx="0" cy="2834640"/>
          </a:xfrm>
          <a:prstGeom prst="line">
            <a:avLst/>
          </a:prstGeom>
          <a:noFill/>
          <a:ln w="9525">
            <a:solidFill>
              <a:schemeClr val="accent4"/>
            </a:solidFill>
            <a:prstDash val="solid"/>
          </a:ln>
        </p:spPr>
      </p:sp>
      <p:sp>
        <p:nvSpPr>
          <p:cNvPr id="9" name="line-1477"/>
          <p:cNvSpPr/>
          <p:nvPr/>
        </p:nvSpPr>
        <p:spPr>
          <a:xfrm>
            <a:off x="1691640" y="4038600"/>
            <a:ext cx="2834640" cy="0"/>
          </a:xfrm>
          <a:prstGeom prst="line">
            <a:avLst/>
          </a:prstGeom>
          <a:noFill/>
          <a:ln w="9525">
            <a:solidFill>
              <a:schemeClr val="accent4"/>
            </a:solidFill>
            <a:prstDash val="solid"/>
          </a:ln>
        </p:spPr>
      </p:sp>
      <p:sp>
        <p:nvSpPr>
          <p:cNvPr id="10" name="line-1478"/>
          <p:cNvSpPr/>
          <p:nvPr/>
        </p:nvSpPr>
        <p:spPr>
          <a:xfrm>
            <a:off x="1691640" y="2148840"/>
            <a:ext cx="2834640" cy="0"/>
          </a:xfrm>
          <a:prstGeom prst="line">
            <a:avLst/>
          </a:prstGeom>
          <a:noFill/>
          <a:ln w="88900">
            <a:solidFill>
              <a:schemeClr val="accent2"/>
            </a:solidFill>
            <a:prstDash val="solid"/>
          </a:ln>
        </p:spPr>
      </p:sp>
      <p:sp>
        <p:nvSpPr>
          <p:cNvPr id="11" name="line-1479"/>
          <p:cNvSpPr/>
          <p:nvPr/>
        </p:nvSpPr>
        <p:spPr>
          <a:xfrm>
            <a:off x="1691640" y="4983480"/>
            <a:ext cx="2834640" cy="0"/>
          </a:xfrm>
          <a:prstGeom prst="line">
            <a:avLst/>
          </a:prstGeom>
          <a:noFill/>
          <a:ln w="88900">
            <a:solidFill>
              <a:schemeClr val="accent6"/>
            </a:solidFill>
            <a:prstDash val="solid"/>
          </a:ln>
        </p:spPr>
      </p:sp>
      <p:sp>
        <p:nvSpPr>
          <p:cNvPr id="12" name="line-1480"/>
          <p:cNvSpPr/>
          <p:nvPr/>
        </p:nvSpPr>
        <p:spPr>
          <a:xfrm>
            <a:off x="1691640" y="2148840"/>
            <a:ext cx="0" cy="2834640"/>
          </a:xfrm>
          <a:prstGeom prst="line">
            <a:avLst/>
          </a:prstGeom>
          <a:noFill/>
          <a:ln w="88900">
            <a:solidFill>
              <a:schemeClr val="accent1"/>
            </a:solidFill>
            <a:prstDash val="solid"/>
          </a:ln>
        </p:spPr>
      </p:sp>
      <p:sp>
        <p:nvSpPr>
          <p:cNvPr id="13" name="line-1481"/>
          <p:cNvSpPr/>
          <p:nvPr/>
        </p:nvSpPr>
        <p:spPr>
          <a:xfrm>
            <a:off x="4526280" y="2148840"/>
            <a:ext cx="0" cy="2834640"/>
          </a:xfrm>
          <a:prstGeom prst="line">
            <a:avLst/>
          </a:prstGeom>
          <a:noFill/>
          <a:ln w="88900">
            <a:solidFill>
              <a:schemeClr val="accent5"/>
            </a:solidFill>
            <a:prstDash val="solid"/>
          </a:ln>
        </p:spPr>
      </p:sp>
      <p:sp>
        <p:nvSpPr>
          <p:cNvPr id="14" name="badge-1482"/>
          <p:cNvSpPr/>
          <p:nvPr/>
        </p:nvSpPr>
        <p:spPr>
          <a:xfrm>
            <a:off x="3425952" y="2938272"/>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5" name="badge-1483"/>
          <p:cNvSpPr/>
          <p:nvPr/>
        </p:nvSpPr>
        <p:spPr>
          <a:xfrm>
            <a:off x="2481072" y="3883152"/>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badge-1484"/>
          <p:cNvSpPr/>
          <p:nvPr/>
        </p:nvSpPr>
        <p:spPr>
          <a:xfrm>
            <a:off x="3425952" y="3883152"/>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badge-1485"/>
          <p:cNvSpPr/>
          <p:nvPr/>
        </p:nvSpPr>
        <p:spPr>
          <a:xfrm>
            <a:off x="2481072" y="2938272"/>
            <a:ext cx="310896" cy="310896"/>
          </a:xfrm>
          <a:prstGeom prst="ellipse">
            <a:avLst/>
          </a:prstGeom>
          <a:solidFill>
            <a:schemeClr val="tx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text-1486"/>
          <p:cNvSpPr txBox="1"/>
          <p:nvPr/>
        </p:nvSpPr>
        <p:spPr>
          <a:xfrm>
            <a:off x="1417320" y="1600200"/>
            <a:ext cx="3383280" cy="365760"/>
          </a:xfrm>
          <a:prstGeom prst="rect">
            <a:avLst/>
          </a:prstGeom>
          <a:noFill/>
          <a:ln/>
        </p:spPr>
        <p:txBody>
          <a:bodyPr wrap="square" lIns="0" tIns="0" rIns="0" bIns="0" rtlCol="0" anchor="t"/>
          <a:lstStyle/>
          <a:p>
            <a:pPr algn="ctr" indent="0" marL="0">
              <a:buNone/>
            </a:pPr>
            <a:r>
              <a:rPr lang="en-US" sz="1450" b="1" dirty="0">
                <a:solidFill>
                  <a:schemeClr val="accent2"/>
                </a:solidFill>
              </a:rPr>
              <a:t>700 °C · boundary 3</a:t>
            </a:r>
            <a:endParaRPr lang="en-US" sz="1450" dirty="0"/>
          </a:p>
        </p:txBody>
      </p:sp>
      <p:sp>
        <p:nvSpPr>
          <p:cNvPr id="19" name="text-1487"/>
          <p:cNvSpPr txBox="1"/>
          <p:nvPr/>
        </p:nvSpPr>
        <p:spPr>
          <a:xfrm>
            <a:off x="1417320" y="5120640"/>
            <a:ext cx="3383280" cy="365760"/>
          </a:xfrm>
          <a:prstGeom prst="rect">
            <a:avLst/>
          </a:prstGeom>
          <a:noFill/>
          <a:ln/>
        </p:spPr>
        <p:txBody>
          <a:bodyPr wrap="square" lIns="0" tIns="0" rIns="0" bIns="0" rtlCol="0" anchor="t"/>
          <a:lstStyle/>
          <a:p>
            <a:pPr algn="ctr" indent="0" marL="0">
              <a:buNone/>
            </a:pPr>
            <a:r>
              <a:rPr lang="en-US" sz="1450" b="1" dirty="0">
                <a:solidFill>
                  <a:schemeClr val="tx1"/>
                </a:solidFill>
              </a:rPr>
              <a:t>500 °C · boundary 2</a:t>
            </a:r>
            <a:endParaRPr lang="en-US" sz="1450" dirty="0"/>
          </a:p>
        </p:txBody>
      </p:sp>
      <p:sp>
        <p:nvSpPr>
          <p:cNvPr id="20" name="text-1488"/>
          <p:cNvSpPr txBox="1"/>
          <p:nvPr/>
        </p:nvSpPr>
        <p:spPr>
          <a:xfrm>
            <a:off x="640080" y="3246120"/>
            <a:ext cx="960120" cy="640080"/>
          </a:xfrm>
          <a:prstGeom prst="rect">
            <a:avLst/>
          </a:prstGeom>
          <a:noFill/>
          <a:ln/>
        </p:spPr>
        <p:txBody>
          <a:bodyPr wrap="square" lIns="0" tIns="0" rIns="0" bIns="0" rtlCol="0" anchor="t"/>
          <a:lstStyle/>
          <a:p>
            <a:pPr algn="ctr" indent="0" marL="0">
              <a:buNone/>
            </a:pPr>
            <a:r>
              <a:rPr lang="en-US" sz="1400" b="1" dirty="0">
                <a:solidFill>
                  <a:schemeClr val="accent1"/>
                </a:solidFill>
              </a:rPr>
              <a:t>100 °C</a:t>
            </a:r>
            <a:endParaRPr lang="en-US" sz="1400" dirty="0"/>
          </a:p>
          <a:p>
            <a:pPr algn="ctr" indent="0" marL="0">
              <a:buNone/>
            </a:pPr>
            <a:r>
              <a:rPr lang="en-US" sz="1400" b="1" dirty="0">
                <a:solidFill>
                  <a:schemeClr val="accent1"/>
                </a:solidFill>
              </a:rPr>
              <a:t>bdry 1</a:t>
            </a:r>
            <a:endParaRPr lang="en-US" sz="1400" dirty="0"/>
          </a:p>
        </p:txBody>
      </p:sp>
      <p:sp>
        <p:nvSpPr>
          <p:cNvPr id="21" name="text-1489"/>
          <p:cNvSpPr txBox="1"/>
          <p:nvPr/>
        </p:nvSpPr>
        <p:spPr>
          <a:xfrm>
            <a:off x="4617720" y="3246120"/>
            <a:ext cx="960120" cy="640080"/>
          </a:xfrm>
          <a:prstGeom prst="rect">
            <a:avLst/>
          </a:prstGeom>
          <a:noFill/>
          <a:ln/>
        </p:spPr>
        <p:txBody>
          <a:bodyPr wrap="square" lIns="0" tIns="0" rIns="0" bIns="0" rtlCol="0" anchor="t"/>
          <a:lstStyle/>
          <a:p>
            <a:pPr algn="ctr" indent="0" marL="0">
              <a:buNone/>
            </a:pPr>
            <a:r>
              <a:rPr lang="en-US" sz="1400" b="1" dirty="0">
                <a:solidFill>
                  <a:schemeClr val="tx1"/>
                </a:solidFill>
              </a:rPr>
              <a:t>400 °C</a:t>
            </a:r>
            <a:endParaRPr lang="en-US" sz="1400" dirty="0"/>
          </a:p>
          <a:p>
            <a:pPr algn="ctr" indent="0" marL="0">
              <a:buNone/>
            </a:pPr>
            <a:r>
              <a:rPr lang="en-US" sz="1400" b="1" dirty="0">
                <a:solidFill>
                  <a:schemeClr val="tx1"/>
                </a:solidFill>
              </a:rPr>
              <a:t>bdry 4</a:t>
            </a:r>
            <a:endParaRPr lang="en-US" sz="1400" dirty="0"/>
          </a:p>
        </p:txBody>
      </p:sp>
      <p:sp>
        <p:nvSpPr>
          <p:cNvPr id="22" name="text-1490"/>
          <p:cNvSpPr txBox="1"/>
          <p:nvPr/>
        </p:nvSpPr>
        <p:spPr>
          <a:xfrm>
            <a:off x="731520" y="5532120"/>
            <a:ext cx="4754880" cy="320040"/>
          </a:xfrm>
          <a:prstGeom prst="rect">
            <a:avLst/>
          </a:prstGeom>
          <a:noFill/>
          <a:ln/>
        </p:spPr>
        <p:txBody>
          <a:bodyPr wrap="square" lIns="0" tIns="0" rIns="0" bIns="0" rtlCol="0" anchor="t"/>
          <a:lstStyle/>
          <a:p>
            <a:pPr algn="ctr" indent="0" marL="0">
              <a:buNone/>
            </a:pPr>
            <a:r>
              <a:rPr lang="en-US" sz="1200" i="1" dirty="0">
                <a:solidFill>
                  <a:schemeClr val="accent4"/>
                </a:solidFill>
              </a:rPr>
              <a:t>unit square, side 1 m, corner at (0, 0)</a:t>
            </a:r>
            <a:endParaRPr lang="en-US" sz="1200" dirty="0"/>
          </a:p>
        </p:txBody>
      </p:sp>
      <p:sp>
        <p:nvSpPr>
          <p:cNvPr id="23" name="card-1491"/>
          <p:cNvSpPr/>
          <p:nvPr/>
        </p:nvSpPr>
        <p:spPr>
          <a:xfrm>
            <a:off x="5897880" y="1371600"/>
            <a:ext cx="5742432" cy="822960"/>
          </a:xfrm>
          <a:prstGeom prst="roundRect">
            <a:avLst>
              <a:gd name="adj" fmla="val 1111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4" name="pill-1492"/>
          <p:cNvSpPr/>
          <p:nvPr/>
        </p:nvSpPr>
        <p:spPr>
          <a:xfrm>
            <a:off x="6035040" y="1591056"/>
            <a:ext cx="685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1–3</a:t>
            </a:r>
            <a:endParaRPr lang="en-US" sz="1300" dirty="0"/>
          </a:p>
        </p:txBody>
      </p:sp>
      <p:sp>
        <p:nvSpPr>
          <p:cNvPr id="25" name="text-1493"/>
          <p:cNvSpPr txBox="1"/>
          <p:nvPr/>
        </p:nvSpPr>
        <p:spPr>
          <a:xfrm>
            <a:off x="6858000" y="1426464"/>
            <a:ext cx="4663440" cy="329184"/>
          </a:xfrm>
          <a:prstGeom prst="rect">
            <a:avLst/>
          </a:prstGeom>
          <a:noFill/>
          <a:ln/>
        </p:spPr>
        <p:txBody>
          <a:bodyPr wrap="square" lIns="0" tIns="0" rIns="0" bIns="0" rtlCol="0" anchor="t"/>
          <a:lstStyle/>
          <a:p>
            <a:pPr indent="0" marL="0">
              <a:buNone/>
            </a:pPr>
            <a:r>
              <a:rPr lang="en-US" sz="1500" b="1" dirty="0">
                <a:solidFill>
                  <a:schemeClr val="tx1"/>
                </a:solidFill>
              </a:rPr>
              <a:t>Model Wizard</a:t>
            </a:r>
            <a:endParaRPr lang="en-US" sz="1500" dirty="0"/>
          </a:p>
        </p:txBody>
      </p:sp>
      <p:sp>
        <p:nvSpPr>
          <p:cNvPr id="26" name="text-1494"/>
          <p:cNvSpPr txBox="1"/>
          <p:nvPr/>
        </p:nvSpPr>
        <p:spPr>
          <a:xfrm>
            <a:off x="6858000" y="1755648"/>
            <a:ext cx="4663440" cy="411480"/>
          </a:xfrm>
          <a:prstGeom prst="rect">
            <a:avLst/>
          </a:prstGeom>
          <a:noFill/>
          <a:ln/>
        </p:spPr>
        <p:txBody>
          <a:bodyPr wrap="square" lIns="0" tIns="0" rIns="0" bIns="0" rtlCol="0" anchor="t"/>
          <a:lstStyle/>
          <a:p>
            <a:pPr indent="0" marL="0">
              <a:buNone/>
            </a:pPr>
            <a:r>
              <a:rPr lang="en-US" sz="1300" b="1" dirty="0">
                <a:solidFill>
                  <a:schemeClr val="tx2"/>
                </a:solidFill>
              </a:rPr>
              <a:t>2D</a:t>
            </a:r>
            <a:pPr indent="0" marL="0">
              <a:buNone/>
            </a:pPr>
            <a:r>
              <a:rPr lang="en-US" sz="1300" dirty="0">
                <a:solidFill>
                  <a:schemeClr val="tx2"/>
                </a:solidFill>
              </a:rPr>
              <a:t> › Heat Transfer in Solids › </a:t>
            </a:r>
            <a:pPr indent="0" marL="0">
              <a:buNone/>
            </a:pPr>
            <a:r>
              <a:rPr lang="en-US" sz="1300" b="1" dirty="0">
                <a:solidFill>
                  <a:schemeClr val="tx2"/>
                </a:solidFill>
              </a:rPr>
              <a:t>Stationary</a:t>
            </a:r>
            <a:endParaRPr lang="en-US" sz="1300" dirty="0"/>
          </a:p>
        </p:txBody>
      </p:sp>
      <p:sp>
        <p:nvSpPr>
          <p:cNvPr id="27" name="card-1495"/>
          <p:cNvSpPr/>
          <p:nvPr/>
        </p:nvSpPr>
        <p:spPr>
          <a:xfrm>
            <a:off x="5897880" y="2313432"/>
            <a:ext cx="5742432" cy="822960"/>
          </a:xfrm>
          <a:prstGeom prst="roundRect">
            <a:avLst>
              <a:gd name="adj" fmla="val 1111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8" name="pill-1496"/>
          <p:cNvSpPr/>
          <p:nvPr/>
        </p:nvSpPr>
        <p:spPr>
          <a:xfrm>
            <a:off x="6035040" y="2532888"/>
            <a:ext cx="685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9" name="text-1497"/>
          <p:cNvSpPr txBox="1"/>
          <p:nvPr/>
        </p:nvSpPr>
        <p:spPr>
          <a:xfrm>
            <a:off x="6858000" y="2368296"/>
            <a:ext cx="4663440" cy="329184"/>
          </a:xfrm>
          <a:prstGeom prst="rect">
            <a:avLst/>
          </a:prstGeom>
          <a:noFill/>
          <a:ln/>
        </p:spPr>
        <p:txBody>
          <a:bodyPr wrap="square" lIns="0" tIns="0" rIns="0" bIns="0" rtlCol="0" anchor="t"/>
          <a:lstStyle/>
          <a:p>
            <a:pPr indent="0" marL="0">
              <a:buNone/>
            </a:pPr>
            <a:r>
              <a:rPr lang="en-US" sz="1500" b="1" dirty="0">
                <a:solidFill>
                  <a:schemeClr val="tx1"/>
                </a:solidFill>
              </a:rPr>
              <a:t>Geometry</a:t>
            </a:r>
            <a:endParaRPr lang="en-US" sz="1500" dirty="0"/>
          </a:p>
        </p:txBody>
      </p:sp>
      <p:sp>
        <p:nvSpPr>
          <p:cNvPr id="30" name="text-1498"/>
          <p:cNvSpPr txBox="1"/>
          <p:nvPr/>
        </p:nvSpPr>
        <p:spPr>
          <a:xfrm>
            <a:off x="6858000" y="2697480"/>
            <a:ext cx="4663440" cy="411480"/>
          </a:xfrm>
          <a:prstGeom prst="rect">
            <a:avLst/>
          </a:prstGeom>
          <a:noFill/>
          <a:ln/>
        </p:spPr>
        <p:txBody>
          <a:bodyPr wrap="square" lIns="0" tIns="0" rIns="0" bIns="0" rtlCol="0" anchor="t"/>
          <a:lstStyle/>
          <a:p>
            <a:pPr indent="0" marL="0">
              <a:buNone/>
            </a:pPr>
            <a:r>
              <a:rPr lang="en-US" sz="1300" dirty="0">
                <a:solidFill>
                  <a:schemeClr val="tx2"/>
                </a:solidFill>
              </a:rPr>
              <a:t>Right-click Geometry 1 › </a:t>
            </a:r>
            <a:pPr indent="0" marL="0">
              <a:buNone/>
            </a:pPr>
            <a:r>
              <a:rPr lang="en-US" sz="1300" b="1" dirty="0">
                <a:solidFill>
                  <a:schemeClr val="tx2"/>
                </a:solidFill>
              </a:rPr>
              <a:t>Square</a:t>
            </a:r>
            <a:pPr indent="0" marL="0">
              <a:buNone/>
            </a:pPr>
            <a:r>
              <a:rPr lang="en-US" sz="1300" dirty="0">
                <a:solidFill>
                  <a:schemeClr val="tx2"/>
                </a:solidFill>
              </a:rPr>
              <a:t>, side 1 m › Build</a:t>
            </a:r>
            <a:endParaRPr lang="en-US" sz="1300" dirty="0"/>
          </a:p>
        </p:txBody>
      </p:sp>
      <p:sp>
        <p:nvSpPr>
          <p:cNvPr id="31" name="card-1499"/>
          <p:cNvSpPr/>
          <p:nvPr/>
        </p:nvSpPr>
        <p:spPr>
          <a:xfrm>
            <a:off x="5897880" y="3255264"/>
            <a:ext cx="5742432" cy="822960"/>
          </a:xfrm>
          <a:prstGeom prst="roundRect">
            <a:avLst>
              <a:gd name="adj" fmla="val 1111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2" name="pill-1500"/>
          <p:cNvSpPr/>
          <p:nvPr/>
        </p:nvSpPr>
        <p:spPr>
          <a:xfrm>
            <a:off x="6035040" y="3474720"/>
            <a:ext cx="685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text-1501"/>
          <p:cNvSpPr txBox="1"/>
          <p:nvPr/>
        </p:nvSpPr>
        <p:spPr>
          <a:xfrm>
            <a:off x="6858000" y="3310128"/>
            <a:ext cx="4663440" cy="329184"/>
          </a:xfrm>
          <a:prstGeom prst="rect">
            <a:avLst/>
          </a:prstGeom>
          <a:noFill/>
          <a:ln/>
        </p:spPr>
        <p:txBody>
          <a:bodyPr wrap="square" lIns="0" tIns="0" rIns="0" bIns="0" rtlCol="0" anchor="t"/>
          <a:lstStyle/>
          <a:p>
            <a:pPr indent="0" marL="0">
              <a:buNone/>
            </a:pPr>
            <a:r>
              <a:rPr lang="en-US" sz="1500" b="1" dirty="0">
                <a:solidFill>
                  <a:schemeClr val="tx1"/>
                </a:solidFill>
              </a:rPr>
              <a:t>Material</a:t>
            </a:r>
            <a:endParaRPr lang="en-US" sz="1500" dirty="0"/>
          </a:p>
        </p:txBody>
      </p:sp>
      <p:sp>
        <p:nvSpPr>
          <p:cNvPr id="34" name="text-1502"/>
          <p:cNvSpPr txBox="1"/>
          <p:nvPr/>
        </p:nvSpPr>
        <p:spPr>
          <a:xfrm>
            <a:off x="6858000" y="3639312"/>
            <a:ext cx="4663440" cy="411480"/>
          </a:xfrm>
          <a:prstGeom prst="rect">
            <a:avLst/>
          </a:prstGeom>
          <a:noFill/>
          <a:ln/>
        </p:spPr>
        <p:txBody>
          <a:bodyPr wrap="square" lIns="0" tIns="0" rIns="0" bIns="0" rtlCol="0" anchor="t"/>
          <a:lstStyle/>
          <a:p>
            <a:pPr indent="0" marL="0">
              <a:buNone/>
            </a:pPr>
            <a:r>
              <a:rPr lang="en-US" sz="1300" dirty="0">
                <a:solidFill>
                  <a:schemeClr val="tx2"/>
                </a:solidFill>
              </a:rPr>
              <a:t>k = 1, ρ = 1, C</a:t>
            </a:r>
            <a:pPr indent="0" marL="0">
              <a:buNone/>
            </a:pPr>
            <a:r>
              <a:rPr lang="en-US" sz="1300" baseline="-40000" dirty="0">
                <a:solidFill>
                  <a:schemeClr val="tx2"/>
                </a:solidFill>
              </a:rPr>
              <a:t>p</a:t>
            </a:r>
            <a:pPr indent="0" marL="0">
              <a:buNone/>
            </a:pPr>
            <a:r>
              <a:rPr lang="en-US" sz="1300" dirty="0">
                <a:solidFill>
                  <a:schemeClr val="tx2"/>
                </a:solidFill>
              </a:rPr>
              <a:t> = 1: size and k drop out of the Laplace equation</a:t>
            </a:r>
            <a:endParaRPr lang="en-US" sz="1300" dirty="0"/>
          </a:p>
        </p:txBody>
      </p:sp>
      <p:sp>
        <p:nvSpPr>
          <p:cNvPr id="35" name="card-1503"/>
          <p:cNvSpPr/>
          <p:nvPr/>
        </p:nvSpPr>
        <p:spPr>
          <a:xfrm>
            <a:off x="5897880" y="4197096"/>
            <a:ext cx="5742432" cy="822960"/>
          </a:xfrm>
          <a:prstGeom prst="roundRect">
            <a:avLst>
              <a:gd name="adj" fmla="val 1111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36" name="pill-1504"/>
          <p:cNvSpPr/>
          <p:nvPr/>
        </p:nvSpPr>
        <p:spPr>
          <a:xfrm>
            <a:off x="6035040" y="4416552"/>
            <a:ext cx="685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7" name="text-1505"/>
          <p:cNvSpPr txBox="1"/>
          <p:nvPr/>
        </p:nvSpPr>
        <p:spPr>
          <a:xfrm>
            <a:off x="6858000" y="4251960"/>
            <a:ext cx="4663440" cy="329184"/>
          </a:xfrm>
          <a:prstGeom prst="rect">
            <a:avLst/>
          </a:prstGeom>
          <a:noFill/>
          <a:ln/>
        </p:spPr>
        <p:txBody>
          <a:bodyPr wrap="square" lIns="0" tIns="0" rIns="0" bIns="0" rtlCol="0" anchor="t"/>
          <a:lstStyle/>
          <a:p>
            <a:pPr indent="0" marL="0">
              <a:buNone/>
            </a:pPr>
            <a:r>
              <a:rPr lang="en-US" sz="1500" b="1" dirty="0">
                <a:solidFill>
                  <a:schemeClr val="tx1"/>
                </a:solidFill>
              </a:rPr>
              <a:t>Top edge</a:t>
            </a:r>
            <a:endParaRPr lang="en-US" sz="1500" dirty="0"/>
          </a:p>
        </p:txBody>
      </p:sp>
      <p:sp>
        <p:nvSpPr>
          <p:cNvPr id="38" name="text-1506"/>
          <p:cNvSpPr txBox="1"/>
          <p:nvPr/>
        </p:nvSpPr>
        <p:spPr>
          <a:xfrm>
            <a:off x="6858000" y="4581144"/>
            <a:ext cx="4663440" cy="411480"/>
          </a:xfrm>
          <a:prstGeom prst="rect">
            <a:avLst/>
          </a:prstGeom>
          <a:noFill/>
          <a:ln/>
        </p:spPr>
        <p:txBody>
          <a:bodyPr wrap="square" lIns="0" tIns="0" rIns="0" bIns="0" rtlCol="0" anchor="t"/>
          <a:lstStyle/>
          <a:p>
            <a:pPr indent="0" marL="0">
              <a:buNone/>
            </a:pPr>
            <a:r>
              <a:rPr lang="en-US" sz="1300" b="1" dirty="0">
                <a:solidFill>
                  <a:schemeClr val="tx2"/>
                </a:solidFill>
              </a:rPr>
              <a:t>Temperature</a:t>
            </a:r>
            <a:pPr indent="0" marL="0">
              <a:buNone/>
            </a:pPr>
            <a:r>
              <a:rPr lang="en-US" sz="1300" dirty="0">
                <a:solidFill>
                  <a:schemeClr val="tx2"/>
                </a:solidFill>
              </a:rPr>
              <a:t> on boundary 3: T</a:t>
            </a:r>
            <a:pPr indent="0" marL="0">
              <a:buNone/>
            </a:pPr>
            <a:r>
              <a:rPr lang="en-US" sz="1300" baseline="-40000" dirty="0">
                <a:solidFill>
                  <a:schemeClr val="tx2"/>
                </a:solidFill>
              </a:rPr>
              <a:t>0</a:t>
            </a:r>
            <a:pPr indent="0" marL="0">
              <a:buNone/>
            </a:pPr>
            <a:r>
              <a:rPr lang="en-US" sz="1300" dirty="0">
                <a:solidFill>
                  <a:schemeClr val="tx2"/>
                </a:solidFill>
              </a:rPr>
              <a:t> = </a:t>
            </a:r>
            <a:pPr indent="0" marL="0">
              <a:buNone/>
            </a:pPr>
            <a:r>
              <a:rPr lang="en-US" sz="1300" b="1" dirty="0">
                <a:solidFill>
                  <a:schemeClr val="tx2"/>
                </a:solidFill>
              </a:rPr>
              <a:t>700[degC]</a:t>
            </a:r>
            <a:endParaRPr lang="en-US" sz="1300" dirty="0"/>
          </a:p>
        </p:txBody>
      </p:sp>
      <p:sp>
        <p:nvSpPr>
          <p:cNvPr id="39" name="card-1507"/>
          <p:cNvSpPr/>
          <p:nvPr/>
        </p:nvSpPr>
        <p:spPr>
          <a:xfrm>
            <a:off x="5897880" y="5138928"/>
            <a:ext cx="5742432" cy="822960"/>
          </a:xfrm>
          <a:prstGeom prst="roundRect">
            <a:avLst>
              <a:gd name="adj" fmla="val 11111"/>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40" name="pill-1508"/>
          <p:cNvSpPr/>
          <p:nvPr/>
        </p:nvSpPr>
        <p:spPr>
          <a:xfrm>
            <a:off x="6035040" y="5358384"/>
            <a:ext cx="68580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1" name="text-1509"/>
          <p:cNvSpPr txBox="1"/>
          <p:nvPr/>
        </p:nvSpPr>
        <p:spPr>
          <a:xfrm>
            <a:off x="6858000" y="5193792"/>
            <a:ext cx="4663440" cy="329184"/>
          </a:xfrm>
          <a:prstGeom prst="rect">
            <a:avLst/>
          </a:prstGeom>
          <a:noFill/>
          <a:ln/>
        </p:spPr>
        <p:txBody>
          <a:bodyPr wrap="square" lIns="0" tIns="0" rIns="0" bIns="0" rtlCol="0" anchor="t"/>
          <a:lstStyle/>
          <a:p>
            <a:pPr indent="0" marL="0">
              <a:buNone/>
            </a:pPr>
            <a:r>
              <a:rPr lang="en-US" sz="1500" b="1" dirty="0">
                <a:solidFill>
                  <a:schemeClr val="tx1"/>
                </a:solidFill>
              </a:rPr>
              <a:t>Other edges</a:t>
            </a:r>
            <a:endParaRPr lang="en-US" sz="1500" dirty="0"/>
          </a:p>
        </p:txBody>
      </p:sp>
      <p:sp>
        <p:nvSpPr>
          <p:cNvPr id="42" name="text-1510"/>
          <p:cNvSpPr txBox="1"/>
          <p:nvPr/>
        </p:nvSpPr>
        <p:spPr>
          <a:xfrm>
            <a:off x="6858000" y="5522976"/>
            <a:ext cx="4663440" cy="411480"/>
          </a:xfrm>
          <a:prstGeom prst="rect">
            <a:avLst/>
          </a:prstGeom>
          <a:noFill/>
          <a:ln/>
        </p:spPr>
        <p:txBody>
          <a:bodyPr wrap="square" lIns="0" tIns="0" rIns="0" bIns="0" rtlCol="0" anchor="t"/>
          <a:lstStyle/>
          <a:p>
            <a:pPr indent="0" marL="0">
              <a:buNone/>
            </a:pPr>
            <a:r>
              <a:rPr lang="en-US" sz="1300" dirty="0">
                <a:solidFill>
                  <a:schemeClr val="tx2"/>
                </a:solidFill>
              </a:rPr>
              <a:t>boundary 1 → 100[degC] · 4 → 400[degC] · 2 → 500[degC]</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151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3 · STEPS 9–11</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Mesh size as a parameter: a grid study in one click</a:t>
            </a:r>
            <a:endParaRPr lang="en-US" sz="3200" dirty="0"/>
          </a:p>
        </p:txBody>
      </p:sp>
      <p:sp>
        <p:nvSpPr>
          <p:cNvPr id="4" name="card-1512"/>
          <p:cNvSpPr/>
          <p:nvPr/>
        </p:nvSpPr>
        <p:spPr>
          <a:xfrm>
            <a:off x="548640"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badge-1513"/>
          <p:cNvSpPr/>
          <p:nvPr/>
        </p:nvSpPr>
        <p:spPr>
          <a:xfrm>
            <a:off x="713232"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6" name="text-1514"/>
          <p:cNvSpPr txBox="1"/>
          <p:nvPr/>
        </p:nvSpPr>
        <p:spPr>
          <a:xfrm>
            <a:off x="1261872"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Parameter hm = 1/3</a:t>
            </a:r>
            <a:endParaRPr lang="en-US" sz="1500" dirty="0"/>
          </a:p>
        </p:txBody>
      </p:sp>
      <p:pic>
        <p:nvPicPr>
          <p:cNvPr id="7" name="img-1515" descr="COMSOL screenshot, step 9">    </p:cNvPr>
          <p:cNvPicPr>
            <a:picLocks noChangeAspect="1"/>
          </p:cNvPicPr>
          <p:nvPr/>
        </p:nvPicPr>
        <p:blipFill>
          <a:blip r:embed="rId1"/>
          <a:stretch>
            <a:fillRect/>
          </a:stretch>
        </p:blipFill>
        <p:spPr>
          <a:xfrm>
            <a:off x="685800" y="2093814"/>
            <a:ext cx="3246120" cy="2441772"/>
          </a:xfrm>
          <a:prstGeom prst="rect">
            <a:avLst/>
          </a:prstGeom>
        </p:spPr>
      </p:pic>
      <p:sp>
        <p:nvSpPr>
          <p:cNvPr id="8" name="code-1516"/>
          <p:cNvSpPr/>
          <p:nvPr/>
        </p:nvSpPr>
        <p:spPr>
          <a:xfrm>
            <a:off x="685800"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hm = 1/3</a:t>
            </a:r>
            <a:endParaRPr lang="en-US" sz="1250" dirty="0"/>
          </a:p>
        </p:txBody>
      </p:sp>
      <p:sp>
        <p:nvSpPr>
          <p:cNvPr id="9" name="card-1517"/>
          <p:cNvSpPr/>
          <p:nvPr/>
        </p:nvSpPr>
        <p:spPr>
          <a:xfrm>
            <a:off x="4334256"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badge-1518"/>
          <p:cNvSpPr/>
          <p:nvPr/>
        </p:nvSpPr>
        <p:spPr>
          <a:xfrm>
            <a:off x="4498848"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11" name="text-1519"/>
          <p:cNvSpPr txBox="1"/>
          <p:nvPr/>
        </p:nvSpPr>
        <p:spPr>
          <a:xfrm>
            <a:off x="5047488"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Mesh size = hm</a:t>
            </a:r>
            <a:endParaRPr lang="en-US" sz="1500" dirty="0"/>
          </a:p>
        </p:txBody>
      </p:sp>
      <p:pic>
        <p:nvPicPr>
          <p:cNvPr id="12" name="img-1520" descr="COMSOL screenshot, step 10">    </p:cNvPr>
          <p:cNvPicPr>
            <a:picLocks noChangeAspect="1"/>
          </p:cNvPicPr>
          <p:nvPr/>
        </p:nvPicPr>
        <p:blipFill>
          <a:blip r:embed="rId2"/>
          <a:stretch>
            <a:fillRect/>
          </a:stretch>
        </p:blipFill>
        <p:spPr>
          <a:xfrm>
            <a:off x="4568952" y="2057400"/>
            <a:ext cx="3051048" cy="2514600"/>
          </a:xfrm>
          <a:prstGeom prst="rect">
            <a:avLst/>
          </a:prstGeom>
        </p:spPr>
      </p:pic>
      <p:sp>
        <p:nvSpPr>
          <p:cNvPr id="13" name="code-1521"/>
          <p:cNvSpPr/>
          <p:nvPr/>
        </p:nvSpPr>
        <p:spPr>
          <a:xfrm>
            <a:off x="4471416"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Maximum element size: hm</a:t>
            </a:r>
            <a:endParaRPr lang="en-US" sz="1250" dirty="0"/>
          </a:p>
        </p:txBody>
      </p:sp>
      <p:sp>
        <p:nvSpPr>
          <p:cNvPr id="14" name="card-1522"/>
          <p:cNvSpPr/>
          <p:nvPr/>
        </p:nvSpPr>
        <p:spPr>
          <a:xfrm>
            <a:off x="8119872" y="1371600"/>
            <a:ext cx="3520440" cy="4069080"/>
          </a:xfrm>
          <a:prstGeom prst="roundRect">
            <a:avLst>
              <a:gd name="adj" fmla="val 2597"/>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badge-1523"/>
          <p:cNvSpPr/>
          <p:nvPr/>
        </p:nvSpPr>
        <p:spPr>
          <a:xfrm>
            <a:off x="8284464" y="1508760"/>
            <a:ext cx="420624" cy="420624"/>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16" name="text-1524"/>
          <p:cNvSpPr txBox="1"/>
          <p:nvPr/>
        </p:nvSpPr>
        <p:spPr>
          <a:xfrm>
            <a:off x="8833104" y="1508760"/>
            <a:ext cx="2697480" cy="420624"/>
          </a:xfrm>
          <a:prstGeom prst="rect">
            <a:avLst/>
          </a:prstGeom>
          <a:noFill/>
          <a:ln/>
        </p:spPr>
        <p:txBody>
          <a:bodyPr wrap="square" lIns="0" tIns="0" rIns="0" bIns="0" rtlCol="0" anchor="ctr"/>
          <a:lstStyle/>
          <a:p>
            <a:pPr indent="0" marL="0">
              <a:buNone/>
            </a:pPr>
            <a:r>
              <a:rPr lang="en-US" sz="1500" b="1" dirty="0">
                <a:solidFill>
                  <a:schemeClr val="tx1"/>
                </a:solidFill>
              </a:rPr>
              <a:t>Parametric sweep over hm</a:t>
            </a:r>
            <a:endParaRPr lang="en-US" sz="1500" dirty="0"/>
          </a:p>
        </p:txBody>
      </p:sp>
      <p:pic>
        <p:nvPicPr>
          <p:cNvPr id="17" name="img-1525" descr="COMSOL screenshot, step 11">    </p:cNvPr>
          <p:cNvPicPr>
            <a:picLocks noChangeAspect="1"/>
          </p:cNvPicPr>
          <p:nvPr/>
        </p:nvPicPr>
        <p:blipFill>
          <a:blip r:embed="rId3"/>
          <a:stretch>
            <a:fillRect/>
          </a:stretch>
        </p:blipFill>
        <p:spPr>
          <a:xfrm>
            <a:off x="8415402" y="2057400"/>
            <a:ext cx="2929379" cy="2514600"/>
          </a:xfrm>
          <a:prstGeom prst="rect">
            <a:avLst/>
          </a:prstGeom>
        </p:spPr>
      </p:pic>
      <p:sp>
        <p:nvSpPr>
          <p:cNvPr id="18" name="code-1526"/>
          <p:cNvSpPr/>
          <p:nvPr/>
        </p:nvSpPr>
        <p:spPr>
          <a:xfrm>
            <a:off x="8257032" y="4709160"/>
            <a:ext cx="3246120" cy="502920"/>
          </a:xfrm>
          <a:prstGeom prst="roundRect">
            <a:avLst>
              <a:gd name="adj" fmla="val 10909"/>
            </a:avLst>
          </a:prstGeom>
          <a:solidFill>
            <a:schemeClr val="bg2"/>
          </a:solidFill>
          <a:ln/>
        </p:spPr>
        <p:txBody>
          <a:bodyPr wrap="square" lIns="0" tIns="1524" rIns="1524" bIns="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1/3 1/6 1/12 1/24 1/48 1/96</a:t>
            </a:r>
            <a:endParaRPr lang="en-US" sz="1250" dirty="0"/>
          </a:p>
        </p:txBody>
      </p:sp>
      <p:sp>
        <p:nvSpPr>
          <p:cNvPr id="19" name="note-strip-1527"/>
          <p:cNvSpPr/>
          <p:nvPr/>
        </p:nvSpPr>
        <p:spPr>
          <a:xfrm>
            <a:off x="548640" y="5577840"/>
            <a:ext cx="11094415" cy="548640"/>
          </a:xfrm>
          <a:prstGeom prst="roundRect">
            <a:avLst>
              <a:gd name="adj" fmla="val 16667"/>
            </a:avLst>
          </a:prstGeom>
          <a:solidFill>
            <a:schemeClr val="accent3">
              <a:alpha val="12000"/>
            </a:schemeClr>
          </a:solidFill>
          <a:ln/>
        </p:spPr>
      </p:sp>
      <p:sp>
        <p:nvSpPr>
          <p:cNvPr id="20" name="icon-bg-1528"/>
          <p:cNvSpPr/>
          <p:nvPr/>
        </p:nvSpPr>
        <p:spPr>
          <a:xfrm>
            <a:off x="685800" y="5660136"/>
            <a:ext cx="384048" cy="384048"/>
          </a:xfrm>
          <a:prstGeom prst="ellipse">
            <a:avLst/>
          </a:prstGeom>
          <a:solidFill>
            <a:schemeClr val="accent3"/>
          </a:solidFill>
          <a:ln/>
        </p:spPr>
      </p:sp>
      <p:pic>
        <p:nvPicPr>
          <p:cNvPr id="21" name="icon-1529" descr="preencoded.png">    </p:cNvPr>
          <p:cNvPicPr>
            <a:picLocks noChangeAspect="1"/>
          </p:cNvPicPr>
          <p:nvPr/>
        </p:nvPicPr>
        <p:blipFill>
          <a:blip r:embed="rId4"/>
          <a:stretch>
            <a:fillRect/>
          </a:stretch>
        </p:blipFill>
        <p:spPr>
          <a:xfrm>
            <a:off x="774131" y="5748467"/>
            <a:ext cx="207386" cy="207386"/>
          </a:xfrm>
          <a:prstGeom prst="rect">
            <a:avLst/>
          </a:prstGeom>
        </p:spPr>
      </p:pic>
      <p:sp>
        <p:nvSpPr>
          <p:cNvPr id="22" name="text-1530"/>
          <p:cNvSpPr txBox="1"/>
          <p:nvPr/>
        </p:nvSpPr>
        <p:spPr>
          <a:xfrm>
            <a:off x="1234440" y="5577840"/>
            <a:ext cx="10225735" cy="548640"/>
          </a:xfrm>
          <a:prstGeom prst="rect">
            <a:avLst/>
          </a:prstGeom>
          <a:noFill/>
          <a:ln/>
        </p:spPr>
        <p:txBody>
          <a:bodyPr wrap="square" lIns="0" tIns="0" rIns="0" bIns="0" rtlCol="0" anchor="ctr"/>
          <a:lstStyle/>
          <a:p>
            <a:pPr indent="0" marL="0">
              <a:buNone/>
            </a:pPr>
            <a:r>
              <a:rPr lang="en-US" sz="1500" dirty="0">
                <a:solidFill>
                  <a:schemeClr val="tx1"/>
                </a:solidFill>
              </a:rPr>
              <a:t>One Compute solves </a:t>
            </a:r>
            <a:pPr indent="0" marL="0">
              <a:buNone/>
            </a:pPr>
            <a:r>
              <a:rPr lang="en-US" sz="1500" b="1" dirty="0">
                <a:solidFill>
                  <a:schemeClr val="tx1"/>
                </a:solidFill>
              </a:rPr>
              <a:t>6 meshes</a:t>
            </a:r>
            <a:pPr indent="0" marL="0">
              <a:buNone/>
            </a:pPr>
            <a:r>
              <a:rPr lang="en-US" sz="1500" dirty="0">
                <a:solidFill>
                  <a:schemeClr val="tx1"/>
                </a:solidFill>
              </a:rPr>
              <a:t>, from 26 elements upwards: a grid-convergence study, exactly the verification of Pillar 7.</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1531"/>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3 · STEPS 12–16</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Results: field, points and heat balance</a:t>
            </a:r>
            <a:endParaRPr lang="en-US" sz="3200" dirty="0"/>
          </a:p>
        </p:txBody>
      </p:sp>
      <p:sp>
        <p:nvSpPr>
          <p:cNvPr id="4" name="card-1532"/>
          <p:cNvSpPr/>
          <p:nvPr/>
        </p:nvSpPr>
        <p:spPr>
          <a:xfrm>
            <a:off x="548640" y="1371600"/>
            <a:ext cx="3703320" cy="260604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533" descr="Temperature surface plot of the plate">    </p:cNvPr>
          <p:cNvPicPr>
            <a:picLocks noChangeAspect="1"/>
          </p:cNvPicPr>
          <p:nvPr/>
        </p:nvPicPr>
        <p:blipFill>
          <a:blip r:embed="rId1"/>
          <a:stretch>
            <a:fillRect/>
          </a:stretch>
        </p:blipFill>
        <p:spPr>
          <a:xfrm>
            <a:off x="594360" y="1450815"/>
            <a:ext cx="3611880" cy="2447611"/>
          </a:xfrm>
          <a:prstGeom prst="rect">
            <a:avLst/>
          </a:prstGeom>
        </p:spPr>
      </p:pic>
      <p:sp>
        <p:nvSpPr>
          <p:cNvPr id="6" name="card-1534"/>
          <p:cNvSpPr/>
          <p:nvPr/>
        </p:nvSpPr>
        <p:spPr>
          <a:xfrm>
            <a:off x="4389120" y="1371600"/>
            <a:ext cx="3703320" cy="260604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7" name="img-1535" descr="Isotherms crowding into the corners">    </p:cNvPr>
          <p:cNvPicPr>
            <a:picLocks noChangeAspect="1"/>
          </p:cNvPicPr>
          <p:nvPr/>
        </p:nvPicPr>
        <p:blipFill>
          <a:blip r:embed="rId2"/>
          <a:stretch>
            <a:fillRect/>
          </a:stretch>
        </p:blipFill>
        <p:spPr>
          <a:xfrm>
            <a:off x="4434840" y="1450815"/>
            <a:ext cx="3611880" cy="2447611"/>
          </a:xfrm>
          <a:prstGeom prst="rect">
            <a:avLst/>
          </a:prstGeom>
        </p:spPr>
      </p:pic>
      <p:sp>
        <p:nvSpPr>
          <p:cNvPr id="8" name="card-1536"/>
          <p:cNvSpPr/>
          <p:nvPr/>
        </p:nvSpPr>
        <p:spPr>
          <a:xfrm>
            <a:off x="8229600" y="1371600"/>
            <a:ext cx="3410712" cy="2606040"/>
          </a:xfrm>
          <a:prstGeom prst="roundRect">
            <a:avLst>
              <a:gd name="adj" fmla="val 350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9" name="img-1537" descr="Total normal heat flux for each mesh">    </p:cNvPr>
          <p:cNvPicPr>
            <a:picLocks noChangeAspect="1"/>
          </p:cNvPicPr>
          <p:nvPr/>
        </p:nvPicPr>
        <p:blipFill>
          <a:blip r:embed="rId3"/>
          <a:stretch>
            <a:fillRect/>
          </a:stretch>
        </p:blipFill>
        <p:spPr>
          <a:xfrm>
            <a:off x="8321040" y="1489275"/>
            <a:ext cx="3227832" cy="999091"/>
          </a:xfrm>
          <a:prstGeom prst="rect">
            <a:avLst/>
          </a:prstGeom>
        </p:spPr>
      </p:pic>
      <p:sp>
        <p:nvSpPr>
          <p:cNvPr id="10" name="text-1538"/>
          <p:cNvSpPr txBox="1"/>
          <p:nvPr/>
        </p:nvSpPr>
        <p:spPr>
          <a:xfrm>
            <a:off x="8366760" y="2606040"/>
            <a:ext cx="3154680" cy="1325880"/>
          </a:xfrm>
          <a:prstGeom prst="rect">
            <a:avLst/>
          </a:prstGeom>
          <a:noFill/>
          <a:ln/>
        </p:spPr>
        <p:txBody>
          <a:bodyPr wrap="square" lIns="0" tIns="0" rIns="0" bIns="0" rtlCol="0" anchor="t"/>
          <a:lstStyle/>
          <a:p>
            <a:pPr indent="0" marL="0">
              <a:buNone/>
            </a:pPr>
            <a:r>
              <a:rPr lang="en-US" sz="1250" dirty="0">
                <a:solidFill>
                  <a:schemeClr val="tx2"/>
                </a:solidFill>
              </a:rPr>
              <a:t>Step 15: total heat flow through all four edges, per mesh. It shrinks towards 0 as the mesh is refined, apart from the singular corners: heat in = heat out.</a:t>
            </a:r>
            <a:endParaRPr lang="en-US" sz="1250" dirty="0"/>
          </a:p>
        </p:txBody>
      </p:sp>
      <p:sp>
        <p:nvSpPr>
          <p:cNvPr id="11" name="card-1539"/>
          <p:cNvSpPr/>
          <p:nvPr/>
        </p:nvSpPr>
        <p:spPr>
          <a:xfrm>
            <a:off x="548640" y="4160520"/>
            <a:ext cx="5477256" cy="868680"/>
          </a:xfrm>
          <a:prstGeom prst="roundRect">
            <a:avLst>
              <a:gd name="adj" fmla="val 1052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2" name="badge-1540"/>
          <p:cNvSpPr/>
          <p:nvPr/>
        </p:nvSpPr>
        <p:spPr>
          <a:xfrm>
            <a:off x="685800" y="4389120"/>
            <a:ext cx="402336" cy="40233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13</a:t>
            </a:r>
            <a:endParaRPr lang="en-US" sz="1300" dirty="0"/>
          </a:p>
        </p:txBody>
      </p:sp>
      <p:sp>
        <p:nvSpPr>
          <p:cNvPr id="13" name="text-1541"/>
          <p:cNvSpPr txBox="1"/>
          <p:nvPr/>
        </p:nvSpPr>
        <p:spPr>
          <a:xfrm>
            <a:off x="1234440" y="4233672"/>
            <a:ext cx="4663440" cy="320040"/>
          </a:xfrm>
          <a:prstGeom prst="rect">
            <a:avLst/>
          </a:prstGeom>
          <a:noFill/>
          <a:ln/>
        </p:spPr>
        <p:txBody>
          <a:bodyPr wrap="square" lIns="0" tIns="0" rIns="0" bIns="0" rtlCol="0" anchor="t"/>
          <a:lstStyle/>
          <a:p>
            <a:pPr indent="0" marL="0">
              <a:buNone/>
            </a:pPr>
            <a:r>
              <a:rPr lang="en-US" sz="1500" b="1" dirty="0">
                <a:solidFill>
                  <a:schemeClr val="tx1"/>
                </a:solidFill>
              </a:rPr>
              <a:t>Cut Point 2D</a:t>
            </a:r>
            <a:endParaRPr lang="en-US" sz="1500" dirty="0"/>
          </a:p>
        </p:txBody>
      </p:sp>
      <p:sp>
        <p:nvSpPr>
          <p:cNvPr id="14" name="text-1542"/>
          <p:cNvSpPr txBox="1"/>
          <p:nvPr/>
        </p:nvSpPr>
        <p:spPr>
          <a:xfrm>
            <a:off x="1234440" y="4572000"/>
            <a:ext cx="4663440" cy="411480"/>
          </a:xfrm>
          <a:prstGeom prst="rect">
            <a:avLst/>
          </a:prstGeom>
          <a:noFill/>
          <a:ln/>
        </p:spPr>
        <p:txBody>
          <a:bodyPr wrap="square" lIns="0" tIns="0" rIns="0" bIns="0" rtlCol="0" anchor="t"/>
          <a:lstStyle/>
          <a:p>
            <a:pPr indent="0" marL="0">
              <a:buNone/>
            </a:pPr>
            <a:r>
              <a:rPr lang="en-US" sz="1300" dirty="0">
                <a:solidFill>
                  <a:schemeClr val="tx2"/>
                </a:solidFill>
              </a:rPr>
              <a:t>the 4 points (1/3, 1/3), (2/3, 2/3), (2/3, 1/3), (1/3, 2/3)</a:t>
            </a:r>
            <a:endParaRPr lang="en-US" sz="1300" dirty="0"/>
          </a:p>
        </p:txBody>
      </p:sp>
      <p:sp>
        <p:nvSpPr>
          <p:cNvPr id="15" name="card-1543"/>
          <p:cNvSpPr/>
          <p:nvPr/>
        </p:nvSpPr>
        <p:spPr>
          <a:xfrm>
            <a:off x="6163056" y="4160520"/>
            <a:ext cx="5477256" cy="868680"/>
          </a:xfrm>
          <a:prstGeom prst="roundRect">
            <a:avLst>
              <a:gd name="adj" fmla="val 1052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6" name="badge-1544"/>
          <p:cNvSpPr/>
          <p:nvPr/>
        </p:nvSpPr>
        <p:spPr>
          <a:xfrm>
            <a:off x="6300216" y="4389120"/>
            <a:ext cx="402336" cy="40233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14</a:t>
            </a:r>
            <a:endParaRPr lang="en-US" sz="1300" dirty="0"/>
          </a:p>
        </p:txBody>
      </p:sp>
      <p:sp>
        <p:nvSpPr>
          <p:cNvPr id="17" name="text-1545"/>
          <p:cNvSpPr txBox="1"/>
          <p:nvPr/>
        </p:nvSpPr>
        <p:spPr>
          <a:xfrm>
            <a:off x="6848856" y="4233672"/>
            <a:ext cx="4663440" cy="320040"/>
          </a:xfrm>
          <a:prstGeom prst="rect">
            <a:avLst/>
          </a:prstGeom>
          <a:noFill/>
          <a:ln/>
        </p:spPr>
        <p:txBody>
          <a:bodyPr wrap="square" lIns="0" tIns="0" rIns="0" bIns="0" rtlCol="0" anchor="t"/>
          <a:lstStyle/>
          <a:p>
            <a:pPr indent="0" marL="0">
              <a:buNone/>
            </a:pPr>
            <a:r>
              <a:rPr lang="en-US" sz="1500" b="1" dirty="0">
                <a:solidFill>
                  <a:schemeClr val="tx1"/>
                </a:solidFill>
              </a:rPr>
              <a:t>Point Evaluation</a:t>
            </a:r>
            <a:endParaRPr lang="en-US" sz="1500" dirty="0"/>
          </a:p>
        </p:txBody>
      </p:sp>
      <p:sp>
        <p:nvSpPr>
          <p:cNvPr id="18" name="text-1546"/>
          <p:cNvSpPr txBox="1"/>
          <p:nvPr/>
        </p:nvSpPr>
        <p:spPr>
          <a:xfrm>
            <a:off x="6848856" y="4572000"/>
            <a:ext cx="4663440" cy="411480"/>
          </a:xfrm>
          <a:prstGeom prst="rect">
            <a:avLst/>
          </a:prstGeom>
          <a:noFill/>
          <a:ln/>
        </p:spPr>
        <p:txBody>
          <a:bodyPr wrap="square" lIns="0" tIns="0" rIns="0" bIns="0" rtlCol="0" anchor="t"/>
          <a:lstStyle/>
          <a:p>
            <a:pPr indent="0" marL="0">
              <a:buNone/>
            </a:pPr>
            <a:r>
              <a:rPr lang="en-US" sz="1300" dirty="0">
                <a:solidFill>
                  <a:schemeClr val="tx2"/>
                </a:solidFill>
              </a:rPr>
              <a:t>expression T, unit degC, all hm: one row per mesh</a:t>
            </a:r>
            <a:endParaRPr lang="en-US" sz="1300" dirty="0"/>
          </a:p>
        </p:txBody>
      </p:sp>
      <p:sp>
        <p:nvSpPr>
          <p:cNvPr id="19" name="card-1547"/>
          <p:cNvSpPr/>
          <p:nvPr/>
        </p:nvSpPr>
        <p:spPr>
          <a:xfrm>
            <a:off x="548640" y="5138928"/>
            <a:ext cx="5477256" cy="868680"/>
          </a:xfrm>
          <a:prstGeom prst="roundRect">
            <a:avLst>
              <a:gd name="adj" fmla="val 1052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0" name="badge-1548"/>
          <p:cNvSpPr/>
          <p:nvPr/>
        </p:nvSpPr>
        <p:spPr>
          <a:xfrm>
            <a:off x="685800" y="5367528"/>
            <a:ext cx="402336" cy="40233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15</a:t>
            </a:r>
            <a:endParaRPr lang="en-US" sz="1300" dirty="0"/>
          </a:p>
        </p:txBody>
      </p:sp>
      <p:sp>
        <p:nvSpPr>
          <p:cNvPr id="21" name="text-1549"/>
          <p:cNvSpPr txBox="1"/>
          <p:nvPr/>
        </p:nvSpPr>
        <p:spPr>
          <a:xfrm>
            <a:off x="1234440" y="5212080"/>
            <a:ext cx="4663440" cy="320040"/>
          </a:xfrm>
          <a:prstGeom prst="rect">
            <a:avLst/>
          </a:prstGeom>
          <a:noFill/>
          <a:ln/>
        </p:spPr>
        <p:txBody>
          <a:bodyPr wrap="square" lIns="0" tIns="0" rIns="0" bIns="0" rtlCol="0" anchor="t"/>
          <a:lstStyle/>
          <a:p>
            <a:pPr indent="0" marL="0">
              <a:buNone/>
            </a:pPr>
            <a:r>
              <a:rPr lang="en-US" sz="1500" b="1" dirty="0">
                <a:solidFill>
                  <a:schemeClr val="tx1"/>
                </a:solidFill>
              </a:rPr>
              <a:t>Heat balance</a:t>
            </a:r>
            <a:endParaRPr lang="en-US" sz="1500" dirty="0"/>
          </a:p>
        </p:txBody>
      </p:sp>
      <p:sp>
        <p:nvSpPr>
          <p:cNvPr id="22" name="text-1550"/>
          <p:cNvSpPr txBox="1"/>
          <p:nvPr/>
        </p:nvSpPr>
        <p:spPr>
          <a:xfrm>
            <a:off x="1234440" y="5550408"/>
            <a:ext cx="4663440" cy="411480"/>
          </a:xfrm>
          <a:prstGeom prst="rect">
            <a:avLst/>
          </a:prstGeom>
          <a:noFill/>
          <a:ln/>
        </p:spPr>
        <p:txBody>
          <a:bodyPr wrap="square" lIns="0" tIns="0" rIns="0" bIns="0" rtlCol="0" anchor="t"/>
          <a:lstStyle/>
          <a:p>
            <a:pPr indent="0" marL="0">
              <a:buNone/>
            </a:pPr>
            <a:r>
              <a:rPr lang="en-US" sz="1300" dirty="0">
                <a:solidFill>
                  <a:schemeClr val="tx2"/>
                </a:solidFill>
              </a:rPr>
              <a:t>Line Integration of </a:t>
            </a:r>
            <a:pPr indent="0" marL="0">
              <a:buNone/>
            </a:pPr>
            <a:r>
              <a:rPr lang="en-US" sz="1300" b="1" dirty="0">
                <a:solidFill>
                  <a:schemeClr val="tx2"/>
                </a:solidFill>
              </a:rPr>
              <a:t>ht.ntflux</a:t>
            </a:r>
            <a:pPr indent="0" marL="0">
              <a:buNone/>
            </a:pPr>
            <a:r>
              <a:rPr lang="en-US" sz="1300" dirty="0">
                <a:solidFill>
                  <a:schemeClr val="tx2"/>
                </a:solidFill>
              </a:rPr>
              <a:t> over all edges</a:t>
            </a:r>
            <a:endParaRPr lang="en-US" sz="1300" dirty="0"/>
          </a:p>
        </p:txBody>
      </p:sp>
      <p:sp>
        <p:nvSpPr>
          <p:cNvPr id="23" name="card-1551"/>
          <p:cNvSpPr/>
          <p:nvPr/>
        </p:nvSpPr>
        <p:spPr>
          <a:xfrm>
            <a:off x="6163056" y="5138928"/>
            <a:ext cx="5477256" cy="868680"/>
          </a:xfrm>
          <a:prstGeom prst="roundRect">
            <a:avLst>
              <a:gd name="adj" fmla="val 1052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4" name="badge-1552"/>
          <p:cNvSpPr/>
          <p:nvPr/>
        </p:nvSpPr>
        <p:spPr>
          <a:xfrm>
            <a:off x="6300216" y="5367528"/>
            <a:ext cx="402336" cy="40233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16</a:t>
            </a:r>
            <a:endParaRPr lang="en-US" sz="1300" dirty="0"/>
          </a:p>
        </p:txBody>
      </p:sp>
      <p:sp>
        <p:nvSpPr>
          <p:cNvPr id="25" name="text-1553"/>
          <p:cNvSpPr txBox="1"/>
          <p:nvPr/>
        </p:nvSpPr>
        <p:spPr>
          <a:xfrm>
            <a:off x="6848856" y="5212080"/>
            <a:ext cx="4663440" cy="320040"/>
          </a:xfrm>
          <a:prstGeom prst="rect">
            <a:avLst/>
          </a:prstGeom>
          <a:noFill/>
          <a:ln/>
        </p:spPr>
        <p:txBody>
          <a:bodyPr wrap="square" lIns="0" tIns="0" rIns="0" bIns="0" rtlCol="0" anchor="t"/>
          <a:lstStyle/>
          <a:p>
            <a:pPr indent="0" marL="0">
              <a:buNone/>
            </a:pPr>
            <a:r>
              <a:rPr lang="en-US" sz="1500" b="1" dirty="0">
                <a:solidFill>
                  <a:schemeClr val="tx1"/>
                </a:solidFill>
              </a:rPr>
              <a:t>Isotherms</a:t>
            </a:r>
            <a:endParaRPr lang="en-US" sz="1500" dirty="0"/>
          </a:p>
        </p:txBody>
      </p:sp>
      <p:sp>
        <p:nvSpPr>
          <p:cNvPr id="26" name="text-1554"/>
          <p:cNvSpPr txBox="1"/>
          <p:nvPr/>
        </p:nvSpPr>
        <p:spPr>
          <a:xfrm>
            <a:off x="6848856" y="5550408"/>
            <a:ext cx="4663440" cy="411480"/>
          </a:xfrm>
          <a:prstGeom prst="rect">
            <a:avLst/>
          </a:prstGeom>
          <a:noFill/>
          <a:ln/>
        </p:spPr>
        <p:txBody>
          <a:bodyPr wrap="square" lIns="0" tIns="0" rIns="0" bIns="0" rtlCol="0" anchor="t"/>
          <a:lstStyle/>
          <a:p>
            <a:pPr indent="0" marL="0">
              <a:buNone/>
            </a:pPr>
            <a:r>
              <a:rPr lang="en-US" sz="1300" dirty="0">
                <a:solidFill>
                  <a:schemeClr val="tx2"/>
                </a:solidFill>
              </a:rPr>
              <a:t>crowd into the corners where very different edge temperatures meet</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1555"/>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 3 · VERIFICATION</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Four unknowns, already within 3 °C</a:t>
            </a:r>
            <a:endParaRPr lang="en-US" sz="3200" dirty="0"/>
          </a:p>
        </p:txBody>
      </p:sp>
      <p:graphicFrame>
        <p:nvGraphicFramePr>
          <p:cNvPr id="62" name="table-1556"/>
          <p:cNvGraphicFramePr>
            <a:graphicFrameLocks noGrp="1"/>
          </p:cNvGraphicFramePr>
          <p:nvPr>
            <p:extLst>
              <p:ext uri="{D42A27DB-BD31-4B8C-83A1-F6EECF244321}">
                <p14:modId xmlns:p14="http://schemas.microsoft.com/office/powerpoint/2010/main" val="1579011935"/>
              </p:ext>
            </p:extLst>
          </p:nvPr>
        </p:nvGraphicFramePr>
        <p:xfrm>
          <a:off x="548640" y="1371600"/>
          <a:ext cx="6446520" cy="914400"/>
        </p:xfrm>
        <a:graphic>
          <a:graphicData uri="http://schemas.openxmlformats.org/drawingml/2006/table">
            <a:tbl>
              <a:tblPr/>
              <a:tblGrid>
                <a:gridCol w="2606040"/>
                <a:gridCol w="960120"/>
                <a:gridCol w="960120"/>
                <a:gridCol w="960120"/>
                <a:gridCol w="960120"/>
              </a:tblGrid>
              <a:tr h="420624">
                <a:tc>
                  <a:txBody>
                    <a:bodyPr/>
                    <a:lstStyle/>
                    <a:p>
                      <a:pPr algn="l" indent="0" marL="0">
                        <a:buNone/>
                      </a:pP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a:t>
                      </a:r>
                      <a:pPr algn="ctr" indent="0" marL="0">
                        <a:buNone/>
                      </a:pPr>
                      <a:r>
                        <a:rPr lang="en-US" sz="1400" b="1" baseline="-40000" dirty="0">
                          <a:solidFill>
                            <a:schemeClr val="bg1"/>
                          </a:solidFill>
                        </a:rPr>
                        <a:t>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a:t>
                      </a:r>
                      <a:pPr algn="ctr" indent="0" marL="0">
                        <a:buNone/>
                      </a:pPr>
                      <a:r>
                        <a:rPr lang="en-US" sz="1400" b="1" baseline="-40000" dirty="0">
                          <a:solidFill>
                            <a:schemeClr val="bg1"/>
                          </a:solidFill>
                        </a:rPr>
                        <a:t>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a:t>
                      </a:r>
                      <a:pPr algn="ctr" indent="0" marL="0">
                        <a:buNone/>
                      </a:pPr>
                      <a:r>
                        <a:rPr lang="en-US" sz="1400" b="1" baseline="-40000" dirty="0">
                          <a:solidFill>
                            <a:schemeClr val="bg1"/>
                          </a:solidFill>
                        </a:rPr>
                        <a:t>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a:t>
                      </a:r>
                      <a:pPr algn="ctr" indent="0" marL="0">
                        <a:buNone/>
                      </a:pPr>
                      <a:r>
                        <a:rPr lang="en-US" sz="1400" b="1" baseline="-40000" dirty="0">
                          <a:solidFill>
                            <a:schemeClr val="bg1"/>
                          </a:solidFill>
                        </a:rPr>
                        <a:t>4</a:t>
                      </a:r>
                      <a:pPr algn="ctr" indent="0" marL="0">
                        <a:buNone/>
                      </a:pPr>
                      <a:r>
                        <a:rPr lang="en-US" sz="1400" b="1" dirty="0">
                          <a:solidFill>
                            <a:schemeClr val="bg1"/>
                          </a:solidFill>
                        </a:rPr>
                        <a:t> [°C]</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tx1"/>
                    </a:solidFill>
                  </a:tcPr>
                </a:tc>
              </a:tr>
              <a:tr h="420624">
                <a:tc>
                  <a:txBody>
                    <a:bodyPr/>
                    <a:lstStyle/>
                    <a:p>
                      <a:pPr algn="l" indent="0" marL="0">
                        <a:buNone/>
                      </a:pPr>
                      <a:r>
                        <a:rPr lang="en-US" sz="1400" dirty="0">
                          <a:solidFill>
                            <a:schemeClr val="tx1"/>
                          </a:solidFill>
                        </a:rPr>
                        <a:t>FDM, 4 unknowns</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487.5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362.5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437.5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412.5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420624">
                <a:tc>
                  <a:txBody>
                    <a:bodyPr/>
                    <a:lstStyle/>
                    <a:p>
                      <a:pPr algn="l" indent="0" marL="0">
                        <a:buNone/>
                      </a:pPr>
                      <a:r>
                        <a:rPr lang="en-US" sz="1400" dirty="0">
                          <a:solidFill>
                            <a:schemeClr val="tx1"/>
                          </a:solidFill>
                        </a:rPr>
                        <a:t>COMSOL, coarse (hm = 1/3)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490.92</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358.81</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438.45</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411.20</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COMSOL, fine (hm = 1/96)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490.36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359.64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438.07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411.93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Exact series solution</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490.36</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359.64</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438.07</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411.93</a:t>
                      </a:r>
                      <a:endParaRPr lang="en-US" sz="1400" dirty="0"/>
                    </a:p>
                  </a:txBody>
                  <a:tcPr marL="91440" marR="91440" marT="27432" marB="27432" anchor="ctr">
                    <a:lnL w="9525" cap="flat" cmpd="sng" algn="ctr">
                      <a:solidFill>
                        <a:srgbClr val="D3DDE5"/>
                      </a:solidFill>
                      <a:prstDash val="solid"/>
                      <a:round/>
                      <a:headEnd type="none" w="med" len="med"/>
                      <a:tailEnd type="none" w="med" len="med"/>
                    </a:lnL>
                    <a:lnR w="9525" cap="flat" cmpd="sng" algn="ctr">
                      <a:solidFill>
                        <a:srgbClr val="D3DDE5"/>
                      </a:solidFill>
                      <a:prstDash val="solid"/>
                      <a:round/>
                      <a:headEnd type="none" w="med" len="med"/>
                      <a:tailEnd type="none" w="med" len="med"/>
                    </a:lnR>
                    <a:lnT w="9525" cap="flat" cmpd="sng" algn="ctr">
                      <a:solidFill>
                        <a:srgbClr val="D3DDE5"/>
                      </a:solidFill>
                      <a:prstDash val="solid"/>
                      <a:round/>
                      <a:headEnd type="none" w="med" len="med"/>
                      <a:tailEnd type="none" w="med" len="med"/>
                    </a:lnT>
                    <a:lnB w="9525" cap="flat" cmpd="sng" algn="ctr">
                      <a:solidFill>
                        <a:srgbClr val="D3DDE5"/>
                      </a:solidFill>
                      <a:prstDash val="solid"/>
                      <a:round/>
                      <a:headEnd type="none" w="med" len="med"/>
                      <a:tailEnd type="none" w="med" len="med"/>
                    </a:lnB>
                    <a:solidFill>
                      <a:schemeClr val="bg2"/>
                    </a:solidFill>
                  </a:tcPr>
                </a:tc>
              </a:tr>
            </a:tbl>
          </a:graphicData>
        </a:graphic>
      </p:graphicFrame>
      <p:sp>
        <p:nvSpPr>
          <p:cNvPr id="5" name="card-1557"/>
          <p:cNvSpPr/>
          <p:nvPr/>
        </p:nvSpPr>
        <p:spPr>
          <a:xfrm>
            <a:off x="548640" y="3657600"/>
            <a:ext cx="6446520" cy="2377440"/>
          </a:xfrm>
          <a:prstGeom prst="roundRect">
            <a:avLst>
              <a:gd name="adj" fmla="val 3846"/>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6" name="img-1558" descr="Error at the four points against grid spacing, and the four temperatures from FDM, COMSOL and the exact series">    </p:cNvPr>
          <p:cNvPicPr>
            <a:picLocks noChangeAspect="1"/>
          </p:cNvPicPr>
          <p:nvPr/>
        </p:nvPicPr>
        <p:blipFill>
          <a:blip r:embed="rId1"/>
          <a:stretch>
            <a:fillRect/>
          </a:stretch>
        </p:blipFill>
        <p:spPr>
          <a:xfrm>
            <a:off x="715040" y="3703320"/>
            <a:ext cx="6113721" cy="2286000"/>
          </a:xfrm>
          <a:prstGeom prst="rect">
            <a:avLst/>
          </a:prstGeom>
        </p:spPr>
      </p:pic>
      <p:sp>
        <p:nvSpPr>
          <p:cNvPr id="7" name="card-1559"/>
          <p:cNvSpPr/>
          <p:nvPr/>
        </p:nvSpPr>
        <p:spPr>
          <a:xfrm>
            <a:off x="7269480" y="1371600"/>
            <a:ext cx="4370832"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8" name="text-1560"/>
          <p:cNvSpPr txBox="1"/>
          <p:nvPr/>
        </p:nvSpPr>
        <p:spPr>
          <a:xfrm>
            <a:off x="7498080" y="1481328"/>
            <a:ext cx="3913632" cy="779526"/>
          </a:xfrm>
          <a:prstGeom prst="rect">
            <a:avLst/>
          </a:prstGeom>
          <a:noFill/>
          <a:ln/>
        </p:spPr>
        <p:txBody>
          <a:bodyPr wrap="square" lIns="0" tIns="0" rIns="0" bIns="0" rtlCol="0" anchor="b"/>
          <a:lstStyle/>
          <a:p>
            <a:pPr indent="0" marL="0">
              <a:buNone/>
            </a:pPr>
            <a:r>
              <a:rPr lang="en-US" sz="3000" b="1" dirty="0">
                <a:solidFill>
                  <a:schemeClr val="accent2"/>
                </a:solidFill>
              </a:rPr>
              <a:t>2.9 °C</a:t>
            </a:r>
            <a:endParaRPr lang="en-US" sz="3000" dirty="0"/>
          </a:p>
        </p:txBody>
      </p:sp>
      <p:sp>
        <p:nvSpPr>
          <p:cNvPr id="9" name="text-1561"/>
          <p:cNvSpPr txBox="1"/>
          <p:nvPr/>
        </p:nvSpPr>
        <p:spPr>
          <a:xfrm>
            <a:off x="7498080" y="2260854"/>
            <a:ext cx="3913632" cy="457200"/>
          </a:xfrm>
          <a:prstGeom prst="rect">
            <a:avLst/>
          </a:prstGeom>
          <a:noFill/>
          <a:ln/>
        </p:spPr>
        <p:txBody>
          <a:bodyPr wrap="square" lIns="0" tIns="0" rIns="0" bIns="0" rtlCol="0" anchor="t"/>
          <a:lstStyle/>
          <a:p>
            <a:pPr indent="0" marL="0">
              <a:buNone/>
            </a:pPr>
            <a:r>
              <a:rPr lang="en-US" sz="1300" dirty="0">
                <a:solidFill>
                  <a:schemeClr val="tx2"/>
                </a:solidFill>
              </a:rPr>
              <a:t>largest error of the 4-unknown FDM</a:t>
            </a:r>
            <a:endParaRPr lang="en-US" sz="1300" dirty="0"/>
          </a:p>
        </p:txBody>
      </p:sp>
      <p:sp>
        <p:nvSpPr>
          <p:cNvPr id="10" name="card-1562"/>
          <p:cNvSpPr/>
          <p:nvPr/>
        </p:nvSpPr>
        <p:spPr>
          <a:xfrm>
            <a:off x="7269480" y="2944368"/>
            <a:ext cx="4370832"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1" name="text-1563"/>
          <p:cNvSpPr txBox="1"/>
          <p:nvPr/>
        </p:nvSpPr>
        <p:spPr>
          <a:xfrm>
            <a:off x="7498080" y="3054096"/>
            <a:ext cx="3913632" cy="779526"/>
          </a:xfrm>
          <a:prstGeom prst="rect">
            <a:avLst/>
          </a:prstGeom>
          <a:noFill/>
          <a:ln/>
        </p:spPr>
        <p:txBody>
          <a:bodyPr wrap="square" lIns="0" tIns="0" rIns="0" bIns="0" rtlCol="0" anchor="b"/>
          <a:lstStyle/>
          <a:p>
            <a:pPr indent="0" marL="0">
              <a:buNone/>
            </a:pPr>
            <a:r>
              <a:rPr lang="en-US" sz="3000" b="1" dirty="0">
                <a:solidFill>
                  <a:schemeClr val="tx1"/>
                </a:solidFill>
              </a:rPr>
              <a:t>0.0001 °C</a:t>
            </a:r>
            <a:endParaRPr lang="en-US" sz="3000" dirty="0"/>
          </a:p>
        </p:txBody>
      </p:sp>
      <p:sp>
        <p:nvSpPr>
          <p:cNvPr id="12" name="text-1564"/>
          <p:cNvSpPr txBox="1"/>
          <p:nvPr/>
        </p:nvSpPr>
        <p:spPr>
          <a:xfrm>
            <a:off x="7498080" y="3833622"/>
            <a:ext cx="3913632" cy="457200"/>
          </a:xfrm>
          <a:prstGeom prst="rect">
            <a:avLst/>
          </a:prstGeom>
          <a:noFill/>
          <a:ln/>
        </p:spPr>
        <p:txBody>
          <a:bodyPr wrap="square" lIns="0" tIns="0" rIns="0" bIns="0" rtlCol="0" anchor="t"/>
          <a:lstStyle/>
          <a:p>
            <a:pPr indent="0" marL="0">
              <a:buNone/>
            </a:pPr>
            <a:r>
              <a:rPr lang="en-US" sz="1300" dirty="0">
                <a:solidFill>
                  <a:schemeClr val="tx2"/>
                </a:solidFill>
              </a:rPr>
              <a:t>COMSOL fine mesh vs the exact series</a:t>
            </a:r>
            <a:endParaRPr lang="en-US" sz="1300" dirty="0"/>
          </a:p>
        </p:txBody>
      </p:sp>
      <p:sp>
        <p:nvSpPr>
          <p:cNvPr id="13" name="card-1565"/>
          <p:cNvSpPr/>
          <p:nvPr/>
        </p:nvSpPr>
        <p:spPr>
          <a:xfrm>
            <a:off x="7269480" y="4517136"/>
            <a:ext cx="4370832" cy="1417320"/>
          </a:xfrm>
          <a:prstGeom prst="roundRect">
            <a:avLst>
              <a:gd name="adj" fmla="val 6452"/>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4" name="text-1566"/>
          <p:cNvSpPr txBox="1"/>
          <p:nvPr/>
        </p:nvSpPr>
        <p:spPr>
          <a:xfrm>
            <a:off x="7498080" y="4626864"/>
            <a:ext cx="3913632" cy="779526"/>
          </a:xfrm>
          <a:prstGeom prst="rect">
            <a:avLst/>
          </a:prstGeom>
          <a:noFill/>
          <a:ln/>
        </p:spPr>
        <p:txBody>
          <a:bodyPr wrap="square" lIns="0" tIns="0" rIns="0" bIns="0" rtlCol="0" anchor="b"/>
          <a:lstStyle/>
          <a:p>
            <a:pPr indent="0" marL="0">
              <a:buNone/>
            </a:pPr>
            <a:r>
              <a:rPr lang="en-US" sz="3000" b="1" dirty="0">
                <a:solidFill>
                  <a:schemeClr val="tx1"/>
                </a:solidFill>
              </a:rPr>
              <a:t>slope 2</a:t>
            </a:r>
            <a:endParaRPr lang="en-US" sz="3000" dirty="0"/>
          </a:p>
        </p:txBody>
      </p:sp>
      <p:sp>
        <p:nvSpPr>
          <p:cNvPr id="15" name="text-1567"/>
          <p:cNvSpPr txBox="1"/>
          <p:nvPr/>
        </p:nvSpPr>
        <p:spPr>
          <a:xfrm>
            <a:off x="7498080" y="5406390"/>
            <a:ext cx="3913632" cy="457200"/>
          </a:xfrm>
          <a:prstGeom prst="rect">
            <a:avLst/>
          </a:prstGeom>
          <a:noFill/>
          <a:ln/>
        </p:spPr>
        <p:txBody>
          <a:bodyPr wrap="square" lIns="0" tIns="0" rIns="0" bIns="0" rtlCol="0" anchor="t"/>
          <a:lstStyle/>
          <a:p>
            <a:pPr indent="0" marL="0">
              <a:buNone/>
            </a:pPr>
            <a:r>
              <a:rPr lang="en-US" sz="1300" dirty="0">
                <a:solidFill>
                  <a:schemeClr val="tx2"/>
                </a:solidFill>
              </a:rPr>
              <a:t>refining the FDM grid: second-order convergence</a:t>
            </a:r>
            <a:endParaRPr lang="en-US" sz="13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1568"/>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IF TIME ALLOWS · TAKE-HOME</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More problems in the repository</a:t>
            </a:r>
            <a:endParaRPr lang="en-US" sz="3200" dirty="0"/>
          </a:p>
        </p:txBody>
      </p:sp>
      <p:sp>
        <p:nvSpPr>
          <p:cNvPr id="4" name="card-1569"/>
          <p:cNvSpPr/>
          <p:nvPr/>
        </p:nvSpPr>
        <p:spPr>
          <a:xfrm>
            <a:off x="548640" y="1371600"/>
            <a:ext cx="2670048" cy="4663440"/>
          </a:xfrm>
          <a:prstGeom prst="roundRect">
            <a:avLst>
              <a:gd name="adj" fmla="val 342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5" name="img-1570" descr="p4_schematic.png">    </p:cNvPr>
          <p:cNvPicPr>
            <a:picLocks noChangeAspect="1"/>
          </p:cNvPicPr>
          <p:nvPr/>
        </p:nvPicPr>
        <p:blipFill>
          <a:blip r:embed="rId1"/>
          <a:stretch>
            <a:fillRect/>
          </a:stretch>
        </p:blipFill>
        <p:spPr>
          <a:xfrm>
            <a:off x="658368" y="1547550"/>
            <a:ext cx="2450592" cy="1559197"/>
          </a:xfrm>
          <a:prstGeom prst="rect">
            <a:avLst/>
          </a:prstGeom>
        </p:spPr>
      </p:pic>
      <p:sp>
        <p:nvSpPr>
          <p:cNvPr id="6" name="text-1571"/>
          <p:cNvSpPr txBox="1"/>
          <p:nvPr/>
        </p:nvSpPr>
        <p:spPr>
          <a:xfrm>
            <a:off x="713232" y="3291840"/>
            <a:ext cx="2377440" cy="365760"/>
          </a:xfrm>
          <a:prstGeom prst="rect">
            <a:avLst/>
          </a:prstGeom>
          <a:noFill/>
          <a:ln/>
        </p:spPr>
        <p:txBody>
          <a:bodyPr wrap="square" lIns="0" tIns="0" rIns="0" bIns="0" rtlCol="0" anchor="t"/>
          <a:lstStyle/>
          <a:p>
            <a:pPr indent="0" marL="0">
              <a:buNone/>
            </a:pPr>
            <a:r>
              <a:rPr lang="en-US" sz="1600" b="1" dirty="0">
                <a:solidFill>
                  <a:schemeClr val="tx1"/>
                </a:solidFill>
              </a:rPr>
              <a:t>4 · Brick column</a:t>
            </a:r>
            <a:endParaRPr lang="en-US" sz="1600" dirty="0"/>
          </a:p>
        </p:txBody>
      </p:sp>
      <p:sp>
        <p:nvSpPr>
          <p:cNvPr id="7" name="text-1572"/>
          <p:cNvSpPr txBox="1"/>
          <p:nvPr/>
        </p:nvSpPr>
        <p:spPr>
          <a:xfrm>
            <a:off x="713232" y="3657600"/>
            <a:ext cx="2377440" cy="292608"/>
          </a:xfrm>
          <a:prstGeom prst="rect">
            <a:avLst/>
          </a:prstGeom>
          <a:noFill/>
          <a:ln/>
        </p:spPr>
        <p:txBody>
          <a:bodyPr wrap="square" lIns="0" tIns="0" rIns="0" bIns="0" rtlCol="0" anchor="t"/>
          <a:lstStyle/>
          <a:p>
            <a:pPr indent="0" marL="0">
              <a:buNone/>
            </a:pPr>
            <a:r>
              <a:rPr lang="en-US" sz="1200" b="1" dirty="0">
                <a:solidFill>
                  <a:schemeClr val="accent1"/>
                </a:solidFill>
              </a:rPr>
              <a:t>2D · Robin BC · symmetry</a:t>
            </a:r>
            <a:endParaRPr lang="en-US" sz="1200" dirty="0"/>
          </a:p>
        </p:txBody>
      </p:sp>
      <p:sp>
        <p:nvSpPr>
          <p:cNvPr id="8" name="text-1573"/>
          <p:cNvSpPr txBox="1"/>
          <p:nvPr/>
        </p:nvSpPr>
        <p:spPr>
          <a:xfrm>
            <a:off x="713232" y="4023360"/>
            <a:ext cx="2377440" cy="1325880"/>
          </a:xfrm>
          <a:prstGeom prst="rect">
            <a:avLst/>
          </a:prstGeom>
          <a:noFill/>
          <a:ln/>
        </p:spPr>
        <p:txBody>
          <a:bodyPr wrap="square" lIns="0" tIns="0" rIns="0" bIns="0" rtlCol="0" anchor="t"/>
          <a:lstStyle/>
          <a:p>
            <a:pPr indent="0" marL="0">
              <a:buNone/>
            </a:pPr>
            <a:r>
              <a:rPr lang="en-US" sz="1300" dirty="0">
                <a:solidFill>
                  <a:schemeClr val="tx2"/>
                </a:solidFill>
              </a:rPr>
              <a:t>A coarse 0.25 m grid gets the temperatures right but over-predicts the heat loss to the air by 41 %.</a:t>
            </a:r>
            <a:endParaRPr lang="en-US" sz="1300" dirty="0"/>
          </a:p>
        </p:txBody>
      </p:sp>
      <p:sp>
        <p:nvSpPr>
          <p:cNvPr id="9" name="pill-1574"/>
          <p:cNvSpPr/>
          <p:nvPr/>
        </p:nvSpPr>
        <p:spPr>
          <a:xfrm>
            <a:off x="713232" y="5486400"/>
            <a:ext cx="132588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COMSOL guide</a:t>
            </a:r>
            <a:endParaRPr lang="en-US" sz="1100" dirty="0"/>
          </a:p>
        </p:txBody>
      </p:sp>
      <p:sp>
        <p:nvSpPr>
          <p:cNvPr id="10" name="card-1575"/>
          <p:cNvSpPr/>
          <p:nvPr/>
        </p:nvSpPr>
        <p:spPr>
          <a:xfrm>
            <a:off x="3355848" y="1371600"/>
            <a:ext cx="2670048" cy="4663440"/>
          </a:xfrm>
          <a:prstGeom prst="roundRect">
            <a:avLst>
              <a:gd name="adj" fmla="val 342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1" name="img-1576" descr="p5_schematic.png">    </p:cNvPr>
          <p:cNvPicPr>
            <a:picLocks noChangeAspect="1"/>
          </p:cNvPicPr>
          <p:nvPr/>
        </p:nvPicPr>
        <p:blipFill>
          <a:blip r:embed="rId2"/>
          <a:stretch>
            <a:fillRect/>
          </a:stretch>
        </p:blipFill>
        <p:spPr>
          <a:xfrm>
            <a:off x="3465576" y="1880168"/>
            <a:ext cx="2450592" cy="893959"/>
          </a:xfrm>
          <a:prstGeom prst="rect">
            <a:avLst/>
          </a:prstGeom>
        </p:spPr>
      </p:pic>
      <p:sp>
        <p:nvSpPr>
          <p:cNvPr id="12" name="text-1577"/>
          <p:cNvSpPr txBox="1"/>
          <p:nvPr/>
        </p:nvSpPr>
        <p:spPr>
          <a:xfrm>
            <a:off x="3520440" y="3291840"/>
            <a:ext cx="2377440" cy="365760"/>
          </a:xfrm>
          <a:prstGeom prst="rect">
            <a:avLst/>
          </a:prstGeom>
          <a:noFill/>
          <a:ln/>
        </p:spPr>
        <p:txBody>
          <a:bodyPr wrap="square" lIns="0" tIns="0" rIns="0" bIns="0" rtlCol="0" anchor="t"/>
          <a:lstStyle/>
          <a:p>
            <a:pPr indent="0" marL="0">
              <a:buNone/>
            </a:pPr>
            <a:r>
              <a:rPr lang="en-US" sz="1600" b="1" dirty="0">
                <a:solidFill>
                  <a:schemeClr val="tx1"/>
                </a:solidFill>
              </a:rPr>
              <a:t>5 · Convection–diffusion</a:t>
            </a:r>
            <a:endParaRPr lang="en-US" sz="1600" dirty="0"/>
          </a:p>
        </p:txBody>
      </p:sp>
      <p:sp>
        <p:nvSpPr>
          <p:cNvPr id="13" name="text-1578"/>
          <p:cNvSpPr txBox="1"/>
          <p:nvPr/>
        </p:nvSpPr>
        <p:spPr>
          <a:xfrm>
            <a:off x="3520440" y="3657600"/>
            <a:ext cx="2377440" cy="292608"/>
          </a:xfrm>
          <a:prstGeom prst="rect">
            <a:avLst/>
          </a:prstGeom>
          <a:noFill/>
          <a:ln/>
        </p:spPr>
        <p:txBody>
          <a:bodyPr wrap="square" lIns="0" tIns="0" rIns="0" bIns="0" rtlCol="0" anchor="t"/>
          <a:lstStyle/>
          <a:p>
            <a:pPr indent="0" marL="0">
              <a:buNone/>
            </a:pPr>
            <a:r>
              <a:rPr lang="en-US" sz="1200" b="1" dirty="0">
                <a:solidFill>
                  <a:schemeClr val="accent1"/>
                </a:solidFill>
              </a:rPr>
              <a:t>1D · Péclet number</a:t>
            </a:r>
            <a:endParaRPr lang="en-US" sz="1200" dirty="0"/>
          </a:p>
        </p:txBody>
      </p:sp>
      <p:sp>
        <p:nvSpPr>
          <p:cNvPr id="14" name="text-1579"/>
          <p:cNvSpPr txBox="1"/>
          <p:nvPr/>
        </p:nvSpPr>
        <p:spPr>
          <a:xfrm>
            <a:off x="3520440" y="4023360"/>
            <a:ext cx="2377440" cy="1325880"/>
          </a:xfrm>
          <a:prstGeom prst="rect">
            <a:avLst/>
          </a:prstGeom>
          <a:noFill/>
          <a:ln/>
        </p:spPr>
        <p:txBody>
          <a:bodyPr wrap="square" lIns="0" tIns="0" rIns="0" bIns="0" rtlCol="0" anchor="t"/>
          <a:lstStyle/>
          <a:p>
            <a:pPr indent="0" marL="0">
              <a:buNone/>
            </a:pPr>
            <a:r>
              <a:rPr lang="en-US" sz="1300" dirty="0">
                <a:solidFill>
                  <a:schemeClr val="tx2"/>
                </a:solidFill>
              </a:rPr>
              <a:t>Cell Péclet &gt; 2: central differences wiggle. COMSOL's stabilisation acts like upwinding.</a:t>
            </a:r>
            <a:endParaRPr lang="en-US" sz="1300" dirty="0"/>
          </a:p>
        </p:txBody>
      </p:sp>
      <p:sp>
        <p:nvSpPr>
          <p:cNvPr id="15" name="pill-1580"/>
          <p:cNvSpPr/>
          <p:nvPr/>
        </p:nvSpPr>
        <p:spPr>
          <a:xfrm>
            <a:off x="3520440" y="5486400"/>
            <a:ext cx="132588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COMSOL guide</a:t>
            </a:r>
            <a:endParaRPr lang="en-US" sz="1100" dirty="0"/>
          </a:p>
        </p:txBody>
      </p:sp>
      <p:sp>
        <p:nvSpPr>
          <p:cNvPr id="16" name="card-1581"/>
          <p:cNvSpPr/>
          <p:nvPr/>
        </p:nvSpPr>
        <p:spPr>
          <a:xfrm>
            <a:off x="6163056" y="1371600"/>
            <a:ext cx="2670048" cy="4663440"/>
          </a:xfrm>
          <a:prstGeom prst="roundRect">
            <a:avLst>
              <a:gd name="adj" fmla="val 342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17" name="img-1582" descr="p6_schematic.png">    </p:cNvPr>
          <p:cNvPicPr>
            <a:picLocks noChangeAspect="1"/>
          </p:cNvPicPr>
          <p:nvPr/>
        </p:nvPicPr>
        <p:blipFill>
          <a:blip r:embed="rId3"/>
          <a:stretch>
            <a:fillRect/>
          </a:stretch>
        </p:blipFill>
        <p:spPr>
          <a:xfrm>
            <a:off x="6413164" y="1481328"/>
            <a:ext cx="2169832" cy="1691640"/>
          </a:xfrm>
          <a:prstGeom prst="rect">
            <a:avLst/>
          </a:prstGeom>
        </p:spPr>
      </p:pic>
      <p:sp>
        <p:nvSpPr>
          <p:cNvPr id="18" name="text-1583"/>
          <p:cNvSpPr txBox="1"/>
          <p:nvPr/>
        </p:nvSpPr>
        <p:spPr>
          <a:xfrm>
            <a:off x="6327648" y="3291840"/>
            <a:ext cx="2377440" cy="365760"/>
          </a:xfrm>
          <a:prstGeom prst="rect">
            <a:avLst/>
          </a:prstGeom>
          <a:noFill/>
          <a:ln/>
        </p:spPr>
        <p:txBody>
          <a:bodyPr wrap="square" lIns="0" tIns="0" rIns="0" bIns="0" rtlCol="0" anchor="t"/>
          <a:lstStyle/>
          <a:p>
            <a:pPr indent="0" marL="0">
              <a:buNone/>
            </a:pPr>
            <a:r>
              <a:rPr lang="en-US" sz="1600" b="1" dirty="0">
                <a:solidFill>
                  <a:schemeClr val="tx1"/>
                </a:solidFill>
              </a:rPr>
              <a:t>6 · Lid-driven cavity</a:t>
            </a:r>
            <a:endParaRPr lang="en-US" sz="1600" dirty="0"/>
          </a:p>
        </p:txBody>
      </p:sp>
      <p:sp>
        <p:nvSpPr>
          <p:cNvPr id="19" name="text-1584"/>
          <p:cNvSpPr txBox="1"/>
          <p:nvPr/>
        </p:nvSpPr>
        <p:spPr>
          <a:xfrm>
            <a:off x="6327648" y="3657600"/>
            <a:ext cx="2377440" cy="292608"/>
          </a:xfrm>
          <a:prstGeom prst="rect">
            <a:avLst/>
          </a:prstGeom>
          <a:noFill/>
          <a:ln/>
        </p:spPr>
        <p:txBody>
          <a:bodyPr wrap="square" lIns="0" tIns="0" rIns="0" bIns="0" rtlCol="0" anchor="t"/>
          <a:lstStyle/>
          <a:p>
            <a:pPr indent="0" marL="0">
              <a:buNone/>
            </a:pPr>
            <a:r>
              <a:rPr lang="en-US" sz="1200" b="1" dirty="0">
                <a:solidFill>
                  <a:schemeClr val="accent1"/>
                </a:solidFill>
              </a:rPr>
              <a:t>2D · Navier–Stokes (ψ–ω)</a:t>
            </a:r>
            <a:endParaRPr lang="en-US" sz="1200" dirty="0"/>
          </a:p>
        </p:txBody>
      </p:sp>
      <p:sp>
        <p:nvSpPr>
          <p:cNvPr id="20" name="text-1585"/>
          <p:cNvSpPr txBox="1"/>
          <p:nvPr/>
        </p:nvSpPr>
        <p:spPr>
          <a:xfrm>
            <a:off x="6327648" y="4023360"/>
            <a:ext cx="2377440" cy="1325880"/>
          </a:xfrm>
          <a:prstGeom prst="rect">
            <a:avLst/>
          </a:prstGeom>
          <a:noFill/>
          <a:ln/>
        </p:spPr>
        <p:txBody>
          <a:bodyPr wrap="square" lIns="0" tIns="0" rIns="0" bIns="0" rtlCol="0" anchor="t"/>
          <a:lstStyle/>
          <a:p>
            <a:pPr indent="0" marL="0">
              <a:buNone/>
            </a:pPr>
            <a:r>
              <a:rPr lang="en-US" sz="1300" dirty="0">
                <a:solidFill>
                  <a:schemeClr val="tx2"/>
                </a:solidFill>
              </a:rPr>
              <a:t>The classic benchmark: the FDM solution converges to Ghia et al. (1982).</a:t>
            </a:r>
            <a:endParaRPr lang="en-US" sz="1300" dirty="0"/>
          </a:p>
        </p:txBody>
      </p:sp>
      <p:sp>
        <p:nvSpPr>
          <p:cNvPr id="21" name="pill-1586"/>
          <p:cNvSpPr/>
          <p:nvPr/>
        </p:nvSpPr>
        <p:spPr>
          <a:xfrm>
            <a:off x="6327648" y="5486400"/>
            <a:ext cx="132588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COMSOL guide</a:t>
            </a:r>
            <a:endParaRPr lang="en-US" sz="1100" dirty="0"/>
          </a:p>
        </p:txBody>
      </p:sp>
      <p:sp>
        <p:nvSpPr>
          <p:cNvPr id="22" name="card-1587"/>
          <p:cNvSpPr/>
          <p:nvPr/>
        </p:nvSpPr>
        <p:spPr>
          <a:xfrm>
            <a:off x="8970264" y="1371600"/>
            <a:ext cx="2670048" cy="4663440"/>
          </a:xfrm>
          <a:prstGeom prst="roundRect">
            <a:avLst>
              <a:gd name="adj" fmla="val 3425"/>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pic>
        <p:nvPicPr>
          <p:cNvPr id="23" name="img-1588" descr="p7_fields.png">    </p:cNvPr>
          <p:cNvPicPr>
            <a:picLocks noChangeAspect="1"/>
          </p:cNvPicPr>
          <p:nvPr/>
        </p:nvPicPr>
        <p:blipFill>
          <a:blip r:embed="rId4"/>
          <a:stretch>
            <a:fillRect/>
          </a:stretch>
        </p:blipFill>
        <p:spPr>
          <a:xfrm>
            <a:off x="9511063" y="1481328"/>
            <a:ext cx="1588450" cy="1691640"/>
          </a:xfrm>
          <a:prstGeom prst="rect">
            <a:avLst/>
          </a:prstGeom>
        </p:spPr>
      </p:pic>
      <p:sp>
        <p:nvSpPr>
          <p:cNvPr id="24" name="text-1589"/>
          <p:cNvSpPr txBox="1"/>
          <p:nvPr/>
        </p:nvSpPr>
        <p:spPr>
          <a:xfrm>
            <a:off x="9134856" y="3291840"/>
            <a:ext cx="2377440" cy="365760"/>
          </a:xfrm>
          <a:prstGeom prst="rect">
            <a:avLst/>
          </a:prstGeom>
          <a:noFill/>
          <a:ln/>
        </p:spPr>
        <p:txBody>
          <a:bodyPr wrap="square" lIns="0" tIns="0" rIns="0" bIns="0" rtlCol="0" anchor="t"/>
          <a:lstStyle/>
          <a:p>
            <a:pPr indent="0" marL="0">
              <a:buNone/>
            </a:pPr>
            <a:r>
              <a:rPr lang="en-US" sz="1600" b="1" dirty="0">
                <a:solidFill>
                  <a:schemeClr val="tx1"/>
                </a:solidFill>
              </a:rPr>
              <a:t>7 · Natural convection</a:t>
            </a:r>
            <a:endParaRPr lang="en-US" sz="1600" dirty="0"/>
          </a:p>
        </p:txBody>
      </p:sp>
      <p:sp>
        <p:nvSpPr>
          <p:cNvPr id="25" name="text-1590"/>
          <p:cNvSpPr txBox="1"/>
          <p:nvPr/>
        </p:nvSpPr>
        <p:spPr>
          <a:xfrm>
            <a:off x="9134856" y="3657600"/>
            <a:ext cx="2377440" cy="292608"/>
          </a:xfrm>
          <a:prstGeom prst="rect">
            <a:avLst/>
          </a:prstGeom>
          <a:noFill/>
          <a:ln/>
        </p:spPr>
        <p:txBody>
          <a:bodyPr wrap="square" lIns="0" tIns="0" rIns="0" bIns="0" rtlCol="0" anchor="t"/>
          <a:lstStyle/>
          <a:p>
            <a:pPr indent="0" marL="0">
              <a:buNone/>
            </a:pPr>
            <a:r>
              <a:rPr lang="en-US" sz="1200" b="1" dirty="0">
                <a:solidFill>
                  <a:schemeClr val="accent1"/>
                </a:solidFill>
              </a:rPr>
              <a:t>2D · buoyancy · Nusselt</a:t>
            </a:r>
            <a:endParaRPr lang="en-US" sz="1200" dirty="0"/>
          </a:p>
        </p:txBody>
      </p:sp>
      <p:sp>
        <p:nvSpPr>
          <p:cNvPr id="26" name="text-1591"/>
          <p:cNvSpPr txBox="1"/>
          <p:nvPr/>
        </p:nvSpPr>
        <p:spPr>
          <a:xfrm>
            <a:off x="9134856" y="4023360"/>
            <a:ext cx="2377440" cy="1325880"/>
          </a:xfrm>
          <a:prstGeom prst="rect">
            <a:avLst/>
          </a:prstGeom>
          <a:noFill/>
          <a:ln/>
        </p:spPr>
        <p:txBody>
          <a:bodyPr wrap="square" lIns="0" tIns="0" rIns="0" bIns="0" rtlCol="0" anchor="t"/>
          <a:lstStyle/>
          <a:p>
            <a:pPr indent="0" marL="0">
              <a:buNone/>
            </a:pPr>
            <a:r>
              <a:rPr lang="en-US" sz="1300" dirty="0">
                <a:solidFill>
                  <a:schemeClr val="tx2"/>
                </a:solidFill>
              </a:rPr>
              <a:t>Heat drives the flow and the flow carries the heat. Richardson extrapolation.</a:t>
            </a:r>
            <a:endParaRPr lang="en-US" sz="1300" dirty="0"/>
          </a:p>
        </p:txBody>
      </p:sp>
      <p:sp>
        <p:nvSpPr>
          <p:cNvPr id="27" name="pill-1592"/>
          <p:cNvSpPr/>
          <p:nvPr/>
        </p:nvSpPr>
        <p:spPr>
          <a:xfrm>
            <a:off x="9134856" y="5486400"/>
            <a:ext cx="187452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notebook + whiteboard</a:t>
            </a:r>
            <a:endParaRPr lang="en-US" sz="11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1593"/>
          <p:cNvSpPr txBox="1"/>
          <p:nvPr/>
        </p:nvSpPr>
        <p:spPr>
          <a:xfrm>
            <a:off x="548640" y="274320"/>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WRAP-UP</a:t>
            </a:r>
            <a:endParaRPr lang="en-US" sz="1200" dirty="0"/>
          </a:p>
        </p:txBody>
      </p:sp>
      <p:sp>
        <p:nvSpPr>
          <p:cNvPr id="3" name="Text 0"/>
          <p:cNvSpPr/>
          <p:nvPr>
            <p:ph idx="100" type="title" hasCustomPrompt="1"/>
          </p:nvPr>
        </p:nvSpPr>
        <p:spPr>
          <a:xfrm>
            <a:off x="548640" y="56692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rPr>
              <a:t>Key takeaways</a:t>
            </a:r>
            <a:endParaRPr lang="en-US" sz="3200" dirty="0"/>
          </a:p>
        </p:txBody>
      </p:sp>
      <p:sp>
        <p:nvSpPr>
          <p:cNvPr id="4" name="card-1594"/>
          <p:cNvSpPr/>
          <p:nvPr/>
        </p:nvSpPr>
        <p:spPr>
          <a:xfrm>
            <a:off x="548640" y="1417320"/>
            <a:ext cx="11094415" cy="987552"/>
          </a:xfrm>
          <a:prstGeom prst="roundRect">
            <a:avLst>
              <a:gd name="adj" fmla="val 925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5" name="icon-bg-1595"/>
          <p:cNvSpPr/>
          <p:nvPr/>
        </p:nvSpPr>
        <p:spPr>
          <a:xfrm>
            <a:off x="731520" y="1563624"/>
            <a:ext cx="694944" cy="694944"/>
          </a:xfrm>
          <a:prstGeom prst="ellipse">
            <a:avLst/>
          </a:prstGeom>
          <a:solidFill>
            <a:schemeClr val="accent1"/>
          </a:solidFill>
          <a:ln/>
        </p:spPr>
      </p:sp>
      <p:pic>
        <p:nvPicPr>
          <p:cNvPr id="6" name="icon-1596" descr="preencoded.png">    </p:cNvPr>
          <p:cNvPicPr>
            <a:picLocks noChangeAspect="1"/>
          </p:cNvPicPr>
          <p:nvPr/>
        </p:nvPicPr>
        <p:blipFill>
          <a:blip r:embed="rId1"/>
          <a:stretch>
            <a:fillRect/>
          </a:stretch>
        </p:blipFill>
        <p:spPr>
          <a:xfrm>
            <a:off x="891357" y="1723461"/>
            <a:ext cx="375270" cy="375270"/>
          </a:xfrm>
          <a:prstGeom prst="rect">
            <a:avLst/>
          </a:prstGeom>
        </p:spPr>
      </p:pic>
      <p:sp>
        <p:nvSpPr>
          <p:cNvPr id="7" name="text-1597"/>
          <p:cNvSpPr txBox="1"/>
          <p:nvPr/>
        </p:nvSpPr>
        <p:spPr>
          <a:xfrm>
            <a:off x="1645920" y="1545336"/>
            <a:ext cx="9784080" cy="365760"/>
          </a:xfrm>
          <a:prstGeom prst="rect">
            <a:avLst/>
          </a:prstGeom>
          <a:noFill/>
          <a:ln/>
        </p:spPr>
        <p:txBody>
          <a:bodyPr wrap="square" lIns="0" tIns="0" rIns="0" bIns="0" rtlCol="0" anchor="t"/>
          <a:lstStyle/>
          <a:p>
            <a:pPr indent="0" marL="0">
              <a:buNone/>
            </a:pPr>
            <a:r>
              <a:rPr lang="en-US" sz="1800" b="1" dirty="0">
                <a:solidFill>
                  <a:schemeClr val="tx1"/>
                </a:solidFill>
              </a:rPr>
              <a:t>Every CFD analysis rests on 7 pillars</a:t>
            </a:r>
            <a:endParaRPr lang="en-US" sz="1800" dirty="0"/>
          </a:p>
        </p:txBody>
      </p:sp>
      <p:sp>
        <p:nvSpPr>
          <p:cNvPr id="8" name="text-1598"/>
          <p:cNvSpPr txBox="1"/>
          <p:nvPr/>
        </p:nvSpPr>
        <p:spPr>
          <a:xfrm>
            <a:off x="1645920" y="1920240"/>
            <a:ext cx="9784080" cy="384048"/>
          </a:xfrm>
          <a:prstGeom prst="rect">
            <a:avLst/>
          </a:prstGeom>
          <a:noFill/>
          <a:ln/>
        </p:spPr>
        <p:txBody>
          <a:bodyPr wrap="square" lIns="0" tIns="0" rIns="0" bIns="0" rtlCol="0" anchor="t"/>
          <a:lstStyle/>
          <a:p>
            <a:pPr indent="0" marL="0">
              <a:buNone/>
            </a:pPr>
            <a:r>
              <a:rPr lang="en-US" sz="1500" dirty="0">
                <a:solidFill>
                  <a:schemeClr val="tx2"/>
                </a:solidFill>
              </a:rPr>
              <a:t>Pre-processing (geometry, grid, physics) → solving (scheme, setup, compute) → post-processing (visualize &amp; verify).</a:t>
            </a:r>
            <a:endParaRPr lang="en-US" sz="1500" dirty="0"/>
          </a:p>
        </p:txBody>
      </p:sp>
      <p:sp>
        <p:nvSpPr>
          <p:cNvPr id="9" name="card-1599"/>
          <p:cNvSpPr/>
          <p:nvPr/>
        </p:nvSpPr>
        <p:spPr>
          <a:xfrm>
            <a:off x="548640" y="2560320"/>
            <a:ext cx="11094415" cy="987552"/>
          </a:xfrm>
          <a:prstGeom prst="roundRect">
            <a:avLst>
              <a:gd name="adj" fmla="val 925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0" name="icon-bg-1600"/>
          <p:cNvSpPr/>
          <p:nvPr/>
        </p:nvSpPr>
        <p:spPr>
          <a:xfrm>
            <a:off x="731520" y="2706624"/>
            <a:ext cx="694944" cy="694944"/>
          </a:xfrm>
          <a:prstGeom prst="ellipse">
            <a:avLst/>
          </a:prstGeom>
          <a:solidFill>
            <a:schemeClr val="accent2"/>
          </a:solidFill>
          <a:ln/>
        </p:spPr>
      </p:sp>
      <p:pic>
        <p:nvPicPr>
          <p:cNvPr id="11" name="icon-1601" descr="preencoded.png">    </p:cNvPr>
          <p:cNvPicPr>
            <a:picLocks noChangeAspect="1"/>
          </p:cNvPicPr>
          <p:nvPr/>
        </p:nvPicPr>
        <p:blipFill>
          <a:blip r:embed="rId2"/>
          <a:stretch>
            <a:fillRect/>
          </a:stretch>
        </p:blipFill>
        <p:spPr>
          <a:xfrm>
            <a:off x="891357" y="2866461"/>
            <a:ext cx="375270" cy="375270"/>
          </a:xfrm>
          <a:prstGeom prst="rect">
            <a:avLst/>
          </a:prstGeom>
        </p:spPr>
      </p:pic>
      <p:sp>
        <p:nvSpPr>
          <p:cNvPr id="12" name="text-1602"/>
          <p:cNvSpPr txBox="1"/>
          <p:nvPr/>
        </p:nvSpPr>
        <p:spPr>
          <a:xfrm>
            <a:off x="1645920" y="2688336"/>
            <a:ext cx="9784080" cy="365760"/>
          </a:xfrm>
          <a:prstGeom prst="rect">
            <a:avLst/>
          </a:prstGeom>
          <a:noFill/>
          <a:ln/>
        </p:spPr>
        <p:txBody>
          <a:bodyPr wrap="square" lIns="0" tIns="0" rIns="0" bIns="0" rtlCol="0" anchor="t"/>
          <a:lstStyle/>
          <a:p>
            <a:pPr indent="0" marL="0">
              <a:buNone/>
            </a:pPr>
            <a:r>
              <a:rPr lang="en-US" sz="1800" b="1" dirty="0">
                <a:solidFill>
                  <a:schemeClr val="tx1"/>
                </a:solidFill>
              </a:rPr>
              <a:t>FDM turns derivatives into differences</a:t>
            </a:r>
            <a:endParaRPr lang="en-US" sz="1800" dirty="0"/>
          </a:p>
        </p:txBody>
      </p:sp>
      <p:sp>
        <p:nvSpPr>
          <p:cNvPr id="13" name="text-1603"/>
          <p:cNvSpPr txBox="1"/>
          <p:nvPr/>
        </p:nvSpPr>
        <p:spPr>
          <a:xfrm>
            <a:off x="1645920" y="3063240"/>
            <a:ext cx="9784080" cy="384048"/>
          </a:xfrm>
          <a:prstGeom prst="rect">
            <a:avLst/>
          </a:prstGeom>
          <a:noFill/>
          <a:ln/>
        </p:spPr>
        <p:txBody>
          <a:bodyPr wrap="square" lIns="0" tIns="0" rIns="0" bIns="0" rtlCol="0" anchor="t"/>
          <a:lstStyle/>
          <a:p>
            <a:pPr indent="0" marL="0">
              <a:buNone/>
            </a:pPr>
            <a:r>
              <a:rPr lang="en-US" sz="1500" dirty="0">
                <a:solidFill>
                  <a:schemeClr val="tx2"/>
                </a:solidFill>
              </a:rPr>
              <a:t>The Taylor series sets the order of accuracy: halve Δx and a 2nd-order error falls by 4.</a:t>
            </a:r>
            <a:endParaRPr lang="en-US" sz="1500" dirty="0"/>
          </a:p>
        </p:txBody>
      </p:sp>
      <p:sp>
        <p:nvSpPr>
          <p:cNvPr id="14" name="card-1604"/>
          <p:cNvSpPr/>
          <p:nvPr/>
        </p:nvSpPr>
        <p:spPr>
          <a:xfrm>
            <a:off x="548640" y="3703320"/>
            <a:ext cx="11094415" cy="987552"/>
          </a:xfrm>
          <a:prstGeom prst="roundRect">
            <a:avLst>
              <a:gd name="adj" fmla="val 925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15" name="icon-bg-1605"/>
          <p:cNvSpPr/>
          <p:nvPr/>
        </p:nvSpPr>
        <p:spPr>
          <a:xfrm>
            <a:off x="731520" y="3849624"/>
            <a:ext cx="694944" cy="694944"/>
          </a:xfrm>
          <a:prstGeom prst="ellipse">
            <a:avLst/>
          </a:prstGeom>
          <a:solidFill>
            <a:schemeClr val="accent3"/>
          </a:solidFill>
          <a:ln/>
        </p:spPr>
      </p:sp>
      <p:pic>
        <p:nvPicPr>
          <p:cNvPr id="16" name="icon-1606" descr="preencoded.png">    </p:cNvPr>
          <p:cNvPicPr>
            <a:picLocks noChangeAspect="1"/>
          </p:cNvPicPr>
          <p:nvPr/>
        </p:nvPicPr>
        <p:blipFill>
          <a:blip r:embed="rId3"/>
          <a:stretch>
            <a:fillRect/>
          </a:stretch>
        </p:blipFill>
        <p:spPr>
          <a:xfrm>
            <a:off x="891357" y="4009461"/>
            <a:ext cx="375270" cy="375270"/>
          </a:xfrm>
          <a:prstGeom prst="rect">
            <a:avLst/>
          </a:prstGeom>
        </p:spPr>
      </p:pic>
      <p:sp>
        <p:nvSpPr>
          <p:cNvPr id="17" name="text-1607"/>
          <p:cNvSpPr txBox="1"/>
          <p:nvPr/>
        </p:nvSpPr>
        <p:spPr>
          <a:xfrm>
            <a:off x="1645920" y="3831336"/>
            <a:ext cx="9784080" cy="365760"/>
          </a:xfrm>
          <a:prstGeom prst="rect">
            <a:avLst/>
          </a:prstGeom>
          <a:noFill/>
          <a:ln/>
        </p:spPr>
        <p:txBody>
          <a:bodyPr wrap="square" lIns="0" tIns="0" rIns="0" bIns="0" rtlCol="0" anchor="t"/>
          <a:lstStyle/>
          <a:p>
            <a:pPr indent="0" marL="0">
              <a:buNone/>
            </a:pPr>
            <a:r>
              <a:rPr lang="en-US" sz="1800" b="1" dirty="0">
                <a:solidFill>
                  <a:schemeClr val="tx1"/>
                </a:solidFill>
              </a:rPr>
              <a:t>Check before you trust</a:t>
            </a:r>
            <a:endParaRPr lang="en-US" sz="1800" dirty="0"/>
          </a:p>
        </p:txBody>
      </p:sp>
      <p:sp>
        <p:nvSpPr>
          <p:cNvPr id="18" name="text-1608"/>
          <p:cNvSpPr txBox="1"/>
          <p:nvPr/>
        </p:nvSpPr>
        <p:spPr>
          <a:xfrm>
            <a:off x="1645920" y="4206240"/>
            <a:ext cx="9784080" cy="384048"/>
          </a:xfrm>
          <a:prstGeom prst="rect">
            <a:avLst/>
          </a:prstGeom>
          <a:noFill/>
          <a:ln/>
        </p:spPr>
        <p:txBody>
          <a:bodyPr wrap="square" lIns="0" tIns="0" rIns="0" bIns="0" rtlCol="0" anchor="t"/>
          <a:lstStyle/>
          <a:p>
            <a:pPr indent="0" marL="0">
              <a:buNone/>
            </a:pPr>
            <a:r>
              <a:rPr lang="en-US" sz="1500" dirty="0">
                <a:solidFill>
                  <a:schemeClr val="tx2"/>
                </a:solidFill>
              </a:rPr>
              <a:t>Stability limits (r ≤ ½, CFL), grid refinement, exact solutions and benchmarks.</a:t>
            </a:r>
            <a:endParaRPr lang="en-US" sz="1500" dirty="0"/>
          </a:p>
        </p:txBody>
      </p:sp>
      <p:sp>
        <p:nvSpPr>
          <p:cNvPr id="19" name="card-1609"/>
          <p:cNvSpPr/>
          <p:nvPr/>
        </p:nvSpPr>
        <p:spPr>
          <a:xfrm>
            <a:off x="548640" y="4846320"/>
            <a:ext cx="11094415" cy="987552"/>
          </a:xfrm>
          <a:prstGeom prst="roundRect">
            <a:avLst>
              <a:gd name="adj" fmla="val 9259"/>
            </a:avLst>
          </a:prstGeom>
          <a:solidFill>
            <a:schemeClr val="bg1"/>
          </a:solidFill>
          <a:ln w="9525">
            <a:solidFill>
              <a:schemeClr val="accent4">
                <a:alpha val="35000"/>
              </a:schemeClr>
            </a:solidFill>
            <a:prstDash val="solid"/>
          </a:ln>
          <a:effectLst>
            <a:outerShdw sx="100000" sy="100000" kx="0" ky="0" algn="bl" rotWithShape="0" blurRad="88900" dist="19050" dir="5400000">
              <a:srgbClr val="0B2E47">
                <a:alpha val="12000"/>
              </a:srgbClr>
            </a:outerShdw>
          </a:effectLst>
        </p:spPr>
      </p:sp>
      <p:sp>
        <p:nvSpPr>
          <p:cNvPr id="20" name="icon-bg-1610"/>
          <p:cNvSpPr/>
          <p:nvPr/>
        </p:nvSpPr>
        <p:spPr>
          <a:xfrm>
            <a:off x="731520" y="4992624"/>
            <a:ext cx="694944" cy="694944"/>
          </a:xfrm>
          <a:prstGeom prst="ellipse">
            <a:avLst/>
          </a:prstGeom>
          <a:solidFill>
            <a:schemeClr val="tx1"/>
          </a:solidFill>
          <a:ln/>
        </p:spPr>
      </p:sp>
      <p:pic>
        <p:nvPicPr>
          <p:cNvPr id="21" name="icon-1611" descr="preencoded.png">    </p:cNvPr>
          <p:cNvPicPr>
            <a:picLocks noChangeAspect="1"/>
          </p:cNvPicPr>
          <p:nvPr/>
        </p:nvPicPr>
        <p:blipFill>
          <a:blip r:embed="rId4"/>
          <a:stretch>
            <a:fillRect/>
          </a:stretch>
        </p:blipFill>
        <p:spPr>
          <a:xfrm>
            <a:off x="891357" y="5152461"/>
            <a:ext cx="375270" cy="375270"/>
          </a:xfrm>
          <a:prstGeom prst="rect">
            <a:avLst/>
          </a:prstGeom>
        </p:spPr>
      </p:pic>
      <p:sp>
        <p:nvSpPr>
          <p:cNvPr id="22" name="text-1612"/>
          <p:cNvSpPr txBox="1"/>
          <p:nvPr/>
        </p:nvSpPr>
        <p:spPr>
          <a:xfrm>
            <a:off x="1645920" y="4974336"/>
            <a:ext cx="9784080" cy="365760"/>
          </a:xfrm>
          <a:prstGeom prst="rect">
            <a:avLst/>
          </a:prstGeom>
          <a:noFill/>
          <a:ln/>
        </p:spPr>
        <p:txBody>
          <a:bodyPr wrap="square" lIns="0" tIns="0" rIns="0" bIns="0" rtlCol="0" anchor="t"/>
          <a:lstStyle/>
          <a:p>
            <a:pPr indent="0" marL="0">
              <a:buNone/>
            </a:pPr>
            <a:r>
              <a:rPr lang="en-US" sz="1800" b="1" dirty="0">
                <a:solidFill>
                  <a:schemeClr val="tx1"/>
                </a:solidFill>
              </a:rPr>
              <a:t>COMSOL automates the pillars, not the thinking</a:t>
            </a:r>
            <a:endParaRPr lang="en-US" sz="1800" dirty="0"/>
          </a:p>
        </p:txBody>
      </p:sp>
      <p:sp>
        <p:nvSpPr>
          <p:cNvPr id="23" name="text-1613"/>
          <p:cNvSpPr txBox="1"/>
          <p:nvPr/>
        </p:nvSpPr>
        <p:spPr>
          <a:xfrm>
            <a:off x="1645920" y="5349240"/>
            <a:ext cx="9784080" cy="384048"/>
          </a:xfrm>
          <a:prstGeom prst="rect">
            <a:avLst/>
          </a:prstGeom>
          <a:noFill/>
          <a:ln/>
        </p:spPr>
        <p:txBody>
          <a:bodyPr wrap="square" lIns="0" tIns="0" rIns="0" bIns="0" rtlCol="0" anchor="t"/>
          <a:lstStyle/>
          <a:p>
            <a:pPr indent="0" marL="0">
              <a:buNone/>
            </a:pPr>
            <a:r>
              <a:rPr lang="en-US" sz="1500" dirty="0">
                <a:solidFill>
                  <a:schemeClr val="tx2"/>
                </a:solidFill>
              </a:rPr>
              <a:t>You still choose the physics, boundary conditions and mesh, and you verify the answer.</a:t>
            </a:r>
            <a:endParaRPr lang="en-US" sz="1500" dirty="0"/>
          </a:p>
        </p:txBody>
      </p:sp>
      <p:sp>
        <p:nvSpPr>
          <p:cNvPr id="25" name="Slide Number Placeholder 0"/>
          <p:cNvSpPr>
            <a:spLocks noGrp="1"/>
          </p:cNvSpPr>
          <p:nvPr>
            <p:ph type="sldNum" sz="quarter" idx="4294967295"/>
          </p:nvPr>
        </p:nvSpPr>
        <p:spPr>
          <a:xfrm>
            <a:off x="10297189"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BA8"/>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logo-1614" descr="AIChE KAUST Student Chapter logo">    </p:cNvPr>
          <p:cNvPicPr>
            <a:picLocks noChangeAspect="1"/>
          </p:cNvPicPr>
          <p:nvPr/>
        </p:nvPicPr>
        <p:blipFill>
          <a:blip r:embed="rId1"/>
          <a:stretch>
            <a:fillRect/>
          </a:stretch>
        </p:blipFill>
        <p:spPr>
          <a:xfrm>
            <a:off x="640080" y="548640"/>
            <a:ext cx="1320132" cy="566928"/>
          </a:xfrm>
          <a:prstGeom prst="rect">
            <a:avLst/>
          </a:prstGeom>
        </p:spPr>
      </p:pic>
      <p:sp>
        <p:nvSpPr>
          <p:cNvPr id="3" name="Text 0"/>
          <p:cNvSpPr/>
          <p:nvPr>
            <p:ph idx="100" type="title" hasCustomPrompt="1"/>
          </p:nvPr>
        </p:nvSpPr>
        <p:spPr>
          <a:xfrm>
            <a:off x="640080" y="1828800"/>
            <a:ext cx="6583680" cy="155448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4" name="Text 0"/>
          <p:cNvSpPr/>
          <p:nvPr>
            <p:ph idx="101" type="body" hasCustomPrompt="1"/>
          </p:nvPr>
        </p:nvSpPr>
        <p:spPr>
          <a:xfrm>
            <a:off x="640080" y="3474720"/>
            <a:ext cx="6400800" cy="457200"/>
          </a:xfrm>
          <a:prstGeom prst="rect">
            <a:avLst/>
          </a:prstGeom>
          <a:noFill/>
          <a:ln/>
        </p:spPr>
        <p:txBody>
          <a:bodyPr wrap="square" lIns="0" tIns="0" rIns="0" bIns="0" rtlCol="0" anchor="t"/>
          <a:lstStyle/>
          <a:p>
            <a:pPr algn="l" indent="0" marL="0">
              <a:buNone/>
            </a:pPr>
            <a:r>
              <a:rPr lang="en-US" sz="2000" dirty="0">
                <a:solidFill>
                  <a:schemeClr val="accent5"/>
                </a:solidFill>
              </a:rPr>
              <a:t>Questions? Let's discuss.</a:t>
            </a:r>
            <a:endParaRPr lang="en-US" sz="2000" dirty="0"/>
          </a:p>
        </p:txBody>
      </p:sp>
      <p:sp>
        <p:nvSpPr>
          <p:cNvPr id="5" name="text-1615"/>
          <p:cNvSpPr txBox="1"/>
          <p:nvPr/>
        </p:nvSpPr>
        <p:spPr>
          <a:xfrm>
            <a:off x="640080" y="4160520"/>
            <a:ext cx="640080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FURTHER READING</a:t>
            </a:r>
            <a:endParaRPr lang="en-US" sz="1200" dirty="0"/>
          </a:p>
        </p:txBody>
      </p:sp>
      <p:pic>
        <p:nvPicPr>
          <p:cNvPr id="6" name="icon-1616" descr="preencoded.png">    </p:cNvPr>
          <p:cNvPicPr>
            <a:picLocks noChangeAspect="1"/>
          </p:cNvPicPr>
          <p:nvPr/>
        </p:nvPicPr>
        <p:blipFill>
          <a:blip r:embed="rId2"/>
          <a:stretch>
            <a:fillRect/>
          </a:stretch>
        </p:blipFill>
        <p:spPr>
          <a:xfrm>
            <a:off x="658368" y="4553712"/>
            <a:ext cx="237744" cy="237744"/>
          </a:xfrm>
          <a:prstGeom prst="rect">
            <a:avLst/>
          </a:prstGeom>
        </p:spPr>
      </p:pic>
      <p:sp>
        <p:nvSpPr>
          <p:cNvPr id="7" name="text-1617"/>
          <p:cNvSpPr txBox="1"/>
          <p:nvPr/>
        </p:nvSpPr>
        <p:spPr>
          <a:xfrm>
            <a:off x="1051560" y="4498848"/>
            <a:ext cx="6583680" cy="347472"/>
          </a:xfrm>
          <a:prstGeom prst="rect">
            <a:avLst/>
          </a:prstGeom>
          <a:noFill/>
          <a:ln/>
        </p:spPr>
        <p:txBody>
          <a:bodyPr wrap="square" lIns="0" tIns="0" rIns="0" bIns="0" rtlCol="0" anchor="ctr"/>
          <a:lstStyle/>
          <a:p>
            <a:pPr indent="0" marL="0">
              <a:buNone/>
            </a:pPr>
            <a:r>
              <a:rPr lang="en-US" sz="1450" dirty="0">
                <a:solidFill>
                  <a:schemeClr val="bg1"/>
                </a:solidFill>
              </a:rPr>
              <a:t>Anderson: CFD, The Basics with Applications (1995)</a:t>
            </a:r>
            <a:endParaRPr lang="en-US" sz="1450" dirty="0"/>
          </a:p>
        </p:txBody>
      </p:sp>
      <p:pic>
        <p:nvPicPr>
          <p:cNvPr id="8" name="icon-1618" descr="preencoded.png">    </p:cNvPr>
          <p:cNvPicPr>
            <a:picLocks noChangeAspect="1"/>
          </p:cNvPicPr>
          <p:nvPr/>
        </p:nvPicPr>
        <p:blipFill>
          <a:blip r:embed="rId3"/>
          <a:stretch>
            <a:fillRect/>
          </a:stretch>
        </p:blipFill>
        <p:spPr>
          <a:xfrm>
            <a:off x="658368" y="4983480"/>
            <a:ext cx="237744" cy="237744"/>
          </a:xfrm>
          <a:prstGeom prst="rect">
            <a:avLst/>
          </a:prstGeom>
        </p:spPr>
      </p:pic>
      <p:sp>
        <p:nvSpPr>
          <p:cNvPr id="9" name="text-1619"/>
          <p:cNvSpPr txBox="1"/>
          <p:nvPr/>
        </p:nvSpPr>
        <p:spPr>
          <a:xfrm>
            <a:off x="1051560" y="4928616"/>
            <a:ext cx="6583680" cy="347472"/>
          </a:xfrm>
          <a:prstGeom prst="rect">
            <a:avLst/>
          </a:prstGeom>
          <a:noFill/>
          <a:ln/>
        </p:spPr>
        <p:txBody>
          <a:bodyPr wrap="square" lIns="0" tIns="0" rIns="0" bIns="0" rtlCol="0" anchor="ctr"/>
          <a:lstStyle/>
          <a:p>
            <a:pPr indent="0" marL="0">
              <a:buNone/>
            </a:pPr>
            <a:r>
              <a:rPr lang="en-US" sz="1450" dirty="0">
                <a:solidFill>
                  <a:schemeClr val="bg1"/>
                </a:solidFill>
              </a:rPr>
              <a:t>Versteeg &amp; Malalasekera: An Introduction to CFD, the FVM (2007)</a:t>
            </a:r>
            <a:endParaRPr lang="en-US" sz="1450" dirty="0"/>
          </a:p>
        </p:txBody>
      </p:sp>
      <p:pic>
        <p:nvPicPr>
          <p:cNvPr id="10" name="icon-1620" descr="preencoded.png">    </p:cNvPr>
          <p:cNvPicPr>
            <a:picLocks noChangeAspect="1"/>
          </p:cNvPicPr>
          <p:nvPr/>
        </p:nvPicPr>
        <p:blipFill>
          <a:blip r:embed="rId4"/>
          <a:stretch>
            <a:fillRect/>
          </a:stretch>
        </p:blipFill>
        <p:spPr>
          <a:xfrm>
            <a:off x="658368" y="5413248"/>
            <a:ext cx="237744" cy="237744"/>
          </a:xfrm>
          <a:prstGeom prst="rect">
            <a:avLst/>
          </a:prstGeom>
        </p:spPr>
      </p:pic>
      <p:sp>
        <p:nvSpPr>
          <p:cNvPr id="11" name="text-1621"/>
          <p:cNvSpPr txBox="1"/>
          <p:nvPr/>
        </p:nvSpPr>
        <p:spPr>
          <a:xfrm>
            <a:off x="1051560" y="5358384"/>
            <a:ext cx="6583680" cy="347472"/>
          </a:xfrm>
          <a:prstGeom prst="rect">
            <a:avLst/>
          </a:prstGeom>
          <a:noFill/>
          <a:ln/>
        </p:spPr>
        <p:txBody>
          <a:bodyPr wrap="square" lIns="0" tIns="0" rIns="0" bIns="0" rtlCol="0" anchor="ctr"/>
          <a:lstStyle/>
          <a:p>
            <a:pPr indent="0" marL="0">
              <a:buNone/>
            </a:pPr>
            <a:r>
              <a:rPr lang="en-US" sz="1450" dirty="0">
                <a:solidFill>
                  <a:schemeClr val="bg1"/>
                </a:solidFill>
              </a:rPr>
              <a:t>Patankar: Numerical Heat Transfer and Fluid Flow (1980)</a:t>
            </a:r>
            <a:endParaRPr lang="en-US" sz="1450" dirty="0"/>
          </a:p>
        </p:txBody>
      </p:sp>
      <p:pic>
        <p:nvPicPr>
          <p:cNvPr id="12" name="icon-1622" descr="preencoded.png">    </p:cNvPr>
          <p:cNvPicPr>
            <a:picLocks noChangeAspect="1"/>
          </p:cNvPicPr>
          <p:nvPr/>
        </p:nvPicPr>
        <p:blipFill>
          <a:blip r:embed="rId5"/>
          <a:stretch>
            <a:fillRect/>
          </a:stretch>
        </p:blipFill>
        <p:spPr>
          <a:xfrm>
            <a:off x="658368" y="5843016"/>
            <a:ext cx="237744" cy="237744"/>
          </a:xfrm>
          <a:prstGeom prst="rect">
            <a:avLst/>
          </a:prstGeom>
        </p:spPr>
      </p:pic>
      <p:sp>
        <p:nvSpPr>
          <p:cNvPr id="13" name="text-1623"/>
          <p:cNvSpPr txBox="1"/>
          <p:nvPr/>
        </p:nvSpPr>
        <p:spPr>
          <a:xfrm>
            <a:off x="1051560" y="5788152"/>
            <a:ext cx="6583680" cy="347472"/>
          </a:xfrm>
          <a:prstGeom prst="rect">
            <a:avLst/>
          </a:prstGeom>
          <a:noFill/>
          <a:ln/>
        </p:spPr>
        <p:txBody>
          <a:bodyPr wrap="square" lIns="0" tIns="0" rIns="0" bIns="0" rtlCol="0" anchor="ctr"/>
          <a:lstStyle/>
          <a:p>
            <a:pPr indent="0" marL="0">
              <a:buNone/>
            </a:pPr>
            <a:r>
              <a:rPr lang="en-US" sz="1450" dirty="0">
                <a:solidFill>
                  <a:schemeClr val="bg1"/>
                </a:solidFill>
              </a:rPr>
              <a:t>Barba &amp; Forsyth: CFD Python, 12 steps to Navier–Stokes (free)</a:t>
            </a:r>
            <a:endParaRPr lang="en-US" sz="1450" dirty="0"/>
          </a:p>
        </p:txBody>
      </p:sp>
      <p:sp>
        <p:nvSpPr>
          <p:cNvPr id="14" name="card-1624"/>
          <p:cNvSpPr/>
          <p:nvPr/>
        </p:nvSpPr>
        <p:spPr>
          <a:xfrm>
            <a:off x="8229600" y="1280160"/>
            <a:ext cx="3291840" cy="4251960"/>
          </a:xfrm>
          <a:prstGeom prst="roundRect">
            <a:avLst>
              <a:gd name="adj" fmla="val 2778"/>
            </a:avLst>
          </a:prstGeom>
          <a:solidFill>
            <a:schemeClr val="bg1"/>
          </a:solidFill>
          <a:ln/>
          <a:effectLst>
            <a:outerShdw sx="100000" sy="100000" kx="0" ky="0" algn="bl" rotWithShape="0" blurRad="88900" dist="19050" dir="5400000">
              <a:srgbClr val="0B2E47">
                <a:alpha val="12000"/>
              </a:srgbClr>
            </a:outerShdw>
          </a:effectLst>
        </p:spPr>
      </p:sp>
      <p:pic>
        <p:nvPicPr>
          <p:cNvPr id="15" name="img-1625" descr="QR code linking to the simple_CFD repository">    </p:cNvPr>
          <p:cNvPicPr>
            <a:picLocks noChangeAspect="1"/>
          </p:cNvPicPr>
          <p:nvPr/>
        </p:nvPicPr>
        <p:blipFill>
          <a:blip r:embed="rId6"/>
          <a:stretch>
            <a:fillRect/>
          </a:stretch>
        </p:blipFill>
        <p:spPr>
          <a:xfrm>
            <a:off x="8549640" y="1554480"/>
            <a:ext cx="2651760" cy="2651760"/>
          </a:xfrm>
          <a:prstGeom prst="rect">
            <a:avLst/>
          </a:prstGeom>
        </p:spPr>
      </p:pic>
      <p:sp>
        <p:nvSpPr>
          <p:cNvPr id="16" name="text-1626"/>
          <p:cNvSpPr txBox="1"/>
          <p:nvPr/>
        </p:nvSpPr>
        <p:spPr>
          <a:xfrm>
            <a:off x="8366760" y="4343400"/>
            <a:ext cx="3017520" cy="320040"/>
          </a:xfrm>
          <a:prstGeom prst="rect">
            <a:avLst/>
          </a:prstGeom>
          <a:noFill/>
          <a:ln/>
        </p:spPr>
        <p:txBody>
          <a:bodyPr wrap="square" lIns="0" tIns="0" rIns="0" bIns="0" rtlCol="0" anchor="t"/>
          <a:lstStyle/>
          <a:p>
            <a:pPr algn="ctr" indent="0" marL="0">
              <a:buNone/>
            </a:pPr>
            <a:r>
              <a:rPr lang="en-US" sz="1500" b="1" dirty="0">
                <a:solidFill>
                  <a:schemeClr val="tx1"/>
                </a:solidFill>
              </a:rPr>
              <a:t>simple_CFD repository</a:t>
            </a:r>
            <a:endParaRPr lang="en-US" sz="1500" dirty="0"/>
          </a:p>
        </p:txBody>
      </p:sp>
      <p:sp>
        <p:nvSpPr>
          <p:cNvPr id="17" name="url-1627"/>
          <p:cNvSpPr txBox="1"/>
          <p:nvPr/>
        </p:nvSpPr>
        <p:spPr>
          <a:xfrm>
            <a:off x="8321040" y="4709160"/>
            <a:ext cx="3108960" cy="411480"/>
          </a:xfrm>
          <a:prstGeom prst="rect">
            <a:avLst/>
          </a:prstGeom>
          <a:noFill/>
          <a:ln/>
        </p:spPr>
        <p:txBody>
          <a:bodyPr wrap="square" lIns="0" tIns="0" rIns="0" bIns="0" rtlCol="0" anchor="ctr"/>
          <a:lstStyle/>
          <a:p>
            <a:pPr algn="ctr" indent="0" marL="0">
              <a:buNone/>
            </a:pPr>
            <a:r>
              <a:rPr lang="en-US" sz="1150" b="1"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github.com/maryamomer2004/simple_CFD</a:t>
            </a:r>
            <a:endParaRPr lang="en-US" sz="1150" dirty="0"/>
          </a:p>
        </p:txBody>
      </p:sp>
    </p:spTree>
  </p:cSld>
  <p:clrMapOvr>
    <a:masterClrMapping/>
  </p:clrMapOvr>
</p:sld>
</file>

<file path=ppt/theme/theme1.xml><?xml version="1.0" encoding="utf-8"?>
<a:theme xmlns:a="http://schemas.openxmlformats.org/drawingml/2006/main" name="AIChE KAUST">
  <a:themeElements>
    <a:clrScheme name="AIChE KAUST">
      <a:dk1>
        <a:srgbClr val="0B2E47"/>
      </a:dk1>
      <a:lt1>
        <a:srgbClr val="FFFFFF"/>
      </a:lt1>
      <a:dk2>
        <a:srgbClr val="3C546C"/>
      </a:dk2>
      <a:lt2>
        <a:srgbClr val="EEF3F7"/>
      </a:lt2>
      <a:accent1>
        <a:srgbClr val="0093D0"/>
      </a:accent1>
      <a:accent2>
        <a:srgbClr val="E85D1A"/>
      </a:accent2>
      <a:accent3>
        <a:srgbClr val="1A9E6F"/>
      </a:accent3>
      <a:accent4>
        <a:srgbClr val="8A9BA8"/>
      </a:accent4>
      <a:accent5>
        <a:srgbClr val="7FC8EA"/>
      </a:accent5>
      <a:accent6>
        <a:srgbClr val="F2A900"/>
      </a:accent6>
      <a:hlink>
        <a:srgbClr val="0093D0"/>
      </a:hlink>
      <a:folHlink>
        <a:srgbClr val="3C546C"/>
      </a:folHlink>
    </a:clrScheme>
    <a:fontScheme name="AIChE KAU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KAUST AIChE Student Chapter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COMSOL Multiphysics Workshop: CFD and FDM fundamentals + hands-on COMSOL</dc:title>
  <dc:subject>PptxGenJS Presentation</dc:subject>
  <dc:creator>KAUST AIChE Student Chapter</dc:creator>
  <cp:lastModifiedBy>KAUST AIChE Student Chapter</cp:lastModifiedBy>
  <cp:revision>1</cp:revision>
  <dcterms:created xsi:type="dcterms:W3CDTF">2026-10-28T15:29:01Z</dcterms:created>
  <dcterms:modified xsi:type="dcterms:W3CDTF">2026-10-28T15:29:01Z</dcterms:modified>
</cp:coreProperties>
</file>